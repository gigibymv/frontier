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heme/theme2.xml" ContentType="application/vnd.openxmlformats-officedocument.them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heme/themeOverride1.xml" ContentType="application/vnd.openxmlformats-officedocument.themeOverride+xml"/>
  <Override PartName="/ppt/tags/tag81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ags/tag82.xml" ContentType="application/vnd.openxmlformats-officedocument.presentationml.tags+xml"/>
  <Override PartName="/ppt/notesSlides/notesSlide2.xml" ContentType="application/vnd.openxmlformats-officedocument.presentationml.notesSlide+xml"/>
  <Override PartName="/ppt/tags/tag8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84.xml" ContentType="application/vnd.openxmlformats-officedocument.presentationml.tags+xml"/>
  <Override PartName="/ppt/notesSlides/notesSlide7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tags/tag114.xml" ContentType="application/vnd.openxmlformats-officedocument.presentationml.tags+xml"/>
  <Override PartName="/ppt/notesSlides/notesSlide9.xml" ContentType="application/vnd.openxmlformats-officedocument.presentationml.notesSlide+xml"/>
  <Override PartName="/ppt/tags/tag115.xml" ContentType="application/vnd.openxmlformats-officedocument.presentationml.tags+xml"/>
  <Override PartName="/ppt/notesSlides/notesSlide10.xml" ContentType="application/vnd.openxmlformats-officedocument.presentationml.notesSlide+xml"/>
  <Override PartName="/ppt/tags/tag116.xml" ContentType="application/vnd.openxmlformats-officedocument.presentationml.tags+xml"/>
  <Override PartName="/ppt/notesSlides/notesSlide11.xml" ContentType="application/vnd.openxmlformats-officedocument.presentationml.notesSlide+xml"/>
  <Override PartName="/ppt/tags/tag117.xml" ContentType="application/vnd.openxmlformats-officedocument.presentationml.tags+xml"/>
  <Override PartName="/ppt/notesSlides/notesSlide12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13.xml" ContentType="application/vnd.openxmlformats-officedocument.presentationml.notesSlide+xml"/>
  <Override PartName="/ppt/tags/tag120.xml" ContentType="application/vnd.openxmlformats-officedocument.presentationml.tags+xml"/>
  <Override PartName="/ppt/notesSlides/notesSlide14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5.xml" ContentType="application/vnd.openxmlformats-officedocument.presentationml.notesSlide+xml"/>
  <Override PartName="/ppt/tags/tag124.xml" ContentType="application/vnd.openxmlformats-officedocument.presentationml.tags+xml"/>
  <Override PartName="/ppt/notesSlides/notesSlide16.xml" ContentType="application/vnd.openxmlformats-officedocument.presentationml.notesSlide+xml"/>
  <Override PartName="/ppt/tags/tag125.xml" ContentType="application/vnd.openxmlformats-officedocument.presentationml.tags+xml"/>
  <Override PartName="/ppt/notesSlides/notesSlide17.xml" ContentType="application/vnd.openxmlformats-officedocument.presentationml.notesSlide+xml"/>
  <Override PartName="/ppt/tags/tag126.xml" ContentType="application/vnd.openxmlformats-officedocument.presentationml.tags+xml"/>
  <Override PartName="/ppt/notesSlides/notesSlide18.xml" ContentType="application/vnd.openxmlformats-officedocument.presentationml.notesSlide+xml"/>
  <Override PartName="/ppt/tags/tag127.xml" ContentType="application/vnd.openxmlformats-officedocument.presentationml.tags+xml"/>
  <Override PartName="/ppt/notesSlides/notesSlide19.xml" ContentType="application/vnd.openxmlformats-officedocument.presentationml.notesSlide+xml"/>
  <Override PartName="/ppt/tags/tag128.xml" ContentType="application/vnd.openxmlformats-officedocument.presentationml.tags+xml"/>
  <Override PartName="/ppt/notesSlides/notesSlide20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21.xml" ContentType="application/vnd.openxmlformats-officedocument.presentationml.notesSlide+xml"/>
  <Override PartName="/ppt/tags/tag132.xml" ContentType="application/vnd.openxmlformats-officedocument.presentationml.tags+xml"/>
  <Override PartName="/ppt/notesSlides/notesSlide22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45"/>
  </p:notesMasterIdLst>
  <p:sldIdLst>
    <p:sldId id="2147482824" r:id="rId5"/>
    <p:sldId id="2147482928" r:id="rId6"/>
    <p:sldId id="2147483001" r:id="rId7"/>
    <p:sldId id="2147483002" r:id="rId8"/>
    <p:sldId id="2147483020" r:id="rId9"/>
    <p:sldId id="2147483014" r:id="rId10"/>
    <p:sldId id="2147482974" r:id="rId11"/>
    <p:sldId id="256" r:id="rId12"/>
    <p:sldId id="257" r:id="rId13"/>
    <p:sldId id="258" r:id="rId14"/>
    <p:sldId id="259" r:id="rId15"/>
    <p:sldId id="2147483018" r:id="rId16"/>
    <p:sldId id="2147483017" r:id="rId17"/>
    <p:sldId id="2147483016" r:id="rId18"/>
    <p:sldId id="2147483019" r:id="rId19"/>
    <p:sldId id="2147483015" r:id="rId20"/>
    <p:sldId id="2147483013" r:id="rId21"/>
    <p:sldId id="2147482964" r:id="rId22"/>
    <p:sldId id="266" r:id="rId23"/>
    <p:sldId id="2147482952" r:id="rId24"/>
    <p:sldId id="2147482951" r:id="rId25"/>
    <p:sldId id="2147483007" r:id="rId26"/>
    <p:sldId id="2147483012" r:id="rId27"/>
    <p:sldId id="2147482972" r:id="rId28"/>
    <p:sldId id="2147482997" r:id="rId29"/>
    <p:sldId id="2147483000" r:id="rId30"/>
    <p:sldId id="2147482977" r:id="rId31"/>
    <p:sldId id="2147482956" r:id="rId32"/>
    <p:sldId id="2147482993" r:id="rId33"/>
    <p:sldId id="2147482973" r:id="rId34"/>
    <p:sldId id="2147482957" r:id="rId35"/>
    <p:sldId id="2147482958" r:id="rId36"/>
    <p:sldId id="2147482959" r:id="rId37"/>
    <p:sldId id="2147482939" r:id="rId38"/>
    <p:sldId id="2147482955" r:id="rId39"/>
    <p:sldId id="2147482961" r:id="rId40"/>
    <p:sldId id="2147471791" r:id="rId41"/>
    <p:sldId id="2147483004" r:id="rId42"/>
    <p:sldId id="2147483005" r:id="rId43"/>
    <p:sldId id="2147483006" r:id="rId44"/>
  </p:sldIdLst>
  <p:sldSz cx="12192000" cy="6858000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993AD0A-B0E2-4CFF-ABFF-200AA7509A1C}">
          <p14:sldIdLst>
            <p14:sldId id="2147482824"/>
            <p14:sldId id="2147482928"/>
            <p14:sldId id="2147483001"/>
            <p14:sldId id="2147483002"/>
            <p14:sldId id="2147483020"/>
            <p14:sldId id="2147483014"/>
            <p14:sldId id="2147482974"/>
            <p14:sldId id="256"/>
            <p14:sldId id="257"/>
            <p14:sldId id="258"/>
            <p14:sldId id="259"/>
            <p14:sldId id="2147483018"/>
            <p14:sldId id="2147483017"/>
            <p14:sldId id="2147483016"/>
            <p14:sldId id="2147483019"/>
            <p14:sldId id="2147483015"/>
            <p14:sldId id="2147483013"/>
            <p14:sldId id="2147482964"/>
            <p14:sldId id="266"/>
            <p14:sldId id="2147482952"/>
            <p14:sldId id="2147482951"/>
            <p14:sldId id="2147483007"/>
            <p14:sldId id="2147483012"/>
            <p14:sldId id="2147482972"/>
            <p14:sldId id="2147482997"/>
            <p14:sldId id="2147483000"/>
            <p14:sldId id="2147482977"/>
            <p14:sldId id="2147482956"/>
            <p14:sldId id="2147482993"/>
            <p14:sldId id="2147482973"/>
            <p14:sldId id="2147482957"/>
            <p14:sldId id="2147482958"/>
            <p14:sldId id="2147482959"/>
            <p14:sldId id="2147482939"/>
            <p14:sldId id="2147482955"/>
            <p14:sldId id="2147482961"/>
            <p14:sldId id="2147471791"/>
          </p14:sldIdLst>
        </p14:section>
        <p14:section name="Graveyard" id="{08739666-855F-4FD4-BD32-235BDC98DDDD}">
          <p14:sldIdLst>
            <p14:sldId id="2147483004"/>
            <p14:sldId id="2147483005"/>
            <p14:sldId id="2147483006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981A13-3043-D850-9AF5-E52D76305D2B}" name="Andrews Bryant" initials="AB" userId="S::anbryant@microsoft.com::a2d78119-5aa1-4ccb-8e05-1065983b08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FDF7DF"/>
    <a:srgbClr val="FFFFFF"/>
    <a:srgbClr val="0300F9"/>
    <a:srgbClr val="9CD0B2"/>
    <a:srgbClr val="00794A"/>
    <a:srgbClr val="00613B"/>
    <a:srgbClr val="00A162"/>
    <a:srgbClr val="DEDEFF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4F5D1-D7CE-5F4A-AC13-196EEE70F067}" v="1770" dt="2026-06-10T19:17:03.172"/>
    <p1510:client id="{1A95D299-64DD-4E4F-85A3-81F18A278390}" v="2967" dt="2026-06-10T03:59:39.214"/>
    <p1510:client id="{61D89CB5-2B0A-4148-8A3E-B9F95F320B38}" v="3313" dt="2026-06-10T18:20:29.541"/>
    <p1510:client id="{8DA7BE7F-0669-AFD3-F5C0-BFE123B4A0F2}" v="1" dt="2026-06-10T17:54:16.579"/>
    <p1510:client id="{B8645AD3-F893-304B-83D0-AC79A81F82B1}" v="26" dt="2026-06-10T16:40:09.4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gs" Target="tags/tag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7FFFFD54_17C2974A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7FFFFD54_17C2974A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7FFFFD54_17C2974A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7FFFFD54_17C2974A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90059473237042E-2"/>
          <c:y val="0.34492350486787204"/>
          <c:w val="0.95581988105352589"/>
          <c:h val="0.4214186369958275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892906815020862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04D-EE43-84D0-AD71BBE8BEDA}"/>
                </c:ext>
              </c:extLst>
            </c:dLbl>
            <c:dLbl>
              <c:idx val="1"/>
              <c:layout>
                <c:manualLayout>
                  <c:x val="0"/>
                  <c:y val="-0.322670375521557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04D-EE43-84D0-AD71BBE8BEDA}"/>
                </c:ext>
              </c:extLst>
            </c:dLbl>
            <c:dLbl>
              <c:idx val="2"/>
              <c:layout>
                <c:manualLayout>
                  <c:x val="0"/>
                  <c:y val="-0.2183588317107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04D-EE43-84D0-AD71BBE8BEDA}"/>
                </c:ext>
              </c:extLst>
            </c:dLbl>
            <c:dLbl>
              <c:idx val="3"/>
              <c:layout>
                <c:manualLayout>
                  <c:x val="0"/>
                  <c:y val="-0.1821974965229485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04D-EE43-84D0-AD71BBE8BE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5</c:v>
                </c:pt>
                <c:pt idx="1">
                  <c:v>6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04D-EE43-84D0-AD71BBE8BE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73563967"/>
        <c:axId val="1"/>
      </c:barChart>
      <c:catAx>
        <c:axId val="6735639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6735639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0833333333333332E-2"/>
          <c:y val="0.43432574430823118"/>
          <c:w val="0.95833333333333337"/>
          <c:h val="0.2714535901926444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784588441330998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40F-F64B-B33F-2C2DA1226F47}"/>
                </c:ext>
              </c:extLst>
            </c:dLbl>
            <c:dLbl>
              <c:idx val="1"/>
              <c:layout>
                <c:manualLayout>
                  <c:x val="0"/>
                  <c:y val="-0.192644483362521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40F-F64B-B33F-2C2DA1226F47}"/>
                </c:ext>
              </c:extLst>
            </c:dLbl>
            <c:dLbl>
              <c:idx val="2"/>
              <c:layout>
                <c:manualLayout>
                  <c:x val="0"/>
                  <c:y val="-0.1751313485113835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240F-F64B-B33F-2C2DA1226F47}"/>
                </c:ext>
              </c:extLst>
            </c:dLbl>
            <c:dLbl>
              <c:idx val="3"/>
              <c:layout>
                <c:manualLayout>
                  <c:x val="0"/>
                  <c:y val="-0.1751313485113835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240F-F64B-B33F-2C2DA1226F47}"/>
                </c:ext>
              </c:extLst>
            </c:dLbl>
            <c:dLbl>
              <c:idx val="4"/>
              <c:layout>
                <c:manualLayout>
                  <c:x val="0"/>
                  <c:y val="-0.1593695271453590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40F-F64B-B33F-2C2DA1226F4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8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40F-F64B-B33F-2C2DA1226F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78253567"/>
        <c:axId val="1"/>
      </c:barChart>
      <c:catAx>
        <c:axId val="14782535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4782535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40056617126681E-2"/>
          <c:y val="0.12688553682342502"/>
          <c:w val="0.95293701344656756"/>
          <c:h val="0.79858030168589178"/>
        </c:manualLayout>
      </c:layout>
      <c:lineChart>
        <c:grouping val="standard"/>
        <c:varyColors val="0"/>
        <c:ser>
          <c:idx val="0"/>
          <c:order val="0"/>
          <c:spPr>
            <a:ln w="38100" cmpd="sng" algn="ctr">
              <a:solidFill>
                <a:schemeClr val="accent4"/>
              </a:solidFill>
              <a:prstDash val="solid"/>
            </a:ln>
          </c:spPr>
          <c:marker>
            <c:symbol val="none"/>
          </c:marker>
          <c:dLbls>
            <c:dLbl>
              <c:idx val="1"/>
              <c:layout>
                <c:manualLayout>
                  <c:x val="0"/>
                  <c:y val="-4.436557231588287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AE4-1F4A-958E-6E40D1971802}"/>
                </c:ext>
              </c:extLst>
            </c:dLbl>
            <c:dLbl>
              <c:idx val="3"/>
              <c:layout>
                <c:manualLayout>
                  <c:x val="0"/>
                  <c:y val="-4.436557231588287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AE4-1F4A-958E-6E40D197180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0</c:v>
                </c:pt>
                <c:pt idx="1">
                  <c:v>9</c:v>
                </c:pt>
                <c:pt idx="2">
                  <c:v>13</c:v>
                </c:pt>
                <c:pt idx="3">
                  <c:v>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AE4-1F4A-958E-6E40D1971802}"/>
            </c:ext>
          </c:extLst>
        </c:ser>
        <c:ser>
          <c:idx val="1"/>
          <c:order val="1"/>
          <c:spPr>
            <a:ln w="28575" cmpd="sng" algn="ctr">
              <a:solidFill>
                <a:schemeClr val="accent2"/>
              </a:solidFill>
              <a:prstDash val="lgDash"/>
            </a:ln>
          </c:spPr>
          <c:marker>
            <c:symbol val="none"/>
          </c:marker>
          <c:dLbls>
            <c:dLbl>
              <c:idx val="3"/>
              <c:layout>
                <c:manualLayout>
                  <c:x val="0"/>
                  <c:y val="-4.436557231588287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9AE4-1F4A-958E-6E40D1971802}"/>
                </c:ext>
              </c:extLst>
            </c:dLbl>
            <c:dLbl>
              <c:idx val="4"/>
              <c:layout>
                <c:manualLayout>
                  <c:x val="0"/>
                  <c:y val="-4.436557231588287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9AE4-1F4A-958E-6E40D197180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Sheet1!$A$2:$F$2</c:f>
              <c:numCache>
                <c:formatCode>General</c:formatCode>
                <c:ptCount val="6"/>
                <c:pt idx="3">
                  <c:v>17</c:v>
                </c:pt>
                <c:pt idx="4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AE4-1F4A-958E-6E40D1971802}"/>
            </c:ext>
          </c:extLst>
        </c:ser>
        <c:ser>
          <c:idx val="2"/>
          <c:order val="2"/>
          <c:spPr>
            <a:ln w="19050" cmpd="sng" algn="ctr">
              <a:solidFill>
                <a:schemeClr val="accent3"/>
              </a:solidFill>
              <a:prstDash val="solid"/>
            </a:ln>
          </c:spPr>
          <c:marker>
            <c:symbol val="none"/>
          </c:marker>
          <c:dPt>
            <c:idx val="5"/>
            <c:marker>
              <c:symbol val="circle"/>
              <c:size val="4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9AE4-1F4A-958E-6E40D1971802}"/>
              </c:ext>
            </c:extLst>
          </c:dPt>
          <c:dLbls>
            <c:dLbl>
              <c:idx val="5"/>
              <c:layout>
                <c:manualLayout>
                  <c:x val="0"/>
                  <c:y val="-5.279503105590062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9AE4-1F4A-958E-6E40D197180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Sheet1!$A$3:$F$3</c:f>
              <c:numCache>
                <c:formatCode>General</c:formatCode>
                <c:ptCount val="6"/>
                <c:pt idx="5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9AE4-1F4A-958E-6E40D1971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29253119"/>
        <c:axId val="1"/>
      </c:lineChart>
      <c:catAx>
        <c:axId val="929253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929253119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90059473237042E-2"/>
          <c:y val="0.43130434782608695"/>
          <c:w val="0.95581988105352589"/>
          <c:h val="0.2765217391304347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782608695652173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563-D142-89D1-75C291674124}"/>
                </c:ext>
              </c:extLst>
            </c:dLbl>
            <c:dLbl>
              <c:idx val="1"/>
              <c:layout>
                <c:manualLayout>
                  <c:x val="0"/>
                  <c:y val="-0.227826086956521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563-D142-89D1-75C291674124}"/>
                </c:ext>
              </c:extLst>
            </c:dLbl>
            <c:dLbl>
              <c:idx val="2"/>
              <c:layout>
                <c:manualLayout>
                  <c:x val="0"/>
                  <c:y val="-0.158260869565217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563-D142-89D1-75C291674124}"/>
                </c:ext>
              </c:extLst>
            </c:dLbl>
            <c:dLbl>
              <c:idx val="3"/>
              <c:layout>
                <c:manualLayout>
                  <c:x val="0"/>
                  <c:y val="-0.158260869565217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563-D142-89D1-75C291674124}"/>
                </c:ext>
              </c:extLst>
            </c:dLbl>
            <c:dLbl>
              <c:idx val="4"/>
              <c:layout>
                <c:manualLayout>
                  <c:x val="0"/>
                  <c:y val="-0.158260869565217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 spc="-1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0563-D142-89D1-75C29167412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8</c:v>
                </c:pt>
                <c:pt idx="1">
                  <c:v>5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563-D142-89D1-75C2916741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63530943"/>
        <c:axId val="1"/>
      </c:barChart>
      <c:catAx>
        <c:axId val="15635309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56353094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3AB23-84D9-2049-B29E-0CC6B43C452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11FF2-C591-2946-9959-0A45AE2D4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8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BF1A0-9FD2-7807-9EB5-C0055915B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F9F24F-C503-EFB1-97E5-6967A3D7D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1AF2C-7784-C258-7FD8-634C28DE0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FAA36-41C3-DF3A-CC6B-9D40226BB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5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0C1D9-F3FD-A627-4EFD-409505E58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15B3E-1589-F55A-483F-7480FAABC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B7862-F228-96C3-2305-32557F5D1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8AF01-3311-F9EA-EA9B-47A507ED0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69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6241D-7DA8-B56F-FCAF-7FCF09381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7BB2C-66FA-8DAA-BFF8-D2D9BD106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58D07-EE58-8381-ACD1-1FA160BF8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497A6-A469-02C6-DD62-C0FEA696E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25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4886B-0E24-6678-A313-5126A076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DCE17-CA1B-F06C-578C-238FF3A55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3F843-5334-ED24-99B2-8FAE630D8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438C3-54CC-4762-81BB-00F47B40E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9D4A68-825A-4E56-A6D2-73CB7932D7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015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9D30A-0080-B9E0-CA16-3E42847F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B5DC9D-B13D-EDA3-FB2B-F7370C381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55CB8-E18B-1D7F-6FDE-442BFCE92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7827-C581-1F9A-7631-094E1CC06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8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A22AB-0F0D-4B72-86D0-A19F41503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FAC93-2423-FD20-3AF6-2EC414CA9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B16DB-41F5-A0E6-FC5F-670EBBAA0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88270-C149-B6B6-5916-14CA5829F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70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7B0AB-C1DE-4083-7F0A-23D552BBF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51BE1-5E5A-90F0-6B5D-33C65DEF6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4A9D2-9826-6340-0DEE-C160327B3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E44EB-6929-A5F8-0DBE-0F233BD05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40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8248C-8826-861C-2B65-D6254EFE8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3C2A0-EE3F-9F9C-0687-C1DF63F0F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EF2B2-130E-3835-DDB3-0E34D1590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1DFFF-5DC2-4BE8-6AD4-05C74A742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83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82E1A-7156-1AA5-DED5-BA247AB40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B71F9-7098-EA85-75CF-1B0E76F5B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ACCAA-F3E2-AF72-0747-0AB585ACF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285FE-769A-D990-4FD1-24975864B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90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C2486-FCB2-01A2-F20B-D3850293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8B2ED-8F8E-2FAD-E8F0-4B6DB3CF7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16737-0A61-7A37-1B55-3FA370CAE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9F25D-CBB4-DE44-BA69-1063D29A6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98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45D75-42AA-0CC3-329F-500095A1D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E86B7-4174-1ED0-D843-F57A51877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2744C-0035-012E-FDC5-3CABDD151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8D4A5-981C-EEFF-C90B-97E15B4C0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88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B9FB6-F2D5-8247-D65D-4377FB53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5D5B6-92B4-66C4-3432-78D4295F8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52943-C53E-531D-2996-8D9AD1172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014F0-BA91-AFD1-A58D-A973F7263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329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E4289-AA46-547E-BC44-DA3DCB7A7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85AEC-8C9C-C679-0939-9A3C4D25F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CDA4F-406B-7B8E-A407-390228E5B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95B98-3C42-696C-199B-B9BF8A42D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486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52F28-AF5D-7787-F2BA-81D0192C5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21A9B-CE76-F0B4-6640-6489DE550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25C326-AE9B-D654-049E-141106DC6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FE772-ABD8-0A2E-55F7-F7C2115CD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33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362DA-F2FB-5135-8A4B-A0948D72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547E9-D6C2-AC36-B76B-1F1CD0C03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939EA-1728-7FF6-E52B-2138233D2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EB289-5B4B-67B1-D77D-78D33A9B5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71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BE0E7-283A-FFC6-AE42-4A36CE5A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F65EEF-F269-2E1F-1A09-06B04C9CA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32962-981A-B5BE-45F4-47EC5E7C2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84409-7A96-5E73-E935-82CF75ED5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066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EFE47-7CB8-4B31-EA72-D0AB0C5BC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F98F7-F1A0-B9D4-9732-5E9E2258D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73E5C-9569-BAE2-DC09-25459F192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49B6D-E2F8-ABBC-1A3B-CD77BE28A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1BC8C8-CE88-F14E-916C-AF19C01092D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732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1FF2-C591-2946-9959-0A45AE2D4A5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18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4" Type="http://schemas.openxmlformats.org/officeDocument/2006/relationships/image" Target="../media/image1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Relationship Id="rId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Relationship Id="rId4" Type="http://schemas.openxmlformats.org/officeDocument/2006/relationships/image" Target="../media/image1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4" Type="http://schemas.openxmlformats.org/officeDocument/2006/relationships/image" Target="../media/image1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4" Type="http://schemas.openxmlformats.org/officeDocument/2006/relationships/image" Target="../media/image1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Relationship Id="rId4" Type="http://schemas.openxmlformats.org/officeDocument/2006/relationships/image" Target="../media/image1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Relationship Id="rId4" Type="http://schemas.openxmlformats.org/officeDocument/2006/relationships/image" Target="../media/image1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Relationship Id="rId4" Type="http://schemas.openxmlformats.org/officeDocument/2006/relationships/image" Target="../media/image1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Relationship Id="rId4" Type="http://schemas.openxmlformats.org/officeDocument/2006/relationships/image" Target="../media/image1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Relationship Id="rId4" Type="http://schemas.openxmlformats.org/officeDocument/2006/relationships/image" Target="../media/image1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7.xml"/><Relationship Id="rId4" Type="http://schemas.openxmlformats.org/officeDocument/2006/relationships/image" Target="../media/image1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8.xml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Relationship Id="rId4" Type="http://schemas.openxmlformats.org/officeDocument/2006/relationships/image" Target="../media/image1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0.xml"/><Relationship Id="rId4" Type="http://schemas.openxmlformats.org/officeDocument/2006/relationships/image" Target="../media/image1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1.xml"/><Relationship Id="rId4" Type="http://schemas.openxmlformats.org/officeDocument/2006/relationships/image" Target="../media/image1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2.xml"/><Relationship Id="rId4" Type="http://schemas.openxmlformats.org/officeDocument/2006/relationships/image" Target="../media/image1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3.xml"/><Relationship Id="rId4" Type="http://schemas.openxmlformats.org/officeDocument/2006/relationships/image" Target="../media/image1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4.xml"/><Relationship Id="rId4" Type="http://schemas.openxmlformats.org/officeDocument/2006/relationships/image" Target="../media/image1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5.xml"/><Relationship Id="rId4" Type="http://schemas.openxmlformats.org/officeDocument/2006/relationships/image" Target="../media/image1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6.xml"/><Relationship Id="rId4" Type="http://schemas.openxmlformats.org/officeDocument/2006/relationships/image" Target="../media/image1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7.xml"/><Relationship Id="rId4" Type="http://schemas.openxmlformats.org/officeDocument/2006/relationships/image" Target="../media/image1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8.xml"/><Relationship Id="rId4" Type="http://schemas.openxmlformats.org/officeDocument/2006/relationships/image" Target="../media/image1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9.xml"/><Relationship Id="rId4" Type="http://schemas.openxmlformats.org/officeDocument/2006/relationships/image" Target="../media/image1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0.xml"/><Relationship Id="rId4" Type="http://schemas.openxmlformats.org/officeDocument/2006/relationships/image" Target="../media/image1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1.xml"/><Relationship Id="rId4" Type="http://schemas.openxmlformats.org/officeDocument/2006/relationships/image" Target="../media/image1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2.xml"/><Relationship Id="rId4" Type="http://schemas.openxmlformats.org/officeDocument/2006/relationships/image" Target="../media/image1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3.xml"/><Relationship Id="rId4" Type="http://schemas.openxmlformats.org/officeDocument/2006/relationships/image" Target="../media/image1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4.xml"/><Relationship Id="rId4" Type="http://schemas.openxmlformats.org/officeDocument/2006/relationships/image" Target="../media/image1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5.xml"/><Relationship Id="rId4" Type="http://schemas.openxmlformats.org/officeDocument/2006/relationships/image" Target="../media/image1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6.xml"/><Relationship Id="rId4" Type="http://schemas.openxmlformats.org/officeDocument/2006/relationships/image" Target="../media/image1.emf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7.xml"/><Relationship Id="rId4" Type="http://schemas.openxmlformats.org/officeDocument/2006/relationships/image" Target="../media/image2.emf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hink-cell data - do not delete" hidden="1">
            <a:extLst>
              <a:ext uri="{FF2B5EF4-FFF2-40B4-BE49-F238E27FC236}">
                <a16:creationId xmlns:a16="http://schemas.microsoft.com/office/drawing/2014/main" id="{DBB93C69-FB76-C487-2513-24CFEE29C5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B93C69-FB76-C487-2513-24CFEE29C5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0" y="691200"/>
            <a:ext cx="7467358" cy="1540566"/>
          </a:xfrm>
        </p:spPr>
        <p:txBody>
          <a:bodyPr vert="horz" anchor="b">
            <a:normAutofit/>
          </a:bodyPr>
          <a:lstStyle>
            <a:lvl1pPr algn="l">
              <a:lnSpc>
                <a:spcPct val="88000"/>
              </a:lnSpc>
              <a:defRPr sz="5400" spc="-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0" y="2334600"/>
            <a:ext cx="7467358" cy="512762"/>
          </a:xfrm>
        </p:spPr>
        <p:txBody>
          <a:bodyPr>
            <a:normAutofit/>
          </a:bodyPr>
          <a:lstStyle>
            <a:lvl1pPr marL="0" indent="0" algn="l">
              <a:lnSpc>
                <a:spcPct val="98000"/>
              </a:lnSpc>
              <a:spcBef>
                <a:spcPts val="0"/>
              </a:spcBef>
              <a:buNone/>
              <a:defRPr sz="2000" spc="-55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F59106-972B-299C-D5DA-6BA7A053EC26}"/>
              </a:ext>
            </a:extLst>
          </p:cNvPr>
          <p:cNvGrpSpPr>
            <a:grpSpLocks noChangeAspect="1"/>
          </p:cNvGrpSpPr>
          <p:nvPr/>
        </p:nvGrpSpPr>
        <p:grpSpPr>
          <a:xfrm>
            <a:off x="256032" y="6350508"/>
            <a:ext cx="1339596" cy="251244"/>
            <a:chOff x="11563349" y="6740419"/>
            <a:chExt cx="1266825" cy="237595"/>
          </a:xfrm>
          <a:solidFill>
            <a:schemeClr val="bg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C88B326C-95E8-8F16-F3CB-76D0FA39DE7E}"/>
                </a:ext>
              </a:extLst>
            </p:cNvPr>
            <p:cNvSpPr/>
            <p:nvPr/>
          </p:nvSpPr>
          <p:spPr>
            <a:xfrm>
              <a:off x="11563349" y="6740419"/>
              <a:ext cx="207262" cy="233403"/>
            </a:xfrm>
            <a:custGeom>
              <a:avLst/>
              <a:gdLst>
                <a:gd name="connsiteX0" fmla="*/ 169545 w 207262"/>
                <a:gd name="connsiteY0" fmla="*/ 103293 h 233403"/>
                <a:gd name="connsiteX1" fmla="*/ 167640 w 207262"/>
                <a:gd name="connsiteY1" fmla="*/ 106151 h 233403"/>
                <a:gd name="connsiteX2" fmla="*/ 74295 w 207262"/>
                <a:gd name="connsiteY2" fmla="*/ 51858 h 233403"/>
                <a:gd name="connsiteX3" fmla="*/ 76200 w 207262"/>
                <a:gd name="connsiteY3" fmla="*/ 49001 h 233403"/>
                <a:gd name="connsiteX4" fmla="*/ 92392 w 207262"/>
                <a:gd name="connsiteY4" fmla="*/ 21378 h 233403"/>
                <a:gd name="connsiteX5" fmla="*/ 93345 w 207262"/>
                <a:gd name="connsiteY5" fmla="*/ 22331 h 233403"/>
                <a:gd name="connsiteX6" fmla="*/ 186690 w 207262"/>
                <a:gd name="connsiteY6" fmla="*/ 75671 h 233403"/>
                <a:gd name="connsiteX7" fmla="*/ 169545 w 207262"/>
                <a:gd name="connsiteY7" fmla="*/ 103293 h 233403"/>
                <a:gd name="connsiteX8" fmla="*/ 76200 w 207262"/>
                <a:gd name="connsiteY8" fmla="*/ 154728 h 233403"/>
                <a:gd name="connsiteX9" fmla="*/ 76200 w 207262"/>
                <a:gd name="connsiteY9" fmla="*/ 78528 h 233403"/>
                <a:gd name="connsiteX10" fmla="*/ 141922 w 207262"/>
                <a:gd name="connsiteY10" fmla="*/ 116628 h 233403"/>
                <a:gd name="connsiteX11" fmla="*/ 76200 w 207262"/>
                <a:gd name="connsiteY11" fmla="*/ 154728 h 233403"/>
                <a:gd name="connsiteX12" fmla="*/ 90488 w 207262"/>
                <a:gd name="connsiteY12" fmla="*/ 210926 h 233403"/>
                <a:gd name="connsiteX13" fmla="*/ 73342 w 207262"/>
                <a:gd name="connsiteY13" fmla="*/ 180446 h 233403"/>
                <a:gd name="connsiteX14" fmla="*/ 74295 w 207262"/>
                <a:gd name="connsiteY14" fmla="*/ 179493 h 233403"/>
                <a:gd name="connsiteX15" fmla="*/ 166688 w 207262"/>
                <a:gd name="connsiteY15" fmla="*/ 126153 h 233403"/>
                <a:gd name="connsiteX16" fmla="*/ 168592 w 207262"/>
                <a:gd name="connsiteY16" fmla="*/ 129963 h 233403"/>
                <a:gd name="connsiteX17" fmla="*/ 183833 w 207262"/>
                <a:gd name="connsiteY17" fmla="*/ 156633 h 233403"/>
                <a:gd name="connsiteX18" fmla="*/ 90488 w 207262"/>
                <a:gd name="connsiteY18" fmla="*/ 210926 h 233403"/>
                <a:gd name="connsiteX19" fmla="*/ 55245 w 207262"/>
                <a:gd name="connsiteY19" fmla="*/ 170921 h 233403"/>
                <a:gd name="connsiteX20" fmla="*/ 20003 w 207262"/>
                <a:gd name="connsiteY20" fmla="*/ 170921 h 233403"/>
                <a:gd name="connsiteX21" fmla="*/ 20003 w 207262"/>
                <a:gd name="connsiteY21" fmla="*/ 62336 h 233403"/>
                <a:gd name="connsiteX22" fmla="*/ 55245 w 207262"/>
                <a:gd name="connsiteY22" fmla="*/ 62336 h 233403"/>
                <a:gd name="connsiteX23" fmla="*/ 55245 w 207262"/>
                <a:gd name="connsiteY23" fmla="*/ 170921 h 233403"/>
                <a:gd name="connsiteX24" fmla="*/ 206692 w 207262"/>
                <a:gd name="connsiteY24" fmla="*/ 162348 h 233403"/>
                <a:gd name="connsiteX25" fmla="*/ 204788 w 207262"/>
                <a:gd name="connsiteY25" fmla="*/ 149966 h 233403"/>
                <a:gd name="connsiteX26" fmla="*/ 185738 w 207262"/>
                <a:gd name="connsiteY26" fmla="*/ 116628 h 233403"/>
                <a:gd name="connsiteX27" fmla="*/ 204788 w 207262"/>
                <a:gd name="connsiteY27" fmla="*/ 83291 h 233403"/>
                <a:gd name="connsiteX28" fmla="*/ 206692 w 207262"/>
                <a:gd name="connsiteY28" fmla="*/ 70908 h 233403"/>
                <a:gd name="connsiteX29" fmla="*/ 199072 w 207262"/>
                <a:gd name="connsiteY29" fmla="*/ 61383 h 233403"/>
                <a:gd name="connsiteX30" fmla="*/ 97155 w 207262"/>
                <a:gd name="connsiteY30" fmla="*/ 2328 h 233403"/>
                <a:gd name="connsiteX31" fmla="*/ 75247 w 207262"/>
                <a:gd name="connsiteY31" fmla="*/ 8043 h 233403"/>
                <a:gd name="connsiteX32" fmla="*/ 56197 w 207262"/>
                <a:gd name="connsiteY32" fmla="*/ 41381 h 233403"/>
                <a:gd name="connsiteX33" fmla="*/ 16192 w 207262"/>
                <a:gd name="connsiteY33" fmla="*/ 41381 h 233403"/>
                <a:gd name="connsiteX34" fmla="*/ 16192 w 207262"/>
                <a:gd name="connsiteY34" fmla="*/ 41381 h 233403"/>
                <a:gd name="connsiteX35" fmla="*/ 4763 w 207262"/>
                <a:gd name="connsiteY35" fmla="*/ 46143 h 233403"/>
                <a:gd name="connsiteX36" fmla="*/ 0 w 207262"/>
                <a:gd name="connsiteY36" fmla="*/ 57573 h 233403"/>
                <a:gd name="connsiteX37" fmla="*/ 0 w 207262"/>
                <a:gd name="connsiteY37" fmla="*/ 175683 h 233403"/>
                <a:gd name="connsiteX38" fmla="*/ 16192 w 207262"/>
                <a:gd name="connsiteY38" fmla="*/ 191876 h 233403"/>
                <a:gd name="connsiteX39" fmla="*/ 56197 w 207262"/>
                <a:gd name="connsiteY39" fmla="*/ 191876 h 233403"/>
                <a:gd name="connsiteX40" fmla="*/ 75247 w 207262"/>
                <a:gd name="connsiteY40" fmla="*/ 225213 h 233403"/>
                <a:gd name="connsiteX41" fmla="*/ 84772 w 207262"/>
                <a:gd name="connsiteY41" fmla="*/ 232833 h 233403"/>
                <a:gd name="connsiteX42" fmla="*/ 97155 w 207262"/>
                <a:gd name="connsiteY42" fmla="*/ 230928 h 233403"/>
                <a:gd name="connsiteX43" fmla="*/ 199072 w 207262"/>
                <a:gd name="connsiteY43" fmla="*/ 171873 h 233403"/>
                <a:gd name="connsiteX44" fmla="*/ 206692 w 207262"/>
                <a:gd name="connsiteY44" fmla="*/ 162348 h 2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262" h="233403">
                  <a:moveTo>
                    <a:pt x="169545" y="103293"/>
                  </a:moveTo>
                  <a:lnTo>
                    <a:pt x="167640" y="106151"/>
                  </a:lnTo>
                  <a:lnTo>
                    <a:pt x="74295" y="51858"/>
                  </a:lnTo>
                  <a:lnTo>
                    <a:pt x="76200" y="49001"/>
                  </a:lnTo>
                  <a:lnTo>
                    <a:pt x="92392" y="21378"/>
                  </a:lnTo>
                  <a:lnTo>
                    <a:pt x="93345" y="22331"/>
                  </a:lnTo>
                  <a:lnTo>
                    <a:pt x="186690" y="75671"/>
                  </a:lnTo>
                  <a:lnTo>
                    <a:pt x="169545" y="103293"/>
                  </a:lnTo>
                  <a:close/>
                  <a:moveTo>
                    <a:pt x="76200" y="154728"/>
                  </a:moveTo>
                  <a:lnTo>
                    <a:pt x="76200" y="78528"/>
                  </a:lnTo>
                  <a:lnTo>
                    <a:pt x="141922" y="116628"/>
                  </a:lnTo>
                  <a:lnTo>
                    <a:pt x="76200" y="154728"/>
                  </a:lnTo>
                  <a:close/>
                  <a:moveTo>
                    <a:pt x="90488" y="210926"/>
                  </a:moveTo>
                  <a:lnTo>
                    <a:pt x="73342" y="180446"/>
                  </a:lnTo>
                  <a:lnTo>
                    <a:pt x="74295" y="179493"/>
                  </a:lnTo>
                  <a:lnTo>
                    <a:pt x="166688" y="126153"/>
                  </a:lnTo>
                  <a:lnTo>
                    <a:pt x="168592" y="129963"/>
                  </a:lnTo>
                  <a:lnTo>
                    <a:pt x="183833" y="156633"/>
                  </a:lnTo>
                  <a:lnTo>
                    <a:pt x="90488" y="210926"/>
                  </a:lnTo>
                  <a:close/>
                  <a:moveTo>
                    <a:pt x="55245" y="170921"/>
                  </a:moveTo>
                  <a:lnTo>
                    <a:pt x="20003" y="170921"/>
                  </a:lnTo>
                  <a:lnTo>
                    <a:pt x="20003" y="62336"/>
                  </a:lnTo>
                  <a:lnTo>
                    <a:pt x="55245" y="62336"/>
                  </a:lnTo>
                  <a:lnTo>
                    <a:pt x="55245" y="170921"/>
                  </a:lnTo>
                  <a:close/>
                  <a:moveTo>
                    <a:pt x="206692" y="162348"/>
                  </a:moveTo>
                  <a:cubicBezTo>
                    <a:pt x="207645" y="158538"/>
                    <a:pt x="207645" y="153776"/>
                    <a:pt x="204788" y="149966"/>
                  </a:cubicBezTo>
                  <a:lnTo>
                    <a:pt x="185738" y="116628"/>
                  </a:lnTo>
                  <a:lnTo>
                    <a:pt x="204788" y="83291"/>
                  </a:lnTo>
                  <a:cubicBezTo>
                    <a:pt x="206692" y="79481"/>
                    <a:pt x="207645" y="75671"/>
                    <a:pt x="206692" y="70908"/>
                  </a:cubicBezTo>
                  <a:cubicBezTo>
                    <a:pt x="205740" y="67098"/>
                    <a:pt x="202883" y="63288"/>
                    <a:pt x="199072" y="61383"/>
                  </a:cubicBezTo>
                  <a:lnTo>
                    <a:pt x="97155" y="2328"/>
                  </a:lnTo>
                  <a:cubicBezTo>
                    <a:pt x="89535" y="-2434"/>
                    <a:pt x="80010" y="423"/>
                    <a:pt x="75247" y="8043"/>
                  </a:cubicBezTo>
                  <a:lnTo>
                    <a:pt x="56197" y="41381"/>
                  </a:lnTo>
                  <a:lnTo>
                    <a:pt x="16192" y="41381"/>
                  </a:lnTo>
                  <a:lnTo>
                    <a:pt x="16192" y="41381"/>
                  </a:lnTo>
                  <a:cubicBezTo>
                    <a:pt x="12383" y="41381"/>
                    <a:pt x="7620" y="43286"/>
                    <a:pt x="4763" y="46143"/>
                  </a:cubicBezTo>
                  <a:cubicBezTo>
                    <a:pt x="1905" y="49001"/>
                    <a:pt x="0" y="52811"/>
                    <a:pt x="0" y="57573"/>
                  </a:cubicBezTo>
                  <a:lnTo>
                    <a:pt x="0" y="175683"/>
                  </a:lnTo>
                  <a:cubicBezTo>
                    <a:pt x="0" y="184256"/>
                    <a:pt x="7620" y="191876"/>
                    <a:pt x="16192" y="191876"/>
                  </a:cubicBezTo>
                  <a:lnTo>
                    <a:pt x="56197" y="191876"/>
                  </a:lnTo>
                  <a:lnTo>
                    <a:pt x="75247" y="225213"/>
                  </a:lnTo>
                  <a:cubicBezTo>
                    <a:pt x="77153" y="229023"/>
                    <a:pt x="80963" y="231881"/>
                    <a:pt x="84772" y="232833"/>
                  </a:cubicBezTo>
                  <a:cubicBezTo>
                    <a:pt x="88583" y="233786"/>
                    <a:pt x="93345" y="233786"/>
                    <a:pt x="97155" y="230928"/>
                  </a:cubicBezTo>
                  <a:lnTo>
                    <a:pt x="199072" y="171873"/>
                  </a:lnTo>
                  <a:cubicBezTo>
                    <a:pt x="202883" y="169968"/>
                    <a:pt x="205740" y="167111"/>
                    <a:pt x="206692" y="16234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6906D5EB-37DB-2E46-0CC8-B361FD6811A3}"/>
                </a:ext>
              </a:extLst>
            </p:cNvPr>
            <p:cNvSpPr/>
            <p:nvPr/>
          </p:nvSpPr>
          <p:spPr>
            <a:xfrm>
              <a:off x="11836717" y="6741794"/>
              <a:ext cx="126682" cy="184785"/>
            </a:xfrm>
            <a:custGeom>
              <a:avLst/>
              <a:gdLst>
                <a:gd name="connsiteX0" fmla="*/ 0 w 126682"/>
                <a:gd name="connsiteY0" fmla="*/ 0 h 184785"/>
                <a:gd name="connsiteX1" fmla="*/ 0 w 126682"/>
                <a:gd name="connsiteY1" fmla="*/ 184785 h 184785"/>
                <a:gd name="connsiteX2" fmla="*/ 30480 w 126682"/>
                <a:gd name="connsiteY2" fmla="*/ 184785 h 184785"/>
                <a:gd name="connsiteX3" fmla="*/ 30480 w 126682"/>
                <a:gd name="connsiteY3" fmla="*/ 129540 h 184785"/>
                <a:gd name="connsiteX4" fmla="*/ 33338 w 126682"/>
                <a:gd name="connsiteY4" fmla="*/ 129540 h 184785"/>
                <a:gd name="connsiteX5" fmla="*/ 91440 w 126682"/>
                <a:gd name="connsiteY5" fmla="*/ 184785 h 184785"/>
                <a:gd name="connsiteX6" fmla="*/ 126682 w 126682"/>
                <a:gd name="connsiteY6" fmla="*/ 184785 h 184785"/>
                <a:gd name="connsiteX7" fmla="*/ 126682 w 126682"/>
                <a:gd name="connsiteY7" fmla="*/ 180975 h 184785"/>
                <a:gd name="connsiteX8" fmla="*/ 57150 w 126682"/>
                <a:gd name="connsiteY8" fmla="*/ 115253 h 184785"/>
                <a:gd name="connsiteX9" fmla="*/ 125730 w 126682"/>
                <a:gd name="connsiteY9" fmla="*/ 56198 h 184785"/>
                <a:gd name="connsiteX10" fmla="*/ 125730 w 126682"/>
                <a:gd name="connsiteY10" fmla="*/ 52388 h 184785"/>
                <a:gd name="connsiteX11" fmla="*/ 90488 w 126682"/>
                <a:gd name="connsiteY11" fmla="*/ 52388 h 184785"/>
                <a:gd name="connsiteX12" fmla="*/ 33338 w 126682"/>
                <a:gd name="connsiteY12" fmla="*/ 103823 h 184785"/>
                <a:gd name="connsiteX13" fmla="*/ 30480 w 126682"/>
                <a:gd name="connsiteY13" fmla="*/ 103823 h 184785"/>
                <a:gd name="connsiteX14" fmla="*/ 30480 w 126682"/>
                <a:gd name="connsiteY14" fmla="*/ 0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6682" h="184785">
                  <a:moveTo>
                    <a:pt x="0" y="0"/>
                  </a:moveTo>
                  <a:lnTo>
                    <a:pt x="0" y="184785"/>
                  </a:lnTo>
                  <a:lnTo>
                    <a:pt x="30480" y="184785"/>
                  </a:lnTo>
                  <a:lnTo>
                    <a:pt x="30480" y="129540"/>
                  </a:lnTo>
                  <a:lnTo>
                    <a:pt x="33338" y="129540"/>
                  </a:lnTo>
                  <a:lnTo>
                    <a:pt x="91440" y="184785"/>
                  </a:lnTo>
                  <a:lnTo>
                    <a:pt x="126682" y="184785"/>
                  </a:lnTo>
                  <a:lnTo>
                    <a:pt x="126682" y="180975"/>
                  </a:lnTo>
                  <a:lnTo>
                    <a:pt x="57150" y="115253"/>
                  </a:lnTo>
                  <a:lnTo>
                    <a:pt x="125730" y="56198"/>
                  </a:lnTo>
                  <a:lnTo>
                    <a:pt x="125730" y="52388"/>
                  </a:lnTo>
                  <a:lnTo>
                    <a:pt x="90488" y="52388"/>
                  </a:lnTo>
                  <a:lnTo>
                    <a:pt x="33338" y="103823"/>
                  </a:lnTo>
                  <a:lnTo>
                    <a:pt x="30480" y="103823"/>
                  </a:lnTo>
                  <a:lnTo>
                    <a:pt x="304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9B454036-7BBB-B6DA-73E9-6BDB63A5468F}"/>
                </a:ext>
              </a:extLst>
            </p:cNvPr>
            <p:cNvSpPr/>
            <p:nvPr/>
          </p:nvSpPr>
          <p:spPr>
            <a:xfrm>
              <a:off x="11953874" y="6791325"/>
              <a:ext cx="129540" cy="139065"/>
            </a:xfrm>
            <a:custGeom>
              <a:avLst/>
              <a:gdLst>
                <a:gd name="connsiteX0" fmla="*/ 29528 w 129540"/>
                <a:gd name="connsiteY0" fmla="*/ 55245 h 139065"/>
                <a:gd name="connsiteX1" fmla="*/ 65722 w 129540"/>
                <a:gd name="connsiteY1" fmla="*/ 20955 h 139065"/>
                <a:gd name="connsiteX2" fmla="*/ 100013 w 129540"/>
                <a:gd name="connsiteY2" fmla="*/ 55245 h 139065"/>
                <a:gd name="connsiteX3" fmla="*/ 29528 w 129540"/>
                <a:gd name="connsiteY3" fmla="*/ 55245 h 139065"/>
                <a:gd name="connsiteX4" fmla="*/ 66675 w 129540"/>
                <a:gd name="connsiteY4" fmla="*/ 0 h 139065"/>
                <a:gd name="connsiteX5" fmla="*/ 0 w 129540"/>
                <a:gd name="connsiteY5" fmla="*/ 69532 h 139065"/>
                <a:gd name="connsiteX6" fmla="*/ 66675 w 129540"/>
                <a:gd name="connsiteY6" fmla="*/ 139065 h 139065"/>
                <a:gd name="connsiteX7" fmla="*/ 126682 w 129540"/>
                <a:gd name="connsiteY7" fmla="*/ 98107 h 139065"/>
                <a:gd name="connsiteX8" fmla="*/ 126682 w 129540"/>
                <a:gd name="connsiteY8" fmla="*/ 94297 h 139065"/>
                <a:gd name="connsiteX9" fmla="*/ 100013 w 129540"/>
                <a:gd name="connsiteY9" fmla="*/ 94297 h 139065"/>
                <a:gd name="connsiteX10" fmla="*/ 66675 w 129540"/>
                <a:gd name="connsiteY10" fmla="*/ 117157 h 139065"/>
                <a:gd name="connsiteX11" fmla="*/ 29528 w 129540"/>
                <a:gd name="connsiteY11" fmla="*/ 77153 h 139065"/>
                <a:gd name="connsiteX12" fmla="*/ 129540 w 129540"/>
                <a:gd name="connsiteY12" fmla="*/ 77153 h 139065"/>
                <a:gd name="connsiteX13" fmla="*/ 129540 w 129540"/>
                <a:gd name="connsiteY13" fmla="*/ 64770 h 139065"/>
                <a:gd name="connsiteX14" fmla="*/ 66675 w 129540"/>
                <a:gd name="connsiteY14" fmla="*/ 0 h 13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9540" h="139065">
                  <a:moveTo>
                    <a:pt x="29528" y="55245"/>
                  </a:moveTo>
                  <a:cubicBezTo>
                    <a:pt x="31432" y="35243"/>
                    <a:pt x="43815" y="20955"/>
                    <a:pt x="65722" y="20955"/>
                  </a:cubicBezTo>
                  <a:cubicBezTo>
                    <a:pt x="88582" y="20955"/>
                    <a:pt x="100013" y="35243"/>
                    <a:pt x="100013" y="55245"/>
                  </a:cubicBezTo>
                  <a:lnTo>
                    <a:pt x="29528" y="55245"/>
                  </a:lnTo>
                  <a:close/>
                  <a:moveTo>
                    <a:pt x="66675" y="0"/>
                  </a:moveTo>
                  <a:cubicBezTo>
                    <a:pt x="26670" y="0"/>
                    <a:pt x="0" y="23813"/>
                    <a:pt x="0" y="69532"/>
                  </a:cubicBezTo>
                  <a:cubicBezTo>
                    <a:pt x="0" y="115253"/>
                    <a:pt x="26670" y="139065"/>
                    <a:pt x="66675" y="139065"/>
                  </a:cubicBezTo>
                  <a:cubicBezTo>
                    <a:pt x="106680" y="139065"/>
                    <a:pt x="122872" y="115253"/>
                    <a:pt x="126682" y="98107"/>
                  </a:cubicBezTo>
                  <a:lnTo>
                    <a:pt x="126682" y="94297"/>
                  </a:lnTo>
                  <a:lnTo>
                    <a:pt x="100013" y="94297"/>
                  </a:lnTo>
                  <a:cubicBezTo>
                    <a:pt x="98107" y="104775"/>
                    <a:pt x="88582" y="117157"/>
                    <a:pt x="66675" y="117157"/>
                  </a:cubicBezTo>
                  <a:cubicBezTo>
                    <a:pt x="43815" y="117157"/>
                    <a:pt x="30480" y="100965"/>
                    <a:pt x="29528" y="77153"/>
                  </a:cubicBezTo>
                  <a:lnTo>
                    <a:pt x="129540" y="77153"/>
                  </a:lnTo>
                  <a:lnTo>
                    <a:pt x="129540" y="64770"/>
                  </a:lnTo>
                  <a:cubicBezTo>
                    <a:pt x="129540" y="23813"/>
                    <a:pt x="106680" y="0"/>
                    <a:pt x="66675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D1C6C67B-5C2B-725B-A531-01F4FDF08CF6}"/>
                </a:ext>
              </a:extLst>
            </p:cNvPr>
            <p:cNvSpPr/>
            <p:nvPr/>
          </p:nvSpPr>
          <p:spPr>
            <a:xfrm>
              <a:off x="12077699" y="6794182"/>
              <a:ext cx="137159" cy="183832"/>
            </a:xfrm>
            <a:custGeom>
              <a:avLst/>
              <a:gdLst>
                <a:gd name="connsiteX0" fmla="*/ 106680 w 137159"/>
                <a:gd name="connsiteY0" fmla="*/ 0 h 183832"/>
                <a:gd name="connsiteX1" fmla="*/ 70485 w 137159"/>
                <a:gd name="connsiteY1" fmla="*/ 97155 h 183832"/>
                <a:gd name="connsiteX2" fmla="*/ 67628 w 137159"/>
                <a:gd name="connsiteY2" fmla="*/ 97155 h 183832"/>
                <a:gd name="connsiteX3" fmla="*/ 31432 w 137159"/>
                <a:gd name="connsiteY3" fmla="*/ 0 h 183832"/>
                <a:gd name="connsiteX4" fmla="*/ 0 w 137159"/>
                <a:gd name="connsiteY4" fmla="*/ 0 h 183832"/>
                <a:gd name="connsiteX5" fmla="*/ 0 w 137159"/>
                <a:gd name="connsiteY5" fmla="*/ 3810 h 183832"/>
                <a:gd name="connsiteX6" fmla="*/ 53340 w 137159"/>
                <a:gd name="connsiteY6" fmla="*/ 132398 h 183832"/>
                <a:gd name="connsiteX7" fmla="*/ 33338 w 137159"/>
                <a:gd name="connsiteY7" fmla="*/ 180023 h 183832"/>
                <a:gd name="connsiteX8" fmla="*/ 33338 w 137159"/>
                <a:gd name="connsiteY8" fmla="*/ 183833 h 183832"/>
                <a:gd name="connsiteX9" fmla="*/ 63818 w 137159"/>
                <a:gd name="connsiteY9" fmla="*/ 183833 h 183832"/>
                <a:gd name="connsiteX10" fmla="*/ 137160 w 137159"/>
                <a:gd name="connsiteY10" fmla="*/ 3810 h 183832"/>
                <a:gd name="connsiteX11" fmla="*/ 137160 w 137159"/>
                <a:gd name="connsiteY11" fmla="*/ 0 h 18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9" h="183832">
                  <a:moveTo>
                    <a:pt x="106680" y="0"/>
                  </a:moveTo>
                  <a:lnTo>
                    <a:pt x="70485" y="97155"/>
                  </a:lnTo>
                  <a:lnTo>
                    <a:pt x="67628" y="97155"/>
                  </a:lnTo>
                  <a:lnTo>
                    <a:pt x="31432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53340" y="132398"/>
                  </a:lnTo>
                  <a:lnTo>
                    <a:pt x="33338" y="180023"/>
                  </a:lnTo>
                  <a:lnTo>
                    <a:pt x="33338" y="183833"/>
                  </a:lnTo>
                  <a:lnTo>
                    <a:pt x="63818" y="183833"/>
                  </a:lnTo>
                  <a:lnTo>
                    <a:pt x="137160" y="3810"/>
                  </a:lnTo>
                  <a:lnTo>
                    <a:pt x="13716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grpSp>
          <p:nvGrpSpPr>
            <p:cNvPr id="12" name="Graphic 7">
              <a:extLst>
                <a:ext uri="{FF2B5EF4-FFF2-40B4-BE49-F238E27FC236}">
                  <a16:creationId xmlns:a16="http://schemas.microsoft.com/office/drawing/2014/main" id="{12BA6CC3-4859-D4AB-EF05-474358B4F622}"/>
                </a:ext>
              </a:extLst>
            </p:cNvPr>
            <p:cNvGrpSpPr/>
            <p:nvPr/>
          </p:nvGrpSpPr>
          <p:grpSpPr>
            <a:xfrm>
              <a:off x="12212002" y="6759892"/>
              <a:ext cx="618172" cy="170497"/>
              <a:chOff x="12212002" y="6759892"/>
              <a:chExt cx="618172" cy="170497"/>
            </a:xfrm>
            <a:grpFill/>
          </p:grpSpPr>
          <p:sp>
            <p:nvSpPr>
              <p:cNvPr id="13" name="Free-form: Shape 12">
                <a:extLst>
                  <a:ext uri="{FF2B5EF4-FFF2-40B4-BE49-F238E27FC236}">
                    <a16:creationId xmlns:a16="http://schemas.microsoft.com/office/drawing/2014/main" id="{06690A93-9701-A76D-31D7-153AD7601CE1}"/>
                  </a:ext>
                </a:extLst>
              </p:cNvPr>
              <p:cNvSpPr/>
              <p:nvPr/>
            </p:nvSpPr>
            <p:spPr>
              <a:xfrm>
                <a:off x="12212002" y="6792277"/>
                <a:ext cx="120015" cy="137159"/>
              </a:xfrm>
              <a:custGeom>
                <a:avLst/>
                <a:gdLst>
                  <a:gd name="connsiteX0" fmla="*/ 75247 w 120015"/>
                  <a:gd name="connsiteY0" fmla="*/ 58103 h 137159"/>
                  <a:gd name="connsiteX1" fmla="*/ 50482 w 120015"/>
                  <a:gd name="connsiteY1" fmla="*/ 54292 h 137159"/>
                  <a:gd name="connsiteX2" fmla="*/ 30480 w 120015"/>
                  <a:gd name="connsiteY2" fmla="*/ 38100 h 137159"/>
                  <a:gd name="connsiteX3" fmla="*/ 58103 w 120015"/>
                  <a:gd name="connsiteY3" fmla="*/ 20955 h 137159"/>
                  <a:gd name="connsiteX4" fmla="*/ 89535 w 120015"/>
                  <a:gd name="connsiteY4" fmla="*/ 43815 h 137159"/>
                  <a:gd name="connsiteX5" fmla="*/ 117157 w 120015"/>
                  <a:gd name="connsiteY5" fmla="*/ 43815 h 137159"/>
                  <a:gd name="connsiteX6" fmla="*/ 117157 w 120015"/>
                  <a:gd name="connsiteY6" fmla="*/ 40005 h 137159"/>
                  <a:gd name="connsiteX7" fmla="*/ 57150 w 120015"/>
                  <a:gd name="connsiteY7" fmla="*/ 0 h 137159"/>
                  <a:gd name="connsiteX8" fmla="*/ 953 w 120015"/>
                  <a:gd name="connsiteY8" fmla="*/ 39053 h 137159"/>
                  <a:gd name="connsiteX9" fmla="*/ 42863 w 120015"/>
                  <a:gd name="connsiteY9" fmla="*/ 77153 h 137159"/>
                  <a:gd name="connsiteX10" fmla="*/ 67628 w 120015"/>
                  <a:gd name="connsiteY10" fmla="*/ 80963 h 137159"/>
                  <a:gd name="connsiteX11" fmla="*/ 90488 w 120015"/>
                  <a:gd name="connsiteY11" fmla="*/ 98107 h 137159"/>
                  <a:gd name="connsiteX12" fmla="*/ 61913 w 120015"/>
                  <a:gd name="connsiteY12" fmla="*/ 116205 h 137159"/>
                  <a:gd name="connsiteX13" fmla="*/ 27622 w 120015"/>
                  <a:gd name="connsiteY13" fmla="*/ 92392 h 137159"/>
                  <a:gd name="connsiteX14" fmla="*/ 0 w 120015"/>
                  <a:gd name="connsiteY14" fmla="*/ 92392 h 137159"/>
                  <a:gd name="connsiteX15" fmla="*/ 0 w 120015"/>
                  <a:gd name="connsiteY15" fmla="*/ 96203 h 137159"/>
                  <a:gd name="connsiteX16" fmla="*/ 62865 w 120015"/>
                  <a:gd name="connsiteY16" fmla="*/ 137160 h 137159"/>
                  <a:gd name="connsiteX17" fmla="*/ 120015 w 120015"/>
                  <a:gd name="connsiteY17" fmla="*/ 96203 h 137159"/>
                  <a:gd name="connsiteX18" fmla="*/ 75247 w 120015"/>
                  <a:gd name="connsiteY18" fmla="*/ 58103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0015" h="137159">
                    <a:moveTo>
                      <a:pt x="75247" y="58103"/>
                    </a:moveTo>
                    <a:lnTo>
                      <a:pt x="50482" y="54292"/>
                    </a:lnTo>
                    <a:cubicBezTo>
                      <a:pt x="39053" y="52388"/>
                      <a:pt x="30480" y="48578"/>
                      <a:pt x="30480" y="38100"/>
                    </a:cubicBezTo>
                    <a:cubicBezTo>
                      <a:pt x="30480" y="27622"/>
                      <a:pt x="40005" y="20955"/>
                      <a:pt x="58103" y="20955"/>
                    </a:cubicBezTo>
                    <a:cubicBezTo>
                      <a:pt x="76200" y="20955"/>
                      <a:pt x="88582" y="27622"/>
                      <a:pt x="89535" y="43815"/>
                    </a:cubicBezTo>
                    <a:lnTo>
                      <a:pt x="117157" y="43815"/>
                    </a:lnTo>
                    <a:lnTo>
                      <a:pt x="117157" y="40005"/>
                    </a:lnTo>
                    <a:cubicBezTo>
                      <a:pt x="114300" y="16192"/>
                      <a:pt x="93345" y="0"/>
                      <a:pt x="57150" y="0"/>
                    </a:cubicBezTo>
                    <a:cubicBezTo>
                      <a:pt x="20955" y="0"/>
                      <a:pt x="953" y="16192"/>
                      <a:pt x="953" y="39053"/>
                    </a:cubicBezTo>
                    <a:cubicBezTo>
                      <a:pt x="953" y="61913"/>
                      <a:pt x="18097" y="73342"/>
                      <a:pt x="42863" y="77153"/>
                    </a:cubicBezTo>
                    <a:lnTo>
                      <a:pt x="67628" y="80963"/>
                    </a:lnTo>
                    <a:cubicBezTo>
                      <a:pt x="81915" y="82867"/>
                      <a:pt x="90488" y="87630"/>
                      <a:pt x="90488" y="98107"/>
                    </a:cubicBezTo>
                    <a:cubicBezTo>
                      <a:pt x="90488" y="109538"/>
                      <a:pt x="80963" y="116205"/>
                      <a:pt x="61913" y="116205"/>
                    </a:cubicBezTo>
                    <a:cubicBezTo>
                      <a:pt x="42863" y="116205"/>
                      <a:pt x="28575" y="108585"/>
                      <a:pt x="27622" y="92392"/>
                    </a:cubicBezTo>
                    <a:lnTo>
                      <a:pt x="0" y="92392"/>
                    </a:lnTo>
                    <a:lnTo>
                      <a:pt x="0" y="96203"/>
                    </a:lnTo>
                    <a:cubicBezTo>
                      <a:pt x="1905" y="120015"/>
                      <a:pt x="23813" y="137160"/>
                      <a:pt x="62865" y="137160"/>
                    </a:cubicBezTo>
                    <a:cubicBezTo>
                      <a:pt x="100965" y="137160"/>
                      <a:pt x="120015" y="120015"/>
                      <a:pt x="120015" y="96203"/>
                    </a:cubicBezTo>
                    <a:cubicBezTo>
                      <a:pt x="119063" y="72390"/>
                      <a:pt x="100965" y="62865"/>
                      <a:pt x="75247" y="58103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4" name="Free-form: Shape 13">
                <a:extLst>
                  <a:ext uri="{FF2B5EF4-FFF2-40B4-BE49-F238E27FC236}">
                    <a16:creationId xmlns:a16="http://schemas.microsoft.com/office/drawing/2014/main" id="{9FD7F094-8C7D-89DF-8552-F6D6AF0A1726}"/>
                  </a:ext>
                </a:extLst>
              </p:cNvPr>
              <p:cNvSpPr/>
              <p:nvPr/>
            </p:nvSpPr>
            <p:spPr>
              <a:xfrm>
                <a:off x="12330112" y="6759892"/>
                <a:ext cx="93344" cy="166687"/>
              </a:xfrm>
              <a:custGeom>
                <a:avLst/>
                <a:gdLst>
                  <a:gd name="connsiteX0" fmla="*/ 56197 w 93344"/>
                  <a:gd name="connsiteY0" fmla="*/ 142875 h 166687"/>
                  <a:gd name="connsiteX1" fmla="*/ 56197 w 93344"/>
                  <a:gd name="connsiteY1" fmla="*/ 56197 h 166687"/>
                  <a:gd name="connsiteX2" fmla="*/ 93345 w 93344"/>
                  <a:gd name="connsiteY2" fmla="*/ 56197 h 166687"/>
                  <a:gd name="connsiteX3" fmla="*/ 93345 w 93344"/>
                  <a:gd name="connsiteY3" fmla="*/ 35242 h 166687"/>
                  <a:gd name="connsiteX4" fmla="*/ 56197 w 93344"/>
                  <a:gd name="connsiteY4" fmla="*/ 35242 h 166687"/>
                  <a:gd name="connsiteX5" fmla="*/ 56197 w 93344"/>
                  <a:gd name="connsiteY5" fmla="*/ 0 h 166687"/>
                  <a:gd name="connsiteX6" fmla="*/ 25718 w 93344"/>
                  <a:gd name="connsiteY6" fmla="*/ 0 h 166687"/>
                  <a:gd name="connsiteX7" fmla="*/ 25718 w 93344"/>
                  <a:gd name="connsiteY7" fmla="*/ 35242 h 166687"/>
                  <a:gd name="connsiteX8" fmla="*/ 0 w 93344"/>
                  <a:gd name="connsiteY8" fmla="*/ 35242 h 166687"/>
                  <a:gd name="connsiteX9" fmla="*/ 0 w 93344"/>
                  <a:gd name="connsiteY9" fmla="*/ 56197 h 166687"/>
                  <a:gd name="connsiteX10" fmla="*/ 25718 w 93344"/>
                  <a:gd name="connsiteY10" fmla="*/ 56197 h 166687"/>
                  <a:gd name="connsiteX11" fmla="*/ 25718 w 93344"/>
                  <a:gd name="connsiteY11" fmla="*/ 132397 h 166687"/>
                  <a:gd name="connsiteX12" fmla="*/ 61913 w 93344"/>
                  <a:gd name="connsiteY12" fmla="*/ 166688 h 166687"/>
                  <a:gd name="connsiteX13" fmla="*/ 92393 w 93344"/>
                  <a:gd name="connsiteY13" fmla="*/ 166688 h 166687"/>
                  <a:gd name="connsiteX14" fmla="*/ 92393 w 93344"/>
                  <a:gd name="connsiteY14" fmla="*/ 144780 h 166687"/>
                  <a:gd name="connsiteX15" fmla="*/ 58103 w 93344"/>
                  <a:gd name="connsiteY15" fmla="*/ 144780 h 166687"/>
                  <a:gd name="connsiteX16" fmla="*/ 56197 w 93344"/>
                  <a:gd name="connsiteY16" fmla="*/ 142875 h 166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344" h="166687">
                    <a:moveTo>
                      <a:pt x="56197" y="142875"/>
                    </a:moveTo>
                    <a:lnTo>
                      <a:pt x="56197" y="56197"/>
                    </a:lnTo>
                    <a:lnTo>
                      <a:pt x="93345" y="56197"/>
                    </a:lnTo>
                    <a:lnTo>
                      <a:pt x="93345" y="35242"/>
                    </a:lnTo>
                    <a:lnTo>
                      <a:pt x="56197" y="35242"/>
                    </a:lnTo>
                    <a:lnTo>
                      <a:pt x="56197" y="0"/>
                    </a:lnTo>
                    <a:lnTo>
                      <a:pt x="25718" y="0"/>
                    </a:lnTo>
                    <a:lnTo>
                      <a:pt x="25718" y="35242"/>
                    </a:lnTo>
                    <a:lnTo>
                      <a:pt x="0" y="35242"/>
                    </a:lnTo>
                    <a:lnTo>
                      <a:pt x="0" y="56197"/>
                    </a:lnTo>
                    <a:lnTo>
                      <a:pt x="25718" y="56197"/>
                    </a:lnTo>
                    <a:lnTo>
                      <a:pt x="25718" y="132397"/>
                    </a:lnTo>
                    <a:cubicBezTo>
                      <a:pt x="25718" y="155257"/>
                      <a:pt x="39053" y="166688"/>
                      <a:pt x="61913" y="166688"/>
                    </a:cubicBezTo>
                    <a:lnTo>
                      <a:pt x="92393" y="166688"/>
                    </a:lnTo>
                    <a:lnTo>
                      <a:pt x="92393" y="144780"/>
                    </a:lnTo>
                    <a:lnTo>
                      <a:pt x="58103" y="144780"/>
                    </a:lnTo>
                    <a:lnTo>
                      <a:pt x="56197" y="1428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5" name="Free-form: Shape 14">
                <a:extLst>
                  <a:ext uri="{FF2B5EF4-FFF2-40B4-BE49-F238E27FC236}">
                    <a16:creationId xmlns:a16="http://schemas.microsoft.com/office/drawing/2014/main" id="{2A498ED8-C6FD-73A1-04FE-03DB53AE6517}"/>
                  </a:ext>
                </a:extLst>
              </p:cNvPr>
              <p:cNvSpPr/>
              <p:nvPr/>
            </p:nvSpPr>
            <p:spPr>
              <a:xfrm>
                <a:off x="12424409" y="6791325"/>
                <a:ext cx="137159" cy="139065"/>
              </a:xfrm>
              <a:custGeom>
                <a:avLst/>
                <a:gdLst>
                  <a:gd name="connsiteX0" fmla="*/ 68580 w 137159"/>
                  <a:gd name="connsiteY0" fmla="*/ 116205 h 139065"/>
                  <a:gd name="connsiteX1" fmla="*/ 30480 w 137159"/>
                  <a:gd name="connsiteY1" fmla="*/ 69532 h 139065"/>
                  <a:gd name="connsiteX2" fmla="*/ 68580 w 137159"/>
                  <a:gd name="connsiteY2" fmla="*/ 22860 h 139065"/>
                  <a:gd name="connsiteX3" fmla="*/ 106680 w 137159"/>
                  <a:gd name="connsiteY3" fmla="*/ 69532 h 139065"/>
                  <a:gd name="connsiteX4" fmla="*/ 68580 w 137159"/>
                  <a:gd name="connsiteY4" fmla="*/ 116205 h 139065"/>
                  <a:gd name="connsiteX5" fmla="*/ 68580 w 137159"/>
                  <a:gd name="connsiteY5" fmla="*/ 0 h 139065"/>
                  <a:gd name="connsiteX6" fmla="*/ 0 w 137159"/>
                  <a:gd name="connsiteY6" fmla="*/ 69532 h 139065"/>
                  <a:gd name="connsiteX7" fmla="*/ 68580 w 137159"/>
                  <a:gd name="connsiteY7" fmla="*/ 139065 h 139065"/>
                  <a:gd name="connsiteX8" fmla="*/ 137160 w 137159"/>
                  <a:gd name="connsiteY8" fmla="*/ 69532 h 139065"/>
                  <a:gd name="connsiteX9" fmla="*/ 68580 w 137159"/>
                  <a:gd name="connsiteY9" fmla="*/ 0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139065">
                    <a:moveTo>
                      <a:pt x="68580" y="116205"/>
                    </a:moveTo>
                    <a:cubicBezTo>
                      <a:pt x="45720" y="116205"/>
                      <a:pt x="30480" y="100013"/>
                      <a:pt x="30480" y="69532"/>
                    </a:cubicBezTo>
                    <a:cubicBezTo>
                      <a:pt x="30480" y="39053"/>
                      <a:pt x="45720" y="22860"/>
                      <a:pt x="68580" y="22860"/>
                    </a:cubicBezTo>
                    <a:cubicBezTo>
                      <a:pt x="91440" y="22860"/>
                      <a:pt x="106680" y="39053"/>
                      <a:pt x="106680" y="69532"/>
                    </a:cubicBezTo>
                    <a:cubicBezTo>
                      <a:pt x="106680" y="100013"/>
                      <a:pt x="91440" y="116205"/>
                      <a:pt x="68580" y="116205"/>
                    </a:cubicBezTo>
                    <a:moveTo>
                      <a:pt x="68580" y="0"/>
                    </a:moveTo>
                    <a:cubicBezTo>
                      <a:pt x="28575" y="0"/>
                      <a:pt x="0" y="23813"/>
                      <a:pt x="0" y="69532"/>
                    </a:cubicBezTo>
                    <a:cubicBezTo>
                      <a:pt x="0" y="114300"/>
                      <a:pt x="28575" y="139065"/>
                      <a:pt x="68580" y="139065"/>
                    </a:cubicBezTo>
                    <a:cubicBezTo>
                      <a:pt x="108585" y="139065"/>
                      <a:pt x="137160" y="115253"/>
                      <a:pt x="137160" y="69532"/>
                    </a:cubicBezTo>
                    <a:cubicBezTo>
                      <a:pt x="137160" y="23813"/>
                      <a:pt x="108585" y="0"/>
                      <a:pt x="68580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6" name="Free-form: Shape 15">
                <a:extLst>
                  <a:ext uri="{FF2B5EF4-FFF2-40B4-BE49-F238E27FC236}">
                    <a16:creationId xmlns:a16="http://schemas.microsoft.com/office/drawing/2014/main" id="{EF9BCAAE-2ABF-0942-DD54-4FDDDA730E2C}"/>
                  </a:ext>
                </a:extLst>
              </p:cNvPr>
              <p:cNvSpPr/>
              <p:nvPr/>
            </p:nvSpPr>
            <p:spPr>
              <a:xfrm>
                <a:off x="12568237" y="6791325"/>
                <a:ext cx="123857" cy="135255"/>
              </a:xfrm>
              <a:custGeom>
                <a:avLst/>
                <a:gdLst>
                  <a:gd name="connsiteX0" fmla="*/ 75247 w 123857"/>
                  <a:gd name="connsiteY0" fmla="*/ 0 h 135255"/>
                  <a:gd name="connsiteX1" fmla="*/ 32385 w 123857"/>
                  <a:gd name="connsiteY1" fmla="*/ 20003 h 135255"/>
                  <a:gd name="connsiteX2" fmla="*/ 29528 w 123857"/>
                  <a:gd name="connsiteY2" fmla="*/ 20003 h 135255"/>
                  <a:gd name="connsiteX3" fmla="*/ 29528 w 123857"/>
                  <a:gd name="connsiteY3" fmla="*/ 2857 h 135255"/>
                  <a:gd name="connsiteX4" fmla="*/ 0 w 123857"/>
                  <a:gd name="connsiteY4" fmla="*/ 2857 h 135255"/>
                  <a:gd name="connsiteX5" fmla="*/ 0 w 123857"/>
                  <a:gd name="connsiteY5" fmla="*/ 135255 h 135255"/>
                  <a:gd name="connsiteX6" fmla="*/ 30480 w 123857"/>
                  <a:gd name="connsiteY6" fmla="*/ 135255 h 135255"/>
                  <a:gd name="connsiteX7" fmla="*/ 30480 w 123857"/>
                  <a:gd name="connsiteY7" fmla="*/ 60960 h 135255"/>
                  <a:gd name="connsiteX8" fmla="*/ 65722 w 123857"/>
                  <a:gd name="connsiteY8" fmla="*/ 22860 h 135255"/>
                  <a:gd name="connsiteX9" fmla="*/ 93345 w 123857"/>
                  <a:gd name="connsiteY9" fmla="*/ 50482 h 135255"/>
                  <a:gd name="connsiteX10" fmla="*/ 93345 w 123857"/>
                  <a:gd name="connsiteY10" fmla="*/ 134303 h 135255"/>
                  <a:gd name="connsiteX11" fmla="*/ 123825 w 123857"/>
                  <a:gd name="connsiteY11" fmla="*/ 134303 h 135255"/>
                  <a:gd name="connsiteX12" fmla="*/ 123825 w 123857"/>
                  <a:gd name="connsiteY12" fmla="*/ 47625 h 135255"/>
                  <a:gd name="connsiteX13" fmla="*/ 75247 w 123857"/>
                  <a:gd name="connsiteY13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857" h="135255">
                    <a:moveTo>
                      <a:pt x="75247" y="0"/>
                    </a:moveTo>
                    <a:cubicBezTo>
                      <a:pt x="47625" y="0"/>
                      <a:pt x="37147" y="12382"/>
                      <a:pt x="32385" y="20003"/>
                    </a:cubicBezTo>
                    <a:lnTo>
                      <a:pt x="29528" y="20003"/>
                    </a:lnTo>
                    <a:lnTo>
                      <a:pt x="29528" y="2857"/>
                    </a:lnTo>
                    <a:lnTo>
                      <a:pt x="0" y="2857"/>
                    </a:lnTo>
                    <a:lnTo>
                      <a:pt x="0" y="135255"/>
                    </a:lnTo>
                    <a:lnTo>
                      <a:pt x="30480" y="135255"/>
                    </a:lnTo>
                    <a:lnTo>
                      <a:pt x="30480" y="60960"/>
                    </a:lnTo>
                    <a:cubicBezTo>
                      <a:pt x="30480" y="34290"/>
                      <a:pt x="46672" y="22860"/>
                      <a:pt x="65722" y="22860"/>
                    </a:cubicBezTo>
                    <a:cubicBezTo>
                      <a:pt x="82868" y="22860"/>
                      <a:pt x="93345" y="31432"/>
                      <a:pt x="93345" y="50482"/>
                    </a:cubicBezTo>
                    <a:lnTo>
                      <a:pt x="93345" y="134303"/>
                    </a:lnTo>
                    <a:lnTo>
                      <a:pt x="123825" y="134303"/>
                    </a:lnTo>
                    <a:lnTo>
                      <a:pt x="123825" y="47625"/>
                    </a:lnTo>
                    <a:cubicBezTo>
                      <a:pt x="124778" y="16193"/>
                      <a:pt x="104775" y="0"/>
                      <a:pt x="75247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7" name="Free-form: Shape 16">
                <a:extLst>
                  <a:ext uri="{FF2B5EF4-FFF2-40B4-BE49-F238E27FC236}">
                    <a16:creationId xmlns:a16="http://schemas.microsoft.com/office/drawing/2014/main" id="{6774AE6D-EBAD-4553-23AE-5EC5D9A0C4DA}"/>
                  </a:ext>
                </a:extLst>
              </p:cNvPr>
              <p:cNvSpPr/>
              <p:nvPr/>
            </p:nvSpPr>
            <p:spPr>
              <a:xfrm>
                <a:off x="12700634" y="6791325"/>
                <a:ext cx="129540" cy="139065"/>
              </a:xfrm>
              <a:custGeom>
                <a:avLst/>
                <a:gdLst>
                  <a:gd name="connsiteX0" fmla="*/ 29528 w 129540"/>
                  <a:gd name="connsiteY0" fmla="*/ 55245 h 139065"/>
                  <a:gd name="connsiteX1" fmla="*/ 65722 w 129540"/>
                  <a:gd name="connsiteY1" fmla="*/ 20955 h 139065"/>
                  <a:gd name="connsiteX2" fmla="*/ 100013 w 129540"/>
                  <a:gd name="connsiteY2" fmla="*/ 55245 h 139065"/>
                  <a:gd name="connsiteX3" fmla="*/ 29528 w 129540"/>
                  <a:gd name="connsiteY3" fmla="*/ 55245 h 139065"/>
                  <a:gd name="connsiteX4" fmla="*/ 129540 w 129540"/>
                  <a:gd name="connsiteY4" fmla="*/ 63818 h 139065"/>
                  <a:gd name="connsiteX5" fmla="*/ 66675 w 129540"/>
                  <a:gd name="connsiteY5" fmla="*/ 0 h 139065"/>
                  <a:gd name="connsiteX6" fmla="*/ 0 w 129540"/>
                  <a:gd name="connsiteY6" fmla="*/ 69532 h 139065"/>
                  <a:gd name="connsiteX7" fmla="*/ 66675 w 129540"/>
                  <a:gd name="connsiteY7" fmla="*/ 139065 h 139065"/>
                  <a:gd name="connsiteX8" fmla="*/ 126683 w 129540"/>
                  <a:gd name="connsiteY8" fmla="*/ 98107 h 139065"/>
                  <a:gd name="connsiteX9" fmla="*/ 126683 w 129540"/>
                  <a:gd name="connsiteY9" fmla="*/ 94297 h 139065"/>
                  <a:gd name="connsiteX10" fmla="*/ 100013 w 129540"/>
                  <a:gd name="connsiteY10" fmla="*/ 94297 h 139065"/>
                  <a:gd name="connsiteX11" fmla="*/ 66675 w 129540"/>
                  <a:gd name="connsiteY11" fmla="*/ 117157 h 139065"/>
                  <a:gd name="connsiteX12" fmla="*/ 29528 w 129540"/>
                  <a:gd name="connsiteY12" fmla="*/ 77153 h 139065"/>
                  <a:gd name="connsiteX13" fmla="*/ 129540 w 129540"/>
                  <a:gd name="connsiteY13" fmla="*/ 77153 h 139065"/>
                  <a:gd name="connsiteX14" fmla="*/ 129540 w 129540"/>
                  <a:gd name="connsiteY14" fmla="*/ 63818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540" h="139065">
                    <a:moveTo>
                      <a:pt x="29528" y="55245"/>
                    </a:moveTo>
                    <a:cubicBezTo>
                      <a:pt x="31433" y="35243"/>
                      <a:pt x="43815" y="20955"/>
                      <a:pt x="65722" y="20955"/>
                    </a:cubicBezTo>
                    <a:cubicBezTo>
                      <a:pt x="88583" y="20955"/>
                      <a:pt x="100013" y="35243"/>
                      <a:pt x="100013" y="55245"/>
                    </a:cubicBezTo>
                    <a:lnTo>
                      <a:pt x="29528" y="55245"/>
                    </a:lnTo>
                    <a:close/>
                    <a:moveTo>
                      <a:pt x="129540" y="63818"/>
                    </a:moveTo>
                    <a:cubicBezTo>
                      <a:pt x="129540" y="23813"/>
                      <a:pt x="106680" y="0"/>
                      <a:pt x="66675" y="0"/>
                    </a:cubicBezTo>
                    <a:cubicBezTo>
                      <a:pt x="26670" y="0"/>
                      <a:pt x="0" y="23813"/>
                      <a:pt x="0" y="69532"/>
                    </a:cubicBezTo>
                    <a:cubicBezTo>
                      <a:pt x="0" y="115253"/>
                      <a:pt x="26670" y="139065"/>
                      <a:pt x="66675" y="139065"/>
                    </a:cubicBezTo>
                    <a:cubicBezTo>
                      <a:pt x="106680" y="139065"/>
                      <a:pt x="122872" y="115253"/>
                      <a:pt x="126683" y="98107"/>
                    </a:cubicBezTo>
                    <a:lnTo>
                      <a:pt x="126683" y="94297"/>
                    </a:lnTo>
                    <a:lnTo>
                      <a:pt x="100013" y="94297"/>
                    </a:lnTo>
                    <a:cubicBezTo>
                      <a:pt x="98108" y="104775"/>
                      <a:pt x="88583" y="117157"/>
                      <a:pt x="66675" y="117157"/>
                    </a:cubicBezTo>
                    <a:cubicBezTo>
                      <a:pt x="43815" y="117157"/>
                      <a:pt x="30480" y="100965"/>
                      <a:pt x="29528" y="77153"/>
                    </a:cubicBezTo>
                    <a:lnTo>
                      <a:pt x="129540" y="77153"/>
                    </a:lnTo>
                    <a:lnTo>
                      <a:pt x="129540" y="63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</p:grpSp>
      </p:grp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11BA1E65-92F4-BD8C-7BEB-66807EFE3483}"/>
              </a:ext>
            </a:extLst>
          </p:cNvPr>
          <p:cNvSpPr>
            <a:spLocks noChangeAspect="1"/>
          </p:cNvSpPr>
          <p:nvPr/>
        </p:nvSpPr>
        <p:spPr>
          <a:xfrm>
            <a:off x="8129016" y="2016252"/>
            <a:ext cx="3118104" cy="3511374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9A54DA9-46B4-6A65-D601-60E6B6A7B6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82" y="3846600"/>
            <a:ext cx="3118104" cy="1073219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F0FFE17C-3BCC-E0FA-33A5-355AA934B1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382" y="273600"/>
            <a:ext cx="3118104" cy="168966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z="900">
                <a:solidFill>
                  <a:schemeClr val="bg1"/>
                </a:solidFill>
                <a:latin typeface="FK Grotesk SemiMono Medium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5213935-B9FD-8FDD-6492-52F995F61D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56032" y="6350508"/>
            <a:ext cx="1339596" cy="251244"/>
            <a:chOff x="11563349" y="6740419"/>
            <a:chExt cx="1266825" cy="237595"/>
          </a:xfrm>
          <a:solidFill>
            <a:schemeClr val="bg1"/>
          </a:solidFill>
        </p:grpSpPr>
        <p:sp>
          <p:nvSpPr>
            <p:cNvPr id="18" name="Free-form: Shape 7">
              <a:extLst>
                <a:ext uri="{FF2B5EF4-FFF2-40B4-BE49-F238E27FC236}">
                  <a16:creationId xmlns:a16="http://schemas.microsoft.com/office/drawing/2014/main" id="{00B43354-1852-CE16-C7BC-41B56A390DBF}"/>
                </a:ext>
              </a:extLst>
            </p:cNvPr>
            <p:cNvSpPr/>
            <p:nvPr/>
          </p:nvSpPr>
          <p:spPr>
            <a:xfrm>
              <a:off x="11563349" y="6740419"/>
              <a:ext cx="207262" cy="233403"/>
            </a:xfrm>
            <a:custGeom>
              <a:avLst/>
              <a:gdLst>
                <a:gd name="connsiteX0" fmla="*/ 169545 w 207262"/>
                <a:gd name="connsiteY0" fmla="*/ 103293 h 233403"/>
                <a:gd name="connsiteX1" fmla="*/ 167640 w 207262"/>
                <a:gd name="connsiteY1" fmla="*/ 106151 h 233403"/>
                <a:gd name="connsiteX2" fmla="*/ 74295 w 207262"/>
                <a:gd name="connsiteY2" fmla="*/ 51858 h 233403"/>
                <a:gd name="connsiteX3" fmla="*/ 76200 w 207262"/>
                <a:gd name="connsiteY3" fmla="*/ 49001 h 233403"/>
                <a:gd name="connsiteX4" fmla="*/ 92392 w 207262"/>
                <a:gd name="connsiteY4" fmla="*/ 21378 h 233403"/>
                <a:gd name="connsiteX5" fmla="*/ 93345 w 207262"/>
                <a:gd name="connsiteY5" fmla="*/ 22331 h 233403"/>
                <a:gd name="connsiteX6" fmla="*/ 186690 w 207262"/>
                <a:gd name="connsiteY6" fmla="*/ 75671 h 233403"/>
                <a:gd name="connsiteX7" fmla="*/ 169545 w 207262"/>
                <a:gd name="connsiteY7" fmla="*/ 103293 h 233403"/>
                <a:gd name="connsiteX8" fmla="*/ 76200 w 207262"/>
                <a:gd name="connsiteY8" fmla="*/ 154728 h 233403"/>
                <a:gd name="connsiteX9" fmla="*/ 76200 w 207262"/>
                <a:gd name="connsiteY9" fmla="*/ 78528 h 233403"/>
                <a:gd name="connsiteX10" fmla="*/ 141922 w 207262"/>
                <a:gd name="connsiteY10" fmla="*/ 116628 h 233403"/>
                <a:gd name="connsiteX11" fmla="*/ 76200 w 207262"/>
                <a:gd name="connsiteY11" fmla="*/ 154728 h 233403"/>
                <a:gd name="connsiteX12" fmla="*/ 90488 w 207262"/>
                <a:gd name="connsiteY12" fmla="*/ 210926 h 233403"/>
                <a:gd name="connsiteX13" fmla="*/ 73342 w 207262"/>
                <a:gd name="connsiteY13" fmla="*/ 180446 h 233403"/>
                <a:gd name="connsiteX14" fmla="*/ 74295 w 207262"/>
                <a:gd name="connsiteY14" fmla="*/ 179493 h 233403"/>
                <a:gd name="connsiteX15" fmla="*/ 166688 w 207262"/>
                <a:gd name="connsiteY15" fmla="*/ 126153 h 233403"/>
                <a:gd name="connsiteX16" fmla="*/ 168592 w 207262"/>
                <a:gd name="connsiteY16" fmla="*/ 129963 h 233403"/>
                <a:gd name="connsiteX17" fmla="*/ 183833 w 207262"/>
                <a:gd name="connsiteY17" fmla="*/ 156633 h 233403"/>
                <a:gd name="connsiteX18" fmla="*/ 90488 w 207262"/>
                <a:gd name="connsiteY18" fmla="*/ 210926 h 233403"/>
                <a:gd name="connsiteX19" fmla="*/ 55245 w 207262"/>
                <a:gd name="connsiteY19" fmla="*/ 170921 h 233403"/>
                <a:gd name="connsiteX20" fmla="*/ 20003 w 207262"/>
                <a:gd name="connsiteY20" fmla="*/ 170921 h 233403"/>
                <a:gd name="connsiteX21" fmla="*/ 20003 w 207262"/>
                <a:gd name="connsiteY21" fmla="*/ 62336 h 233403"/>
                <a:gd name="connsiteX22" fmla="*/ 55245 w 207262"/>
                <a:gd name="connsiteY22" fmla="*/ 62336 h 233403"/>
                <a:gd name="connsiteX23" fmla="*/ 55245 w 207262"/>
                <a:gd name="connsiteY23" fmla="*/ 170921 h 233403"/>
                <a:gd name="connsiteX24" fmla="*/ 206692 w 207262"/>
                <a:gd name="connsiteY24" fmla="*/ 162348 h 233403"/>
                <a:gd name="connsiteX25" fmla="*/ 204788 w 207262"/>
                <a:gd name="connsiteY25" fmla="*/ 149966 h 233403"/>
                <a:gd name="connsiteX26" fmla="*/ 185738 w 207262"/>
                <a:gd name="connsiteY26" fmla="*/ 116628 h 233403"/>
                <a:gd name="connsiteX27" fmla="*/ 204788 w 207262"/>
                <a:gd name="connsiteY27" fmla="*/ 83291 h 233403"/>
                <a:gd name="connsiteX28" fmla="*/ 206692 w 207262"/>
                <a:gd name="connsiteY28" fmla="*/ 70908 h 233403"/>
                <a:gd name="connsiteX29" fmla="*/ 199072 w 207262"/>
                <a:gd name="connsiteY29" fmla="*/ 61383 h 233403"/>
                <a:gd name="connsiteX30" fmla="*/ 97155 w 207262"/>
                <a:gd name="connsiteY30" fmla="*/ 2328 h 233403"/>
                <a:gd name="connsiteX31" fmla="*/ 75247 w 207262"/>
                <a:gd name="connsiteY31" fmla="*/ 8043 h 233403"/>
                <a:gd name="connsiteX32" fmla="*/ 56197 w 207262"/>
                <a:gd name="connsiteY32" fmla="*/ 41381 h 233403"/>
                <a:gd name="connsiteX33" fmla="*/ 16192 w 207262"/>
                <a:gd name="connsiteY33" fmla="*/ 41381 h 233403"/>
                <a:gd name="connsiteX34" fmla="*/ 16192 w 207262"/>
                <a:gd name="connsiteY34" fmla="*/ 41381 h 233403"/>
                <a:gd name="connsiteX35" fmla="*/ 4763 w 207262"/>
                <a:gd name="connsiteY35" fmla="*/ 46143 h 233403"/>
                <a:gd name="connsiteX36" fmla="*/ 0 w 207262"/>
                <a:gd name="connsiteY36" fmla="*/ 57573 h 233403"/>
                <a:gd name="connsiteX37" fmla="*/ 0 w 207262"/>
                <a:gd name="connsiteY37" fmla="*/ 175683 h 233403"/>
                <a:gd name="connsiteX38" fmla="*/ 16192 w 207262"/>
                <a:gd name="connsiteY38" fmla="*/ 191876 h 233403"/>
                <a:gd name="connsiteX39" fmla="*/ 56197 w 207262"/>
                <a:gd name="connsiteY39" fmla="*/ 191876 h 233403"/>
                <a:gd name="connsiteX40" fmla="*/ 75247 w 207262"/>
                <a:gd name="connsiteY40" fmla="*/ 225213 h 233403"/>
                <a:gd name="connsiteX41" fmla="*/ 84772 w 207262"/>
                <a:gd name="connsiteY41" fmla="*/ 232833 h 233403"/>
                <a:gd name="connsiteX42" fmla="*/ 97155 w 207262"/>
                <a:gd name="connsiteY42" fmla="*/ 230928 h 233403"/>
                <a:gd name="connsiteX43" fmla="*/ 199072 w 207262"/>
                <a:gd name="connsiteY43" fmla="*/ 171873 h 233403"/>
                <a:gd name="connsiteX44" fmla="*/ 206692 w 207262"/>
                <a:gd name="connsiteY44" fmla="*/ 162348 h 2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262" h="233403">
                  <a:moveTo>
                    <a:pt x="169545" y="103293"/>
                  </a:moveTo>
                  <a:lnTo>
                    <a:pt x="167640" y="106151"/>
                  </a:lnTo>
                  <a:lnTo>
                    <a:pt x="74295" y="51858"/>
                  </a:lnTo>
                  <a:lnTo>
                    <a:pt x="76200" y="49001"/>
                  </a:lnTo>
                  <a:lnTo>
                    <a:pt x="92392" y="21378"/>
                  </a:lnTo>
                  <a:lnTo>
                    <a:pt x="93345" y="22331"/>
                  </a:lnTo>
                  <a:lnTo>
                    <a:pt x="186690" y="75671"/>
                  </a:lnTo>
                  <a:lnTo>
                    <a:pt x="169545" y="103293"/>
                  </a:lnTo>
                  <a:close/>
                  <a:moveTo>
                    <a:pt x="76200" y="154728"/>
                  </a:moveTo>
                  <a:lnTo>
                    <a:pt x="76200" y="78528"/>
                  </a:lnTo>
                  <a:lnTo>
                    <a:pt x="141922" y="116628"/>
                  </a:lnTo>
                  <a:lnTo>
                    <a:pt x="76200" y="154728"/>
                  </a:lnTo>
                  <a:close/>
                  <a:moveTo>
                    <a:pt x="90488" y="210926"/>
                  </a:moveTo>
                  <a:lnTo>
                    <a:pt x="73342" y="180446"/>
                  </a:lnTo>
                  <a:lnTo>
                    <a:pt x="74295" y="179493"/>
                  </a:lnTo>
                  <a:lnTo>
                    <a:pt x="166688" y="126153"/>
                  </a:lnTo>
                  <a:lnTo>
                    <a:pt x="168592" y="129963"/>
                  </a:lnTo>
                  <a:lnTo>
                    <a:pt x="183833" y="156633"/>
                  </a:lnTo>
                  <a:lnTo>
                    <a:pt x="90488" y="210926"/>
                  </a:lnTo>
                  <a:close/>
                  <a:moveTo>
                    <a:pt x="55245" y="170921"/>
                  </a:moveTo>
                  <a:lnTo>
                    <a:pt x="20003" y="170921"/>
                  </a:lnTo>
                  <a:lnTo>
                    <a:pt x="20003" y="62336"/>
                  </a:lnTo>
                  <a:lnTo>
                    <a:pt x="55245" y="62336"/>
                  </a:lnTo>
                  <a:lnTo>
                    <a:pt x="55245" y="170921"/>
                  </a:lnTo>
                  <a:close/>
                  <a:moveTo>
                    <a:pt x="206692" y="162348"/>
                  </a:moveTo>
                  <a:cubicBezTo>
                    <a:pt x="207645" y="158538"/>
                    <a:pt x="207645" y="153776"/>
                    <a:pt x="204788" y="149966"/>
                  </a:cubicBezTo>
                  <a:lnTo>
                    <a:pt x="185738" y="116628"/>
                  </a:lnTo>
                  <a:lnTo>
                    <a:pt x="204788" y="83291"/>
                  </a:lnTo>
                  <a:cubicBezTo>
                    <a:pt x="206692" y="79481"/>
                    <a:pt x="207645" y="75671"/>
                    <a:pt x="206692" y="70908"/>
                  </a:cubicBezTo>
                  <a:cubicBezTo>
                    <a:pt x="205740" y="67098"/>
                    <a:pt x="202883" y="63288"/>
                    <a:pt x="199072" y="61383"/>
                  </a:cubicBezTo>
                  <a:lnTo>
                    <a:pt x="97155" y="2328"/>
                  </a:lnTo>
                  <a:cubicBezTo>
                    <a:pt x="89535" y="-2434"/>
                    <a:pt x="80010" y="423"/>
                    <a:pt x="75247" y="8043"/>
                  </a:cubicBezTo>
                  <a:lnTo>
                    <a:pt x="56197" y="41381"/>
                  </a:lnTo>
                  <a:lnTo>
                    <a:pt x="16192" y="41381"/>
                  </a:lnTo>
                  <a:lnTo>
                    <a:pt x="16192" y="41381"/>
                  </a:lnTo>
                  <a:cubicBezTo>
                    <a:pt x="12383" y="41381"/>
                    <a:pt x="7620" y="43286"/>
                    <a:pt x="4763" y="46143"/>
                  </a:cubicBezTo>
                  <a:cubicBezTo>
                    <a:pt x="1905" y="49001"/>
                    <a:pt x="0" y="52811"/>
                    <a:pt x="0" y="57573"/>
                  </a:cubicBezTo>
                  <a:lnTo>
                    <a:pt x="0" y="175683"/>
                  </a:lnTo>
                  <a:cubicBezTo>
                    <a:pt x="0" y="184256"/>
                    <a:pt x="7620" y="191876"/>
                    <a:pt x="16192" y="191876"/>
                  </a:cubicBezTo>
                  <a:lnTo>
                    <a:pt x="56197" y="191876"/>
                  </a:lnTo>
                  <a:lnTo>
                    <a:pt x="75247" y="225213"/>
                  </a:lnTo>
                  <a:cubicBezTo>
                    <a:pt x="77153" y="229023"/>
                    <a:pt x="80963" y="231881"/>
                    <a:pt x="84772" y="232833"/>
                  </a:cubicBezTo>
                  <a:cubicBezTo>
                    <a:pt x="88583" y="233786"/>
                    <a:pt x="93345" y="233786"/>
                    <a:pt x="97155" y="230928"/>
                  </a:cubicBezTo>
                  <a:lnTo>
                    <a:pt x="199072" y="171873"/>
                  </a:lnTo>
                  <a:cubicBezTo>
                    <a:pt x="202883" y="169968"/>
                    <a:pt x="205740" y="167111"/>
                    <a:pt x="206692" y="16234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20" name="Free-form: Shape 8">
              <a:extLst>
                <a:ext uri="{FF2B5EF4-FFF2-40B4-BE49-F238E27FC236}">
                  <a16:creationId xmlns:a16="http://schemas.microsoft.com/office/drawing/2014/main" id="{CC51E604-D938-1FA5-0B08-24334D8F5EC3}"/>
                </a:ext>
              </a:extLst>
            </p:cNvPr>
            <p:cNvSpPr/>
            <p:nvPr/>
          </p:nvSpPr>
          <p:spPr>
            <a:xfrm>
              <a:off x="11836717" y="6741794"/>
              <a:ext cx="126682" cy="184785"/>
            </a:xfrm>
            <a:custGeom>
              <a:avLst/>
              <a:gdLst>
                <a:gd name="connsiteX0" fmla="*/ 0 w 126682"/>
                <a:gd name="connsiteY0" fmla="*/ 0 h 184785"/>
                <a:gd name="connsiteX1" fmla="*/ 0 w 126682"/>
                <a:gd name="connsiteY1" fmla="*/ 184785 h 184785"/>
                <a:gd name="connsiteX2" fmla="*/ 30480 w 126682"/>
                <a:gd name="connsiteY2" fmla="*/ 184785 h 184785"/>
                <a:gd name="connsiteX3" fmla="*/ 30480 w 126682"/>
                <a:gd name="connsiteY3" fmla="*/ 129540 h 184785"/>
                <a:gd name="connsiteX4" fmla="*/ 33338 w 126682"/>
                <a:gd name="connsiteY4" fmla="*/ 129540 h 184785"/>
                <a:gd name="connsiteX5" fmla="*/ 91440 w 126682"/>
                <a:gd name="connsiteY5" fmla="*/ 184785 h 184785"/>
                <a:gd name="connsiteX6" fmla="*/ 126682 w 126682"/>
                <a:gd name="connsiteY6" fmla="*/ 184785 h 184785"/>
                <a:gd name="connsiteX7" fmla="*/ 126682 w 126682"/>
                <a:gd name="connsiteY7" fmla="*/ 180975 h 184785"/>
                <a:gd name="connsiteX8" fmla="*/ 57150 w 126682"/>
                <a:gd name="connsiteY8" fmla="*/ 115253 h 184785"/>
                <a:gd name="connsiteX9" fmla="*/ 125730 w 126682"/>
                <a:gd name="connsiteY9" fmla="*/ 56198 h 184785"/>
                <a:gd name="connsiteX10" fmla="*/ 125730 w 126682"/>
                <a:gd name="connsiteY10" fmla="*/ 52388 h 184785"/>
                <a:gd name="connsiteX11" fmla="*/ 90488 w 126682"/>
                <a:gd name="connsiteY11" fmla="*/ 52388 h 184785"/>
                <a:gd name="connsiteX12" fmla="*/ 33338 w 126682"/>
                <a:gd name="connsiteY12" fmla="*/ 103823 h 184785"/>
                <a:gd name="connsiteX13" fmla="*/ 30480 w 126682"/>
                <a:gd name="connsiteY13" fmla="*/ 103823 h 184785"/>
                <a:gd name="connsiteX14" fmla="*/ 30480 w 126682"/>
                <a:gd name="connsiteY14" fmla="*/ 0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6682" h="184785">
                  <a:moveTo>
                    <a:pt x="0" y="0"/>
                  </a:moveTo>
                  <a:lnTo>
                    <a:pt x="0" y="184785"/>
                  </a:lnTo>
                  <a:lnTo>
                    <a:pt x="30480" y="184785"/>
                  </a:lnTo>
                  <a:lnTo>
                    <a:pt x="30480" y="129540"/>
                  </a:lnTo>
                  <a:lnTo>
                    <a:pt x="33338" y="129540"/>
                  </a:lnTo>
                  <a:lnTo>
                    <a:pt x="91440" y="184785"/>
                  </a:lnTo>
                  <a:lnTo>
                    <a:pt x="126682" y="184785"/>
                  </a:lnTo>
                  <a:lnTo>
                    <a:pt x="126682" y="180975"/>
                  </a:lnTo>
                  <a:lnTo>
                    <a:pt x="57150" y="115253"/>
                  </a:lnTo>
                  <a:lnTo>
                    <a:pt x="125730" y="56198"/>
                  </a:lnTo>
                  <a:lnTo>
                    <a:pt x="125730" y="52388"/>
                  </a:lnTo>
                  <a:lnTo>
                    <a:pt x="90488" y="52388"/>
                  </a:lnTo>
                  <a:lnTo>
                    <a:pt x="33338" y="103823"/>
                  </a:lnTo>
                  <a:lnTo>
                    <a:pt x="30480" y="103823"/>
                  </a:lnTo>
                  <a:lnTo>
                    <a:pt x="304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21" name="Free-form: Shape 9">
              <a:extLst>
                <a:ext uri="{FF2B5EF4-FFF2-40B4-BE49-F238E27FC236}">
                  <a16:creationId xmlns:a16="http://schemas.microsoft.com/office/drawing/2014/main" id="{C9D5366A-F421-E9C3-1488-D2F082A6B435}"/>
                </a:ext>
              </a:extLst>
            </p:cNvPr>
            <p:cNvSpPr/>
            <p:nvPr/>
          </p:nvSpPr>
          <p:spPr>
            <a:xfrm>
              <a:off x="11953874" y="6791325"/>
              <a:ext cx="129540" cy="139065"/>
            </a:xfrm>
            <a:custGeom>
              <a:avLst/>
              <a:gdLst>
                <a:gd name="connsiteX0" fmla="*/ 29528 w 129540"/>
                <a:gd name="connsiteY0" fmla="*/ 55245 h 139065"/>
                <a:gd name="connsiteX1" fmla="*/ 65722 w 129540"/>
                <a:gd name="connsiteY1" fmla="*/ 20955 h 139065"/>
                <a:gd name="connsiteX2" fmla="*/ 100013 w 129540"/>
                <a:gd name="connsiteY2" fmla="*/ 55245 h 139065"/>
                <a:gd name="connsiteX3" fmla="*/ 29528 w 129540"/>
                <a:gd name="connsiteY3" fmla="*/ 55245 h 139065"/>
                <a:gd name="connsiteX4" fmla="*/ 66675 w 129540"/>
                <a:gd name="connsiteY4" fmla="*/ 0 h 139065"/>
                <a:gd name="connsiteX5" fmla="*/ 0 w 129540"/>
                <a:gd name="connsiteY5" fmla="*/ 69532 h 139065"/>
                <a:gd name="connsiteX6" fmla="*/ 66675 w 129540"/>
                <a:gd name="connsiteY6" fmla="*/ 139065 h 139065"/>
                <a:gd name="connsiteX7" fmla="*/ 126682 w 129540"/>
                <a:gd name="connsiteY7" fmla="*/ 98107 h 139065"/>
                <a:gd name="connsiteX8" fmla="*/ 126682 w 129540"/>
                <a:gd name="connsiteY8" fmla="*/ 94297 h 139065"/>
                <a:gd name="connsiteX9" fmla="*/ 100013 w 129540"/>
                <a:gd name="connsiteY9" fmla="*/ 94297 h 139065"/>
                <a:gd name="connsiteX10" fmla="*/ 66675 w 129540"/>
                <a:gd name="connsiteY10" fmla="*/ 117157 h 139065"/>
                <a:gd name="connsiteX11" fmla="*/ 29528 w 129540"/>
                <a:gd name="connsiteY11" fmla="*/ 77153 h 139065"/>
                <a:gd name="connsiteX12" fmla="*/ 129540 w 129540"/>
                <a:gd name="connsiteY12" fmla="*/ 77153 h 139065"/>
                <a:gd name="connsiteX13" fmla="*/ 129540 w 129540"/>
                <a:gd name="connsiteY13" fmla="*/ 64770 h 139065"/>
                <a:gd name="connsiteX14" fmla="*/ 66675 w 129540"/>
                <a:gd name="connsiteY14" fmla="*/ 0 h 13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9540" h="139065">
                  <a:moveTo>
                    <a:pt x="29528" y="55245"/>
                  </a:moveTo>
                  <a:cubicBezTo>
                    <a:pt x="31432" y="35243"/>
                    <a:pt x="43815" y="20955"/>
                    <a:pt x="65722" y="20955"/>
                  </a:cubicBezTo>
                  <a:cubicBezTo>
                    <a:pt x="88582" y="20955"/>
                    <a:pt x="100013" y="35243"/>
                    <a:pt x="100013" y="55245"/>
                  </a:cubicBezTo>
                  <a:lnTo>
                    <a:pt x="29528" y="55245"/>
                  </a:lnTo>
                  <a:close/>
                  <a:moveTo>
                    <a:pt x="66675" y="0"/>
                  </a:moveTo>
                  <a:cubicBezTo>
                    <a:pt x="26670" y="0"/>
                    <a:pt x="0" y="23813"/>
                    <a:pt x="0" y="69532"/>
                  </a:cubicBezTo>
                  <a:cubicBezTo>
                    <a:pt x="0" y="115253"/>
                    <a:pt x="26670" y="139065"/>
                    <a:pt x="66675" y="139065"/>
                  </a:cubicBezTo>
                  <a:cubicBezTo>
                    <a:pt x="106680" y="139065"/>
                    <a:pt x="122872" y="115253"/>
                    <a:pt x="126682" y="98107"/>
                  </a:cubicBezTo>
                  <a:lnTo>
                    <a:pt x="126682" y="94297"/>
                  </a:lnTo>
                  <a:lnTo>
                    <a:pt x="100013" y="94297"/>
                  </a:lnTo>
                  <a:cubicBezTo>
                    <a:pt x="98107" y="104775"/>
                    <a:pt x="88582" y="117157"/>
                    <a:pt x="66675" y="117157"/>
                  </a:cubicBezTo>
                  <a:cubicBezTo>
                    <a:pt x="43815" y="117157"/>
                    <a:pt x="30480" y="100965"/>
                    <a:pt x="29528" y="77153"/>
                  </a:cubicBezTo>
                  <a:lnTo>
                    <a:pt x="129540" y="77153"/>
                  </a:lnTo>
                  <a:lnTo>
                    <a:pt x="129540" y="64770"/>
                  </a:lnTo>
                  <a:cubicBezTo>
                    <a:pt x="129540" y="23813"/>
                    <a:pt x="106680" y="0"/>
                    <a:pt x="66675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22" name="Free-form: Shape 10">
              <a:extLst>
                <a:ext uri="{FF2B5EF4-FFF2-40B4-BE49-F238E27FC236}">
                  <a16:creationId xmlns:a16="http://schemas.microsoft.com/office/drawing/2014/main" id="{9A08B380-E4B3-E8F0-C7BE-EF848B6D3995}"/>
                </a:ext>
              </a:extLst>
            </p:cNvPr>
            <p:cNvSpPr/>
            <p:nvPr/>
          </p:nvSpPr>
          <p:spPr>
            <a:xfrm>
              <a:off x="12077699" y="6794182"/>
              <a:ext cx="137159" cy="183832"/>
            </a:xfrm>
            <a:custGeom>
              <a:avLst/>
              <a:gdLst>
                <a:gd name="connsiteX0" fmla="*/ 106680 w 137159"/>
                <a:gd name="connsiteY0" fmla="*/ 0 h 183832"/>
                <a:gd name="connsiteX1" fmla="*/ 70485 w 137159"/>
                <a:gd name="connsiteY1" fmla="*/ 97155 h 183832"/>
                <a:gd name="connsiteX2" fmla="*/ 67628 w 137159"/>
                <a:gd name="connsiteY2" fmla="*/ 97155 h 183832"/>
                <a:gd name="connsiteX3" fmla="*/ 31432 w 137159"/>
                <a:gd name="connsiteY3" fmla="*/ 0 h 183832"/>
                <a:gd name="connsiteX4" fmla="*/ 0 w 137159"/>
                <a:gd name="connsiteY4" fmla="*/ 0 h 183832"/>
                <a:gd name="connsiteX5" fmla="*/ 0 w 137159"/>
                <a:gd name="connsiteY5" fmla="*/ 3810 h 183832"/>
                <a:gd name="connsiteX6" fmla="*/ 53340 w 137159"/>
                <a:gd name="connsiteY6" fmla="*/ 132398 h 183832"/>
                <a:gd name="connsiteX7" fmla="*/ 33338 w 137159"/>
                <a:gd name="connsiteY7" fmla="*/ 180023 h 183832"/>
                <a:gd name="connsiteX8" fmla="*/ 33338 w 137159"/>
                <a:gd name="connsiteY8" fmla="*/ 183833 h 183832"/>
                <a:gd name="connsiteX9" fmla="*/ 63818 w 137159"/>
                <a:gd name="connsiteY9" fmla="*/ 183833 h 183832"/>
                <a:gd name="connsiteX10" fmla="*/ 137160 w 137159"/>
                <a:gd name="connsiteY10" fmla="*/ 3810 h 183832"/>
                <a:gd name="connsiteX11" fmla="*/ 137160 w 137159"/>
                <a:gd name="connsiteY11" fmla="*/ 0 h 18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9" h="183832">
                  <a:moveTo>
                    <a:pt x="106680" y="0"/>
                  </a:moveTo>
                  <a:lnTo>
                    <a:pt x="70485" y="97155"/>
                  </a:lnTo>
                  <a:lnTo>
                    <a:pt x="67628" y="97155"/>
                  </a:lnTo>
                  <a:lnTo>
                    <a:pt x="31432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53340" y="132398"/>
                  </a:lnTo>
                  <a:lnTo>
                    <a:pt x="33338" y="180023"/>
                  </a:lnTo>
                  <a:lnTo>
                    <a:pt x="33338" y="183833"/>
                  </a:lnTo>
                  <a:lnTo>
                    <a:pt x="63818" y="183833"/>
                  </a:lnTo>
                  <a:lnTo>
                    <a:pt x="137160" y="3810"/>
                  </a:lnTo>
                  <a:lnTo>
                    <a:pt x="13716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grpSp>
          <p:nvGrpSpPr>
            <p:cNvPr id="23" name="Graphic 7">
              <a:extLst>
                <a:ext uri="{FF2B5EF4-FFF2-40B4-BE49-F238E27FC236}">
                  <a16:creationId xmlns:a16="http://schemas.microsoft.com/office/drawing/2014/main" id="{A312D5EE-37D9-1331-6E14-9305BE7703A9}"/>
                </a:ext>
              </a:extLst>
            </p:cNvPr>
            <p:cNvGrpSpPr/>
            <p:nvPr/>
          </p:nvGrpSpPr>
          <p:grpSpPr>
            <a:xfrm>
              <a:off x="12212002" y="6759892"/>
              <a:ext cx="618172" cy="170497"/>
              <a:chOff x="12212002" y="6759892"/>
              <a:chExt cx="618172" cy="170497"/>
            </a:xfrm>
            <a:grpFill/>
          </p:grpSpPr>
          <p:sp>
            <p:nvSpPr>
              <p:cNvPr id="24" name="Free-form: Shape 12">
                <a:extLst>
                  <a:ext uri="{FF2B5EF4-FFF2-40B4-BE49-F238E27FC236}">
                    <a16:creationId xmlns:a16="http://schemas.microsoft.com/office/drawing/2014/main" id="{E731A1EA-439E-46E1-DEF0-D30CA84AD6EF}"/>
                  </a:ext>
                </a:extLst>
              </p:cNvPr>
              <p:cNvSpPr/>
              <p:nvPr/>
            </p:nvSpPr>
            <p:spPr>
              <a:xfrm>
                <a:off x="12212002" y="6792277"/>
                <a:ext cx="120015" cy="137159"/>
              </a:xfrm>
              <a:custGeom>
                <a:avLst/>
                <a:gdLst>
                  <a:gd name="connsiteX0" fmla="*/ 75247 w 120015"/>
                  <a:gd name="connsiteY0" fmla="*/ 58103 h 137159"/>
                  <a:gd name="connsiteX1" fmla="*/ 50482 w 120015"/>
                  <a:gd name="connsiteY1" fmla="*/ 54292 h 137159"/>
                  <a:gd name="connsiteX2" fmla="*/ 30480 w 120015"/>
                  <a:gd name="connsiteY2" fmla="*/ 38100 h 137159"/>
                  <a:gd name="connsiteX3" fmla="*/ 58103 w 120015"/>
                  <a:gd name="connsiteY3" fmla="*/ 20955 h 137159"/>
                  <a:gd name="connsiteX4" fmla="*/ 89535 w 120015"/>
                  <a:gd name="connsiteY4" fmla="*/ 43815 h 137159"/>
                  <a:gd name="connsiteX5" fmla="*/ 117157 w 120015"/>
                  <a:gd name="connsiteY5" fmla="*/ 43815 h 137159"/>
                  <a:gd name="connsiteX6" fmla="*/ 117157 w 120015"/>
                  <a:gd name="connsiteY6" fmla="*/ 40005 h 137159"/>
                  <a:gd name="connsiteX7" fmla="*/ 57150 w 120015"/>
                  <a:gd name="connsiteY7" fmla="*/ 0 h 137159"/>
                  <a:gd name="connsiteX8" fmla="*/ 953 w 120015"/>
                  <a:gd name="connsiteY8" fmla="*/ 39053 h 137159"/>
                  <a:gd name="connsiteX9" fmla="*/ 42863 w 120015"/>
                  <a:gd name="connsiteY9" fmla="*/ 77153 h 137159"/>
                  <a:gd name="connsiteX10" fmla="*/ 67628 w 120015"/>
                  <a:gd name="connsiteY10" fmla="*/ 80963 h 137159"/>
                  <a:gd name="connsiteX11" fmla="*/ 90488 w 120015"/>
                  <a:gd name="connsiteY11" fmla="*/ 98107 h 137159"/>
                  <a:gd name="connsiteX12" fmla="*/ 61913 w 120015"/>
                  <a:gd name="connsiteY12" fmla="*/ 116205 h 137159"/>
                  <a:gd name="connsiteX13" fmla="*/ 27622 w 120015"/>
                  <a:gd name="connsiteY13" fmla="*/ 92392 h 137159"/>
                  <a:gd name="connsiteX14" fmla="*/ 0 w 120015"/>
                  <a:gd name="connsiteY14" fmla="*/ 92392 h 137159"/>
                  <a:gd name="connsiteX15" fmla="*/ 0 w 120015"/>
                  <a:gd name="connsiteY15" fmla="*/ 96203 h 137159"/>
                  <a:gd name="connsiteX16" fmla="*/ 62865 w 120015"/>
                  <a:gd name="connsiteY16" fmla="*/ 137160 h 137159"/>
                  <a:gd name="connsiteX17" fmla="*/ 120015 w 120015"/>
                  <a:gd name="connsiteY17" fmla="*/ 96203 h 137159"/>
                  <a:gd name="connsiteX18" fmla="*/ 75247 w 120015"/>
                  <a:gd name="connsiteY18" fmla="*/ 58103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0015" h="137159">
                    <a:moveTo>
                      <a:pt x="75247" y="58103"/>
                    </a:moveTo>
                    <a:lnTo>
                      <a:pt x="50482" y="54292"/>
                    </a:lnTo>
                    <a:cubicBezTo>
                      <a:pt x="39053" y="52388"/>
                      <a:pt x="30480" y="48578"/>
                      <a:pt x="30480" y="38100"/>
                    </a:cubicBezTo>
                    <a:cubicBezTo>
                      <a:pt x="30480" y="27622"/>
                      <a:pt x="40005" y="20955"/>
                      <a:pt x="58103" y="20955"/>
                    </a:cubicBezTo>
                    <a:cubicBezTo>
                      <a:pt x="76200" y="20955"/>
                      <a:pt x="88582" y="27622"/>
                      <a:pt x="89535" y="43815"/>
                    </a:cubicBezTo>
                    <a:lnTo>
                      <a:pt x="117157" y="43815"/>
                    </a:lnTo>
                    <a:lnTo>
                      <a:pt x="117157" y="40005"/>
                    </a:lnTo>
                    <a:cubicBezTo>
                      <a:pt x="114300" y="16192"/>
                      <a:pt x="93345" y="0"/>
                      <a:pt x="57150" y="0"/>
                    </a:cubicBezTo>
                    <a:cubicBezTo>
                      <a:pt x="20955" y="0"/>
                      <a:pt x="953" y="16192"/>
                      <a:pt x="953" y="39053"/>
                    </a:cubicBezTo>
                    <a:cubicBezTo>
                      <a:pt x="953" y="61913"/>
                      <a:pt x="18097" y="73342"/>
                      <a:pt x="42863" y="77153"/>
                    </a:cubicBezTo>
                    <a:lnTo>
                      <a:pt x="67628" y="80963"/>
                    </a:lnTo>
                    <a:cubicBezTo>
                      <a:pt x="81915" y="82867"/>
                      <a:pt x="90488" y="87630"/>
                      <a:pt x="90488" y="98107"/>
                    </a:cubicBezTo>
                    <a:cubicBezTo>
                      <a:pt x="90488" y="109538"/>
                      <a:pt x="80963" y="116205"/>
                      <a:pt x="61913" y="116205"/>
                    </a:cubicBezTo>
                    <a:cubicBezTo>
                      <a:pt x="42863" y="116205"/>
                      <a:pt x="28575" y="108585"/>
                      <a:pt x="27622" y="92392"/>
                    </a:cubicBezTo>
                    <a:lnTo>
                      <a:pt x="0" y="92392"/>
                    </a:lnTo>
                    <a:lnTo>
                      <a:pt x="0" y="96203"/>
                    </a:lnTo>
                    <a:cubicBezTo>
                      <a:pt x="1905" y="120015"/>
                      <a:pt x="23813" y="137160"/>
                      <a:pt x="62865" y="137160"/>
                    </a:cubicBezTo>
                    <a:cubicBezTo>
                      <a:pt x="100965" y="137160"/>
                      <a:pt x="120015" y="120015"/>
                      <a:pt x="120015" y="96203"/>
                    </a:cubicBezTo>
                    <a:cubicBezTo>
                      <a:pt x="119063" y="72390"/>
                      <a:pt x="100965" y="62865"/>
                      <a:pt x="75247" y="58103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5" name="Free-form: Shape 13">
                <a:extLst>
                  <a:ext uri="{FF2B5EF4-FFF2-40B4-BE49-F238E27FC236}">
                    <a16:creationId xmlns:a16="http://schemas.microsoft.com/office/drawing/2014/main" id="{FB4F2EF6-A5C1-F4F5-6121-8ED4CA5AD1BC}"/>
                  </a:ext>
                </a:extLst>
              </p:cNvPr>
              <p:cNvSpPr/>
              <p:nvPr/>
            </p:nvSpPr>
            <p:spPr>
              <a:xfrm>
                <a:off x="12330112" y="6759892"/>
                <a:ext cx="93344" cy="166687"/>
              </a:xfrm>
              <a:custGeom>
                <a:avLst/>
                <a:gdLst>
                  <a:gd name="connsiteX0" fmla="*/ 56197 w 93344"/>
                  <a:gd name="connsiteY0" fmla="*/ 142875 h 166687"/>
                  <a:gd name="connsiteX1" fmla="*/ 56197 w 93344"/>
                  <a:gd name="connsiteY1" fmla="*/ 56197 h 166687"/>
                  <a:gd name="connsiteX2" fmla="*/ 93345 w 93344"/>
                  <a:gd name="connsiteY2" fmla="*/ 56197 h 166687"/>
                  <a:gd name="connsiteX3" fmla="*/ 93345 w 93344"/>
                  <a:gd name="connsiteY3" fmla="*/ 35242 h 166687"/>
                  <a:gd name="connsiteX4" fmla="*/ 56197 w 93344"/>
                  <a:gd name="connsiteY4" fmla="*/ 35242 h 166687"/>
                  <a:gd name="connsiteX5" fmla="*/ 56197 w 93344"/>
                  <a:gd name="connsiteY5" fmla="*/ 0 h 166687"/>
                  <a:gd name="connsiteX6" fmla="*/ 25718 w 93344"/>
                  <a:gd name="connsiteY6" fmla="*/ 0 h 166687"/>
                  <a:gd name="connsiteX7" fmla="*/ 25718 w 93344"/>
                  <a:gd name="connsiteY7" fmla="*/ 35242 h 166687"/>
                  <a:gd name="connsiteX8" fmla="*/ 0 w 93344"/>
                  <a:gd name="connsiteY8" fmla="*/ 35242 h 166687"/>
                  <a:gd name="connsiteX9" fmla="*/ 0 w 93344"/>
                  <a:gd name="connsiteY9" fmla="*/ 56197 h 166687"/>
                  <a:gd name="connsiteX10" fmla="*/ 25718 w 93344"/>
                  <a:gd name="connsiteY10" fmla="*/ 56197 h 166687"/>
                  <a:gd name="connsiteX11" fmla="*/ 25718 w 93344"/>
                  <a:gd name="connsiteY11" fmla="*/ 132397 h 166687"/>
                  <a:gd name="connsiteX12" fmla="*/ 61913 w 93344"/>
                  <a:gd name="connsiteY12" fmla="*/ 166688 h 166687"/>
                  <a:gd name="connsiteX13" fmla="*/ 92393 w 93344"/>
                  <a:gd name="connsiteY13" fmla="*/ 166688 h 166687"/>
                  <a:gd name="connsiteX14" fmla="*/ 92393 w 93344"/>
                  <a:gd name="connsiteY14" fmla="*/ 144780 h 166687"/>
                  <a:gd name="connsiteX15" fmla="*/ 58103 w 93344"/>
                  <a:gd name="connsiteY15" fmla="*/ 144780 h 166687"/>
                  <a:gd name="connsiteX16" fmla="*/ 56197 w 93344"/>
                  <a:gd name="connsiteY16" fmla="*/ 142875 h 166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344" h="166687">
                    <a:moveTo>
                      <a:pt x="56197" y="142875"/>
                    </a:moveTo>
                    <a:lnTo>
                      <a:pt x="56197" y="56197"/>
                    </a:lnTo>
                    <a:lnTo>
                      <a:pt x="93345" y="56197"/>
                    </a:lnTo>
                    <a:lnTo>
                      <a:pt x="93345" y="35242"/>
                    </a:lnTo>
                    <a:lnTo>
                      <a:pt x="56197" y="35242"/>
                    </a:lnTo>
                    <a:lnTo>
                      <a:pt x="56197" y="0"/>
                    </a:lnTo>
                    <a:lnTo>
                      <a:pt x="25718" y="0"/>
                    </a:lnTo>
                    <a:lnTo>
                      <a:pt x="25718" y="35242"/>
                    </a:lnTo>
                    <a:lnTo>
                      <a:pt x="0" y="35242"/>
                    </a:lnTo>
                    <a:lnTo>
                      <a:pt x="0" y="56197"/>
                    </a:lnTo>
                    <a:lnTo>
                      <a:pt x="25718" y="56197"/>
                    </a:lnTo>
                    <a:lnTo>
                      <a:pt x="25718" y="132397"/>
                    </a:lnTo>
                    <a:cubicBezTo>
                      <a:pt x="25718" y="155257"/>
                      <a:pt x="39053" y="166688"/>
                      <a:pt x="61913" y="166688"/>
                    </a:cubicBezTo>
                    <a:lnTo>
                      <a:pt x="92393" y="166688"/>
                    </a:lnTo>
                    <a:lnTo>
                      <a:pt x="92393" y="144780"/>
                    </a:lnTo>
                    <a:lnTo>
                      <a:pt x="58103" y="144780"/>
                    </a:lnTo>
                    <a:lnTo>
                      <a:pt x="56197" y="1428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6" name="Free-form: Shape 14">
                <a:extLst>
                  <a:ext uri="{FF2B5EF4-FFF2-40B4-BE49-F238E27FC236}">
                    <a16:creationId xmlns:a16="http://schemas.microsoft.com/office/drawing/2014/main" id="{A46226C6-8319-8FC0-30B2-3EC5FC38C79A}"/>
                  </a:ext>
                </a:extLst>
              </p:cNvPr>
              <p:cNvSpPr/>
              <p:nvPr/>
            </p:nvSpPr>
            <p:spPr>
              <a:xfrm>
                <a:off x="12424409" y="6791325"/>
                <a:ext cx="137159" cy="139065"/>
              </a:xfrm>
              <a:custGeom>
                <a:avLst/>
                <a:gdLst>
                  <a:gd name="connsiteX0" fmla="*/ 68580 w 137159"/>
                  <a:gd name="connsiteY0" fmla="*/ 116205 h 139065"/>
                  <a:gd name="connsiteX1" fmla="*/ 30480 w 137159"/>
                  <a:gd name="connsiteY1" fmla="*/ 69532 h 139065"/>
                  <a:gd name="connsiteX2" fmla="*/ 68580 w 137159"/>
                  <a:gd name="connsiteY2" fmla="*/ 22860 h 139065"/>
                  <a:gd name="connsiteX3" fmla="*/ 106680 w 137159"/>
                  <a:gd name="connsiteY3" fmla="*/ 69532 h 139065"/>
                  <a:gd name="connsiteX4" fmla="*/ 68580 w 137159"/>
                  <a:gd name="connsiteY4" fmla="*/ 116205 h 139065"/>
                  <a:gd name="connsiteX5" fmla="*/ 68580 w 137159"/>
                  <a:gd name="connsiteY5" fmla="*/ 0 h 139065"/>
                  <a:gd name="connsiteX6" fmla="*/ 0 w 137159"/>
                  <a:gd name="connsiteY6" fmla="*/ 69532 h 139065"/>
                  <a:gd name="connsiteX7" fmla="*/ 68580 w 137159"/>
                  <a:gd name="connsiteY7" fmla="*/ 139065 h 139065"/>
                  <a:gd name="connsiteX8" fmla="*/ 137160 w 137159"/>
                  <a:gd name="connsiteY8" fmla="*/ 69532 h 139065"/>
                  <a:gd name="connsiteX9" fmla="*/ 68580 w 137159"/>
                  <a:gd name="connsiteY9" fmla="*/ 0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139065">
                    <a:moveTo>
                      <a:pt x="68580" y="116205"/>
                    </a:moveTo>
                    <a:cubicBezTo>
                      <a:pt x="45720" y="116205"/>
                      <a:pt x="30480" y="100013"/>
                      <a:pt x="30480" y="69532"/>
                    </a:cubicBezTo>
                    <a:cubicBezTo>
                      <a:pt x="30480" y="39053"/>
                      <a:pt x="45720" y="22860"/>
                      <a:pt x="68580" y="22860"/>
                    </a:cubicBezTo>
                    <a:cubicBezTo>
                      <a:pt x="91440" y="22860"/>
                      <a:pt x="106680" y="39053"/>
                      <a:pt x="106680" y="69532"/>
                    </a:cubicBezTo>
                    <a:cubicBezTo>
                      <a:pt x="106680" y="100013"/>
                      <a:pt x="91440" y="116205"/>
                      <a:pt x="68580" y="116205"/>
                    </a:cubicBezTo>
                    <a:moveTo>
                      <a:pt x="68580" y="0"/>
                    </a:moveTo>
                    <a:cubicBezTo>
                      <a:pt x="28575" y="0"/>
                      <a:pt x="0" y="23813"/>
                      <a:pt x="0" y="69532"/>
                    </a:cubicBezTo>
                    <a:cubicBezTo>
                      <a:pt x="0" y="114300"/>
                      <a:pt x="28575" y="139065"/>
                      <a:pt x="68580" y="139065"/>
                    </a:cubicBezTo>
                    <a:cubicBezTo>
                      <a:pt x="108585" y="139065"/>
                      <a:pt x="137160" y="115253"/>
                      <a:pt x="137160" y="69532"/>
                    </a:cubicBezTo>
                    <a:cubicBezTo>
                      <a:pt x="137160" y="23813"/>
                      <a:pt x="108585" y="0"/>
                      <a:pt x="68580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7" name="Free-form: Shape 15">
                <a:extLst>
                  <a:ext uri="{FF2B5EF4-FFF2-40B4-BE49-F238E27FC236}">
                    <a16:creationId xmlns:a16="http://schemas.microsoft.com/office/drawing/2014/main" id="{64FF8349-E037-A8F5-8C68-C66423DCF2DB}"/>
                  </a:ext>
                </a:extLst>
              </p:cNvPr>
              <p:cNvSpPr/>
              <p:nvPr/>
            </p:nvSpPr>
            <p:spPr>
              <a:xfrm>
                <a:off x="12568237" y="6791325"/>
                <a:ext cx="123857" cy="135255"/>
              </a:xfrm>
              <a:custGeom>
                <a:avLst/>
                <a:gdLst>
                  <a:gd name="connsiteX0" fmla="*/ 75247 w 123857"/>
                  <a:gd name="connsiteY0" fmla="*/ 0 h 135255"/>
                  <a:gd name="connsiteX1" fmla="*/ 32385 w 123857"/>
                  <a:gd name="connsiteY1" fmla="*/ 20003 h 135255"/>
                  <a:gd name="connsiteX2" fmla="*/ 29528 w 123857"/>
                  <a:gd name="connsiteY2" fmla="*/ 20003 h 135255"/>
                  <a:gd name="connsiteX3" fmla="*/ 29528 w 123857"/>
                  <a:gd name="connsiteY3" fmla="*/ 2857 h 135255"/>
                  <a:gd name="connsiteX4" fmla="*/ 0 w 123857"/>
                  <a:gd name="connsiteY4" fmla="*/ 2857 h 135255"/>
                  <a:gd name="connsiteX5" fmla="*/ 0 w 123857"/>
                  <a:gd name="connsiteY5" fmla="*/ 135255 h 135255"/>
                  <a:gd name="connsiteX6" fmla="*/ 30480 w 123857"/>
                  <a:gd name="connsiteY6" fmla="*/ 135255 h 135255"/>
                  <a:gd name="connsiteX7" fmla="*/ 30480 w 123857"/>
                  <a:gd name="connsiteY7" fmla="*/ 60960 h 135255"/>
                  <a:gd name="connsiteX8" fmla="*/ 65722 w 123857"/>
                  <a:gd name="connsiteY8" fmla="*/ 22860 h 135255"/>
                  <a:gd name="connsiteX9" fmla="*/ 93345 w 123857"/>
                  <a:gd name="connsiteY9" fmla="*/ 50482 h 135255"/>
                  <a:gd name="connsiteX10" fmla="*/ 93345 w 123857"/>
                  <a:gd name="connsiteY10" fmla="*/ 134303 h 135255"/>
                  <a:gd name="connsiteX11" fmla="*/ 123825 w 123857"/>
                  <a:gd name="connsiteY11" fmla="*/ 134303 h 135255"/>
                  <a:gd name="connsiteX12" fmla="*/ 123825 w 123857"/>
                  <a:gd name="connsiteY12" fmla="*/ 47625 h 135255"/>
                  <a:gd name="connsiteX13" fmla="*/ 75247 w 123857"/>
                  <a:gd name="connsiteY13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857" h="135255">
                    <a:moveTo>
                      <a:pt x="75247" y="0"/>
                    </a:moveTo>
                    <a:cubicBezTo>
                      <a:pt x="47625" y="0"/>
                      <a:pt x="37147" y="12382"/>
                      <a:pt x="32385" y="20003"/>
                    </a:cubicBezTo>
                    <a:lnTo>
                      <a:pt x="29528" y="20003"/>
                    </a:lnTo>
                    <a:lnTo>
                      <a:pt x="29528" y="2857"/>
                    </a:lnTo>
                    <a:lnTo>
                      <a:pt x="0" y="2857"/>
                    </a:lnTo>
                    <a:lnTo>
                      <a:pt x="0" y="135255"/>
                    </a:lnTo>
                    <a:lnTo>
                      <a:pt x="30480" y="135255"/>
                    </a:lnTo>
                    <a:lnTo>
                      <a:pt x="30480" y="60960"/>
                    </a:lnTo>
                    <a:cubicBezTo>
                      <a:pt x="30480" y="34290"/>
                      <a:pt x="46672" y="22860"/>
                      <a:pt x="65722" y="22860"/>
                    </a:cubicBezTo>
                    <a:cubicBezTo>
                      <a:pt x="82868" y="22860"/>
                      <a:pt x="93345" y="31432"/>
                      <a:pt x="93345" y="50482"/>
                    </a:cubicBezTo>
                    <a:lnTo>
                      <a:pt x="93345" y="134303"/>
                    </a:lnTo>
                    <a:lnTo>
                      <a:pt x="123825" y="134303"/>
                    </a:lnTo>
                    <a:lnTo>
                      <a:pt x="123825" y="47625"/>
                    </a:lnTo>
                    <a:cubicBezTo>
                      <a:pt x="124778" y="16193"/>
                      <a:pt x="104775" y="0"/>
                      <a:pt x="75247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8" name="Free-form: Shape 16">
                <a:extLst>
                  <a:ext uri="{FF2B5EF4-FFF2-40B4-BE49-F238E27FC236}">
                    <a16:creationId xmlns:a16="http://schemas.microsoft.com/office/drawing/2014/main" id="{76D71BED-5BA8-19C6-5F1B-7F6797EFC121}"/>
                  </a:ext>
                </a:extLst>
              </p:cNvPr>
              <p:cNvSpPr/>
              <p:nvPr/>
            </p:nvSpPr>
            <p:spPr>
              <a:xfrm>
                <a:off x="12700634" y="6791325"/>
                <a:ext cx="129540" cy="139065"/>
              </a:xfrm>
              <a:custGeom>
                <a:avLst/>
                <a:gdLst>
                  <a:gd name="connsiteX0" fmla="*/ 29528 w 129540"/>
                  <a:gd name="connsiteY0" fmla="*/ 55245 h 139065"/>
                  <a:gd name="connsiteX1" fmla="*/ 65722 w 129540"/>
                  <a:gd name="connsiteY1" fmla="*/ 20955 h 139065"/>
                  <a:gd name="connsiteX2" fmla="*/ 100013 w 129540"/>
                  <a:gd name="connsiteY2" fmla="*/ 55245 h 139065"/>
                  <a:gd name="connsiteX3" fmla="*/ 29528 w 129540"/>
                  <a:gd name="connsiteY3" fmla="*/ 55245 h 139065"/>
                  <a:gd name="connsiteX4" fmla="*/ 129540 w 129540"/>
                  <a:gd name="connsiteY4" fmla="*/ 63818 h 139065"/>
                  <a:gd name="connsiteX5" fmla="*/ 66675 w 129540"/>
                  <a:gd name="connsiteY5" fmla="*/ 0 h 139065"/>
                  <a:gd name="connsiteX6" fmla="*/ 0 w 129540"/>
                  <a:gd name="connsiteY6" fmla="*/ 69532 h 139065"/>
                  <a:gd name="connsiteX7" fmla="*/ 66675 w 129540"/>
                  <a:gd name="connsiteY7" fmla="*/ 139065 h 139065"/>
                  <a:gd name="connsiteX8" fmla="*/ 126683 w 129540"/>
                  <a:gd name="connsiteY8" fmla="*/ 98107 h 139065"/>
                  <a:gd name="connsiteX9" fmla="*/ 126683 w 129540"/>
                  <a:gd name="connsiteY9" fmla="*/ 94297 h 139065"/>
                  <a:gd name="connsiteX10" fmla="*/ 100013 w 129540"/>
                  <a:gd name="connsiteY10" fmla="*/ 94297 h 139065"/>
                  <a:gd name="connsiteX11" fmla="*/ 66675 w 129540"/>
                  <a:gd name="connsiteY11" fmla="*/ 117157 h 139065"/>
                  <a:gd name="connsiteX12" fmla="*/ 29528 w 129540"/>
                  <a:gd name="connsiteY12" fmla="*/ 77153 h 139065"/>
                  <a:gd name="connsiteX13" fmla="*/ 129540 w 129540"/>
                  <a:gd name="connsiteY13" fmla="*/ 77153 h 139065"/>
                  <a:gd name="connsiteX14" fmla="*/ 129540 w 129540"/>
                  <a:gd name="connsiteY14" fmla="*/ 63818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540" h="139065">
                    <a:moveTo>
                      <a:pt x="29528" y="55245"/>
                    </a:moveTo>
                    <a:cubicBezTo>
                      <a:pt x="31433" y="35243"/>
                      <a:pt x="43815" y="20955"/>
                      <a:pt x="65722" y="20955"/>
                    </a:cubicBezTo>
                    <a:cubicBezTo>
                      <a:pt x="88583" y="20955"/>
                      <a:pt x="100013" y="35243"/>
                      <a:pt x="100013" y="55245"/>
                    </a:cubicBezTo>
                    <a:lnTo>
                      <a:pt x="29528" y="55245"/>
                    </a:lnTo>
                    <a:close/>
                    <a:moveTo>
                      <a:pt x="129540" y="63818"/>
                    </a:moveTo>
                    <a:cubicBezTo>
                      <a:pt x="129540" y="23813"/>
                      <a:pt x="106680" y="0"/>
                      <a:pt x="66675" y="0"/>
                    </a:cubicBezTo>
                    <a:cubicBezTo>
                      <a:pt x="26670" y="0"/>
                      <a:pt x="0" y="23813"/>
                      <a:pt x="0" y="69532"/>
                    </a:cubicBezTo>
                    <a:cubicBezTo>
                      <a:pt x="0" y="115253"/>
                      <a:pt x="26670" y="139065"/>
                      <a:pt x="66675" y="139065"/>
                    </a:cubicBezTo>
                    <a:cubicBezTo>
                      <a:pt x="106680" y="139065"/>
                      <a:pt x="122872" y="115253"/>
                      <a:pt x="126683" y="98107"/>
                    </a:cubicBezTo>
                    <a:lnTo>
                      <a:pt x="126683" y="94297"/>
                    </a:lnTo>
                    <a:lnTo>
                      <a:pt x="100013" y="94297"/>
                    </a:lnTo>
                    <a:cubicBezTo>
                      <a:pt x="98108" y="104775"/>
                      <a:pt x="88583" y="117157"/>
                      <a:pt x="66675" y="117157"/>
                    </a:cubicBezTo>
                    <a:cubicBezTo>
                      <a:pt x="43815" y="117157"/>
                      <a:pt x="30480" y="100965"/>
                      <a:pt x="29528" y="77153"/>
                    </a:cubicBezTo>
                    <a:lnTo>
                      <a:pt x="129540" y="77153"/>
                    </a:lnTo>
                    <a:lnTo>
                      <a:pt x="129540" y="63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3851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hink-cell data - do not delete" hidden="1">
            <a:extLst>
              <a:ext uri="{FF2B5EF4-FFF2-40B4-BE49-F238E27FC236}">
                <a16:creationId xmlns:a16="http://schemas.microsoft.com/office/drawing/2014/main" id="{92A920C2-28D5-74B1-7632-0E8735DD6F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A920C2-28D5-74B1-7632-0E8735DD6F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0" y="691200"/>
            <a:ext cx="7467358" cy="1540566"/>
          </a:xfrm>
        </p:spPr>
        <p:txBody>
          <a:bodyPr vert="horz" anchor="b">
            <a:normAutofit/>
          </a:bodyPr>
          <a:lstStyle>
            <a:lvl1pPr algn="l">
              <a:lnSpc>
                <a:spcPct val="88000"/>
              </a:lnSpc>
              <a:defRPr sz="5400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0" y="2334600"/>
            <a:ext cx="7467358" cy="512762"/>
          </a:xfrm>
        </p:spPr>
        <p:txBody>
          <a:bodyPr>
            <a:normAutofit/>
          </a:bodyPr>
          <a:lstStyle>
            <a:lvl1pPr marL="0" indent="0" algn="l">
              <a:lnSpc>
                <a:spcPct val="98000"/>
              </a:lnSpc>
              <a:spcBef>
                <a:spcPts val="0"/>
              </a:spcBef>
              <a:buNone/>
              <a:defRPr sz="2000" spc="-55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F59106-972B-299C-D5DA-6BA7A053EC26}"/>
              </a:ext>
            </a:extLst>
          </p:cNvPr>
          <p:cNvGrpSpPr>
            <a:grpSpLocks noChangeAspect="1"/>
          </p:cNvGrpSpPr>
          <p:nvPr/>
        </p:nvGrpSpPr>
        <p:grpSpPr>
          <a:xfrm>
            <a:off x="256032" y="6350508"/>
            <a:ext cx="1339596" cy="251244"/>
            <a:chOff x="11563349" y="6740419"/>
            <a:chExt cx="1266825" cy="237595"/>
          </a:xfrm>
          <a:solidFill>
            <a:schemeClr val="tx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C88B326C-95E8-8F16-F3CB-76D0FA39DE7E}"/>
                </a:ext>
              </a:extLst>
            </p:cNvPr>
            <p:cNvSpPr/>
            <p:nvPr/>
          </p:nvSpPr>
          <p:spPr>
            <a:xfrm>
              <a:off x="11563349" y="6740419"/>
              <a:ext cx="207262" cy="233403"/>
            </a:xfrm>
            <a:custGeom>
              <a:avLst/>
              <a:gdLst>
                <a:gd name="connsiteX0" fmla="*/ 169545 w 207262"/>
                <a:gd name="connsiteY0" fmla="*/ 103293 h 233403"/>
                <a:gd name="connsiteX1" fmla="*/ 167640 w 207262"/>
                <a:gd name="connsiteY1" fmla="*/ 106151 h 233403"/>
                <a:gd name="connsiteX2" fmla="*/ 74295 w 207262"/>
                <a:gd name="connsiteY2" fmla="*/ 51858 h 233403"/>
                <a:gd name="connsiteX3" fmla="*/ 76200 w 207262"/>
                <a:gd name="connsiteY3" fmla="*/ 49001 h 233403"/>
                <a:gd name="connsiteX4" fmla="*/ 92392 w 207262"/>
                <a:gd name="connsiteY4" fmla="*/ 21378 h 233403"/>
                <a:gd name="connsiteX5" fmla="*/ 93345 w 207262"/>
                <a:gd name="connsiteY5" fmla="*/ 22331 h 233403"/>
                <a:gd name="connsiteX6" fmla="*/ 186690 w 207262"/>
                <a:gd name="connsiteY6" fmla="*/ 75671 h 233403"/>
                <a:gd name="connsiteX7" fmla="*/ 169545 w 207262"/>
                <a:gd name="connsiteY7" fmla="*/ 103293 h 233403"/>
                <a:gd name="connsiteX8" fmla="*/ 76200 w 207262"/>
                <a:gd name="connsiteY8" fmla="*/ 154728 h 233403"/>
                <a:gd name="connsiteX9" fmla="*/ 76200 w 207262"/>
                <a:gd name="connsiteY9" fmla="*/ 78528 h 233403"/>
                <a:gd name="connsiteX10" fmla="*/ 141922 w 207262"/>
                <a:gd name="connsiteY10" fmla="*/ 116628 h 233403"/>
                <a:gd name="connsiteX11" fmla="*/ 76200 w 207262"/>
                <a:gd name="connsiteY11" fmla="*/ 154728 h 233403"/>
                <a:gd name="connsiteX12" fmla="*/ 90488 w 207262"/>
                <a:gd name="connsiteY12" fmla="*/ 210926 h 233403"/>
                <a:gd name="connsiteX13" fmla="*/ 73342 w 207262"/>
                <a:gd name="connsiteY13" fmla="*/ 180446 h 233403"/>
                <a:gd name="connsiteX14" fmla="*/ 74295 w 207262"/>
                <a:gd name="connsiteY14" fmla="*/ 179493 h 233403"/>
                <a:gd name="connsiteX15" fmla="*/ 166688 w 207262"/>
                <a:gd name="connsiteY15" fmla="*/ 126153 h 233403"/>
                <a:gd name="connsiteX16" fmla="*/ 168592 w 207262"/>
                <a:gd name="connsiteY16" fmla="*/ 129963 h 233403"/>
                <a:gd name="connsiteX17" fmla="*/ 183833 w 207262"/>
                <a:gd name="connsiteY17" fmla="*/ 156633 h 233403"/>
                <a:gd name="connsiteX18" fmla="*/ 90488 w 207262"/>
                <a:gd name="connsiteY18" fmla="*/ 210926 h 233403"/>
                <a:gd name="connsiteX19" fmla="*/ 55245 w 207262"/>
                <a:gd name="connsiteY19" fmla="*/ 170921 h 233403"/>
                <a:gd name="connsiteX20" fmla="*/ 20003 w 207262"/>
                <a:gd name="connsiteY20" fmla="*/ 170921 h 233403"/>
                <a:gd name="connsiteX21" fmla="*/ 20003 w 207262"/>
                <a:gd name="connsiteY21" fmla="*/ 62336 h 233403"/>
                <a:gd name="connsiteX22" fmla="*/ 55245 w 207262"/>
                <a:gd name="connsiteY22" fmla="*/ 62336 h 233403"/>
                <a:gd name="connsiteX23" fmla="*/ 55245 w 207262"/>
                <a:gd name="connsiteY23" fmla="*/ 170921 h 233403"/>
                <a:gd name="connsiteX24" fmla="*/ 206692 w 207262"/>
                <a:gd name="connsiteY24" fmla="*/ 162348 h 233403"/>
                <a:gd name="connsiteX25" fmla="*/ 204788 w 207262"/>
                <a:gd name="connsiteY25" fmla="*/ 149966 h 233403"/>
                <a:gd name="connsiteX26" fmla="*/ 185738 w 207262"/>
                <a:gd name="connsiteY26" fmla="*/ 116628 h 233403"/>
                <a:gd name="connsiteX27" fmla="*/ 204788 w 207262"/>
                <a:gd name="connsiteY27" fmla="*/ 83291 h 233403"/>
                <a:gd name="connsiteX28" fmla="*/ 206692 w 207262"/>
                <a:gd name="connsiteY28" fmla="*/ 70908 h 233403"/>
                <a:gd name="connsiteX29" fmla="*/ 199072 w 207262"/>
                <a:gd name="connsiteY29" fmla="*/ 61383 h 233403"/>
                <a:gd name="connsiteX30" fmla="*/ 97155 w 207262"/>
                <a:gd name="connsiteY30" fmla="*/ 2328 h 233403"/>
                <a:gd name="connsiteX31" fmla="*/ 75247 w 207262"/>
                <a:gd name="connsiteY31" fmla="*/ 8043 h 233403"/>
                <a:gd name="connsiteX32" fmla="*/ 56197 w 207262"/>
                <a:gd name="connsiteY32" fmla="*/ 41381 h 233403"/>
                <a:gd name="connsiteX33" fmla="*/ 16192 w 207262"/>
                <a:gd name="connsiteY33" fmla="*/ 41381 h 233403"/>
                <a:gd name="connsiteX34" fmla="*/ 16192 w 207262"/>
                <a:gd name="connsiteY34" fmla="*/ 41381 h 233403"/>
                <a:gd name="connsiteX35" fmla="*/ 4763 w 207262"/>
                <a:gd name="connsiteY35" fmla="*/ 46143 h 233403"/>
                <a:gd name="connsiteX36" fmla="*/ 0 w 207262"/>
                <a:gd name="connsiteY36" fmla="*/ 57573 h 233403"/>
                <a:gd name="connsiteX37" fmla="*/ 0 w 207262"/>
                <a:gd name="connsiteY37" fmla="*/ 175683 h 233403"/>
                <a:gd name="connsiteX38" fmla="*/ 16192 w 207262"/>
                <a:gd name="connsiteY38" fmla="*/ 191876 h 233403"/>
                <a:gd name="connsiteX39" fmla="*/ 56197 w 207262"/>
                <a:gd name="connsiteY39" fmla="*/ 191876 h 233403"/>
                <a:gd name="connsiteX40" fmla="*/ 75247 w 207262"/>
                <a:gd name="connsiteY40" fmla="*/ 225213 h 233403"/>
                <a:gd name="connsiteX41" fmla="*/ 84772 w 207262"/>
                <a:gd name="connsiteY41" fmla="*/ 232833 h 233403"/>
                <a:gd name="connsiteX42" fmla="*/ 97155 w 207262"/>
                <a:gd name="connsiteY42" fmla="*/ 230928 h 233403"/>
                <a:gd name="connsiteX43" fmla="*/ 199072 w 207262"/>
                <a:gd name="connsiteY43" fmla="*/ 171873 h 233403"/>
                <a:gd name="connsiteX44" fmla="*/ 206692 w 207262"/>
                <a:gd name="connsiteY44" fmla="*/ 162348 h 2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262" h="233403">
                  <a:moveTo>
                    <a:pt x="169545" y="103293"/>
                  </a:moveTo>
                  <a:lnTo>
                    <a:pt x="167640" y="106151"/>
                  </a:lnTo>
                  <a:lnTo>
                    <a:pt x="74295" y="51858"/>
                  </a:lnTo>
                  <a:lnTo>
                    <a:pt x="76200" y="49001"/>
                  </a:lnTo>
                  <a:lnTo>
                    <a:pt x="92392" y="21378"/>
                  </a:lnTo>
                  <a:lnTo>
                    <a:pt x="93345" y="22331"/>
                  </a:lnTo>
                  <a:lnTo>
                    <a:pt x="186690" y="75671"/>
                  </a:lnTo>
                  <a:lnTo>
                    <a:pt x="169545" y="103293"/>
                  </a:lnTo>
                  <a:close/>
                  <a:moveTo>
                    <a:pt x="76200" y="154728"/>
                  </a:moveTo>
                  <a:lnTo>
                    <a:pt x="76200" y="78528"/>
                  </a:lnTo>
                  <a:lnTo>
                    <a:pt x="141922" y="116628"/>
                  </a:lnTo>
                  <a:lnTo>
                    <a:pt x="76200" y="154728"/>
                  </a:lnTo>
                  <a:close/>
                  <a:moveTo>
                    <a:pt x="90488" y="210926"/>
                  </a:moveTo>
                  <a:lnTo>
                    <a:pt x="73342" y="180446"/>
                  </a:lnTo>
                  <a:lnTo>
                    <a:pt x="74295" y="179493"/>
                  </a:lnTo>
                  <a:lnTo>
                    <a:pt x="166688" y="126153"/>
                  </a:lnTo>
                  <a:lnTo>
                    <a:pt x="168592" y="129963"/>
                  </a:lnTo>
                  <a:lnTo>
                    <a:pt x="183833" y="156633"/>
                  </a:lnTo>
                  <a:lnTo>
                    <a:pt x="90488" y="210926"/>
                  </a:lnTo>
                  <a:close/>
                  <a:moveTo>
                    <a:pt x="55245" y="170921"/>
                  </a:moveTo>
                  <a:lnTo>
                    <a:pt x="20003" y="170921"/>
                  </a:lnTo>
                  <a:lnTo>
                    <a:pt x="20003" y="62336"/>
                  </a:lnTo>
                  <a:lnTo>
                    <a:pt x="55245" y="62336"/>
                  </a:lnTo>
                  <a:lnTo>
                    <a:pt x="55245" y="170921"/>
                  </a:lnTo>
                  <a:close/>
                  <a:moveTo>
                    <a:pt x="206692" y="162348"/>
                  </a:moveTo>
                  <a:cubicBezTo>
                    <a:pt x="207645" y="158538"/>
                    <a:pt x="207645" y="153776"/>
                    <a:pt x="204788" y="149966"/>
                  </a:cubicBezTo>
                  <a:lnTo>
                    <a:pt x="185738" y="116628"/>
                  </a:lnTo>
                  <a:lnTo>
                    <a:pt x="204788" y="83291"/>
                  </a:lnTo>
                  <a:cubicBezTo>
                    <a:pt x="206692" y="79481"/>
                    <a:pt x="207645" y="75671"/>
                    <a:pt x="206692" y="70908"/>
                  </a:cubicBezTo>
                  <a:cubicBezTo>
                    <a:pt x="205740" y="67098"/>
                    <a:pt x="202883" y="63288"/>
                    <a:pt x="199072" y="61383"/>
                  </a:cubicBezTo>
                  <a:lnTo>
                    <a:pt x="97155" y="2328"/>
                  </a:lnTo>
                  <a:cubicBezTo>
                    <a:pt x="89535" y="-2434"/>
                    <a:pt x="80010" y="423"/>
                    <a:pt x="75247" y="8043"/>
                  </a:cubicBezTo>
                  <a:lnTo>
                    <a:pt x="56197" y="41381"/>
                  </a:lnTo>
                  <a:lnTo>
                    <a:pt x="16192" y="41381"/>
                  </a:lnTo>
                  <a:lnTo>
                    <a:pt x="16192" y="41381"/>
                  </a:lnTo>
                  <a:cubicBezTo>
                    <a:pt x="12383" y="41381"/>
                    <a:pt x="7620" y="43286"/>
                    <a:pt x="4763" y="46143"/>
                  </a:cubicBezTo>
                  <a:cubicBezTo>
                    <a:pt x="1905" y="49001"/>
                    <a:pt x="0" y="52811"/>
                    <a:pt x="0" y="57573"/>
                  </a:cubicBezTo>
                  <a:lnTo>
                    <a:pt x="0" y="175683"/>
                  </a:lnTo>
                  <a:cubicBezTo>
                    <a:pt x="0" y="184256"/>
                    <a:pt x="7620" y="191876"/>
                    <a:pt x="16192" y="191876"/>
                  </a:cubicBezTo>
                  <a:lnTo>
                    <a:pt x="56197" y="191876"/>
                  </a:lnTo>
                  <a:lnTo>
                    <a:pt x="75247" y="225213"/>
                  </a:lnTo>
                  <a:cubicBezTo>
                    <a:pt x="77153" y="229023"/>
                    <a:pt x="80963" y="231881"/>
                    <a:pt x="84772" y="232833"/>
                  </a:cubicBezTo>
                  <a:cubicBezTo>
                    <a:pt x="88583" y="233786"/>
                    <a:pt x="93345" y="233786"/>
                    <a:pt x="97155" y="230928"/>
                  </a:cubicBezTo>
                  <a:lnTo>
                    <a:pt x="199072" y="171873"/>
                  </a:lnTo>
                  <a:cubicBezTo>
                    <a:pt x="202883" y="169968"/>
                    <a:pt x="205740" y="167111"/>
                    <a:pt x="206692" y="16234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6906D5EB-37DB-2E46-0CC8-B361FD6811A3}"/>
                </a:ext>
              </a:extLst>
            </p:cNvPr>
            <p:cNvSpPr/>
            <p:nvPr/>
          </p:nvSpPr>
          <p:spPr>
            <a:xfrm>
              <a:off x="11836717" y="6741794"/>
              <a:ext cx="126682" cy="184785"/>
            </a:xfrm>
            <a:custGeom>
              <a:avLst/>
              <a:gdLst>
                <a:gd name="connsiteX0" fmla="*/ 0 w 126682"/>
                <a:gd name="connsiteY0" fmla="*/ 0 h 184785"/>
                <a:gd name="connsiteX1" fmla="*/ 0 w 126682"/>
                <a:gd name="connsiteY1" fmla="*/ 184785 h 184785"/>
                <a:gd name="connsiteX2" fmla="*/ 30480 w 126682"/>
                <a:gd name="connsiteY2" fmla="*/ 184785 h 184785"/>
                <a:gd name="connsiteX3" fmla="*/ 30480 w 126682"/>
                <a:gd name="connsiteY3" fmla="*/ 129540 h 184785"/>
                <a:gd name="connsiteX4" fmla="*/ 33338 w 126682"/>
                <a:gd name="connsiteY4" fmla="*/ 129540 h 184785"/>
                <a:gd name="connsiteX5" fmla="*/ 91440 w 126682"/>
                <a:gd name="connsiteY5" fmla="*/ 184785 h 184785"/>
                <a:gd name="connsiteX6" fmla="*/ 126682 w 126682"/>
                <a:gd name="connsiteY6" fmla="*/ 184785 h 184785"/>
                <a:gd name="connsiteX7" fmla="*/ 126682 w 126682"/>
                <a:gd name="connsiteY7" fmla="*/ 180975 h 184785"/>
                <a:gd name="connsiteX8" fmla="*/ 57150 w 126682"/>
                <a:gd name="connsiteY8" fmla="*/ 115253 h 184785"/>
                <a:gd name="connsiteX9" fmla="*/ 125730 w 126682"/>
                <a:gd name="connsiteY9" fmla="*/ 56198 h 184785"/>
                <a:gd name="connsiteX10" fmla="*/ 125730 w 126682"/>
                <a:gd name="connsiteY10" fmla="*/ 52388 h 184785"/>
                <a:gd name="connsiteX11" fmla="*/ 90488 w 126682"/>
                <a:gd name="connsiteY11" fmla="*/ 52388 h 184785"/>
                <a:gd name="connsiteX12" fmla="*/ 33338 w 126682"/>
                <a:gd name="connsiteY12" fmla="*/ 103823 h 184785"/>
                <a:gd name="connsiteX13" fmla="*/ 30480 w 126682"/>
                <a:gd name="connsiteY13" fmla="*/ 103823 h 184785"/>
                <a:gd name="connsiteX14" fmla="*/ 30480 w 126682"/>
                <a:gd name="connsiteY14" fmla="*/ 0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6682" h="184785">
                  <a:moveTo>
                    <a:pt x="0" y="0"/>
                  </a:moveTo>
                  <a:lnTo>
                    <a:pt x="0" y="184785"/>
                  </a:lnTo>
                  <a:lnTo>
                    <a:pt x="30480" y="184785"/>
                  </a:lnTo>
                  <a:lnTo>
                    <a:pt x="30480" y="129540"/>
                  </a:lnTo>
                  <a:lnTo>
                    <a:pt x="33338" y="129540"/>
                  </a:lnTo>
                  <a:lnTo>
                    <a:pt x="91440" y="184785"/>
                  </a:lnTo>
                  <a:lnTo>
                    <a:pt x="126682" y="184785"/>
                  </a:lnTo>
                  <a:lnTo>
                    <a:pt x="126682" y="180975"/>
                  </a:lnTo>
                  <a:lnTo>
                    <a:pt x="57150" y="115253"/>
                  </a:lnTo>
                  <a:lnTo>
                    <a:pt x="125730" y="56198"/>
                  </a:lnTo>
                  <a:lnTo>
                    <a:pt x="125730" y="52388"/>
                  </a:lnTo>
                  <a:lnTo>
                    <a:pt x="90488" y="52388"/>
                  </a:lnTo>
                  <a:lnTo>
                    <a:pt x="33338" y="103823"/>
                  </a:lnTo>
                  <a:lnTo>
                    <a:pt x="30480" y="103823"/>
                  </a:lnTo>
                  <a:lnTo>
                    <a:pt x="304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9B454036-7BBB-B6DA-73E9-6BDB63A5468F}"/>
                </a:ext>
              </a:extLst>
            </p:cNvPr>
            <p:cNvSpPr/>
            <p:nvPr/>
          </p:nvSpPr>
          <p:spPr>
            <a:xfrm>
              <a:off x="11953874" y="6791325"/>
              <a:ext cx="129540" cy="139065"/>
            </a:xfrm>
            <a:custGeom>
              <a:avLst/>
              <a:gdLst>
                <a:gd name="connsiteX0" fmla="*/ 29528 w 129540"/>
                <a:gd name="connsiteY0" fmla="*/ 55245 h 139065"/>
                <a:gd name="connsiteX1" fmla="*/ 65722 w 129540"/>
                <a:gd name="connsiteY1" fmla="*/ 20955 h 139065"/>
                <a:gd name="connsiteX2" fmla="*/ 100013 w 129540"/>
                <a:gd name="connsiteY2" fmla="*/ 55245 h 139065"/>
                <a:gd name="connsiteX3" fmla="*/ 29528 w 129540"/>
                <a:gd name="connsiteY3" fmla="*/ 55245 h 139065"/>
                <a:gd name="connsiteX4" fmla="*/ 66675 w 129540"/>
                <a:gd name="connsiteY4" fmla="*/ 0 h 139065"/>
                <a:gd name="connsiteX5" fmla="*/ 0 w 129540"/>
                <a:gd name="connsiteY5" fmla="*/ 69532 h 139065"/>
                <a:gd name="connsiteX6" fmla="*/ 66675 w 129540"/>
                <a:gd name="connsiteY6" fmla="*/ 139065 h 139065"/>
                <a:gd name="connsiteX7" fmla="*/ 126682 w 129540"/>
                <a:gd name="connsiteY7" fmla="*/ 98107 h 139065"/>
                <a:gd name="connsiteX8" fmla="*/ 126682 w 129540"/>
                <a:gd name="connsiteY8" fmla="*/ 94297 h 139065"/>
                <a:gd name="connsiteX9" fmla="*/ 100013 w 129540"/>
                <a:gd name="connsiteY9" fmla="*/ 94297 h 139065"/>
                <a:gd name="connsiteX10" fmla="*/ 66675 w 129540"/>
                <a:gd name="connsiteY10" fmla="*/ 117157 h 139065"/>
                <a:gd name="connsiteX11" fmla="*/ 29528 w 129540"/>
                <a:gd name="connsiteY11" fmla="*/ 77153 h 139065"/>
                <a:gd name="connsiteX12" fmla="*/ 129540 w 129540"/>
                <a:gd name="connsiteY12" fmla="*/ 77153 h 139065"/>
                <a:gd name="connsiteX13" fmla="*/ 129540 w 129540"/>
                <a:gd name="connsiteY13" fmla="*/ 64770 h 139065"/>
                <a:gd name="connsiteX14" fmla="*/ 66675 w 129540"/>
                <a:gd name="connsiteY14" fmla="*/ 0 h 13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9540" h="139065">
                  <a:moveTo>
                    <a:pt x="29528" y="55245"/>
                  </a:moveTo>
                  <a:cubicBezTo>
                    <a:pt x="31432" y="35243"/>
                    <a:pt x="43815" y="20955"/>
                    <a:pt x="65722" y="20955"/>
                  </a:cubicBezTo>
                  <a:cubicBezTo>
                    <a:pt x="88582" y="20955"/>
                    <a:pt x="100013" y="35243"/>
                    <a:pt x="100013" y="55245"/>
                  </a:cubicBezTo>
                  <a:lnTo>
                    <a:pt x="29528" y="55245"/>
                  </a:lnTo>
                  <a:close/>
                  <a:moveTo>
                    <a:pt x="66675" y="0"/>
                  </a:moveTo>
                  <a:cubicBezTo>
                    <a:pt x="26670" y="0"/>
                    <a:pt x="0" y="23813"/>
                    <a:pt x="0" y="69532"/>
                  </a:cubicBezTo>
                  <a:cubicBezTo>
                    <a:pt x="0" y="115253"/>
                    <a:pt x="26670" y="139065"/>
                    <a:pt x="66675" y="139065"/>
                  </a:cubicBezTo>
                  <a:cubicBezTo>
                    <a:pt x="106680" y="139065"/>
                    <a:pt x="122872" y="115253"/>
                    <a:pt x="126682" y="98107"/>
                  </a:cubicBezTo>
                  <a:lnTo>
                    <a:pt x="126682" y="94297"/>
                  </a:lnTo>
                  <a:lnTo>
                    <a:pt x="100013" y="94297"/>
                  </a:lnTo>
                  <a:cubicBezTo>
                    <a:pt x="98107" y="104775"/>
                    <a:pt x="88582" y="117157"/>
                    <a:pt x="66675" y="117157"/>
                  </a:cubicBezTo>
                  <a:cubicBezTo>
                    <a:pt x="43815" y="117157"/>
                    <a:pt x="30480" y="100965"/>
                    <a:pt x="29528" y="77153"/>
                  </a:cubicBezTo>
                  <a:lnTo>
                    <a:pt x="129540" y="77153"/>
                  </a:lnTo>
                  <a:lnTo>
                    <a:pt x="129540" y="64770"/>
                  </a:lnTo>
                  <a:cubicBezTo>
                    <a:pt x="129540" y="23813"/>
                    <a:pt x="106680" y="0"/>
                    <a:pt x="66675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D1C6C67B-5C2B-725B-A531-01F4FDF08CF6}"/>
                </a:ext>
              </a:extLst>
            </p:cNvPr>
            <p:cNvSpPr/>
            <p:nvPr/>
          </p:nvSpPr>
          <p:spPr>
            <a:xfrm>
              <a:off x="12077699" y="6794182"/>
              <a:ext cx="137159" cy="183832"/>
            </a:xfrm>
            <a:custGeom>
              <a:avLst/>
              <a:gdLst>
                <a:gd name="connsiteX0" fmla="*/ 106680 w 137159"/>
                <a:gd name="connsiteY0" fmla="*/ 0 h 183832"/>
                <a:gd name="connsiteX1" fmla="*/ 70485 w 137159"/>
                <a:gd name="connsiteY1" fmla="*/ 97155 h 183832"/>
                <a:gd name="connsiteX2" fmla="*/ 67628 w 137159"/>
                <a:gd name="connsiteY2" fmla="*/ 97155 h 183832"/>
                <a:gd name="connsiteX3" fmla="*/ 31432 w 137159"/>
                <a:gd name="connsiteY3" fmla="*/ 0 h 183832"/>
                <a:gd name="connsiteX4" fmla="*/ 0 w 137159"/>
                <a:gd name="connsiteY4" fmla="*/ 0 h 183832"/>
                <a:gd name="connsiteX5" fmla="*/ 0 w 137159"/>
                <a:gd name="connsiteY5" fmla="*/ 3810 h 183832"/>
                <a:gd name="connsiteX6" fmla="*/ 53340 w 137159"/>
                <a:gd name="connsiteY6" fmla="*/ 132398 h 183832"/>
                <a:gd name="connsiteX7" fmla="*/ 33338 w 137159"/>
                <a:gd name="connsiteY7" fmla="*/ 180023 h 183832"/>
                <a:gd name="connsiteX8" fmla="*/ 33338 w 137159"/>
                <a:gd name="connsiteY8" fmla="*/ 183833 h 183832"/>
                <a:gd name="connsiteX9" fmla="*/ 63818 w 137159"/>
                <a:gd name="connsiteY9" fmla="*/ 183833 h 183832"/>
                <a:gd name="connsiteX10" fmla="*/ 137160 w 137159"/>
                <a:gd name="connsiteY10" fmla="*/ 3810 h 183832"/>
                <a:gd name="connsiteX11" fmla="*/ 137160 w 137159"/>
                <a:gd name="connsiteY11" fmla="*/ 0 h 18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9" h="183832">
                  <a:moveTo>
                    <a:pt x="106680" y="0"/>
                  </a:moveTo>
                  <a:lnTo>
                    <a:pt x="70485" y="97155"/>
                  </a:lnTo>
                  <a:lnTo>
                    <a:pt x="67628" y="97155"/>
                  </a:lnTo>
                  <a:lnTo>
                    <a:pt x="31432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53340" y="132398"/>
                  </a:lnTo>
                  <a:lnTo>
                    <a:pt x="33338" y="180023"/>
                  </a:lnTo>
                  <a:lnTo>
                    <a:pt x="33338" y="183833"/>
                  </a:lnTo>
                  <a:lnTo>
                    <a:pt x="63818" y="183833"/>
                  </a:lnTo>
                  <a:lnTo>
                    <a:pt x="137160" y="3810"/>
                  </a:lnTo>
                  <a:lnTo>
                    <a:pt x="13716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grpSp>
          <p:nvGrpSpPr>
            <p:cNvPr id="12" name="Graphic 7">
              <a:extLst>
                <a:ext uri="{FF2B5EF4-FFF2-40B4-BE49-F238E27FC236}">
                  <a16:creationId xmlns:a16="http://schemas.microsoft.com/office/drawing/2014/main" id="{12BA6CC3-4859-D4AB-EF05-474358B4F622}"/>
                </a:ext>
              </a:extLst>
            </p:cNvPr>
            <p:cNvGrpSpPr/>
            <p:nvPr/>
          </p:nvGrpSpPr>
          <p:grpSpPr>
            <a:xfrm>
              <a:off x="12212002" y="6759892"/>
              <a:ext cx="618172" cy="170497"/>
              <a:chOff x="12212002" y="6759892"/>
              <a:chExt cx="618172" cy="170497"/>
            </a:xfrm>
            <a:grpFill/>
          </p:grpSpPr>
          <p:sp>
            <p:nvSpPr>
              <p:cNvPr id="13" name="Free-form: Shape 12">
                <a:extLst>
                  <a:ext uri="{FF2B5EF4-FFF2-40B4-BE49-F238E27FC236}">
                    <a16:creationId xmlns:a16="http://schemas.microsoft.com/office/drawing/2014/main" id="{06690A93-9701-A76D-31D7-153AD7601CE1}"/>
                  </a:ext>
                </a:extLst>
              </p:cNvPr>
              <p:cNvSpPr/>
              <p:nvPr/>
            </p:nvSpPr>
            <p:spPr>
              <a:xfrm>
                <a:off x="12212002" y="6792277"/>
                <a:ext cx="120015" cy="137159"/>
              </a:xfrm>
              <a:custGeom>
                <a:avLst/>
                <a:gdLst>
                  <a:gd name="connsiteX0" fmla="*/ 75247 w 120015"/>
                  <a:gd name="connsiteY0" fmla="*/ 58103 h 137159"/>
                  <a:gd name="connsiteX1" fmla="*/ 50482 w 120015"/>
                  <a:gd name="connsiteY1" fmla="*/ 54292 h 137159"/>
                  <a:gd name="connsiteX2" fmla="*/ 30480 w 120015"/>
                  <a:gd name="connsiteY2" fmla="*/ 38100 h 137159"/>
                  <a:gd name="connsiteX3" fmla="*/ 58103 w 120015"/>
                  <a:gd name="connsiteY3" fmla="*/ 20955 h 137159"/>
                  <a:gd name="connsiteX4" fmla="*/ 89535 w 120015"/>
                  <a:gd name="connsiteY4" fmla="*/ 43815 h 137159"/>
                  <a:gd name="connsiteX5" fmla="*/ 117157 w 120015"/>
                  <a:gd name="connsiteY5" fmla="*/ 43815 h 137159"/>
                  <a:gd name="connsiteX6" fmla="*/ 117157 w 120015"/>
                  <a:gd name="connsiteY6" fmla="*/ 40005 h 137159"/>
                  <a:gd name="connsiteX7" fmla="*/ 57150 w 120015"/>
                  <a:gd name="connsiteY7" fmla="*/ 0 h 137159"/>
                  <a:gd name="connsiteX8" fmla="*/ 953 w 120015"/>
                  <a:gd name="connsiteY8" fmla="*/ 39053 h 137159"/>
                  <a:gd name="connsiteX9" fmla="*/ 42863 w 120015"/>
                  <a:gd name="connsiteY9" fmla="*/ 77153 h 137159"/>
                  <a:gd name="connsiteX10" fmla="*/ 67628 w 120015"/>
                  <a:gd name="connsiteY10" fmla="*/ 80963 h 137159"/>
                  <a:gd name="connsiteX11" fmla="*/ 90488 w 120015"/>
                  <a:gd name="connsiteY11" fmla="*/ 98107 h 137159"/>
                  <a:gd name="connsiteX12" fmla="*/ 61913 w 120015"/>
                  <a:gd name="connsiteY12" fmla="*/ 116205 h 137159"/>
                  <a:gd name="connsiteX13" fmla="*/ 27622 w 120015"/>
                  <a:gd name="connsiteY13" fmla="*/ 92392 h 137159"/>
                  <a:gd name="connsiteX14" fmla="*/ 0 w 120015"/>
                  <a:gd name="connsiteY14" fmla="*/ 92392 h 137159"/>
                  <a:gd name="connsiteX15" fmla="*/ 0 w 120015"/>
                  <a:gd name="connsiteY15" fmla="*/ 96203 h 137159"/>
                  <a:gd name="connsiteX16" fmla="*/ 62865 w 120015"/>
                  <a:gd name="connsiteY16" fmla="*/ 137160 h 137159"/>
                  <a:gd name="connsiteX17" fmla="*/ 120015 w 120015"/>
                  <a:gd name="connsiteY17" fmla="*/ 96203 h 137159"/>
                  <a:gd name="connsiteX18" fmla="*/ 75247 w 120015"/>
                  <a:gd name="connsiteY18" fmla="*/ 58103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0015" h="137159">
                    <a:moveTo>
                      <a:pt x="75247" y="58103"/>
                    </a:moveTo>
                    <a:lnTo>
                      <a:pt x="50482" y="54292"/>
                    </a:lnTo>
                    <a:cubicBezTo>
                      <a:pt x="39053" y="52388"/>
                      <a:pt x="30480" y="48578"/>
                      <a:pt x="30480" y="38100"/>
                    </a:cubicBezTo>
                    <a:cubicBezTo>
                      <a:pt x="30480" y="27622"/>
                      <a:pt x="40005" y="20955"/>
                      <a:pt x="58103" y="20955"/>
                    </a:cubicBezTo>
                    <a:cubicBezTo>
                      <a:pt x="76200" y="20955"/>
                      <a:pt x="88582" y="27622"/>
                      <a:pt x="89535" y="43815"/>
                    </a:cubicBezTo>
                    <a:lnTo>
                      <a:pt x="117157" y="43815"/>
                    </a:lnTo>
                    <a:lnTo>
                      <a:pt x="117157" y="40005"/>
                    </a:lnTo>
                    <a:cubicBezTo>
                      <a:pt x="114300" y="16192"/>
                      <a:pt x="93345" y="0"/>
                      <a:pt x="57150" y="0"/>
                    </a:cubicBezTo>
                    <a:cubicBezTo>
                      <a:pt x="20955" y="0"/>
                      <a:pt x="953" y="16192"/>
                      <a:pt x="953" y="39053"/>
                    </a:cubicBezTo>
                    <a:cubicBezTo>
                      <a:pt x="953" y="61913"/>
                      <a:pt x="18097" y="73342"/>
                      <a:pt x="42863" y="77153"/>
                    </a:cubicBezTo>
                    <a:lnTo>
                      <a:pt x="67628" y="80963"/>
                    </a:lnTo>
                    <a:cubicBezTo>
                      <a:pt x="81915" y="82867"/>
                      <a:pt x="90488" y="87630"/>
                      <a:pt x="90488" y="98107"/>
                    </a:cubicBezTo>
                    <a:cubicBezTo>
                      <a:pt x="90488" y="109538"/>
                      <a:pt x="80963" y="116205"/>
                      <a:pt x="61913" y="116205"/>
                    </a:cubicBezTo>
                    <a:cubicBezTo>
                      <a:pt x="42863" y="116205"/>
                      <a:pt x="28575" y="108585"/>
                      <a:pt x="27622" y="92392"/>
                    </a:cubicBezTo>
                    <a:lnTo>
                      <a:pt x="0" y="92392"/>
                    </a:lnTo>
                    <a:lnTo>
                      <a:pt x="0" y="96203"/>
                    </a:lnTo>
                    <a:cubicBezTo>
                      <a:pt x="1905" y="120015"/>
                      <a:pt x="23813" y="137160"/>
                      <a:pt x="62865" y="137160"/>
                    </a:cubicBezTo>
                    <a:cubicBezTo>
                      <a:pt x="100965" y="137160"/>
                      <a:pt x="120015" y="120015"/>
                      <a:pt x="120015" y="96203"/>
                    </a:cubicBezTo>
                    <a:cubicBezTo>
                      <a:pt x="119063" y="72390"/>
                      <a:pt x="100965" y="62865"/>
                      <a:pt x="75247" y="58103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4" name="Free-form: Shape 13">
                <a:extLst>
                  <a:ext uri="{FF2B5EF4-FFF2-40B4-BE49-F238E27FC236}">
                    <a16:creationId xmlns:a16="http://schemas.microsoft.com/office/drawing/2014/main" id="{9FD7F094-8C7D-89DF-8552-F6D6AF0A1726}"/>
                  </a:ext>
                </a:extLst>
              </p:cNvPr>
              <p:cNvSpPr/>
              <p:nvPr/>
            </p:nvSpPr>
            <p:spPr>
              <a:xfrm>
                <a:off x="12330112" y="6759892"/>
                <a:ext cx="93344" cy="166687"/>
              </a:xfrm>
              <a:custGeom>
                <a:avLst/>
                <a:gdLst>
                  <a:gd name="connsiteX0" fmla="*/ 56197 w 93344"/>
                  <a:gd name="connsiteY0" fmla="*/ 142875 h 166687"/>
                  <a:gd name="connsiteX1" fmla="*/ 56197 w 93344"/>
                  <a:gd name="connsiteY1" fmla="*/ 56197 h 166687"/>
                  <a:gd name="connsiteX2" fmla="*/ 93345 w 93344"/>
                  <a:gd name="connsiteY2" fmla="*/ 56197 h 166687"/>
                  <a:gd name="connsiteX3" fmla="*/ 93345 w 93344"/>
                  <a:gd name="connsiteY3" fmla="*/ 35242 h 166687"/>
                  <a:gd name="connsiteX4" fmla="*/ 56197 w 93344"/>
                  <a:gd name="connsiteY4" fmla="*/ 35242 h 166687"/>
                  <a:gd name="connsiteX5" fmla="*/ 56197 w 93344"/>
                  <a:gd name="connsiteY5" fmla="*/ 0 h 166687"/>
                  <a:gd name="connsiteX6" fmla="*/ 25718 w 93344"/>
                  <a:gd name="connsiteY6" fmla="*/ 0 h 166687"/>
                  <a:gd name="connsiteX7" fmla="*/ 25718 w 93344"/>
                  <a:gd name="connsiteY7" fmla="*/ 35242 h 166687"/>
                  <a:gd name="connsiteX8" fmla="*/ 0 w 93344"/>
                  <a:gd name="connsiteY8" fmla="*/ 35242 h 166687"/>
                  <a:gd name="connsiteX9" fmla="*/ 0 w 93344"/>
                  <a:gd name="connsiteY9" fmla="*/ 56197 h 166687"/>
                  <a:gd name="connsiteX10" fmla="*/ 25718 w 93344"/>
                  <a:gd name="connsiteY10" fmla="*/ 56197 h 166687"/>
                  <a:gd name="connsiteX11" fmla="*/ 25718 w 93344"/>
                  <a:gd name="connsiteY11" fmla="*/ 132397 h 166687"/>
                  <a:gd name="connsiteX12" fmla="*/ 61913 w 93344"/>
                  <a:gd name="connsiteY12" fmla="*/ 166688 h 166687"/>
                  <a:gd name="connsiteX13" fmla="*/ 92393 w 93344"/>
                  <a:gd name="connsiteY13" fmla="*/ 166688 h 166687"/>
                  <a:gd name="connsiteX14" fmla="*/ 92393 w 93344"/>
                  <a:gd name="connsiteY14" fmla="*/ 144780 h 166687"/>
                  <a:gd name="connsiteX15" fmla="*/ 58103 w 93344"/>
                  <a:gd name="connsiteY15" fmla="*/ 144780 h 166687"/>
                  <a:gd name="connsiteX16" fmla="*/ 56197 w 93344"/>
                  <a:gd name="connsiteY16" fmla="*/ 142875 h 166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344" h="166687">
                    <a:moveTo>
                      <a:pt x="56197" y="142875"/>
                    </a:moveTo>
                    <a:lnTo>
                      <a:pt x="56197" y="56197"/>
                    </a:lnTo>
                    <a:lnTo>
                      <a:pt x="93345" y="56197"/>
                    </a:lnTo>
                    <a:lnTo>
                      <a:pt x="93345" y="35242"/>
                    </a:lnTo>
                    <a:lnTo>
                      <a:pt x="56197" y="35242"/>
                    </a:lnTo>
                    <a:lnTo>
                      <a:pt x="56197" y="0"/>
                    </a:lnTo>
                    <a:lnTo>
                      <a:pt x="25718" y="0"/>
                    </a:lnTo>
                    <a:lnTo>
                      <a:pt x="25718" y="35242"/>
                    </a:lnTo>
                    <a:lnTo>
                      <a:pt x="0" y="35242"/>
                    </a:lnTo>
                    <a:lnTo>
                      <a:pt x="0" y="56197"/>
                    </a:lnTo>
                    <a:lnTo>
                      <a:pt x="25718" y="56197"/>
                    </a:lnTo>
                    <a:lnTo>
                      <a:pt x="25718" y="132397"/>
                    </a:lnTo>
                    <a:cubicBezTo>
                      <a:pt x="25718" y="155257"/>
                      <a:pt x="39053" y="166688"/>
                      <a:pt x="61913" y="166688"/>
                    </a:cubicBezTo>
                    <a:lnTo>
                      <a:pt x="92393" y="166688"/>
                    </a:lnTo>
                    <a:lnTo>
                      <a:pt x="92393" y="144780"/>
                    </a:lnTo>
                    <a:lnTo>
                      <a:pt x="58103" y="144780"/>
                    </a:lnTo>
                    <a:lnTo>
                      <a:pt x="56197" y="1428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5" name="Free-form: Shape 14">
                <a:extLst>
                  <a:ext uri="{FF2B5EF4-FFF2-40B4-BE49-F238E27FC236}">
                    <a16:creationId xmlns:a16="http://schemas.microsoft.com/office/drawing/2014/main" id="{2A498ED8-C6FD-73A1-04FE-03DB53AE6517}"/>
                  </a:ext>
                </a:extLst>
              </p:cNvPr>
              <p:cNvSpPr/>
              <p:nvPr/>
            </p:nvSpPr>
            <p:spPr>
              <a:xfrm>
                <a:off x="12424409" y="6791325"/>
                <a:ext cx="137159" cy="139065"/>
              </a:xfrm>
              <a:custGeom>
                <a:avLst/>
                <a:gdLst>
                  <a:gd name="connsiteX0" fmla="*/ 68580 w 137159"/>
                  <a:gd name="connsiteY0" fmla="*/ 116205 h 139065"/>
                  <a:gd name="connsiteX1" fmla="*/ 30480 w 137159"/>
                  <a:gd name="connsiteY1" fmla="*/ 69532 h 139065"/>
                  <a:gd name="connsiteX2" fmla="*/ 68580 w 137159"/>
                  <a:gd name="connsiteY2" fmla="*/ 22860 h 139065"/>
                  <a:gd name="connsiteX3" fmla="*/ 106680 w 137159"/>
                  <a:gd name="connsiteY3" fmla="*/ 69532 h 139065"/>
                  <a:gd name="connsiteX4" fmla="*/ 68580 w 137159"/>
                  <a:gd name="connsiteY4" fmla="*/ 116205 h 139065"/>
                  <a:gd name="connsiteX5" fmla="*/ 68580 w 137159"/>
                  <a:gd name="connsiteY5" fmla="*/ 0 h 139065"/>
                  <a:gd name="connsiteX6" fmla="*/ 0 w 137159"/>
                  <a:gd name="connsiteY6" fmla="*/ 69532 h 139065"/>
                  <a:gd name="connsiteX7" fmla="*/ 68580 w 137159"/>
                  <a:gd name="connsiteY7" fmla="*/ 139065 h 139065"/>
                  <a:gd name="connsiteX8" fmla="*/ 137160 w 137159"/>
                  <a:gd name="connsiteY8" fmla="*/ 69532 h 139065"/>
                  <a:gd name="connsiteX9" fmla="*/ 68580 w 137159"/>
                  <a:gd name="connsiteY9" fmla="*/ 0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139065">
                    <a:moveTo>
                      <a:pt x="68580" y="116205"/>
                    </a:moveTo>
                    <a:cubicBezTo>
                      <a:pt x="45720" y="116205"/>
                      <a:pt x="30480" y="100013"/>
                      <a:pt x="30480" y="69532"/>
                    </a:cubicBezTo>
                    <a:cubicBezTo>
                      <a:pt x="30480" y="39053"/>
                      <a:pt x="45720" y="22860"/>
                      <a:pt x="68580" y="22860"/>
                    </a:cubicBezTo>
                    <a:cubicBezTo>
                      <a:pt x="91440" y="22860"/>
                      <a:pt x="106680" y="39053"/>
                      <a:pt x="106680" y="69532"/>
                    </a:cubicBezTo>
                    <a:cubicBezTo>
                      <a:pt x="106680" y="100013"/>
                      <a:pt x="91440" y="116205"/>
                      <a:pt x="68580" y="116205"/>
                    </a:cubicBezTo>
                    <a:moveTo>
                      <a:pt x="68580" y="0"/>
                    </a:moveTo>
                    <a:cubicBezTo>
                      <a:pt x="28575" y="0"/>
                      <a:pt x="0" y="23813"/>
                      <a:pt x="0" y="69532"/>
                    </a:cubicBezTo>
                    <a:cubicBezTo>
                      <a:pt x="0" y="114300"/>
                      <a:pt x="28575" y="139065"/>
                      <a:pt x="68580" y="139065"/>
                    </a:cubicBezTo>
                    <a:cubicBezTo>
                      <a:pt x="108585" y="139065"/>
                      <a:pt x="137160" y="115253"/>
                      <a:pt x="137160" y="69532"/>
                    </a:cubicBezTo>
                    <a:cubicBezTo>
                      <a:pt x="137160" y="23813"/>
                      <a:pt x="108585" y="0"/>
                      <a:pt x="68580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6" name="Free-form: Shape 15">
                <a:extLst>
                  <a:ext uri="{FF2B5EF4-FFF2-40B4-BE49-F238E27FC236}">
                    <a16:creationId xmlns:a16="http://schemas.microsoft.com/office/drawing/2014/main" id="{EF9BCAAE-2ABF-0942-DD54-4FDDDA730E2C}"/>
                  </a:ext>
                </a:extLst>
              </p:cNvPr>
              <p:cNvSpPr/>
              <p:nvPr/>
            </p:nvSpPr>
            <p:spPr>
              <a:xfrm>
                <a:off x="12568237" y="6791325"/>
                <a:ext cx="123857" cy="135255"/>
              </a:xfrm>
              <a:custGeom>
                <a:avLst/>
                <a:gdLst>
                  <a:gd name="connsiteX0" fmla="*/ 75247 w 123857"/>
                  <a:gd name="connsiteY0" fmla="*/ 0 h 135255"/>
                  <a:gd name="connsiteX1" fmla="*/ 32385 w 123857"/>
                  <a:gd name="connsiteY1" fmla="*/ 20003 h 135255"/>
                  <a:gd name="connsiteX2" fmla="*/ 29528 w 123857"/>
                  <a:gd name="connsiteY2" fmla="*/ 20003 h 135255"/>
                  <a:gd name="connsiteX3" fmla="*/ 29528 w 123857"/>
                  <a:gd name="connsiteY3" fmla="*/ 2857 h 135255"/>
                  <a:gd name="connsiteX4" fmla="*/ 0 w 123857"/>
                  <a:gd name="connsiteY4" fmla="*/ 2857 h 135255"/>
                  <a:gd name="connsiteX5" fmla="*/ 0 w 123857"/>
                  <a:gd name="connsiteY5" fmla="*/ 135255 h 135255"/>
                  <a:gd name="connsiteX6" fmla="*/ 30480 w 123857"/>
                  <a:gd name="connsiteY6" fmla="*/ 135255 h 135255"/>
                  <a:gd name="connsiteX7" fmla="*/ 30480 w 123857"/>
                  <a:gd name="connsiteY7" fmla="*/ 60960 h 135255"/>
                  <a:gd name="connsiteX8" fmla="*/ 65722 w 123857"/>
                  <a:gd name="connsiteY8" fmla="*/ 22860 h 135255"/>
                  <a:gd name="connsiteX9" fmla="*/ 93345 w 123857"/>
                  <a:gd name="connsiteY9" fmla="*/ 50482 h 135255"/>
                  <a:gd name="connsiteX10" fmla="*/ 93345 w 123857"/>
                  <a:gd name="connsiteY10" fmla="*/ 134303 h 135255"/>
                  <a:gd name="connsiteX11" fmla="*/ 123825 w 123857"/>
                  <a:gd name="connsiteY11" fmla="*/ 134303 h 135255"/>
                  <a:gd name="connsiteX12" fmla="*/ 123825 w 123857"/>
                  <a:gd name="connsiteY12" fmla="*/ 47625 h 135255"/>
                  <a:gd name="connsiteX13" fmla="*/ 75247 w 123857"/>
                  <a:gd name="connsiteY13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857" h="135255">
                    <a:moveTo>
                      <a:pt x="75247" y="0"/>
                    </a:moveTo>
                    <a:cubicBezTo>
                      <a:pt x="47625" y="0"/>
                      <a:pt x="37147" y="12382"/>
                      <a:pt x="32385" y="20003"/>
                    </a:cubicBezTo>
                    <a:lnTo>
                      <a:pt x="29528" y="20003"/>
                    </a:lnTo>
                    <a:lnTo>
                      <a:pt x="29528" y="2857"/>
                    </a:lnTo>
                    <a:lnTo>
                      <a:pt x="0" y="2857"/>
                    </a:lnTo>
                    <a:lnTo>
                      <a:pt x="0" y="135255"/>
                    </a:lnTo>
                    <a:lnTo>
                      <a:pt x="30480" y="135255"/>
                    </a:lnTo>
                    <a:lnTo>
                      <a:pt x="30480" y="60960"/>
                    </a:lnTo>
                    <a:cubicBezTo>
                      <a:pt x="30480" y="34290"/>
                      <a:pt x="46672" y="22860"/>
                      <a:pt x="65722" y="22860"/>
                    </a:cubicBezTo>
                    <a:cubicBezTo>
                      <a:pt x="82868" y="22860"/>
                      <a:pt x="93345" y="31432"/>
                      <a:pt x="93345" y="50482"/>
                    </a:cubicBezTo>
                    <a:lnTo>
                      <a:pt x="93345" y="134303"/>
                    </a:lnTo>
                    <a:lnTo>
                      <a:pt x="123825" y="134303"/>
                    </a:lnTo>
                    <a:lnTo>
                      <a:pt x="123825" y="47625"/>
                    </a:lnTo>
                    <a:cubicBezTo>
                      <a:pt x="124778" y="16193"/>
                      <a:pt x="104775" y="0"/>
                      <a:pt x="75247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7" name="Free-form: Shape 16">
                <a:extLst>
                  <a:ext uri="{FF2B5EF4-FFF2-40B4-BE49-F238E27FC236}">
                    <a16:creationId xmlns:a16="http://schemas.microsoft.com/office/drawing/2014/main" id="{6774AE6D-EBAD-4553-23AE-5EC5D9A0C4DA}"/>
                  </a:ext>
                </a:extLst>
              </p:cNvPr>
              <p:cNvSpPr/>
              <p:nvPr/>
            </p:nvSpPr>
            <p:spPr>
              <a:xfrm>
                <a:off x="12700634" y="6791325"/>
                <a:ext cx="129540" cy="139065"/>
              </a:xfrm>
              <a:custGeom>
                <a:avLst/>
                <a:gdLst>
                  <a:gd name="connsiteX0" fmla="*/ 29528 w 129540"/>
                  <a:gd name="connsiteY0" fmla="*/ 55245 h 139065"/>
                  <a:gd name="connsiteX1" fmla="*/ 65722 w 129540"/>
                  <a:gd name="connsiteY1" fmla="*/ 20955 h 139065"/>
                  <a:gd name="connsiteX2" fmla="*/ 100013 w 129540"/>
                  <a:gd name="connsiteY2" fmla="*/ 55245 h 139065"/>
                  <a:gd name="connsiteX3" fmla="*/ 29528 w 129540"/>
                  <a:gd name="connsiteY3" fmla="*/ 55245 h 139065"/>
                  <a:gd name="connsiteX4" fmla="*/ 129540 w 129540"/>
                  <a:gd name="connsiteY4" fmla="*/ 63818 h 139065"/>
                  <a:gd name="connsiteX5" fmla="*/ 66675 w 129540"/>
                  <a:gd name="connsiteY5" fmla="*/ 0 h 139065"/>
                  <a:gd name="connsiteX6" fmla="*/ 0 w 129540"/>
                  <a:gd name="connsiteY6" fmla="*/ 69532 h 139065"/>
                  <a:gd name="connsiteX7" fmla="*/ 66675 w 129540"/>
                  <a:gd name="connsiteY7" fmla="*/ 139065 h 139065"/>
                  <a:gd name="connsiteX8" fmla="*/ 126683 w 129540"/>
                  <a:gd name="connsiteY8" fmla="*/ 98107 h 139065"/>
                  <a:gd name="connsiteX9" fmla="*/ 126683 w 129540"/>
                  <a:gd name="connsiteY9" fmla="*/ 94297 h 139065"/>
                  <a:gd name="connsiteX10" fmla="*/ 100013 w 129540"/>
                  <a:gd name="connsiteY10" fmla="*/ 94297 h 139065"/>
                  <a:gd name="connsiteX11" fmla="*/ 66675 w 129540"/>
                  <a:gd name="connsiteY11" fmla="*/ 117157 h 139065"/>
                  <a:gd name="connsiteX12" fmla="*/ 29528 w 129540"/>
                  <a:gd name="connsiteY12" fmla="*/ 77153 h 139065"/>
                  <a:gd name="connsiteX13" fmla="*/ 129540 w 129540"/>
                  <a:gd name="connsiteY13" fmla="*/ 77153 h 139065"/>
                  <a:gd name="connsiteX14" fmla="*/ 129540 w 129540"/>
                  <a:gd name="connsiteY14" fmla="*/ 63818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540" h="139065">
                    <a:moveTo>
                      <a:pt x="29528" y="55245"/>
                    </a:moveTo>
                    <a:cubicBezTo>
                      <a:pt x="31433" y="35243"/>
                      <a:pt x="43815" y="20955"/>
                      <a:pt x="65722" y="20955"/>
                    </a:cubicBezTo>
                    <a:cubicBezTo>
                      <a:pt x="88583" y="20955"/>
                      <a:pt x="100013" y="35243"/>
                      <a:pt x="100013" y="55245"/>
                    </a:cubicBezTo>
                    <a:lnTo>
                      <a:pt x="29528" y="55245"/>
                    </a:lnTo>
                    <a:close/>
                    <a:moveTo>
                      <a:pt x="129540" y="63818"/>
                    </a:moveTo>
                    <a:cubicBezTo>
                      <a:pt x="129540" y="23813"/>
                      <a:pt x="106680" y="0"/>
                      <a:pt x="66675" y="0"/>
                    </a:cubicBezTo>
                    <a:cubicBezTo>
                      <a:pt x="26670" y="0"/>
                      <a:pt x="0" y="23813"/>
                      <a:pt x="0" y="69532"/>
                    </a:cubicBezTo>
                    <a:cubicBezTo>
                      <a:pt x="0" y="115253"/>
                      <a:pt x="26670" y="139065"/>
                      <a:pt x="66675" y="139065"/>
                    </a:cubicBezTo>
                    <a:cubicBezTo>
                      <a:pt x="106680" y="139065"/>
                      <a:pt x="122872" y="115253"/>
                      <a:pt x="126683" y="98107"/>
                    </a:cubicBezTo>
                    <a:lnTo>
                      <a:pt x="126683" y="94297"/>
                    </a:lnTo>
                    <a:lnTo>
                      <a:pt x="100013" y="94297"/>
                    </a:lnTo>
                    <a:cubicBezTo>
                      <a:pt x="98108" y="104775"/>
                      <a:pt x="88583" y="117157"/>
                      <a:pt x="66675" y="117157"/>
                    </a:cubicBezTo>
                    <a:cubicBezTo>
                      <a:pt x="43815" y="117157"/>
                      <a:pt x="30480" y="100965"/>
                      <a:pt x="29528" y="77153"/>
                    </a:cubicBezTo>
                    <a:lnTo>
                      <a:pt x="129540" y="77153"/>
                    </a:lnTo>
                    <a:lnTo>
                      <a:pt x="129540" y="63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</p:grpSp>
      </p:grp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11BA1E65-92F4-BD8C-7BEB-66807EFE3483}"/>
              </a:ext>
            </a:extLst>
          </p:cNvPr>
          <p:cNvSpPr>
            <a:spLocks noChangeAspect="1"/>
          </p:cNvSpPr>
          <p:nvPr/>
        </p:nvSpPr>
        <p:spPr>
          <a:xfrm>
            <a:off x="8129016" y="2016252"/>
            <a:ext cx="3118104" cy="3511374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9A54DA9-46B4-6A65-D601-60E6B6A7B6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82" y="3846600"/>
            <a:ext cx="3118104" cy="1073219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F0FFE17C-3BCC-E0FA-33A5-355AA934B1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382" y="273600"/>
            <a:ext cx="3118104" cy="168966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z="900">
                <a:solidFill>
                  <a:schemeClr val="tx1"/>
                </a:solidFill>
                <a:latin typeface="FK Grotesk SemiMono Medium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87A5E3-3448-177B-6594-8D81988C7B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56032" y="6350508"/>
            <a:ext cx="1339596" cy="251244"/>
            <a:chOff x="11563349" y="6740419"/>
            <a:chExt cx="1266825" cy="237595"/>
          </a:xfrm>
          <a:solidFill>
            <a:schemeClr val="tx1"/>
          </a:solidFill>
        </p:grpSpPr>
        <p:sp>
          <p:nvSpPr>
            <p:cNvPr id="18" name="Free-form: Shape 7">
              <a:extLst>
                <a:ext uri="{FF2B5EF4-FFF2-40B4-BE49-F238E27FC236}">
                  <a16:creationId xmlns:a16="http://schemas.microsoft.com/office/drawing/2014/main" id="{C33D6C28-CB44-C539-F005-78E85453D671}"/>
                </a:ext>
              </a:extLst>
            </p:cNvPr>
            <p:cNvSpPr/>
            <p:nvPr/>
          </p:nvSpPr>
          <p:spPr>
            <a:xfrm>
              <a:off x="11563349" y="6740419"/>
              <a:ext cx="207262" cy="233403"/>
            </a:xfrm>
            <a:custGeom>
              <a:avLst/>
              <a:gdLst>
                <a:gd name="connsiteX0" fmla="*/ 169545 w 207262"/>
                <a:gd name="connsiteY0" fmla="*/ 103293 h 233403"/>
                <a:gd name="connsiteX1" fmla="*/ 167640 w 207262"/>
                <a:gd name="connsiteY1" fmla="*/ 106151 h 233403"/>
                <a:gd name="connsiteX2" fmla="*/ 74295 w 207262"/>
                <a:gd name="connsiteY2" fmla="*/ 51858 h 233403"/>
                <a:gd name="connsiteX3" fmla="*/ 76200 w 207262"/>
                <a:gd name="connsiteY3" fmla="*/ 49001 h 233403"/>
                <a:gd name="connsiteX4" fmla="*/ 92392 w 207262"/>
                <a:gd name="connsiteY4" fmla="*/ 21378 h 233403"/>
                <a:gd name="connsiteX5" fmla="*/ 93345 w 207262"/>
                <a:gd name="connsiteY5" fmla="*/ 22331 h 233403"/>
                <a:gd name="connsiteX6" fmla="*/ 186690 w 207262"/>
                <a:gd name="connsiteY6" fmla="*/ 75671 h 233403"/>
                <a:gd name="connsiteX7" fmla="*/ 169545 w 207262"/>
                <a:gd name="connsiteY7" fmla="*/ 103293 h 233403"/>
                <a:gd name="connsiteX8" fmla="*/ 76200 w 207262"/>
                <a:gd name="connsiteY8" fmla="*/ 154728 h 233403"/>
                <a:gd name="connsiteX9" fmla="*/ 76200 w 207262"/>
                <a:gd name="connsiteY9" fmla="*/ 78528 h 233403"/>
                <a:gd name="connsiteX10" fmla="*/ 141922 w 207262"/>
                <a:gd name="connsiteY10" fmla="*/ 116628 h 233403"/>
                <a:gd name="connsiteX11" fmla="*/ 76200 w 207262"/>
                <a:gd name="connsiteY11" fmla="*/ 154728 h 233403"/>
                <a:gd name="connsiteX12" fmla="*/ 90488 w 207262"/>
                <a:gd name="connsiteY12" fmla="*/ 210926 h 233403"/>
                <a:gd name="connsiteX13" fmla="*/ 73342 w 207262"/>
                <a:gd name="connsiteY13" fmla="*/ 180446 h 233403"/>
                <a:gd name="connsiteX14" fmla="*/ 74295 w 207262"/>
                <a:gd name="connsiteY14" fmla="*/ 179493 h 233403"/>
                <a:gd name="connsiteX15" fmla="*/ 166688 w 207262"/>
                <a:gd name="connsiteY15" fmla="*/ 126153 h 233403"/>
                <a:gd name="connsiteX16" fmla="*/ 168592 w 207262"/>
                <a:gd name="connsiteY16" fmla="*/ 129963 h 233403"/>
                <a:gd name="connsiteX17" fmla="*/ 183833 w 207262"/>
                <a:gd name="connsiteY17" fmla="*/ 156633 h 233403"/>
                <a:gd name="connsiteX18" fmla="*/ 90488 w 207262"/>
                <a:gd name="connsiteY18" fmla="*/ 210926 h 233403"/>
                <a:gd name="connsiteX19" fmla="*/ 55245 w 207262"/>
                <a:gd name="connsiteY19" fmla="*/ 170921 h 233403"/>
                <a:gd name="connsiteX20" fmla="*/ 20003 w 207262"/>
                <a:gd name="connsiteY20" fmla="*/ 170921 h 233403"/>
                <a:gd name="connsiteX21" fmla="*/ 20003 w 207262"/>
                <a:gd name="connsiteY21" fmla="*/ 62336 h 233403"/>
                <a:gd name="connsiteX22" fmla="*/ 55245 w 207262"/>
                <a:gd name="connsiteY22" fmla="*/ 62336 h 233403"/>
                <a:gd name="connsiteX23" fmla="*/ 55245 w 207262"/>
                <a:gd name="connsiteY23" fmla="*/ 170921 h 233403"/>
                <a:gd name="connsiteX24" fmla="*/ 206692 w 207262"/>
                <a:gd name="connsiteY24" fmla="*/ 162348 h 233403"/>
                <a:gd name="connsiteX25" fmla="*/ 204788 w 207262"/>
                <a:gd name="connsiteY25" fmla="*/ 149966 h 233403"/>
                <a:gd name="connsiteX26" fmla="*/ 185738 w 207262"/>
                <a:gd name="connsiteY26" fmla="*/ 116628 h 233403"/>
                <a:gd name="connsiteX27" fmla="*/ 204788 w 207262"/>
                <a:gd name="connsiteY27" fmla="*/ 83291 h 233403"/>
                <a:gd name="connsiteX28" fmla="*/ 206692 w 207262"/>
                <a:gd name="connsiteY28" fmla="*/ 70908 h 233403"/>
                <a:gd name="connsiteX29" fmla="*/ 199072 w 207262"/>
                <a:gd name="connsiteY29" fmla="*/ 61383 h 233403"/>
                <a:gd name="connsiteX30" fmla="*/ 97155 w 207262"/>
                <a:gd name="connsiteY30" fmla="*/ 2328 h 233403"/>
                <a:gd name="connsiteX31" fmla="*/ 75247 w 207262"/>
                <a:gd name="connsiteY31" fmla="*/ 8043 h 233403"/>
                <a:gd name="connsiteX32" fmla="*/ 56197 w 207262"/>
                <a:gd name="connsiteY32" fmla="*/ 41381 h 233403"/>
                <a:gd name="connsiteX33" fmla="*/ 16192 w 207262"/>
                <a:gd name="connsiteY33" fmla="*/ 41381 h 233403"/>
                <a:gd name="connsiteX34" fmla="*/ 16192 w 207262"/>
                <a:gd name="connsiteY34" fmla="*/ 41381 h 233403"/>
                <a:gd name="connsiteX35" fmla="*/ 4763 w 207262"/>
                <a:gd name="connsiteY35" fmla="*/ 46143 h 233403"/>
                <a:gd name="connsiteX36" fmla="*/ 0 w 207262"/>
                <a:gd name="connsiteY36" fmla="*/ 57573 h 233403"/>
                <a:gd name="connsiteX37" fmla="*/ 0 w 207262"/>
                <a:gd name="connsiteY37" fmla="*/ 175683 h 233403"/>
                <a:gd name="connsiteX38" fmla="*/ 16192 w 207262"/>
                <a:gd name="connsiteY38" fmla="*/ 191876 h 233403"/>
                <a:gd name="connsiteX39" fmla="*/ 56197 w 207262"/>
                <a:gd name="connsiteY39" fmla="*/ 191876 h 233403"/>
                <a:gd name="connsiteX40" fmla="*/ 75247 w 207262"/>
                <a:gd name="connsiteY40" fmla="*/ 225213 h 233403"/>
                <a:gd name="connsiteX41" fmla="*/ 84772 w 207262"/>
                <a:gd name="connsiteY41" fmla="*/ 232833 h 233403"/>
                <a:gd name="connsiteX42" fmla="*/ 97155 w 207262"/>
                <a:gd name="connsiteY42" fmla="*/ 230928 h 233403"/>
                <a:gd name="connsiteX43" fmla="*/ 199072 w 207262"/>
                <a:gd name="connsiteY43" fmla="*/ 171873 h 233403"/>
                <a:gd name="connsiteX44" fmla="*/ 206692 w 207262"/>
                <a:gd name="connsiteY44" fmla="*/ 162348 h 2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262" h="233403">
                  <a:moveTo>
                    <a:pt x="169545" y="103293"/>
                  </a:moveTo>
                  <a:lnTo>
                    <a:pt x="167640" y="106151"/>
                  </a:lnTo>
                  <a:lnTo>
                    <a:pt x="74295" y="51858"/>
                  </a:lnTo>
                  <a:lnTo>
                    <a:pt x="76200" y="49001"/>
                  </a:lnTo>
                  <a:lnTo>
                    <a:pt x="92392" y="21378"/>
                  </a:lnTo>
                  <a:lnTo>
                    <a:pt x="93345" y="22331"/>
                  </a:lnTo>
                  <a:lnTo>
                    <a:pt x="186690" y="75671"/>
                  </a:lnTo>
                  <a:lnTo>
                    <a:pt x="169545" y="103293"/>
                  </a:lnTo>
                  <a:close/>
                  <a:moveTo>
                    <a:pt x="76200" y="154728"/>
                  </a:moveTo>
                  <a:lnTo>
                    <a:pt x="76200" y="78528"/>
                  </a:lnTo>
                  <a:lnTo>
                    <a:pt x="141922" y="116628"/>
                  </a:lnTo>
                  <a:lnTo>
                    <a:pt x="76200" y="154728"/>
                  </a:lnTo>
                  <a:close/>
                  <a:moveTo>
                    <a:pt x="90488" y="210926"/>
                  </a:moveTo>
                  <a:lnTo>
                    <a:pt x="73342" y="180446"/>
                  </a:lnTo>
                  <a:lnTo>
                    <a:pt x="74295" y="179493"/>
                  </a:lnTo>
                  <a:lnTo>
                    <a:pt x="166688" y="126153"/>
                  </a:lnTo>
                  <a:lnTo>
                    <a:pt x="168592" y="129963"/>
                  </a:lnTo>
                  <a:lnTo>
                    <a:pt x="183833" y="156633"/>
                  </a:lnTo>
                  <a:lnTo>
                    <a:pt x="90488" y="210926"/>
                  </a:lnTo>
                  <a:close/>
                  <a:moveTo>
                    <a:pt x="55245" y="170921"/>
                  </a:moveTo>
                  <a:lnTo>
                    <a:pt x="20003" y="170921"/>
                  </a:lnTo>
                  <a:lnTo>
                    <a:pt x="20003" y="62336"/>
                  </a:lnTo>
                  <a:lnTo>
                    <a:pt x="55245" y="62336"/>
                  </a:lnTo>
                  <a:lnTo>
                    <a:pt x="55245" y="170921"/>
                  </a:lnTo>
                  <a:close/>
                  <a:moveTo>
                    <a:pt x="206692" y="162348"/>
                  </a:moveTo>
                  <a:cubicBezTo>
                    <a:pt x="207645" y="158538"/>
                    <a:pt x="207645" y="153776"/>
                    <a:pt x="204788" y="149966"/>
                  </a:cubicBezTo>
                  <a:lnTo>
                    <a:pt x="185738" y="116628"/>
                  </a:lnTo>
                  <a:lnTo>
                    <a:pt x="204788" y="83291"/>
                  </a:lnTo>
                  <a:cubicBezTo>
                    <a:pt x="206692" y="79481"/>
                    <a:pt x="207645" y="75671"/>
                    <a:pt x="206692" y="70908"/>
                  </a:cubicBezTo>
                  <a:cubicBezTo>
                    <a:pt x="205740" y="67098"/>
                    <a:pt x="202883" y="63288"/>
                    <a:pt x="199072" y="61383"/>
                  </a:cubicBezTo>
                  <a:lnTo>
                    <a:pt x="97155" y="2328"/>
                  </a:lnTo>
                  <a:cubicBezTo>
                    <a:pt x="89535" y="-2434"/>
                    <a:pt x="80010" y="423"/>
                    <a:pt x="75247" y="8043"/>
                  </a:cubicBezTo>
                  <a:lnTo>
                    <a:pt x="56197" y="41381"/>
                  </a:lnTo>
                  <a:lnTo>
                    <a:pt x="16192" y="41381"/>
                  </a:lnTo>
                  <a:lnTo>
                    <a:pt x="16192" y="41381"/>
                  </a:lnTo>
                  <a:cubicBezTo>
                    <a:pt x="12383" y="41381"/>
                    <a:pt x="7620" y="43286"/>
                    <a:pt x="4763" y="46143"/>
                  </a:cubicBezTo>
                  <a:cubicBezTo>
                    <a:pt x="1905" y="49001"/>
                    <a:pt x="0" y="52811"/>
                    <a:pt x="0" y="57573"/>
                  </a:cubicBezTo>
                  <a:lnTo>
                    <a:pt x="0" y="175683"/>
                  </a:lnTo>
                  <a:cubicBezTo>
                    <a:pt x="0" y="184256"/>
                    <a:pt x="7620" y="191876"/>
                    <a:pt x="16192" y="191876"/>
                  </a:cubicBezTo>
                  <a:lnTo>
                    <a:pt x="56197" y="191876"/>
                  </a:lnTo>
                  <a:lnTo>
                    <a:pt x="75247" y="225213"/>
                  </a:lnTo>
                  <a:cubicBezTo>
                    <a:pt x="77153" y="229023"/>
                    <a:pt x="80963" y="231881"/>
                    <a:pt x="84772" y="232833"/>
                  </a:cubicBezTo>
                  <a:cubicBezTo>
                    <a:pt x="88583" y="233786"/>
                    <a:pt x="93345" y="233786"/>
                    <a:pt x="97155" y="230928"/>
                  </a:cubicBezTo>
                  <a:lnTo>
                    <a:pt x="199072" y="171873"/>
                  </a:lnTo>
                  <a:cubicBezTo>
                    <a:pt x="202883" y="169968"/>
                    <a:pt x="205740" y="167111"/>
                    <a:pt x="206692" y="16234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20" name="Free-form: Shape 8">
              <a:extLst>
                <a:ext uri="{FF2B5EF4-FFF2-40B4-BE49-F238E27FC236}">
                  <a16:creationId xmlns:a16="http://schemas.microsoft.com/office/drawing/2014/main" id="{85356EDD-A796-D135-B1C6-4066A462F70E}"/>
                </a:ext>
              </a:extLst>
            </p:cNvPr>
            <p:cNvSpPr/>
            <p:nvPr/>
          </p:nvSpPr>
          <p:spPr>
            <a:xfrm>
              <a:off x="11836717" y="6741794"/>
              <a:ext cx="126682" cy="184785"/>
            </a:xfrm>
            <a:custGeom>
              <a:avLst/>
              <a:gdLst>
                <a:gd name="connsiteX0" fmla="*/ 0 w 126682"/>
                <a:gd name="connsiteY0" fmla="*/ 0 h 184785"/>
                <a:gd name="connsiteX1" fmla="*/ 0 w 126682"/>
                <a:gd name="connsiteY1" fmla="*/ 184785 h 184785"/>
                <a:gd name="connsiteX2" fmla="*/ 30480 w 126682"/>
                <a:gd name="connsiteY2" fmla="*/ 184785 h 184785"/>
                <a:gd name="connsiteX3" fmla="*/ 30480 w 126682"/>
                <a:gd name="connsiteY3" fmla="*/ 129540 h 184785"/>
                <a:gd name="connsiteX4" fmla="*/ 33338 w 126682"/>
                <a:gd name="connsiteY4" fmla="*/ 129540 h 184785"/>
                <a:gd name="connsiteX5" fmla="*/ 91440 w 126682"/>
                <a:gd name="connsiteY5" fmla="*/ 184785 h 184785"/>
                <a:gd name="connsiteX6" fmla="*/ 126682 w 126682"/>
                <a:gd name="connsiteY6" fmla="*/ 184785 h 184785"/>
                <a:gd name="connsiteX7" fmla="*/ 126682 w 126682"/>
                <a:gd name="connsiteY7" fmla="*/ 180975 h 184785"/>
                <a:gd name="connsiteX8" fmla="*/ 57150 w 126682"/>
                <a:gd name="connsiteY8" fmla="*/ 115253 h 184785"/>
                <a:gd name="connsiteX9" fmla="*/ 125730 w 126682"/>
                <a:gd name="connsiteY9" fmla="*/ 56198 h 184785"/>
                <a:gd name="connsiteX10" fmla="*/ 125730 w 126682"/>
                <a:gd name="connsiteY10" fmla="*/ 52388 h 184785"/>
                <a:gd name="connsiteX11" fmla="*/ 90488 w 126682"/>
                <a:gd name="connsiteY11" fmla="*/ 52388 h 184785"/>
                <a:gd name="connsiteX12" fmla="*/ 33338 w 126682"/>
                <a:gd name="connsiteY12" fmla="*/ 103823 h 184785"/>
                <a:gd name="connsiteX13" fmla="*/ 30480 w 126682"/>
                <a:gd name="connsiteY13" fmla="*/ 103823 h 184785"/>
                <a:gd name="connsiteX14" fmla="*/ 30480 w 126682"/>
                <a:gd name="connsiteY14" fmla="*/ 0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6682" h="184785">
                  <a:moveTo>
                    <a:pt x="0" y="0"/>
                  </a:moveTo>
                  <a:lnTo>
                    <a:pt x="0" y="184785"/>
                  </a:lnTo>
                  <a:lnTo>
                    <a:pt x="30480" y="184785"/>
                  </a:lnTo>
                  <a:lnTo>
                    <a:pt x="30480" y="129540"/>
                  </a:lnTo>
                  <a:lnTo>
                    <a:pt x="33338" y="129540"/>
                  </a:lnTo>
                  <a:lnTo>
                    <a:pt x="91440" y="184785"/>
                  </a:lnTo>
                  <a:lnTo>
                    <a:pt x="126682" y="184785"/>
                  </a:lnTo>
                  <a:lnTo>
                    <a:pt x="126682" y="180975"/>
                  </a:lnTo>
                  <a:lnTo>
                    <a:pt x="57150" y="115253"/>
                  </a:lnTo>
                  <a:lnTo>
                    <a:pt x="125730" y="56198"/>
                  </a:lnTo>
                  <a:lnTo>
                    <a:pt x="125730" y="52388"/>
                  </a:lnTo>
                  <a:lnTo>
                    <a:pt x="90488" y="52388"/>
                  </a:lnTo>
                  <a:lnTo>
                    <a:pt x="33338" y="103823"/>
                  </a:lnTo>
                  <a:lnTo>
                    <a:pt x="30480" y="103823"/>
                  </a:lnTo>
                  <a:lnTo>
                    <a:pt x="304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21" name="Free-form: Shape 9">
              <a:extLst>
                <a:ext uri="{FF2B5EF4-FFF2-40B4-BE49-F238E27FC236}">
                  <a16:creationId xmlns:a16="http://schemas.microsoft.com/office/drawing/2014/main" id="{0081224D-E573-A705-B3E0-5279D8418A6E}"/>
                </a:ext>
              </a:extLst>
            </p:cNvPr>
            <p:cNvSpPr/>
            <p:nvPr/>
          </p:nvSpPr>
          <p:spPr>
            <a:xfrm>
              <a:off x="11953874" y="6791325"/>
              <a:ext cx="129540" cy="139065"/>
            </a:xfrm>
            <a:custGeom>
              <a:avLst/>
              <a:gdLst>
                <a:gd name="connsiteX0" fmla="*/ 29528 w 129540"/>
                <a:gd name="connsiteY0" fmla="*/ 55245 h 139065"/>
                <a:gd name="connsiteX1" fmla="*/ 65722 w 129540"/>
                <a:gd name="connsiteY1" fmla="*/ 20955 h 139065"/>
                <a:gd name="connsiteX2" fmla="*/ 100013 w 129540"/>
                <a:gd name="connsiteY2" fmla="*/ 55245 h 139065"/>
                <a:gd name="connsiteX3" fmla="*/ 29528 w 129540"/>
                <a:gd name="connsiteY3" fmla="*/ 55245 h 139065"/>
                <a:gd name="connsiteX4" fmla="*/ 66675 w 129540"/>
                <a:gd name="connsiteY4" fmla="*/ 0 h 139065"/>
                <a:gd name="connsiteX5" fmla="*/ 0 w 129540"/>
                <a:gd name="connsiteY5" fmla="*/ 69532 h 139065"/>
                <a:gd name="connsiteX6" fmla="*/ 66675 w 129540"/>
                <a:gd name="connsiteY6" fmla="*/ 139065 h 139065"/>
                <a:gd name="connsiteX7" fmla="*/ 126682 w 129540"/>
                <a:gd name="connsiteY7" fmla="*/ 98107 h 139065"/>
                <a:gd name="connsiteX8" fmla="*/ 126682 w 129540"/>
                <a:gd name="connsiteY8" fmla="*/ 94297 h 139065"/>
                <a:gd name="connsiteX9" fmla="*/ 100013 w 129540"/>
                <a:gd name="connsiteY9" fmla="*/ 94297 h 139065"/>
                <a:gd name="connsiteX10" fmla="*/ 66675 w 129540"/>
                <a:gd name="connsiteY10" fmla="*/ 117157 h 139065"/>
                <a:gd name="connsiteX11" fmla="*/ 29528 w 129540"/>
                <a:gd name="connsiteY11" fmla="*/ 77153 h 139065"/>
                <a:gd name="connsiteX12" fmla="*/ 129540 w 129540"/>
                <a:gd name="connsiteY12" fmla="*/ 77153 h 139065"/>
                <a:gd name="connsiteX13" fmla="*/ 129540 w 129540"/>
                <a:gd name="connsiteY13" fmla="*/ 64770 h 139065"/>
                <a:gd name="connsiteX14" fmla="*/ 66675 w 129540"/>
                <a:gd name="connsiteY14" fmla="*/ 0 h 13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9540" h="139065">
                  <a:moveTo>
                    <a:pt x="29528" y="55245"/>
                  </a:moveTo>
                  <a:cubicBezTo>
                    <a:pt x="31432" y="35243"/>
                    <a:pt x="43815" y="20955"/>
                    <a:pt x="65722" y="20955"/>
                  </a:cubicBezTo>
                  <a:cubicBezTo>
                    <a:pt x="88582" y="20955"/>
                    <a:pt x="100013" y="35243"/>
                    <a:pt x="100013" y="55245"/>
                  </a:cubicBezTo>
                  <a:lnTo>
                    <a:pt x="29528" y="55245"/>
                  </a:lnTo>
                  <a:close/>
                  <a:moveTo>
                    <a:pt x="66675" y="0"/>
                  </a:moveTo>
                  <a:cubicBezTo>
                    <a:pt x="26670" y="0"/>
                    <a:pt x="0" y="23813"/>
                    <a:pt x="0" y="69532"/>
                  </a:cubicBezTo>
                  <a:cubicBezTo>
                    <a:pt x="0" y="115253"/>
                    <a:pt x="26670" y="139065"/>
                    <a:pt x="66675" y="139065"/>
                  </a:cubicBezTo>
                  <a:cubicBezTo>
                    <a:pt x="106680" y="139065"/>
                    <a:pt x="122872" y="115253"/>
                    <a:pt x="126682" y="98107"/>
                  </a:cubicBezTo>
                  <a:lnTo>
                    <a:pt x="126682" y="94297"/>
                  </a:lnTo>
                  <a:lnTo>
                    <a:pt x="100013" y="94297"/>
                  </a:lnTo>
                  <a:cubicBezTo>
                    <a:pt x="98107" y="104775"/>
                    <a:pt x="88582" y="117157"/>
                    <a:pt x="66675" y="117157"/>
                  </a:cubicBezTo>
                  <a:cubicBezTo>
                    <a:pt x="43815" y="117157"/>
                    <a:pt x="30480" y="100965"/>
                    <a:pt x="29528" y="77153"/>
                  </a:cubicBezTo>
                  <a:lnTo>
                    <a:pt x="129540" y="77153"/>
                  </a:lnTo>
                  <a:lnTo>
                    <a:pt x="129540" y="64770"/>
                  </a:lnTo>
                  <a:cubicBezTo>
                    <a:pt x="129540" y="23813"/>
                    <a:pt x="106680" y="0"/>
                    <a:pt x="66675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22" name="Free-form: Shape 10">
              <a:extLst>
                <a:ext uri="{FF2B5EF4-FFF2-40B4-BE49-F238E27FC236}">
                  <a16:creationId xmlns:a16="http://schemas.microsoft.com/office/drawing/2014/main" id="{D9C00912-1C88-DE58-75E0-B21BE27BC8DE}"/>
                </a:ext>
              </a:extLst>
            </p:cNvPr>
            <p:cNvSpPr/>
            <p:nvPr/>
          </p:nvSpPr>
          <p:spPr>
            <a:xfrm>
              <a:off x="12077699" y="6794182"/>
              <a:ext cx="137159" cy="183832"/>
            </a:xfrm>
            <a:custGeom>
              <a:avLst/>
              <a:gdLst>
                <a:gd name="connsiteX0" fmla="*/ 106680 w 137159"/>
                <a:gd name="connsiteY0" fmla="*/ 0 h 183832"/>
                <a:gd name="connsiteX1" fmla="*/ 70485 w 137159"/>
                <a:gd name="connsiteY1" fmla="*/ 97155 h 183832"/>
                <a:gd name="connsiteX2" fmla="*/ 67628 w 137159"/>
                <a:gd name="connsiteY2" fmla="*/ 97155 h 183832"/>
                <a:gd name="connsiteX3" fmla="*/ 31432 w 137159"/>
                <a:gd name="connsiteY3" fmla="*/ 0 h 183832"/>
                <a:gd name="connsiteX4" fmla="*/ 0 w 137159"/>
                <a:gd name="connsiteY4" fmla="*/ 0 h 183832"/>
                <a:gd name="connsiteX5" fmla="*/ 0 w 137159"/>
                <a:gd name="connsiteY5" fmla="*/ 3810 h 183832"/>
                <a:gd name="connsiteX6" fmla="*/ 53340 w 137159"/>
                <a:gd name="connsiteY6" fmla="*/ 132398 h 183832"/>
                <a:gd name="connsiteX7" fmla="*/ 33338 w 137159"/>
                <a:gd name="connsiteY7" fmla="*/ 180023 h 183832"/>
                <a:gd name="connsiteX8" fmla="*/ 33338 w 137159"/>
                <a:gd name="connsiteY8" fmla="*/ 183833 h 183832"/>
                <a:gd name="connsiteX9" fmla="*/ 63818 w 137159"/>
                <a:gd name="connsiteY9" fmla="*/ 183833 h 183832"/>
                <a:gd name="connsiteX10" fmla="*/ 137160 w 137159"/>
                <a:gd name="connsiteY10" fmla="*/ 3810 h 183832"/>
                <a:gd name="connsiteX11" fmla="*/ 137160 w 137159"/>
                <a:gd name="connsiteY11" fmla="*/ 0 h 18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9" h="183832">
                  <a:moveTo>
                    <a:pt x="106680" y="0"/>
                  </a:moveTo>
                  <a:lnTo>
                    <a:pt x="70485" y="97155"/>
                  </a:lnTo>
                  <a:lnTo>
                    <a:pt x="67628" y="97155"/>
                  </a:lnTo>
                  <a:lnTo>
                    <a:pt x="31432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53340" y="132398"/>
                  </a:lnTo>
                  <a:lnTo>
                    <a:pt x="33338" y="180023"/>
                  </a:lnTo>
                  <a:lnTo>
                    <a:pt x="33338" y="183833"/>
                  </a:lnTo>
                  <a:lnTo>
                    <a:pt x="63818" y="183833"/>
                  </a:lnTo>
                  <a:lnTo>
                    <a:pt x="137160" y="3810"/>
                  </a:lnTo>
                  <a:lnTo>
                    <a:pt x="13716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grpSp>
          <p:nvGrpSpPr>
            <p:cNvPr id="23" name="Graphic 7">
              <a:extLst>
                <a:ext uri="{FF2B5EF4-FFF2-40B4-BE49-F238E27FC236}">
                  <a16:creationId xmlns:a16="http://schemas.microsoft.com/office/drawing/2014/main" id="{316F0C9C-4B9A-531F-66C9-EF46214AA3E5}"/>
                </a:ext>
              </a:extLst>
            </p:cNvPr>
            <p:cNvGrpSpPr/>
            <p:nvPr/>
          </p:nvGrpSpPr>
          <p:grpSpPr>
            <a:xfrm>
              <a:off x="12212002" y="6759892"/>
              <a:ext cx="618172" cy="170497"/>
              <a:chOff x="12212002" y="6759892"/>
              <a:chExt cx="618172" cy="170497"/>
            </a:xfrm>
            <a:grpFill/>
          </p:grpSpPr>
          <p:sp>
            <p:nvSpPr>
              <p:cNvPr id="24" name="Free-form: Shape 12">
                <a:extLst>
                  <a:ext uri="{FF2B5EF4-FFF2-40B4-BE49-F238E27FC236}">
                    <a16:creationId xmlns:a16="http://schemas.microsoft.com/office/drawing/2014/main" id="{32C7BCC5-0108-8725-AC05-BFBC7B02CAAF}"/>
                  </a:ext>
                </a:extLst>
              </p:cNvPr>
              <p:cNvSpPr/>
              <p:nvPr/>
            </p:nvSpPr>
            <p:spPr>
              <a:xfrm>
                <a:off x="12212002" y="6792277"/>
                <a:ext cx="120015" cy="137159"/>
              </a:xfrm>
              <a:custGeom>
                <a:avLst/>
                <a:gdLst>
                  <a:gd name="connsiteX0" fmla="*/ 75247 w 120015"/>
                  <a:gd name="connsiteY0" fmla="*/ 58103 h 137159"/>
                  <a:gd name="connsiteX1" fmla="*/ 50482 w 120015"/>
                  <a:gd name="connsiteY1" fmla="*/ 54292 h 137159"/>
                  <a:gd name="connsiteX2" fmla="*/ 30480 w 120015"/>
                  <a:gd name="connsiteY2" fmla="*/ 38100 h 137159"/>
                  <a:gd name="connsiteX3" fmla="*/ 58103 w 120015"/>
                  <a:gd name="connsiteY3" fmla="*/ 20955 h 137159"/>
                  <a:gd name="connsiteX4" fmla="*/ 89535 w 120015"/>
                  <a:gd name="connsiteY4" fmla="*/ 43815 h 137159"/>
                  <a:gd name="connsiteX5" fmla="*/ 117157 w 120015"/>
                  <a:gd name="connsiteY5" fmla="*/ 43815 h 137159"/>
                  <a:gd name="connsiteX6" fmla="*/ 117157 w 120015"/>
                  <a:gd name="connsiteY6" fmla="*/ 40005 h 137159"/>
                  <a:gd name="connsiteX7" fmla="*/ 57150 w 120015"/>
                  <a:gd name="connsiteY7" fmla="*/ 0 h 137159"/>
                  <a:gd name="connsiteX8" fmla="*/ 953 w 120015"/>
                  <a:gd name="connsiteY8" fmla="*/ 39053 h 137159"/>
                  <a:gd name="connsiteX9" fmla="*/ 42863 w 120015"/>
                  <a:gd name="connsiteY9" fmla="*/ 77153 h 137159"/>
                  <a:gd name="connsiteX10" fmla="*/ 67628 w 120015"/>
                  <a:gd name="connsiteY10" fmla="*/ 80963 h 137159"/>
                  <a:gd name="connsiteX11" fmla="*/ 90488 w 120015"/>
                  <a:gd name="connsiteY11" fmla="*/ 98107 h 137159"/>
                  <a:gd name="connsiteX12" fmla="*/ 61913 w 120015"/>
                  <a:gd name="connsiteY12" fmla="*/ 116205 h 137159"/>
                  <a:gd name="connsiteX13" fmla="*/ 27622 w 120015"/>
                  <a:gd name="connsiteY13" fmla="*/ 92392 h 137159"/>
                  <a:gd name="connsiteX14" fmla="*/ 0 w 120015"/>
                  <a:gd name="connsiteY14" fmla="*/ 92392 h 137159"/>
                  <a:gd name="connsiteX15" fmla="*/ 0 w 120015"/>
                  <a:gd name="connsiteY15" fmla="*/ 96203 h 137159"/>
                  <a:gd name="connsiteX16" fmla="*/ 62865 w 120015"/>
                  <a:gd name="connsiteY16" fmla="*/ 137160 h 137159"/>
                  <a:gd name="connsiteX17" fmla="*/ 120015 w 120015"/>
                  <a:gd name="connsiteY17" fmla="*/ 96203 h 137159"/>
                  <a:gd name="connsiteX18" fmla="*/ 75247 w 120015"/>
                  <a:gd name="connsiteY18" fmla="*/ 58103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0015" h="137159">
                    <a:moveTo>
                      <a:pt x="75247" y="58103"/>
                    </a:moveTo>
                    <a:lnTo>
                      <a:pt x="50482" y="54292"/>
                    </a:lnTo>
                    <a:cubicBezTo>
                      <a:pt x="39053" y="52388"/>
                      <a:pt x="30480" y="48578"/>
                      <a:pt x="30480" y="38100"/>
                    </a:cubicBezTo>
                    <a:cubicBezTo>
                      <a:pt x="30480" y="27622"/>
                      <a:pt x="40005" y="20955"/>
                      <a:pt x="58103" y="20955"/>
                    </a:cubicBezTo>
                    <a:cubicBezTo>
                      <a:pt x="76200" y="20955"/>
                      <a:pt x="88582" y="27622"/>
                      <a:pt x="89535" y="43815"/>
                    </a:cubicBezTo>
                    <a:lnTo>
                      <a:pt x="117157" y="43815"/>
                    </a:lnTo>
                    <a:lnTo>
                      <a:pt x="117157" y="40005"/>
                    </a:lnTo>
                    <a:cubicBezTo>
                      <a:pt x="114300" y="16192"/>
                      <a:pt x="93345" y="0"/>
                      <a:pt x="57150" y="0"/>
                    </a:cubicBezTo>
                    <a:cubicBezTo>
                      <a:pt x="20955" y="0"/>
                      <a:pt x="953" y="16192"/>
                      <a:pt x="953" y="39053"/>
                    </a:cubicBezTo>
                    <a:cubicBezTo>
                      <a:pt x="953" y="61913"/>
                      <a:pt x="18097" y="73342"/>
                      <a:pt x="42863" y="77153"/>
                    </a:cubicBezTo>
                    <a:lnTo>
                      <a:pt x="67628" y="80963"/>
                    </a:lnTo>
                    <a:cubicBezTo>
                      <a:pt x="81915" y="82867"/>
                      <a:pt x="90488" y="87630"/>
                      <a:pt x="90488" y="98107"/>
                    </a:cubicBezTo>
                    <a:cubicBezTo>
                      <a:pt x="90488" y="109538"/>
                      <a:pt x="80963" y="116205"/>
                      <a:pt x="61913" y="116205"/>
                    </a:cubicBezTo>
                    <a:cubicBezTo>
                      <a:pt x="42863" y="116205"/>
                      <a:pt x="28575" y="108585"/>
                      <a:pt x="27622" y="92392"/>
                    </a:cubicBezTo>
                    <a:lnTo>
                      <a:pt x="0" y="92392"/>
                    </a:lnTo>
                    <a:lnTo>
                      <a:pt x="0" y="96203"/>
                    </a:lnTo>
                    <a:cubicBezTo>
                      <a:pt x="1905" y="120015"/>
                      <a:pt x="23813" y="137160"/>
                      <a:pt x="62865" y="137160"/>
                    </a:cubicBezTo>
                    <a:cubicBezTo>
                      <a:pt x="100965" y="137160"/>
                      <a:pt x="120015" y="120015"/>
                      <a:pt x="120015" y="96203"/>
                    </a:cubicBezTo>
                    <a:cubicBezTo>
                      <a:pt x="119063" y="72390"/>
                      <a:pt x="100965" y="62865"/>
                      <a:pt x="75247" y="58103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5" name="Free-form: Shape 13">
                <a:extLst>
                  <a:ext uri="{FF2B5EF4-FFF2-40B4-BE49-F238E27FC236}">
                    <a16:creationId xmlns:a16="http://schemas.microsoft.com/office/drawing/2014/main" id="{23074C1E-36B0-657E-79F6-45F52083EE1C}"/>
                  </a:ext>
                </a:extLst>
              </p:cNvPr>
              <p:cNvSpPr/>
              <p:nvPr/>
            </p:nvSpPr>
            <p:spPr>
              <a:xfrm>
                <a:off x="12330112" y="6759892"/>
                <a:ext cx="93344" cy="166687"/>
              </a:xfrm>
              <a:custGeom>
                <a:avLst/>
                <a:gdLst>
                  <a:gd name="connsiteX0" fmla="*/ 56197 w 93344"/>
                  <a:gd name="connsiteY0" fmla="*/ 142875 h 166687"/>
                  <a:gd name="connsiteX1" fmla="*/ 56197 w 93344"/>
                  <a:gd name="connsiteY1" fmla="*/ 56197 h 166687"/>
                  <a:gd name="connsiteX2" fmla="*/ 93345 w 93344"/>
                  <a:gd name="connsiteY2" fmla="*/ 56197 h 166687"/>
                  <a:gd name="connsiteX3" fmla="*/ 93345 w 93344"/>
                  <a:gd name="connsiteY3" fmla="*/ 35242 h 166687"/>
                  <a:gd name="connsiteX4" fmla="*/ 56197 w 93344"/>
                  <a:gd name="connsiteY4" fmla="*/ 35242 h 166687"/>
                  <a:gd name="connsiteX5" fmla="*/ 56197 w 93344"/>
                  <a:gd name="connsiteY5" fmla="*/ 0 h 166687"/>
                  <a:gd name="connsiteX6" fmla="*/ 25718 w 93344"/>
                  <a:gd name="connsiteY6" fmla="*/ 0 h 166687"/>
                  <a:gd name="connsiteX7" fmla="*/ 25718 w 93344"/>
                  <a:gd name="connsiteY7" fmla="*/ 35242 h 166687"/>
                  <a:gd name="connsiteX8" fmla="*/ 0 w 93344"/>
                  <a:gd name="connsiteY8" fmla="*/ 35242 h 166687"/>
                  <a:gd name="connsiteX9" fmla="*/ 0 w 93344"/>
                  <a:gd name="connsiteY9" fmla="*/ 56197 h 166687"/>
                  <a:gd name="connsiteX10" fmla="*/ 25718 w 93344"/>
                  <a:gd name="connsiteY10" fmla="*/ 56197 h 166687"/>
                  <a:gd name="connsiteX11" fmla="*/ 25718 w 93344"/>
                  <a:gd name="connsiteY11" fmla="*/ 132397 h 166687"/>
                  <a:gd name="connsiteX12" fmla="*/ 61913 w 93344"/>
                  <a:gd name="connsiteY12" fmla="*/ 166688 h 166687"/>
                  <a:gd name="connsiteX13" fmla="*/ 92393 w 93344"/>
                  <a:gd name="connsiteY13" fmla="*/ 166688 h 166687"/>
                  <a:gd name="connsiteX14" fmla="*/ 92393 w 93344"/>
                  <a:gd name="connsiteY14" fmla="*/ 144780 h 166687"/>
                  <a:gd name="connsiteX15" fmla="*/ 58103 w 93344"/>
                  <a:gd name="connsiteY15" fmla="*/ 144780 h 166687"/>
                  <a:gd name="connsiteX16" fmla="*/ 56197 w 93344"/>
                  <a:gd name="connsiteY16" fmla="*/ 142875 h 166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344" h="166687">
                    <a:moveTo>
                      <a:pt x="56197" y="142875"/>
                    </a:moveTo>
                    <a:lnTo>
                      <a:pt x="56197" y="56197"/>
                    </a:lnTo>
                    <a:lnTo>
                      <a:pt x="93345" y="56197"/>
                    </a:lnTo>
                    <a:lnTo>
                      <a:pt x="93345" y="35242"/>
                    </a:lnTo>
                    <a:lnTo>
                      <a:pt x="56197" y="35242"/>
                    </a:lnTo>
                    <a:lnTo>
                      <a:pt x="56197" y="0"/>
                    </a:lnTo>
                    <a:lnTo>
                      <a:pt x="25718" y="0"/>
                    </a:lnTo>
                    <a:lnTo>
                      <a:pt x="25718" y="35242"/>
                    </a:lnTo>
                    <a:lnTo>
                      <a:pt x="0" y="35242"/>
                    </a:lnTo>
                    <a:lnTo>
                      <a:pt x="0" y="56197"/>
                    </a:lnTo>
                    <a:lnTo>
                      <a:pt x="25718" y="56197"/>
                    </a:lnTo>
                    <a:lnTo>
                      <a:pt x="25718" y="132397"/>
                    </a:lnTo>
                    <a:cubicBezTo>
                      <a:pt x="25718" y="155257"/>
                      <a:pt x="39053" y="166688"/>
                      <a:pt x="61913" y="166688"/>
                    </a:cubicBezTo>
                    <a:lnTo>
                      <a:pt x="92393" y="166688"/>
                    </a:lnTo>
                    <a:lnTo>
                      <a:pt x="92393" y="144780"/>
                    </a:lnTo>
                    <a:lnTo>
                      <a:pt x="58103" y="144780"/>
                    </a:lnTo>
                    <a:lnTo>
                      <a:pt x="56197" y="1428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6" name="Free-form: Shape 14">
                <a:extLst>
                  <a:ext uri="{FF2B5EF4-FFF2-40B4-BE49-F238E27FC236}">
                    <a16:creationId xmlns:a16="http://schemas.microsoft.com/office/drawing/2014/main" id="{208C634A-B9FC-847B-4917-BB08F9CC06AF}"/>
                  </a:ext>
                </a:extLst>
              </p:cNvPr>
              <p:cNvSpPr/>
              <p:nvPr/>
            </p:nvSpPr>
            <p:spPr>
              <a:xfrm>
                <a:off x="12424409" y="6791325"/>
                <a:ext cx="137159" cy="139065"/>
              </a:xfrm>
              <a:custGeom>
                <a:avLst/>
                <a:gdLst>
                  <a:gd name="connsiteX0" fmla="*/ 68580 w 137159"/>
                  <a:gd name="connsiteY0" fmla="*/ 116205 h 139065"/>
                  <a:gd name="connsiteX1" fmla="*/ 30480 w 137159"/>
                  <a:gd name="connsiteY1" fmla="*/ 69532 h 139065"/>
                  <a:gd name="connsiteX2" fmla="*/ 68580 w 137159"/>
                  <a:gd name="connsiteY2" fmla="*/ 22860 h 139065"/>
                  <a:gd name="connsiteX3" fmla="*/ 106680 w 137159"/>
                  <a:gd name="connsiteY3" fmla="*/ 69532 h 139065"/>
                  <a:gd name="connsiteX4" fmla="*/ 68580 w 137159"/>
                  <a:gd name="connsiteY4" fmla="*/ 116205 h 139065"/>
                  <a:gd name="connsiteX5" fmla="*/ 68580 w 137159"/>
                  <a:gd name="connsiteY5" fmla="*/ 0 h 139065"/>
                  <a:gd name="connsiteX6" fmla="*/ 0 w 137159"/>
                  <a:gd name="connsiteY6" fmla="*/ 69532 h 139065"/>
                  <a:gd name="connsiteX7" fmla="*/ 68580 w 137159"/>
                  <a:gd name="connsiteY7" fmla="*/ 139065 h 139065"/>
                  <a:gd name="connsiteX8" fmla="*/ 137160 w 137159"/>
                  <a:gd name="connsiteY8" fmla="*/ 69532 h 139065"/>
                  <a:gd name="connsiteX9" fmla="*/ 68580 w 137159"/>
                  <a:gd name="connsiteY9" fmla="*/ 0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139065">
                    <a:moveTo>
                      <a:pt x="68580" y="116205"/>
                    </a:moveTo>
                    <a:cubicBezTo>
                      <a:pt x="45720" y="116205"/>
                      <a:pt x="30480" y="100013"/>
                      <a:pt x="30480" y="69532"/>
                    </a:cubicBezTo>
                    <a:cubicBezTo>
                      <a:pt x="30480" y="39053"/>
                      <a:pt x="45720" y="22860"/>
                      <a:pt x="68580" y="22860"/>
                    </a:cubicBezTo>
                    <a:cubicBezTo>
                      <a:pt x="91440" y="22860"/>
                      <a:pt x="106680" y="39053"/>
                      <a:pt x="106680" y="69532"/>
                    </a:cubicBezTo>
                    <a:cubicBezTo>
                      <a:pt x="106680" y="100013"/>
                      <a:pt x="91440" y="116205"/>
                      <a:pt x="68580" y="116205"/>
                    </a:cubicBezTo>
                    <a:moveTo>
                      <a:pt x="68580" y="0"/>
                    </a:moveTo>
                    <a:cubicBezTo>
                      <a:pt x="28575" y="0"/>
                      <a:pt x="0" y="23813"/>
                      <a:pt x="0" y="69532"/>
                    </a:cubicBezTo>
                    <a:cubicBezTo>
                      <a:pt x="0" y="114300"/>
                      <a:pt x="28575" y="139065"/>
                      <a:pt x="68580" y="139065"/>
                    </a:cubicBezTo>
                    <a:cubicBezTo>
                      <a:pt x="108585" y="139065"/>
                      <a:pt x="137160" y="115253"/>
                      <a:pt x="137160" y="69532"/>
                    </a:cubicBezTo>
                    <a:cubicBezTo>
                      <a:pt x="137160" y="23813"/>
                      <a:pt x="108585" y="0"/>
                      <a:pt x="68580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7" name="Free-form: Shape 15">
                <a:extLst>
                  <a:ext uri="{FF2B5EF4-FFF2-40B4-BE49-F238E27FC236}">
                    <a16:creationId xmlns:a16="http://schemas.microsoft.com/office/drawing/2014/main" id="{0C4ACB2B-64EE-7CCF-3B5A-80FF8F89B436}"/>
                  </a:ext>
                </a:extLst>
              </p:cNvPr>
              <p:cNvSpPr/>
              <p:nvPr/>
            </p:nvSpPr>
            <p:spPr>
              <a:xfrm>
                <a:off x="12568237" y="6791325"/>
                <a:ext cx="123857" cy="135255"/>
              </a:xfrm>
              <a:custGeom>
                <a:avLst/>
                <a:gdLst>
                  <a:gd name="connsiteX0" fmla="*/ 75247 w 123857"/>
                  <a:gd name="connsiteY0" fmla="*/ 0 h 135255"/>
                  <a:gd name="connsiteX1" fmla="*/ 32385 w 123857"/>
                  <a:gd name="connsiteY1" fmla="*/ 20003 h 135255"/>
                  <a:gd name="connsiteX2" fmla="*/ 29528 w 123857"/>
                  <a:gd name="connsiteY2" fmla="*/ 20003 h 135255"/>
                  <a:gd name="connsiteX3" fmla="*/ 29528 w 123857"/>
                  <a:gd name="connsiteY3" fmla="*/ 2857 h 135255"/>
                  <a:gd name="connsiteX4" fmla="*/ 0 w 123857"/>
                  <a:gd name="connsiteY4" fmla="*/ 2857 h 135255"/>
                  <a:gd name="connsiteX5" fmla="*/ 0 w 123857"/>
                  <a:gd name="connsiteY5" fmla="*/ 135255 h 135255"/>
                  <a:gd name="connsiteX6" fmla="*/ 30480 w 123857"/>
                  <a:gd name="connsiteY6" fmla="*/ 135255 h 135255"/>
                  <a:gd name="connsiteX7" fmla="*/ 30480 w 123857"/>
                  <a:gd name="connsiteY7" fmla="*/ 60960 h 135255"/>
                  <a:gd name="connsiteX8" fmla="*/ 65722 w 123857"/>
                  <a:gd name="connsiteY8" fmla="*/ 22860 h 135255"/>
                  <a:gd name="connsiteX9" fmla="*/ 93345 w 123857"/>
                  <a:gd name="connsiteY9" fmla="*/ 50482 h 135255"/>
                  <a:gd name="connsiteX10" fmla="*/ 93345 w 123857"/>
                  <a:gd name="connsiteY10" fmla="*/ 134303 h 135255"/>
                  <a:gd name="connsiteX11" fmla="*/ 123825 w 123857"/>
                  <a:gd name="connsiteY11" fmla="*/ 134303 h 135255"/>
                  <a:gd name="connsiteX12" fmla="*/ 123825 w 123857"/>
                  <a:gd name="connsiteY12" fmla="*/ 47625 h 135255"/>
                  <a:gd name="connsiteX13" fmla="*/ 75247 w 123857"/>
                  <a:gd name="connsiteY13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857" h="135255">
                    <a:moveTo>
                      <a:pt x="75247" y="0"/>
                    </a:moveTo>
                    <a:cubicBezTo>
                      <a:pt x="47625" y="0"/>
                      <a:pt x="37147" y="12382"/>
                      <a:pt x="32385" y="20003"/>
                    </a:cubicBezTo>
                    <a:lnTo>
                      <a:pt x="29528" y="20003"/>
                    </a:lnTo>
                    <a:lnTo>
                      <a:pt x="29528" y="2857"/>
                    </a:lnTo>
                    <a:lnTo>
                      <a:pt x="0" y="2857"/>
                    </a:lnTo>
                    <a:lnTo>
                      <a:pt x="0" y="135255"/>
                    </a:lnTo>
                    <a:lnTo>
                      <a:pt x="30480" y="135255"/>
                    </a:lnTo>
                    <a:lnTo>
                      <a:pt x="30480" y="60960"/>
                    </a:lnTo>
                    <a:cubicBezTo>
                      <a:pt x="30480" y="34290"/>
                      <a:pt x="46672" y="22860"/>
                      <a:pt x="65722" y="22860"/>
                    </a:cubicBezTo>
                    <a:cubicBezTo>
                      <a:pt x="82868" y="22860"/>
                      <a:pt x="93345" y="31432"/>
                      <a:pt x="93345" y="50482"/>
                    </a:cubicBezTo>
                    <a:lnTo>
                      <a:pt x="93345" y="134303"/>
                    </a:lnTo>
                    <a:lnTo>
                      <a:pt x="123825" y="134303"/>
                    </a:lnTo>
                    <a:lnTo>
                      <a:pt x="123825" y="47625"/>
                    </a:lnTo>
                    <a:cubicBezTo>
                      <a:pt x="124778" y="16193"/>
                      <a:pt x="104775" y="0"/>
                      <a:pt x="75247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8" name="Free-form: Shape 16">
                <a:extLst>
                  <a:ext uri="{FF2B5EF4-FFF2-40B4-BE49-F238E27FC236}">
                    <a16:creationId xmlns:a16="http://schemas.microsoft.com/office/drawing/2014/main" id="{2E5FF75A-84E8-793C-C773-85AA5EA3B5C9}"/>
                  </a:ext>
                </a:extLst>
              </p:cNvPr>
              <p:cNvSpPr/>
              <p:nvPr/>
            </p:nvSpPr>
            <p:spPr>
              <a:xfrm>
                <a:off x="12700634" y="6791325"/>
                <a:ext cx="129540" cy="139065"/>
              </a:xfrm>
              <a:custGeom>
                <a:avLst/>
                <a:gdLst>
                  <a:gd name="connsiteX0" fmla="*/ 29528 w 129540"/>
                  <a:gd name="connsiteY0" fmla="*/ 55245 h 139065"/>
                  <a:gd name="connsiteX1" fmla="*/ 65722 w 129540"/>
                  <a:gd name="connsiteY1" fmla="*/ 20955 h 139065"/>
                  <a:gd name="connsiteX2" fmla="*/ 100013 w 129540"/>
                  <a:gd name="connsiteY2" fmla="*/ 55245 h 139065"/>
                  <a:gd name="connsiteX3" fmla="*/ 29528 w 129540"/>
                  <a:gd name="connsiteY3" fmla="*/ 55245 h 139065"/>
                  <a:gd name="connsiteX4" fmla="*/ 129540 w 129540"/>
                  <a:gd name="connsiteY4" fmla="*/ 63818 h 139065"/>
                  <a:gd name="connsiteX5" fmla="*/ 66675 w 129540"/>
                  <a:gd name="connsiteY5" fmla="*/ 0 h 139065"/>
                  <a:gd name="connsiteX6" fmla="*/ 0 w 129540"/>
                  <a:gd name="connsiteY6" fmla="*/ 69532 h 139065"/>
                  <a:gd name="connsiteX7" fmla="*/ 66675 w 129540"/>
                  <a:gd name="connsiteY7" fmla="*/ 139065 h 139065"/>
                  <a:gd name="connsiteX8" fmla="*/ 126683 w 129540"/>
                  <a:gd name="connsiteY8" fmla="*/ 98107 h 139065"/>
                  <a:gd name="connsiteX9" fmla="*/ 126683 w 129540"/>
                  <a:gd name="connsiteY9" fmla="*/ 94297 h 139065"/>
                  <a:gd name="connsiteX10" fmla="*/ 100013 w 129540"/>
                  <a:gd name="connsiteY10" fmla="*/ 94297 h 139065"/>
                  <a:gd name="connsiteX11" fmla="*/ 66675 w 129540"/>
                  <a:gd name="connsiteY11" fmla="*/ 117157 h 139065"/>
                  <a:gd name="connsiteX12" fmla="*/ 29528 w 129540"/>
                  <a:gd name="connsiteY12" fmla="*/ 77153 h 139065"/>
                  <a:gd name="connsiteX13" fmla="*/ 129540 w 129540"/>
                  <a:gd name="connsiteY13" fmla="*/ 77153 h 139065"/>
                  <a:gd name="connsiteX14" fmla="*/ 129540 w 129540"/>
                  <a:gd name="connsiteY14" fmla="*/ 63818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540" h="139065">
                    <a:moveTo>
                      <a:pt x="29528" y="55245"/>
                    </a:moveTo>
                    <a:cubicBezTo>
                      <a:pt x="31433" y="35243"/>
                      <a:pt x="43815" y="20955"/>
                      <a:pt x="65722" y="20955"/>
                    </a:cubicBezTo>
                    <a:cubicBezTo>
                      <a:pt x="88583" y="20955"/>
                      <a:pt x="100013" y="35243"/>
                      <a:pt x="100013" y="55245"/>
                    </a:cubicBezTo>
                    <a:lnTo>
                      <a:pt x="29528" y="55245"/>
                    </a:lnTo>
                    <a:close/>
                    <a:moveTo>
                      <a:pt x="129540" y="63818"/>
                    </a:moveTo>
                    <a:cubicBezTo>
                      <a:pt x="129540" y="23813"/>
                      <a:pt x="106680" y="0"/>
                      <a:pt x="66675" y="0"/>
                    </a:cubicBezTo>
                    <a:cubicBezTo>
                      <a:pt x="26670" y="0"/>
                      <a:pt x="0" y="23813"/>
                      <a:pt x="0" y="69532"/>
                    </a:cubicBezTo>
                    <a:cubicBezTo>
                      <a:pt x="0" y="115253"/>
                      <a:pt x="26670" y="139065"/>
                      <a:pt x="66675" y="139065"/>
                    </a:cubicBezTo>
                    <a:cubicBezTo>
                      <a:pt x="106680" y="139065"/>
                      <a:pt x="122872" y="115253"/>
                      <a:pt x="126683" y="98107"/>
                    </a:cubicBezTo>
                    <a:lnTo>
                      <a:pt x="126683" y="94297"/>
                    </a:lnTo>
                    <a:lnTo>
                      <a:pt x="100013" y="94297"/>
                    </a:lnTo>
                    <a:cubicBezTo>
                      <a:pt x="98108" y="104775"/>
                      <a:pt x="88583" y="117157"/>
                      <a:pt x="66675" y="117157"/>
                    </a:cubicBezTo>
                    <a:cubicBezTo>
                      <a:pt x="43815" y="117157"/>
                      <a:pt x="30480" y="100965"/>
                      <a:pt x="29528" y="77153"/>
                    </a:cubicBezTo>
                    <a:lnTo>
                      <a:pt x="129540" y="77153"/>
                    </a:lnTo>
                    <a:lnTo>
                      <a:pt x="129540" y="63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4087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Lilac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hink-cell data - do not delete" hidden="1">
            <a:extLst>
              <a:ext uri="{FF2B5EF4-FFF2-40B4-BE49-F238E27FC236}">
                <a16:creationId xmlns:a16="http://schemas.microsoft.com/office/drawing/2014/main" id="{19FC50AA-0BE5-B1B9-6313-030E67F6B4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FC50AA-0BE5-B1B9-6313-030E67F6B4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0" y="691200"/>
            <a:ext cx="7467358" cy="1540566"/>
          </a:xfrm>
        </p:spPr>
        <p:txBody>
          <a:bodyPr vert="horz" anchor="b">
            <a:normAutofit/>
          </a:bodyPr>
          <a:lstStyle>
            <a:lvl1pPr algn="l">
              <a:lnSpc>
                <a:spcPct val="88000"/>
              </a:lnSpc>
              <a:defRPr sz="5400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0" y="2334600"/>
            <a:ext cx="7467358" cy="512762"/>
          </a:xfrm>
        </p:spPr>
        <p:txBody>
          <a:bodyPr>
            <a:normAutofit/>
          </a:bodyPr>
          <a:lstStyle>
            <a:lvl1pPr marL="0" indent="0" algn="l">
              <a:lnSpc>
                <a:spcPct val="98000"/>
              </a:lnSpc>
              <a:spcBef>
                <a:spcPts val="0"/>
              </a:spcBef>
              <a:buNone/>
              <a:defRPr sz="2000" spc="-55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F59106-972B-299C-D5DA-6BA7A053EC26}"/>
              </a:ext>
            </a:extLst>
          </p:cNvPr>
          <p:cNvGrpSpPr>
            <a:grpSpLocks noChangeAspect="1"/>
          </p:cNvGrpSpPr>
          <p:nvPr/>
        </p:nvGrpSpPr>
        <p:grpSpPr>
          <a:xfrm>
            <a:off x="256032" y="6350508"/>
            <a:ext cx="1339596" cy="251244"/>
            <a:chOff x="11563349" y="6740419"/>
            <a:chExt cx="1266825" cy="237595"/>
          </a:xfrm>
          <a:solidFill>
            <a:schemeClr val="tx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C88B326C-95E8-8F16-F3CB-76D0FA39DE7E}"/>
                </a:ext>
              </a:extLst>
            </p:cNvPr>
            <p:cNvSpPr/>
            <p:nvPr/>
          </p:nvSpPr>
          <p:spPr>
            <a:xfrm>
              <a:off x="11563349" y="6740419"/>
              <a:ext cx="207262" cy="233403"/>
            </a:xfrm>
            <a:custGeom>
              <a:avLst/>
              <a:gdLst>
                <a:gd name="connsiteX0" fmla="*/ 169545 w 207262"/>
                <a:gd name="connsiteY0" fmla="*/ 103293 h 233403"/>
                <a:gd name="connsiteX1" fmla="*/ 167640 w 207262"/>
                <a:gd name="connsiteY1" fmla="*/ 106151 h 233403"/>
                <a:gd name="connsiteX2" fmla="*/ 74295 w 207262"/>
                <a:gd name="connsiteY2" fmla="*/ 51858 h 233403"/>
                <a:gd name="connsiteX3" fmla="*/ 76200 w 207262"/>
                <a:gd name="connsiteY3" fmla="*/ 49001 h 233403"/>
                <a:gd name="connsiteX4" fmla="*/ 92392 w 207262"/>
                <a:gd name="connsiteY4" fmla="*/ 21378 h 233403"/>
                <a:gd name="connsiteX5" fmla="*/ 93345 w 207262"/>
                <a:gd name="connsiteY5" fmla="*/ 22331 h 233403"/>
                <a:gd name="connsiteX6" fmla="*/ 186690 w 207262"/>
                <a:gd name="connsiteY6" fmla="*/ 75671 h 233403"/>
                <a:gd name="connsiteX7" fmla="*/ 169545 w 207262"/>
                <a:gd name="connsiteY7" fmla="*/ 103293 h 233403"/>
                <a:gd name="connsiteX8" fmla="*/ 76200 w 207262"/>
                <a:gd name="connsiteY8" fmla="*/ 154728 h 233403"/>
                <a:gd name="connsiteX9" fmla="*/ 76200 w 207262"/>
                <a:gd name="connsiteY9" fmla="*/ 78528 h 233403"/>
                <a:gd name="connsiteX10" fmla="*/ 141922 w 207262"/>
                <a:gd name="connsiteY10" fmla="*/ 116628 h 233403"/>
                <a:gd name="connsiteX11" fmla="*/ 76200 w 207262"/>
                <a:gd name="connsiteY11" fmla="*/ 154728 h 233403"/>
                <a:gd name="connsiteX12" fmla="*/ 90488 w 207262"/>
                <a:gd name="connsiteY12" fmla="*/ 210926 h 233403"/>
                <a:gd name="connsiteX13" fmla="*/ 73342 w 207262"/>
                <a:gd name="connsiteY13" fmla="*/ 180446 h 233403"/>
                <a:gd name="connsiteX14" fmla="*/ 74295 w 207262"/>
                <a:gd name="connsiteY14" fmla="*/ 179493 h 233403"/>
                <a:gd name="connsiteX15" fmla="*/ 166688 w 207262"/>
                <a:gd name="connsiteY15" fmla="*/ 126153 h 233403"/>
                <a:gd name="connsiteX16" fmla="*/ 168592 w 207262"/>
                <a:gd name="connsiteY16" fmla="*/ 129963 h 233403"/>
                <a:gd name="connsiteX17" fmla="*/ 183833 w 207262"/>
                <a:gd name="connsiteY17" fmla="*/ 156633 h 233403"/>
                <a:gd name="connsiteX18" fmla="*/ 90488 w 207262"/>
                <a:gd name="connsiteY18" fmla="*/ 210926 h 233403"/>
                <a:gd name="connsiteX19" fmla="*/ 55245 w 207262"/>
                <a:gd name="connsiteY19" fmla="*/ 170921 h 233403"/>
                <a:gd name="connsiteX20" fmla="*/ 20003 w 207262"/>
                <a:gd name="connsiteY20" fmla="*/ 170921 h 233403"/>
                <a:gd name="connsiteX21" fmla="*/ 20003 w 207262"/>
                <a:gd name="connsiteY21" fmla="*/ 62336 h 233403"/>
                <a:gd name="connsiteX22" fmla="*/ 55245 w 207262"/>
                <a:gd name="connsiteY22" fmla="*/ 62336 h 233403"/>
                <a:gd name="connsiteX23" fmla="*/ 55245 w 207262"/>
                <a:gd name="connsiteY23" fmla="*/ 170921 h 233403"/>
                <a:gd name="connsiteX24" fmla="*/ 206692 w 207262"/>
                <a:gd name="connsiteY24" fmla="*/ 162348 h 233403"/>
                <a:gd name="connsiteX25" fmla="*/ 204788 w 207262"/>
                <a:gd name="connsiteY25" fmla="*/ 149966 h 233403"/>
                <a:gd name="connsiteX26" fmla="*/ 185738 w 207262"/>
                <a:gd name="connsiteY26" fmla="*/ 116628 h 233403"/>
                <a:gd name="connsiteX27" fmla="*/ 204788 w 207262"/>
                <a:gd name="connsiteY27" fmla="*/ 83291 h 233403"/>
                <a:gd name="connsiteX28" fmla="*/ 206692 w 207262"/>
                <a:gd name="connsiteY28" fmla="*/ 70908 h 233403"/>
                <a:gd name="connsiteX29" fmla="*/ 199072 w 207262"/>
                <a:gd name="connsiteY29" fmla="*/ 61383 h 233403"/>
                <a:gd name="connsiteX30" fmla="*/ 97155 w 207262"/>
                <a:gd name="connsiteY30" fmla="*/ 2328 h 233403"/>
                <a:gd name="connsiteX31" fmla="*/ 75247 w 207262"/>
                <a:gd name="connsiteY31" fmla="*/ 8043 h 233403"/>
                <a:gd name="connsiteX32" fmla="*/ 56197 w 207262"/>
                <a:gd name="connsiteY32" fmla="*/ 41381 h 233403"/>
                <a:gd name="connsiteX33" fmla="*/ 16192 w 207262"/>
                <a:gd name="connsiteY33" fmla="*/ 41381 h 233403"/>
                <a:gd name="connsiteX34" fmla="*/ 16192 w 207262"/>
                <a:gd name="connsiteY34" fmla="*/ 41381 h 233403"/>
                <a:gd name="connsiteX35" fmla="*/ 4763 w 207262"/>
                <a:gd name="connsiteY35" fmla="*/ 46143 h 233403"/>
                <a:gd name="connsiteX36" fmla="*/ 0 w 207262"/>
                <a:gd name="connsiteY36" fmla="*/ 57573 h 233403"/>
                <a:gd name="connsiteX37" fmla="*/ 0 w 207262"/>
                <a:gd name="connsiteY37" fmla="*/ 175683 h 233403"/>
                <a:gd name="connsiteX38" fmla="*/ 16192 w 207262"/>
                <a:gd name="connsiteY38" fmla="*/ 191876 h 233403"/>
                <a:gd name="connsiteX39" fmla="*/ 56197 w 207262"/>
                <a:gd name="connsiteY39" fmla="*/ 191876 h 233403"/>
                <a:gd name="connsiteX40" fmla="*/ 75247 w 207262"/>
                <a:gd name="connsiteY40" fmla="*/ 225213 h 233403"/>
                <a:gd name="connsiteX41" fmla="*/ 84772 w 207262"/>
                <a:gd name="connsiteY41" fmla="*/ 232833 h 233403"/>
                <a:gd name="connsiteX42" fmla="*/ 97155 w 207262"/>
                <a:gd name="connsiteY42" fmla="*/ 230928 h 233403"/>
                <a:gd name="connsiteX43" fmla="*/ 199072 w 207262"/>
                <a:gd name="connsiteY43" fmla="*/ 171873 h 233403"/>
                <a:gd name="connsiteX44" fmla="*/ 206692 w 207262"/>
                <a:gd name="connsiteY44" fmla="*/ 162348 h 2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262" h="233403">
                  <a:moveTo>
                    <a:pt x="169545" y="103293"/>
                  </a:moveTo>
                  <a:lnTo>
                    <a:pt x="167640" y="106151"/>
                  </a:lnTo>
                  <a:lnTo>
                    <a:pt x="74295" y="51858"/>
                  </a:lnTo>
                  <a:lnTo>
                    <a:pt x="76200" y="49001"/>
                  </a:lnTo>
                  <a:lnTo>
                    <a:pt x="92392" y="21378"/>
                  </a:lnTo>
                  <a:lnTo>
                    <a:pt x="93345" y="22331"/>
                  </a:lnTo>
                  <a:lnTo>
                    <a:pt x="186690" y="75671"/>
                  </a:lnTo>
                  <a:lnTo>
                    <a:pt x="169545" y="103293"/>
                  </a:lnTo>
                  <a:close/>
                  <a:moveTo>
                    <a:pt x="76200" y="154728"/>
                  </a:moveTo>
                  <a:lnTo>
                    <a:pt x="76200" y="78528"/>
                  </a:lnTo>
                  <a:lnTo>
                    <a:pt x="141922" y="116628"/>
                  </a:lnTo>
                  <a:lnTo>
                    <a:pt x="76200" y="154728"/>
                  </a:lnTo>
                  <a:close/>
                  <a:moveTo>
                    <a:pt x="90488" y="210926"/>
                  </a:moveTo>
                  <a:lnTo>
                    <a:pt x="73342" y="180446"/>
                  </a:lnTo>
                  <a:lnTo>
                    <a:pt x="74295" y="179493"/>
                  </a:lnTo>
                  <a:lnTo>
                    <a:pt x="166688" y="126153"/>
                  </a:lnTo>
                  <a:lnTo>
                    <a:pt x="168592" y="129963"/>
                  </a:lnTo>
                  <a:lnTo>
                    <a:pt x="183833" y="156633"/>
                  </a:lnTo>
                  <a:lnTo>
                    <a:pt x="90488" y="210926"/>
                  </a:lnTo>
                  <a:close/>
                  <a:moveTo>
                    <a:pt x="55245" y="170921"/>
                  </a:moveTo>
                  <a:lnTo>
                    <a:pt x="20003" y="170921"/>
                  </a:lnTo>
                  <a:lnTo>
                    <a:pt x="20003" y="62336"/>
                  </a:lnTo>
                  <a:lnTo>
                    <a:pt x="55245" y="62336"/>
                  </a:lnTo>
                  <a:lnTo>
                    <a:pt x="55245" y="170921"/>
                  </a:lnTo>
                  <a:close/>
                  <a:moveTo>
                    <a:pt x="206692" y="162348"/>
                  </a:moveTo>
                  <a:cubicBezTo>
                    <a:pt x="207645" y="158538"/>
                    <a:pt x="207645" y="153776"/>
                    <a:pt x="204788" y="149966"/>
                  </a:cubicBezTo>
                  <a:lnTo>
                    <a:pt x="185738" y="116628"/>
                  </a:lnTo>
                  <a:lnTo>
                    <a:pt x="204788" y="83291"/>
                  </a:lnTo>
                  <a:cubicBezTo>
                    <a:pt x="206692" y="79481"/>
                    <a:pt x="207645" y="75671"/>
                    <a:pt x="206692" y="70908"/>
                  </a:cubicBezTo>
                  <a:cubicBezTo>
                    <a:pt x="205740" y="67098"/>
                    <a:pt x="202883" y="63288"/>
                    <a:pt x="199072" y="61383"/>
                  </a:cubicBezTo>
                  <a:lnTo>
                    <a:pt x="97155" y="2328"/>
                  </a:lnTo>
                  <a:cubicBezTo>
                    <a:pt x="89535" y="-2434"/>
                    <a:pt x="80010" y="423"/>
                    <a:pt x="75247" y="8043"/>
                  </a:cubicBezTo>
                  <a:lnTo>
                    <a:pt x="56197" y="41381"/>
                  </a:lnTo>
                  <a:lnTo>
                    <a:pt x="16192" y="41381"/>
                  </a:lnTo>
                  <a:lnTo>
                    <a:pt x="16192" y="41381"/>
                  </a:lnTo>
                  <a:cubicBezTo>
                    <a:pt x="12383" y="41381"/>
                    <a:pt x="7620" y="43286"/>
                    <a:pt x="4763" y="46143"/>
                  </a:cubicBezTo>
                  <a:cubicBezTo>
                    <a:pt x="1905" y="49001"/>
                    <a:pt x="0" y="52811"/>
                    <a:pt x="0" y="57573"/>
                  </a:cubicBezTo>
                  <a:lnTo>
                    <a:pt x="0" y="175683"/>
                  </a:lnTo>
                  <a:cubicBezTo>
                    <a:pt x="0" y="184256"/>
                    <a:pt x="7620" y="191876"/>
                    <a:pt x="16192" y="191876"/>
                  </a:cubicBezTo>
                  <a:lnTo>
                    <a:pt x="56197" y="191876"/>
                  </a:lnTo>
                  <a:lnTo>
                    <a:pt x="75247" y="225213"/>
                  </a:lnTo>
                  <a:cubicBezTo>
                    <a:pt x="77153" y="229023"/>
                    <a:pt x="80963" y="231881"/>
                    <a:pt x="84772" y="232833"/>
                  </a:cubicBezTo>
                  <a:cubicBezTo>
                    <a:pt x="88583" y="233786"/>
                    <a:pt x="93345" y="233786"/>
                    <a:pt x="97155" y="230928"/>
                  </a:cubicBezTo>
                  <a:lnTo>
                    <a:pt x="199072" y="171873"/>
                  </a:lnTo>
                  <a:cubicBezTo>
                    <a:pt x="202883" y="169968"/>
                    <a:pt x="205740" y="167111"/>
                    <a:pt x="206692" y="16234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6906D5EB-37DB-2E46-0CC8-B361FD6811A3}"/>
                </a:ext>
              </a:extLst>
            </p:cNvPr>
            <p:cNvSpPr/>
            <p:nvPr/>
          </p:nvSpPr>
          <p:spPr>
            <a:xfrm>
              <a:off x="11836717" y="6741794"/>
              <a:ext cx="126682" cy="184785"/>
            </a:xfrm>
            <a:custGeom>
              <a:avLst/>
              <a:gdLst>
                <a:gd name="connsiteX0" fmla="*/ 0 w 126682"/>
                <a:gd name="connsiteY0" fmla="*/ 0 h 184785"/>
                <a:gd name="connsiteX1" fmla="*/ 0 w 126682"/>
                <a:gd name="connsiteY1" fmla="*/ 184785 h 184785"/>
                <a:gd name="connsiteX2" fmla="*/ 30480 w 126682"/>
                <a:gd name="connsiteY2" fmla="*/ 184785 h 184785"/>
                <a:gd name="connsiteX3" fmla="*/ 30480 w 126682"/>
                <a:gd name="connsiteY3" fmla="*/ 129540 h 184785"/>
                <a:gd name="connsiteX4" fmla="*/ 33338 w 126682"/>
                <a:gd name="connsiteY4" fmla="*/ 129540 h 184785"/>
                <a:gd name="connsiteX5" fmla="*/ 91440 w 126682"/>
                <a:gd name="connsiteY5" fmla="*/ 184785 h 184785"/>
                <a:gd name="connsiteX6" fmla="*/ 126682 w 126682"/>
                <a:gd name="connsiteY6" fmla="*/ 184785 h 184785"/>
                <a:gd name="connsiteX7" fmla="*/ 126682 w 126682"/>
                <a:gd name="connsiteY7" fmla="*/ 180975 h 184785"/>
                <a:gd name="connsiteX8" fmla="*/ 57150 w 126682"/>
                <a:gd name="connsiteY8" fmla="*/ 115253 h 184785"/>
                <a:gd name="connsiteX9" fmla="*/ 125730 w 126682"/>
                <a:gd name="connsiteY9" fmla="*/ 56198 h 184785"/>
                <a:gd name="connsiteX10" fmla="*/ 125730 w 126682"/>
                <a:gd name="connsiteY10" fmla="*/ 52388 h 184785"/>
                <a:gd name="connsiteX11" fmla="*/ 90488 w 126682"/>
                <a:gd name="connsiteY11" fmla="*/ 52388 h 184785"/>
                <a:gd name="connsiteX12" fmla="*/ 33338 w 126682"/>
                <a:gd name="connsiteY12" fmla="*/ 103823 h 184785"/>
                <a:gd name="connsiteX13" fmla="*/ 30480 w 126682"/>
                <a:gd name="connsiteY13" fmla="*/ 103823 h 184785"/>
                <a:gd name="connsiteX14" fmla="*/ 30480 w 126682"/>
                <a:gd name="connsiteY14" fmla="*/ 0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6682" h="184785">
                  <a:moveTo>
                    <a:pt x="0" y="0"/>
                  </a:moveTo>
                  <a:lnTo>
                    <a:pt x="0" y="184785"/>
                  </a:lnTo>
                  <a:lnTo>
                    <a:pt x="30480" y="184785"/>
                  </a:lnTo>
                  <a:lnTo>
                    <a:pt x="30480" y="129540"/>
                  </a:lnTo>
                  <a:lnTo>
                    <a:pt x="33338" y="129540"/>
                  </a:lnTo>
                  <a:lnTo>
                    <a:pt x="91440" y="184785"/>
                  </a:lnTo>
                  <a:lnTo>
                    <a:pt x="126682" y="184785"/>
                  </a:lnTo>
                  <a:lnTo>
                    <a:pt x="126682" y="180975"/>
                  </a:lnTo>
                  <a:lnTo>
                    <a:pt x="57150" y="115253"/>
                  </a:lnTo>
                  <a:lnTo>
                    <a:pt x="125730" y="56198"/>
                  </a:lnTo>
                  <a:lnTo>
                    <a:pt x="125730" y="52388"/>
                  </a:lnTo>
                  <a:lnTo>
                    <a:pt x="90488" y="52388"/>
                  </a:lnTo>
                  <a:lnTo>
                    <a:pt x="33338" y="103823"/>
                  </a:lnTo>
                  <a:lnTo>
                    <a:pt x="30480" y="103823"/>
                  </a:lnTo>
                  <a:lnTo>
                    <a:pt x="304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9B454036-7BBB-B6DA-73E9-6BDB63A5468F}"/>
                </a:ext>
              </a:extLst>
            </p:cNvPr>
            <p:cNvSpPr/>
            <p:nvPr/>
          </p:nvSpPr>
          <p:spPr>
            <a:xfrm>
              <a:off x="11953874" y="6791325"/>
              <a:ext cx="129540" cy="139065"/>
            </a:xfrm>
            <a:custGeom>
              <a:avLst/>
              <a:gdLst>
                <a:gd name="connsiteX0" fmla="*/ 29528 w 129540"/>
                <a:gd name="connsiteY0" fmla="*/ 55245 h 139065"/>
                <a:gd name="connsiteX1" fmla="*/ 65722 w 129540"/>
                <a:gd name="connsiteY1" fmla="*/ 20955 h 139065"/>
                <a:gd name="connsiteX2" fmla="*/ 100013 w 129540"/>
                <a:gd name="connsiteY2" fmla="*/ 55245 h 139065"/>
                <a:gd name="connsiteX3" fmla="*/ 29528 w 129540"/>
                <a:gd name="connsiteY3" fmla="*/ 55245 h 139065"/>
                <a:gd name="connsiteX4" fmla="*/ 66675 w 129540"/>
                <a:gd name="connsiteY4" fmla="*/ 0 h 139065"/>
                <a:gd name="connsiteX5" fmla="*/ 0 w 129540"/>
                <a:gd name="connsiteY5" fmla="*/ 69532 h 139065"/>
                <a:gd name="connsiteX6" fmla="*/ 66675 w 129540"/>
                <a:gd name="connsiteY6" fmla="*/ 139065 h 139065"/>
                <a:gd name="connsiteX7" fmla="*/ 126682 w 129540"/>
                <a:gd name="connsiteY7" fmla="*/ 98107 h 139065"/>
                <a:gd name="connsiteX8" fmla="*/ 126682 w 129540"/>
                <a:gd name="connsiteY8" fmla="*/ 94297 h 139065"/>
                <a:gd name="connsiteX9" fmla="*/ 100013 w 129540"/>
                <a:gd name="connsiteY9" fmla="*/ 94297 h 139065"/>
                <a:gd name="connsiteX10" fmla="*/ 66675 w 129540"/>
                <a:gd name="connsiteY10" fmla="*/ 117157 h 139065"/>
                <a:gd name="connsiteX11" fmla="*/ 29528 w 129540"/>
                <a:gd name="connsiteY11" fmla="*/ 77153 h 139065"/>
                <a:gd name="connsiteX12" fmla="*/ 129540 w 129540"/>
                <a:gd name="connsiteY12" fmla="*/ 77153 h 139065"/>
                <a:gd name="connsiteX13" fmla="*/ 129540 w 129540"/>
                <a:gd name="connsiteY13" fmla="*/ 64770 h 139065"/>
                <a:gd name="connsiteX14" fmla="*/ 66675 w 129540"/>
                <a:gd name="connsiteY14" fmla="*/ 0 h 13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9540" h="139065">
                  <a:moveTo>
                    <a:pt x="29528" y="55245"/>
                  </a:moveTo>
                  <a:cubicBezTo>
                    <a:pt x="31432" y="35243"/>
                    <a:pt x="43815" y="20955"/>
                    <a:pt x="65722" y="20955"/>
                  </a:cubicBezTo>
                  <a:cubicBezTo>
                    <a:pt x="88582" y="20955"/>
                    <a:pt x="100013" y="35243"/>
                    <a:pt x="100013" y="55245"/>
                  </a:cubicBezTo>
                  <a:lnTo>
                    <a:pt x="29528" y="55245"/>
                  </a:lnTo>
                  <a:close/>
                  <a:moveTo>
                    <a:pt x="66675" y="0"/>
                  </a:moveTo>
                  <a:cubicBezTo>
                    <a:pt x="26670" y="0"/>
                    <a:pt x="0" y="23813"/>
                    <a:pt x="0" y="69532"/>
                  </a:cubicBezTo>
                  <a:cubicBezTo>
                    <a:pt x="0" y="115253"/>
                    <a:pt x="26670" y="139065"/>
                    <a:pt x="66675" y="139065"/>
                  </a:cubicBezTo>
                  <a:cubicBezTo>
                    <a:pt x="106680" y="139065"/>
                    <a:pt x="122872" y="115253"/>
                    <a:pt x="126682" y="98107"/>
                  </a:cubicBezTo>
                  <a:lnTo>
                    <a:pt x="126682" y="94297"/>
                  </a:lnTo>
                  <a:lnTo>
                    <a:pt x="100013" y="94297"/>
                  </a:lnTo>
                  <a:cubicBezTo>
                    <a:pt x="98107" y="104775"/>
                    <a:pt x="88582" y="117157"/>
                    <a:pt x="66675" y="117157"/>
                  </a:cubicBezTo>
                  <a:cubicBezTo>
                    <a:pt x="43815" y="117157"/>
                    <a:pt x="30480" y="100965"/>
                    <a:pt x="29528" y="77153"/>
                  </a:cubicBezTo>
                  <a:lnTo>
                    <a:pt x="129540" y="77153"/>
                  </a:lnTo>
                  <a:lnTo>
                    <a:pt x="129540" y="64770"/>
                  </a:lnTo>
                  <a:cubicBezTo>
                    <a:pt x="129540" y="23813"/>
                    <a:pt x="106680" y="0"/>
                    <a:pt x="66675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D1C6C67B-5C2B-725B-A531-01F4FDF08CF6}"/>
                </a:ext>
              </a:extLst>
            </p:cNvPr>
            <p:cNvSpPr/>
            <p:nvPr/>
          </p:nvSpPr>
          <p:spPr>
            <a:xfrm>
              <a:off x="12077699" y="6794182"/>
              <a:ext cx="137159" cy="183832"/>
            </a:xfrm>
            <a:custGeom>
              <a:avLst/>
              <a:gdLst>
                <a:gd name="connsiteX0" fmla="*/ 106680 w 137159"/>
                <a:gd name="connsiteY0" fmla="*/ 0 h 183832"/>
                <a:gd name="connsiteX1" fmla="*/ 70485 w 137159"/>
                <a:gd name="connsiteY1" fmla="*/ 97155 h 183832"/>
                <a:gd name="connsiteX2" fmla="*/ 67628 w 137159"/>
                <a:gd name="connsiteY2" fmla="*/ 97155 h 183832"/>
                <a:gd name="connsiteX3" fmla="*/ 31432 w 137159"/>
                <a:gd name="connsiteY3" fmla="*/ 0 h 183832"/>
                <a:gd name="connsiteX4" fmla="*/ 0 w 137159"/>
                <a:gd name="connsiteY4" fmla="*/ 0 h 183832"/>
                <a:gd name="connsiteX5" fmla="*/ 0 w 137159"/>
                <a:gd name="connsiteY5" fmla="*/ 3810 h 183832"/>
                <a:gd name="connsiteX6" fmla="*/ 53340 w 137159"/>
                <a:gd name="connsiteY6" fmla="*/ 132398 h 183832"/>
                <a:gd name="connsiteX7" fmla="*/ 33338 w 137159"/>
                <a:gd name="connsiteY7" fmla="*/ 180023 h 183832"/>
                <a:gd name="connsiteX8" fmla="*/ 33338 w 137159"/>
                <a:gd name="connsiteY8" fmla="*/ 183833 h 183832"/>
                <a:gd name="connsiteX9" fmla="*/ 63818 w 137159"/>
                <a:gd name="connsiteY9" fmla="*/ 183833 h 183832"/>
                <a:gd name="connsiteX10" fmla="*/ 137160 w 137159"/>
                <a:gd name="connsiteY10" fmla="*/ 3810 h 183832"/>
                <a:gd name="connsiteX11" fmla="*/ 137160 w 137159"/>
                <a:gd name="connsiteY11" fmla="*/ 0 h 18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9" h="183832">
                  <a:moveTo>
                    <a:pt x="106680" y="0"/>
                  </a:moveTo>
                  <a:lnTo>
                    <a:pt x="70485" y="97155"/>
                  </a:lnTo>
                  <a:lnTo>
                    <a:pt x="67628" y="97155"/>
                  </a:lnTo>
                  <a:lnTo>
                    <a:pt x="31432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53340" y="132398"/>
                  </a:lnTo>
                  <a:lnTo>
                    <a:pt x="33338" y="180023"/>
                  </a:lnTo>
                  <a:lnTo>
                    <a:pt x="33338" y="183833"/>
                  </a:lnTo>
                  <a:lnTo>
                    <a:pt x="63818" y="183833"/>
                  </a:lnTo>
                  <a:lnTo>
                    <a:pt x="137160" y="3810"/>
                  </a:lnTo>
                  <a:lnTo>
                    <a:pt x="13716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grpSp>
          <p:nvGrpSpPr>
            <p:cNvPr id="12" name="Graphic 7">
              <a:extLst>
                <a:ext uri="{FF2B5EF4-FFF2-40B4-BE49-F238E27FC236}">
                  <a16:creationId xmlns:a16="http://schemas.microsoft.com/office/drawing/2014/main" id="{12BA6CC3-4859-D4AB-EF05-474358B4F622}"/>
                </a:ext>
              </a:extLst>
            </p:cNvPr>
            <p:cNvGrpSpPr/>
            <p:nvPr/>
          </p:nvGrpSpPr>
          <p:grpSpPr>
            <a:xfrm>
              <a:off x="12212002" y="6759892"/>
              <a:ext cx="618172" cy="170497"/>
              <a:chOff x="12212002" y="6759892"/>
              <a:chExt cx="618172" cy="170497"/>
            </a:xfrm>
            <a:grpFill/>
          </p:grpSpPr>
          <p:sp>
            <p:nvSpPr>
              <p:cNvPr id="13" name="Free-form: Shape 12">
                <a:extLst>
                  <a:ext uri="{FF2B5EF4-FFF2-40B4-BE49-F238E27FC236}">
                    <a16:creationId xmlns:a16="http://schemas.microsoft.com/office/drawing/2014/main" id="{06690A93-9701-A76D-31D7-153AD7601CE1}"/>
                  </a:ext>
                </a:extLst>
              </p:cNvPr>
              <p:cNvSpPr/>
              <p:nvPr/>
            </p:nvSpPr>
            <p:spPr>
              <a:xfrm>
                <a:off x="12212002" y="6792277"/>
                <a:ext cx="120015" cy="137159"/>
              </a:xfrm>
              <a:custGeom>
                <a:avLst/>
                <a:gdLst>
                  <a:gd name="connsiteX0" fmla="*/ 75247 w 120015"/>
                  <a:gd name="connsiteY0" fmla="*/ 58103 h 137159"/>
                  <a:gd name="connsiteX1" fmla="*/ 50482 w 120015"/>
                  <a:gd name="connsiteY1" fmla="*/ 54292 h 137159"/>
                  <a:gd name="connsiteX2" fmla="*/ 30480 w 120015"/>
                  <a:gd name="connsiteY2" fmla="*/ 38100 h 137159"/>
                  <a:gd name="connsiteX3" fmla="*/ 58103 w 120015"/>
                  <a:gd name="connsiteY3" fmla="*/ 20955 h 137159"/>
                  <a:gd name="connsiteX4" fmla="*/ 89535 w 120015"/>
                  <a:gd name="connsiteY4" fmla="*/ 43815 h 137159"/>
                  <a:gd name="connsiteX5" fmla="*/ 117157 w 120015"/>
                  <a:gd name="connsiteY5" fmla="*/ 43815 h 137159"/>
                  <a:gd name="connsiteX6" fmla="*/ 117157 w 120015"/>
                  <a:gd name="connsiteY6" fmla="*/ 40005 h 137159"/>
                  <a:gd name="connsiteX7" fmla="*/ 57150 w 120015"/>
                  <a:gd name="connsiteY7" fmla="*/ 0 h 137159"/>
                  <a:gd name="connsiteX8" fmla="*/ 953 w 120015"/>
                  <a:gd name="connsiteY8" fmla="*/ 39053 h 137159"/>
                  <a:gd name="connsiteX9" fmla="*/ 42863 w 120015"/>
                  <a:gd name="connsiteY9" fmla="*/ 77153 h 137159"/>
                  <a:gd name="connsiteX10" fmla="*/ 67628 w 120015"/>
                  <a:gd name="connsiteY10" fmla="*/ 80963 h 137159"/>
                  <a:gd name="connsiteX11" fmla="*/ 90488 w 120015"/>
                  <a:gd name="connsiteY11" fmla="*/ 98107 h 137159"/>
                  <a:gd name="connsiteX12" fmla="*/ 61913 w 120015"/>
                  <a:gd name="connsiteY12" fmla="*/ 116205 h 137159"/>
                  <a:gd name="connsiteX13" fmla="*/ 27622 w 120015"/>
                  <a:gd name="connsiteY13" fmla="*/ 92392 h 137159"/>
                  <a:gd name="connsiteX14" fmla="*/ 0 w 120015"/>
                  <a:gd name="connsiteY14" fmla="*/ 92392 h 137159"/>
                  <a:gd name="connsiteX15" fmla="*/ 0 w 120015"/>
                  <a:gd name="connsiteY15" fmla="*/ 96203 h 137159"/>
                  <a:gd name="connsiteX16" fmla="*/ 62865 w 120015"/>
                  <a:gd name="connsiteY16" fmla="*/ 137160 h 137159"/>
                  <a:gd name="connsiteX17" fmla="*/ 120015 w 120015"/>
                  <a:gd name="connsiteY17" fmla="*/ 96203 h 137159"/>
                  <a:gd name="connsiteX18" fmla="*/ 75247 w 120015"/>
                  <a:gd name="connsiteY18" fmla="*/ 58103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0015" h="137159">
                    <a:moveTo>
                      <a:pt x="75247" y="58103"/>
                    </a:moveTo>
                    <a:lnTo>
                      <a:pt x="50482" y="54292"/>
                    </a:lnTo>
                    <a:cubicBezTo>
                      <a:pt x="39053" y="52388"/>
                      <a:pt x="30480" y="48578"/>
                      <a:pt x="30480" y="38100"/>
                    </a:cubicBezTo>
                    <a:cubicBezTo>
                      <a:pt x="30480" y="27622"/>
                      <a:pt x="40005" y="20955"/>
                      <a:pt x="58103" y="20955"/>
                    </a:cubicBezTo>
                    <a:cubicBezTo>
                      <a:pt x="76200" y="20955"/>
                      <a:pt x="88582" y="27622"/>
                      <a:pt x="89535" y="43815"/>
                    </a:cubicBezTo>
                    <a:lnTo>
                      <a:pt x="117157" y="43815"/>
                    </a:lnTo>
                    <a:lnTo>
                      <a:pt x="117157" y="40005"/>
                    </a:lnTo>
                    <a:cubicBezTo>
                      <a:pt x="114300" y="16192"/>
                      <a:pt x="93345" y="0"/>
                      <a:pt x="57150" y="0"/>
                    </a:cubicBezTo>
                    <a:cubicBezTo>
                      <a:pt x="20955" y="0"/>
                      <a:pt x="953" y="16192"/>
                      <a:pt x="953" y="39053"/>
                    </a:cubicBezTo>
                    <a:cubicBezTo>
                      <a:pt x="953" y="61913"/>
                      <a:pt x="18097" y="73342"/>
                      <a:pt x="42863" y="77153"/>
                    </a:cubicBezTo>
                    <a:lnTo>
                      <a:pt x="67628" y="80963"/>
                    </a:lnTo>
                    <a:cubicBezTo>
                      <a:pt x="81915" y="82867"/>
                      <a:pt x="90488" y="87630"/>
                      <a:pt x="90488" y="98107"/>
                    </a:cubicBezTo>
                    <a:cubicBezTo>
                      <a:pt x="90488" y="109538"/>
                      <a:pt x="80963" y="116205"/>
                      <a:pt x="61913" y="116205"/>
                    </a:cubicBezTo>
                    <a:cubicBezTo>
                      <a:pt x="42863" y="116205"/>
                      <a:pt x="28575" y="108585"/>
                      <a:pt x="27622" y="92392"/>
                    </a:cubicBezTo>
                    <a:lnTo>
                      <a:pt x="0" y="92392"/>
                    </a:lnTo>
                    <a:lnTo>
                      <a:pt x="0" y="96203"/>
                    </a:lnTo>
                    <a:cubicBezTo>
                      <a:pt x="1905" y="120015"/>
                      <a:pt x="23813" y="137160"/>
                      <a:pt x="62865" y="137160"/>
                    </a:cubicBezTo>
                    <a:cubicBezTo>
                      <a:pt x="100965" y="137160"/>
                      <a:pt x="120015" y="120015"/>
                      <a:pt x="120015" y="96203"/>
                    </a:cubicBezTo>
                    <a:cubicBezTo>
                      <a:pt x="119063" y="72390"/>
                      <a:pt x="100965" y="62865"/>
                      <a:pt x="75247" y="58103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4" name="Free-form: Shape 13">
                <a:extLst>
                  <a:ext uri="{FF2B5EF4-FFF2-40B4-BE49-F238E27FC236}">
                    <a16:creationId xmlns:a16="http://schemas.microsoft.com/office/drawing/2014/main" id="{9FD7F094-8C7D-89DF-8552-F6D6AF0A1726}"/>
                  </a:ext>
                </a:extLst>
              </p:cNvPr>
              <p:cNvSpPr/>
              <p:nvPr/>
            </p:nvSpPr>
            <p:spPr>
              <a:xfrm>
                <a:off x="12330112" y="6759892"/>
                <a:ext cx="93344" cy="166687"/>
              </a:xfrm>
              <a:custGeom>
                <a:avLst/>
                <a:gdLst>
                  <a:gd name="connsiteX0" fmla="*/ 56197 w 93344"/>
                  <a:gd name="connsiteY0" fmla="*/ 142875 h 166687"/>
                  <a:gd name="connsiteX1" fmla="*/ 56197 w 93344"/>
                  <a:gd name="connsiteY1" fmla="*/ 56197 h 166687"/>
                  <a:gd name="connsiteX2" fmla="*/ 93345 w 93344"/>
                  <a:gd name="connsiteY2" fmla="*/ 56197 h 166687"/>
                  <a:gd name="connsiteX3" fmla="*/ 93345 w 93344"/>
                  <a:gd name="connsiteY3" fmla="*/ 35242 h 166687"/>
                  <a:gd name="connsiteX4" fmla="*/ 56197 w 93344"/>
                  <a:gd name="connsiteY4" fmla="*/ 35242 h 166687"/>
                  <a:gd name="connsiteX5" fmla="*/ 56197 w 93344"/>
                  <a:gd name="connsiteY5" fmla="*/ 0 h 166687"/>
                  <a:gd name="connsiteX6" fmla="*/ 25718 w 93344"/>
                  <a:gd name="connsiteY6" fmla="*/ 0 h 166687"/>
                  <a:gd name="connsiteX7" fmla="*/ 25718 w 93344"/>
                  <a:gd name="connsiteY7" fmla="*/ 35242 h 166687"/>
                  <a:gd name="connsiteX8" fmla="*/ 0 w 93344"/>
                  <a:gd name="connsiteY8" fmla="*/ 35242 h 166687"/>
                  <a:gd name="connsiteX9" fmla="*/ 0 w 93344"/>
                  <a:gd name="connsiteY9" fmla="*/ 56197 h 166687"/>
                  <a:gd name="connsiteX10" fmla="*/ 25718 w 93344"/>
                  <a:gd name="connsiteY10" fmla="*/ 56197 h 166687"/>
                  <a:gd name="connsiteX11" fmla="*/ 25718 w 93344"/>
                  <a:gd name="connsiteY11" fmla="*/ 132397 h 166687"/>
                  <a:gd name="connsiteX12" fmla="*/ 61913 w 93344"/>
                  <a:gd name="connsiteY12" fmla="*/ 166688 h 166687"/>
                  <a:gd name="connsiteX13" fmla="*/ 92393 w 93344"/>
                  <a:gd name="connsiteY13" fmla="*/ 166688 h 166687"/>
                  <a:gd name="connsiteX14" fmla="*/ 92393 w 93344"/>
                  <a:gd name="connsiteY14" fmla="*/ 144780 h 166687"/>
                  <a:gd name="connsiteX15" fmla="*/ 58103 w 93344"/>
                  <a:gd name="connsiteY15" fmla="*/ 144780 h 166687"/>
                  <a:gd name="connsiteX16" fmla="*/ 56197 w 93344"/>
                  <a:gd name="connsiteY16" fmla="*/ 142875 h 166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344" h="166687">
                    <a:moveTo>
                      <a:pt x="56197" y="142875"/>
                    </a:moveTo>
                    <a:lnTo>
                      <a:pt x="56197" y="56197"/>
                    </a:lnTo>
                    <a:lnTo>
                      <a:pt x="93345" y="56197"/>
                    </a:lnTo>
                    <a:lnTo>
                      <a:pt x="93345" y="35242"/>
                    </a:lnTo>
                    <a:lnTo>
                      <a:pt x="56197" y="35242"/>
                    </a:lnTo>
                    <a:lnTo>
                      <a:pt x="56197" y="0"/>
                    </a:lnTo>
                    <a:lnTo>
                      <a:pt x="25718" y="0"/>
                    </a:lnTo>
                    <a:lnTo>
                      <a:pt x="25718" y="35242"/>
                    </a:lnTo>
                    <a:lnTo>
                      <a:pt x="0" y="35242"/>
                    </a:lnTo>
                    <a:lnTo>
                      <a:pt x="0" y="56197"/>
                    </a:lnTo>
                    <a:lnTo>
                      <a:pt x="25718" y="56197"/>
                    </a:lnTo>
                    <a:lnTo>
                      <a:pt x="25718" y="132397"/>
                    </a:lnTo>
                    <a:cubicBezTo>
                      <a:pt x="25718" y="155257"/>
                      <a:pt x="39053" y="166688"/>
                      <a:pt x="61913" y="166688"/>
                    </a:cubicBezTo>
                    <a:lnTo>
                      <a:pt x="92393" y="166688"/>
                    </a:lnTo>
                    <a:lnTo>
                      <a:pt x="92393" y="144780"/>
                    </a:lnTo>
                    <a:lnTo>
                      <a:pt x="58103" y="144780"/>
                    </a:lnTo>
                    <a:lnTo>
                      <a:pt x="56197" y="1428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5" name="Free-form: Shape 14">
                <a:extLst>
                  <a:ext uri="{FF2B5EF4-FFF2-40B4-BE49-F238E27FC236}">
                    <a16:creationId xmlns:a16="http://schemas.microsoft.com/office/drawing/2014/main" id="{2A498ED8-C6FD-73A1-04FE-03DB53AE6517}"/>
                  </a:ext>
                </a:extLst>
              </p:cNvPr>
              <p:cNvSpPr/>
              <p:nvPr/>
            </p:nvSpPr>
            <p:spPr>
              <a:xfrm>
                <a:off x="12424409" y="6791325"/>
                <a:ext cx="137159" cy="139065"/>
              </a:xfrm>
              <a:custGeom>
                <a:avLst/>
                <a:gdLst>
                  <a:gd name="connsiteX0" fmla="*/ 68580 w 137159"/>
                  <a:gd name="connsiteY0" fmla="*/ 116205 h 139065"/>
                  <a:gd name="connsiteX1" fmla="*/ 30480 w 137159"/>
                  <a:gd name="connsiteY1" fmla="*/ 69532 h 139065"/>
                  <a:gd name="connsiteX2" fmla="*/ 68580 w 137159"/>
                  <a:gd name="connsiteY2" fmla="*/ 22860 h 139065"/>
                  <a:gd name="connsiteX3" fmla="*/ 106680 w 137159"/>
                  <a:gd name="connsiteY3" fmla="*/ 69532 h 139065"/>
                  <a:gd name="connsiteX4" fmla="*/ 68580 w 137159"/>
                  <a:gd name="connsiteY4" fmla="*/ 116205 h 139065"/>
                  <a:gd name="connsiteX5" fmla="*/ 68580 w 137159"/>
                  <a:gd name="connsiteY5" fmla="*/ 0 h 139065"/>
                  <a:gd name="connsiteX6" fmla="*/ 0 w 137159"/>
                  <a:gd name="connsiteY6" fmla="*/ 69532 h 139065"/>
                  <a:gd name="connsiteX7" fmla="*/ 68580 w 137159"/>
                  <a:gd name="connsiteY7" fmla="*/ 139065 h 139065"/>
                  <a:gd name="connsiteX8" fmla="*/ 137160 w 137159"/>
                  <a:gd name="connsiteY8" fmla="*/ 69532 h 139065"/>
                  <a:gd name="connsiteX9" fmla="*/ 68580 w 137159"/>
                  <a:gd name="connsiteY9" fmla="*/ 0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139065">
                    <a:moveTo>
                      <a:pt x="68580" y="116205"/>
                    </a:moveTo>
                    <a:cubicBezTo>
                      <a:pt x="45720" y="116205"/>
                      <a:pt x="30480" y="100013"/>
                      <a:pt x="30480" y="69532"/>
                    </a:cubicBezTo>
                    <a:cubicBezTo>
                      <a:pt x="30480" y="39053"/>
                      <a:pt x="45720" y="22860"/>
                      <a:pt x="68580" y="22860"/>
                    </a:cubicBezTo>
                    <a:cubicBezTo>
                      <a:pt x="91440" y="22860"/>
                      <a:pt x="106680" y="39053"/>
                      <a:pt x="106680" y="69532"/>
                    </a:cubicBezTo>
                    <a:cubicBezTo>
                      <a:pt x="106680" y="100013"/>
                      <a:pt x="91440" y="116205"/>
                      <a:pt x="68580" y="116205"/>
                    </a:cubicBezTo>
                    <a:moveTo>
                      <a:pt x="68580" y="0"/>
                    </a:moveTo>
                    <a:cubicBezTo>
                      <a:pt x="28575" y="0"/>
                      <a:pt x="0" y="23813"/>
                      <a:pt x="0" y="69532"/>
                    </a:cubicBezTo>
                    <a:cubicBezTo>
                      <a:pt x="0" y="114300"/>
                      <a:pt x="28575" y="139065"/>
                      <a:pt x="68580" y="139065"/>
                    </a:cubicBezTo>
                    <a:cubicBezTo>
                      <a:pt x="108585" y="139065"/>
                      <a:pt x="137160" y="115253"/>
                      <a:pt x="137160" y="69532"/>
                    </a:cubicBezTo>
                    <a:cubicBezTo>
                      <a:pt x="137160" y="23813"/>
                      <a:pt x="108585" y="0"/>
                      <a:pt x="68580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6" name="Free-form: Shape 15">
                <a:extLst>
                  <a:ext uri="{FF2B5EF4-FFF2-40B4-BE49-F238E27FC236}">
                    <a16:creationId xmlns:a16="http://schemas.microsoft.com/office/drawing/2014/main" id="{EF9BCAAE-2ABF-0942-DD54-4FDDDA730E2C}"/>
                  </a:ext>
                </a:extLst>
              </p:cNvPr>
              <p:cNvSpPr/>
              <p:nvPr/>
            </p:nvSpPr>
            <p:spPr>
              <a:xfrm>
                <a:off x="12568237" y="6791325"/>
                <a:ext cx="123857" cy="135255"/>
              </a:xfrm>
              <a:custGeom>
                <a:avLst/>
                <a:gdLst>
                  <a:gd name="connsiteX0" fmla="*/ 75247 w 123857"/>
                  <a:gd name="connsiteY0" fmla="*/ 0 h 135255"/>
                  <a:gd name="connsiteX1" fmla="*/ 32385 w 123857"/>
                  <a:gd name="connsiteY1" fmla="*/ 20003 h 135255"/>
                  <a:gd name="connsiteX2" fmla="*/ 29528 w 123857"/>
                  <a:gd name="connsiteY2" fmla="*/ 20003 h 135255"/>
                  <a:gd name="connsiteX3" fmla="*/ 29528 w 123857"/>
                  <a:gd name="connsiteY3" fmla="*/ 2857 h 135255"/>
                  <a:gd name="connsiteX4" fmla="*/ 0 w 123857"/>
                  <a:gd name="connsiteY4" fmla="*/ 2857 h 135255"/>
                  <a:gd name="connsiteX5" fmla="*/ 0 w 123857"/>
                  <a:gd name="connsiteY5" fmla="*/ 135255 h 135255"/>
                  <a:gd name="connsiteX6" fmla="*/ 30480 w 123857"/>
                  <a:gd name="connsiteY6" fmla="*/ 135255 h 135255"/>
                  <a:gd name="connsiteX7" fmla="*/ 30480 w 123857"/>
                  <a:gd name="connsiteY7" fmla="*/ 60960 h 135255"/>
                  <a:gd name="connsiteX8" fmla="*/ 65722 w 123857"/>
                  <a:gd name="connsiteY8" fmla="*/ 22860 h 135255"/>
                  <a:gd name="connsiteX9" fmla="*/ 93345 w 123857"/>
                  <a:gd name="connsiteY9" fmla="*/ 50482 h 135255"/>
                  <a:gd name="connsiteX10" fmla="*/ 93345 w 123857"/>
                  <a:gd name="connsiteY10" fmla="*/ 134303 h 135255"/>
                  <a:gd name="connsiteX11" fmla="*/ 123825 w 123857"/>
                  <a:gd name="connsiteY11" fmla="*/ 134303 h 135255"/>
                  <a:gd name="connsiteX12" fmla="*/ 123825 w 123857"/>
                  <a:gd name="connsiteY12" fmla="*/ 47625 h 135255"/>
                  <a:gd name="connsiteX13" fmla="*/ 75247 w 123857"/>
                  <a:gd name="connsiteY13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857" h="135255">
                    <a:moveTo>
                      <a:pt x="75247" y="0"/>
                    </a:moveTo>
                    <a:cubicBezTo>
                      <a:pt x="47625" y="0"/>
                      <a:pt x="37147" y="12382"/>
                      <a:pt x="32385" y="20003"/>
                    </a:cubicBezTo>
                    <a:lnTo>
                      <a:pt x="29528" y="20003"/>
                    </a:lnTo>
                    <a:lnTo>
                      <a:pt x="29528" y="2857"/>
                    </a:lnTo>
                    <a:lnTo>
                      <a:pt x="0" y="2857"/>
                    </a:lnTo>
                    <a:lnTo>
                      <a:pt x="0" y="135255"/>
                    </a:lnTo>
                    <a:lnTo>
                      <a:pt x="30480" y="135255"/>
                    </a:lnTo>
                    <a:lnTo>
                      <a:pt x="30480" y="60960"/>
                    </a:lnTo>
                    <a:cubicBezTo>
                      <a:pt x="30480" y="34290"/>
                      <a:pt x="46672" y="22860"/>
                      <a:pt x="65722" y="22860"/>
                    </a:cubicBezTo>
                    <a:cubicBezTo>
                      <a:pt x="82868" y="22860"/>
                      <a:pt x="93345" y="31432"/>
                      <a:pt x="93345" y="50482"/>
                    </a:cubicBezTo>
                    <a:lnTo>
                      <a:pt x="93345" y="134303"/>
                    </a:lnTo>
                    <a:lnTo>
                      <a:pt x="123825" y="134303"/>
                    </a:lnTo>
                    <a:lnTo>
                      <a:pt x="123825" y="47625"/>
                    </a:lnTo>
                    <a:cubicBezTo>
                      <a:pt x="124778" y="16193"/>
                      <a:pt x="104775" y="0"/>
                      <a:pt x="75247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7" name="Free-form: Shape 16">
                <a:extLst>
                  <a:ext uri="{FF2B5EF4-FFF2-40B4-BE49-F238E27FC236}">
                    <a16:creationId xmlns:a16="http://schemas.microsoft.com/office/drawing/2014/main" id="{6774AE6D-EBAD-4553-23AE-5EC5D9A0C4DA}"/>
                  </a:ext>
                </a:extLst>
              </p:cNvPr>
              <p:cNvSpPr/>
              <p:nvPr/>
            </p:nvSpPr>
            <p:spPr>
              <a:xfrm>
                <a:off x="12700634" y="6791325"/>
                <a:ext cx="129540" cy="139065"/>
              </a:xfrm>
              <a:custGeom>
                <a:avLst/>
                <a:gdLst>
                  <a:gd name="connsiteX0" fmla="*/ 29528 w 129540"/>
                  <a:gd name="connsiteY0" fmla="*/ 55245 h 139065"/>
                  <a:gd name="connsiteX1" fmla="*/ 65722 w 129540"/>
                  <a:gd name="connsiteY1" fmla="*/ 20955 h 139065"/>
                  <a:gd name="connsiteX2" fmla="*/ 100013 w 129540"/>
                  <a:gd name="connsiteY2" fmla="*/ 55245 h 139065"/>
                  <a:gd name="connsiteX3" fmla="*/ 29528 w 129540"/>
                  <a:gd name="connsiteY3" fmla="*/ 55245 h 139065"/>
                  <a:gd name="connsiteX4" fmla="*/ 129540 w 129540"/>
                  <a:gd name="connsiteY4" fmla="*/ 63818 h 139065"/>
                  <a:gd name="connsiteX5" fmla="*/ 66675 w 129540"/>
                  <a:gd name="connsiteY5" fmla="*/ 0 h 139065"/>
                  <a:gd name="connsiteX6" fmla="*/ 0 w 129540"/>
                  <a:gd name="connsiteY6" fmla="*/ 69532 h 139065"/>
                  <a:gd name="connsiteX7" fmla="*/ 66675 w 129540"/>
                  <a:gd name="connsiteY7" fmla="*/ 139065 h 139065"/>
                  <a:gd name="connsiteX8" fmla="*/ 126683 w 129540"/>
                  <a:gd name="connsiteY8" fmla="*/ 98107 h 139065"/>
                  <a:gd name="connsiteX9" fmla="*/ 126683 w 129540"/>
                  <a:gd name="connsiteY9" fmla="*/ 94297 h 139065"/>
                  <a:gd name="connsiteX10" fmla="*/ 100013 w 129540"/>
                  <a:gd name="connsiteY10" fmla="*/ 94297 h 139065"/>
                  <a:gd name="connsiteX11" fmla="*/ 66675 w 129540"/>
                  <a:gd name="connsiteY11" fmla="*/ 117157 h 139065"/>
                  <a:gd name="connsiteX12" fmla="*/ 29528 w 129540"/>
                  <a:gd name="connsiteY12" fmla="*/ 77153 h 139065"/>
                  <a:gd name="connsiteX13" fmla="*/ 129540 w 129540"/>
                  <a:gd name="connsiteY13" fmla="*/ 77153 h 139065"/>
                  <a:gd name="connsiteX14" fmla="*/ 129540 w 129540"/>
                  <a:gd name="connsiteY14" fmla="*/ 63818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540" h="139065">
                    <a:moveTo>
                      <a:pt x="29528" y="55245"/>
                    </a:moveTo>
                    <a:cubicBezTo>
                      <a:pt x="31433" y="35243"/>
                      <a:pt x="43815" y="20955"/>
                      <a:pt x="65722" y="20955"/>
                    </a:cubicBezTo>
                    <a:cubicBezTo>
                      <a:pt x="88583" y="20955"/>
                      <a:pt x="100013" y="35243"/>
                      <a:pt x="100013" y="55245"/>
                    </a:cubicBezTo>
                    <a:lnTo>
                      <a:pt x="29528" y="55245"/>
                    </a:lnTo>
                    <a:close/>
                    <a:moveTo>
                      <a:pt x="129540" y="63818"/>
                    </a:moveTo>
                    <a:cubicBezTo>
                      <a:pt x="129540" y="23813"/>
                      <a:pt x="106680" y="0"/>
                      <a:pt x="66675" y="0"/>
                    </a:cubicBezTo>
                    <a:cubicBezTo>
                      <a:pt x="26670" y="0"/>
                      <a:pt x="0" y="23813"/>
                      <a:pt x="0" y="69532"/>
                    </a:cubicBezTo>
                    <a:cubicBezTo>
                      <a:pt x="0" y="115253"/>
                      <a:pt x="26670" y="139065"/>
                      <a:pt x="66675" y="139065"/>
                    </a:cubicBezTo>
                    <a:cubicBezTo>
                      <a:pt x="106680" y="139065"/>
                      <a:pt x="122872" y="115253"/>
                      <a:pt x="126683" y="98107"/>
                    </a:cubicBezTo>
                    <a:lnTo>
                      <a:pt x="126683" y="94297"/>
                    </a:lnTo>
                    <a:lnTo>
                      <a:pt x="100013" y="94297"/>
                    </a:lnTo>
                    <a:cubicBezTo>
                      <a:pt x="98108" y="104775"/>
                      <a:pt x="88583" y="117157"/>
                      <a:pt x="66675" y="117157"/>
                    </a:cubicBezTo>
                    <a:cubicBezTo>
                      <a:pt x="43815" y="117157"/>
                      <a:pt x="30480" y="100965"/>
                      <a:pt x="29528" y="77153"/>
                    </a:cubicBezTo>
                    <a:lnTo>
                      <a:pt x="129540" y="77153"/>
                    </a:lnTo>
                    <a:lnTo>
                      <a:pt x="129540" y="63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</p:grpSp>
      </p:grp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11BA1E65-92F4-BD8C-7BEB-66807EFE3483}"/>
              </a:ext>
            </a:extLst>
          </p:cNvPr>
          <p:cNvSpPr>
            <a:spLocks noChangeAspect="1"/>
          </p:cNvSpPr>
          <p:nvPr/>
        </p:nvSpPr>
        <p:spPr>
          <a:xfrm>
            <a:off x="8129016" y="2016252"/>
            <a:ext cx="3118104" cy="3511374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9A54DA9-46B4-6A65-D601-60E6B6A7B6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82" y="3846600"/>
            <a:ext cx="3118104" cy="1073219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F0FFE17C-3BCC-E0FA-33A5-355AA934B1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382" y="273600"/>
            <a:ext cx="3118104" cy="168966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z="900">
                <a:solidFill>
                  <a:schemeClr val="tx1"/>
                </a:solidFill>
                <a:latin typeface="FK Grotesk SemiMono Medium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846D8F4-717A-2F63-7C4F-7D06B4CB83E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56032" y="6350508"/>
            <a:ext cx="1339596" cy="251244"/>
            <a:chOff x="11563349" y="6740419"/>
            <a:chExt cx="1266825" cy="237595"/>
          </a:xfrm>
          <a:solidFill>
            <a:schemeClr val="tx1"/>
          </a:solidFill>
        </p:grpSpPr>
        <p:sp>
          <p:nvSpPr>
            <p:cNvPr id="18" name="Free-form: Shape 7">
              <a:extLst>
                <a:ext uri="{FF2B5EF4-FFF2-40B4-BE49-F238E27FC236}">
                  <a16:creationId xmlns:a16="http://schemas.microsoft.com/office/drawing/2014/main" id="{67B61125-0C00-D3D7-817B-6A9C66715663}"/>
                </a:ext>
              </a:extLst>
            </p:cNvPr>
            <p:cNvSpPr/>
            <p:nvPr/>
          </p:nvSpPr>
          <p:spPr>
            <a:xfrm>
              <a:off x="11563349" y="6740419"/>
              <a:ext cx="207262" cy="233403"/>
            </a:xfrm>
            <a:custGeom>
              <a:avLst/>
              <a:gdLst>
                <a:gd name="connsiteX0" fmla="*/ 169545 w 207262"/>
                <a:gd name="connsiteY0" fmla="*/ 103293 h 233403"/>
                <a:gd name="connsiteX1" fmla="*/ 167640 w 207262"/>
                <a:gd name="connsiteY1" fmla="*/ 106151 h 233403"/>
                <a:gd name="connsiteX2" fmla="*/ 74295 w 207262"/>
                <a:gd name="connsiteY2" fmla="*/ 51858 h 233403"/>
                <a:gd name="connsiteX3" fmla="*/ 76200 w 207262"/>
                <a:gd name="connsiteY3" fmla="*/ 49001 h 233403"/>
                <a:gd name="connsiteX4" fmla="*/ 92392 w 207262"/>
                <a:gd name="connsiteY4" fmla="*/ 21378 h 233403"/>
                <a:gd name="connsiteX5" fmla="*/ 93345 w 207262"/>
                <a:gd name="connsiteY5" fmla="*/ 22331 h 233403"/>
                <a:gd name="connsiteX6" fmla="*/ 186690 w 207262"/>
                <a:gd name="connsiteY6" fmla="*/ 75671 h 233403"/>
                <a:gd name="connsiteX7" fmla="*/ 169545 w 207262"/>
                <a:gd name="connsiteY7" fmla="*/ 103293 h 233403"/>
                <a:gd name="connsiteX8" fmla="*/ 76200 w 207262"/>
                <a:gd name="connsiteY8" fmla="*/ 154728 h 233403"/>
                <a:gd name="connsiteX9" fmla="*/ 76200 w 207262"/>
                <a:gd name="connsiteY9" fmla="*/ 78528 h 233403"/>
                <a:gd name="connsiteX10" fmla="*/ 141922 w 207262"/>
                <a:gd name="connsiteY10" fmla="*/ 116628 h 233403"/>
                <a:gd name="connsiteX11" fmla="*/ 76200 w 207262"/>
                <a:gd name="connsiteY11" fmla="*/ 154728 h 233403"/>
                <a:gd name="connsiteX12" fmla="*/ 90488 w 207262"/>
                <a:gd name="connsiteY12" fmla="*/ 210926 h 233403"/>
                <a:gd name="connsiteX13" fmla="*/ 73342 w 207262"/>
                <a:gd name="connsiteY13" fmla="*/ 180446 h 233403"/>
                <a:gd name="connsiteX14" fmla="*/ 74295 w 207262"/>
                <a:gd name="connsiteY14" fmla="*/ 179493 h 233403"/>
                <a:gd name="connsiteX15" fmla="*/ 166688 w 207262"/>
                <a:gd name="connsiteY15" fmla="*/ 126153 h 233403"/>
                <a:gd name="connsiteX16" fmla="*/ 168592 w 207262"/>
                <a:gd name="connsiteY16" fmla="*/ 129963 h 233403"/>
                <a:gd name="connsiteX17" fmla="*/ 183833 w 207262"/>
                <a:gd name="connsiteY17" fmla="*/ 156633 h 233403"/>
                <a:gd name="connsiteX18" fmla="*/ 90488 w 207262"/>
                <a:gd name="connsiteY18" fmla="*/ 210926 h 233403"/>
                <a:gd name="connsiteX19" fmla="*/ 55245 w 207262"/>
                <a:gd name="connsiteY19" fmla="*/ 170921 h 233403"/>
                <a:gd name="connsiteX20" fmla="*/ 20003 w 207262"/>
                <a:gd name="connsiteY20" fmla="*/ 170921 h 233403"/>
                <a:gd name="connsiteX21" fmla="*/ 20003 w 207262"/>
                <a:gd name="connsiteY21" fmla="*/ 62336 h 233403"/>
                <a:gd name="connsiteX22" fmla="*/ 55245 w 207262"/>
                <a:gd name="connsiteY22" fmla="*/ 62336 h 233403"/>
                <a:gd name="connsiteX23" fmla="*/ 55245 w 207262"/>
                <a:gd name="connsiteY23" fmla="*/ 170921 h 233403"/>
                <a:gd name="connsiteX24" fmla="*/ 206692 w 207262"/>
                <a:gd name="connsiteY24" fmla="*/ 162348 h 233403"/>
                <a:gd name="connsiteX25" fmla="*/ 204788 w 207262"/>
                <a:gd name="connsiteY25" fmla="*/ 149966 h 233403"/>
                <a:gd name="connsiteX26" fmla="*/ 185738 w 207262"/>
                <a:gd name="connsiteY26" fmla="*/ 116628 h 233403"/>
                <a:gd name="connsiteX27" fmla="*/ 204788 w 207262"/>
                <a:gd name="connsiteY27" fmla="*/ 83291 h 233403"/>
                <a:gd name="connsiteX28" fmla="*/ 206692 w 207262"/>
                <a:gd name="connsiteY28" fmla="*/ 70908 h 233403"/>
                <a:gd name="connsiteX29" fmla="*/ 199072 w 207262"/>
                <a:gd name="connsiteY29" fmla="*/ 61383 h 233403"/>
                <a:gd name="connsiteX30" fmla="*/ 97155 w 207262"/>
                <a:gd name="connsiteY30" fmla="*/ 2328 h 233403"/>
                <a:gd name="connsiteX31" fmla="*/ 75247 w 207262"/>
                <a:gd name="connsiteY31" fmla="*/ 8043 h 233403"/>
                <a:gd name="connsiteX32" fmla="*/ 56197 w 207262"/>
                <a:gd name="connsiteY32" fmla="*/ 41381 h 233403"/>
                <a:gd name="connsiteX33" fmla="*/ 16192 w 207262"/>
                <a:gd name="connsiteY33" fmla="*/ 41381 h 233403"/>
                <a:gd name="connsiteX34" fmla="*/ 16192 w 207262"/>
                <a:gd name="connsiteY34" fmla="*/ 41381 h 233403"/>
                <a:gd name="connsiteX35" fmla="*/ 4763 w 207262"/>
                <a:gd name="connsiteY35" fmla="*/ 46143 h 233403"/>
                <a:gd name="connsiteX36" fmla="*/ 0 w 207262"/>
                <a:gd name="connsiteY36" fmla="*/ 57573 h 233403"/>
                <a:gd name="connsiteX37" fmla="*/ 0 w 207262"/>
                <a:gd name="connsiteY37" fmla="*/ 175683 h 233403"/>
                <a:gd name="connsiteX38" fmla="*/ 16192 w 207262"/>
                <a:gd name="connsiteY38" fmla="*/ 191876 h 233403"/>
                <a:gd name="connsiteX39" fmla="*/ 56197 w 207262"/>
                <a:gd name="connsiteY39" fmla="*/ 191876 h 233403"/>
                <a:gd name="connsiteX40" fmla="*/ 75247 w 207262"/>
                <a:gd name="connsiteY40" fmla="*/ 225213 h 233403"/>
                <a:gd name="connsiteX41" fmla="*/ 84772 w 207262"/>
                <a:gd name="connsiteY41" fmla="*/ 232833 h 233403"/>
                <a:gd name="connsiteX42" fmla="*/ 97155 w 207262"/>
                <a:gd name="connsiteY42" fmla="*/ 230928 h 233403"/>
                <a:gd name="connsiteX43" fmla="*/ 199072 w 207262"/>
                <a:gd name="connsiteY43" fmla="*/ 171873 h 233403"/>
                <a:gd name="connsiteX44" fmla="*/ 206692 w 207262"/>
                <a:gd name="connsiteY44" fmla="*/ 162348 h 2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262" h="233403">
                  <a:moveTo>
                    <a:pt x="169545" y="103293"/>
                  </a:moveTo>
                  <a:lnTo>
                    <a:pt x="167640" y="106151"/>
                  </a:lnTo>
                  <a:lnTo>
                    <a:pt x="74295" y="51858"/>
                  </a:lnTo>
                  <a:lnTo>
                    <a:pt x="76200" y="49001"/>
                  </a:lnTo>
                  <a:lnTo>
                    <a:pt x="92392" y="21378"/>
                  </a:lnTo>
                  <a:lnTo>
                    <a:pt x="93345" y="22331"/>
                  </a:lnTo>
                  <a:lnTo>
                    <a:pt x="186690" y="75671"/>
                  </a:lnTo>
                  <a:lnTo>
                    <a:pt x="169545" y="103293"/>
                  </a:lnTo>
                  <a:close/>
                  <a:moveTo>
                    <a:pt x="76200" y="154728"/>
                  </a:moveTo>
                  <a:lnTo>
                    <a:pt x="76200" y="78528"/>
                  </a:lnTo>
                  <a:lnTo>
                    <a:pt x="141922" y="116628"/>
                  </a:lnTo>
                  <a:lnTo>
                    <a:pt x="76200" y="154728"/>
                  </a:lnTo>
                  <a:close/>
                  <a:moveTo>
                    <a:pt x="90488" y="210926"/>
                  </a:moveTo>
                  <a:lnTo>
                    <a:pt x="73342" y="180446"/>
                  </a:lnTo>
                  <a:lnTo>
                    <a:pt x="74295" y="179493"/>
                  </a:lnTo>
                  <a:lnTo>
                    <a:pt x="166688" y="126153"/>
                  </a:lnTo>
                  <a:lnTo>
                    <a:pt x="168592" y="129963"/>
                  </a:lnTo>
                  <a:lnTo>
                    <a:pt x="183833" y="156633"/>
                  </a:lnTo>
                  <a:lnTo>
                    <a:pt x="90488" y="210926"/>
                  </a:lnTo>
                  <a:close/>
                  <a:moveTo>
                    <a:pt x="55245" y="170921"/>
                  </a:moveTo>
                  <a:lnTo>
                    <a:pt x="20003" y="170921"/>
                  </a:lnTo>
                  <a:lnTo>
                    <a:pt x="20003" y="62336"/>
                  </a:lnTo>
                  <a:lnTo>
                    <a:pt x="55245" y="62336"/>
                  </a:lnTo>
                  <a:lnTo>
                    <a:pt x="55245" y="170921"/>
                  </a:lnTo>
                  <a:close/>
                  <a:moveTo>
                    <a:pt x="206692" y="162348"/>
                  </a:moveTo>
                  <a:cubicBezTo>
                    <a:pt x="207645" y="158538"/>
                    <a:pt x="207645" y="153776"/>
                    <a:pt x="204788" y="149966"/>
                  </a:cubicBezTo>
                  <a:lnTo>
                    <a:pt x="185738" y="116628"/>
                  </a:lnTo>
                  <a:lnTo>
                    <a:pt x="204788" y="83291"/>
                  </a:lnTo>
                  <a:cubicBezTo>
                    <a:pt x="206692" y="79481"/>
                    <a:pt x="207645" y="75671"/>
                    <a:pt x="206692" y="70908"/>
                  </a:cubicBezTo>
                  <a:cubicBezTo>
                    <a:pt x="205740" y="67098"/>
                    <a:pt x="202883" y="63288"/>
                    <a:pt x="199072" y="61383"/>
                  </a:cubicBezTo>
                  <a:lnTo>
                    <a:pt x="97155" y="2328"/>
                  </a:lnTo>
                  <a:cubicBezTo>
                    <a:pt x="89535" y="-2434"/>
                    <a:pt x="80010" y="423"/>
                    <a:pt x="75247" y="8043"/>
                  </a:cubicBezTo>
                  <a:lnTo>
                    <a:pt x="56197" y="41381"/>
                  </a:lnTo>
                  <a:lnTo>
                    <a:pt x="16192" y="41381"/>
                  </a:lnTo>
                  <a:lnTo>
                    <a:pt x="16192" y="41381"/>
                  </a:lnTo>
                  <a:cubicBezTo>
                    <a:pt x="12383" y="41381"/>
                    <a:pt x="7620" y="43286"/>
                    <a:pt x="4763" y="46143"/>
                  </a:cubicBezTo>
                  <a:cubicBezTo>
                    <a:pt x="1905" y="49001"/>
                    <a:pt x="0" y="52811"/>
                    <a:pt x="0" y="57573"/>
                  </a:cubicBezTo>
                  <a:lnTo>
                    <a:pt x="0" y="175683"/>
                  </a:lnTo>
                  <a:cubicBezTo>
                    <a:pt x="0" y="184256"/>
                    <a:pt x="7620" y="191876"/>
                    <a:pt x="16192" y="191876"/>
                  </a:cubicBezTo>
                  <a:lnTo>
                    <a:pt x="56197" y="191876"/>
                  </a:lnTo>
                  <a:lnTo>
                    <a:pt x="75247" y="225213"/>
                  </a:lnTo>
                  <a:cubicBezTo>
                    <a:pt x="77153" y="229023"/>
                    <a:pt x="80963" y="231881"/>
                    <a:pt x="84772" y="232833"/>
                  </a:cubicBezTo>
                  <a:cubicBezTo>
                    <a:pt x="88583" y="233786"/>
                    <a:pt x="93345" y="233786"/>
                    <a:pt x="97155" y="230928"/>
                  </a:cubicBezTo>
                  <a:lnTo>
                    <a:pt x="199072" y="171873"/>
                  </a:lnTo>
                  <a:cubicBezTo>
                    <a:pt x="202883" y="169968"/>
                    <a:pt x="205740" y="167111"/>
                    <a:pt x="206692" y="16234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20" name="Free-form: Shape 8">
              <a:extLst>
                <a:ext uri="{FF2B5EF4-FFF2-40B4-BE49-F238E27FC236}">
                  <a16:creationId xmlns:a16="http://schemas.microsoft.com/office/drawing/2014/main" id="{CE82B999-9D12-1B9F-C756-DBEF2586F318}"/>
                </a:ext>
              </a:extLst>
            </p:cNvPr>
            <p:cNvSpPr/>
            <p:nvPr/>
          </p:nvSpPr>
          <p:spPr>
            <a:xfrm>
              <a:off x="11836717" y="6741794"/>
              <a:ext cx="126682" cy="184785"/>
            </a:xfrm>
            <a:custGeom>
              <a:avLst/>
              <a:gdLst>
                <a:gd name="connsiteX0" fmla="*/ 0 w 126682"/>
                <a:gd name="connsiteY0" fmla="*/ 0 h 184785"/>
                <a:gd name="connsiteX1" fmla="*/ 0 w 126682"/>
                <a:gd name="connsiteY1" fmla="*/ 184785 h 184785"/>
                <a:gd name="connsiteX2" fmla="*/ 30480 w 126682"/>
                <a:gd name="connsiteY2" fmla="*/ 184785 h 184785"/>
                <a:gd name="connsiteX3" fmla="*/ 30480 w 126682"/>
                <a:gd name="connsiteY3" fmla="*/ 129540 h 184785"/>
                <a:gd name="connsiteX4" fmla="*/ 33338 w 126682"/>
                <a:gd name="connsiteY4" fmla="*/ 129540 h 184785"/>
                <a:gd name="connsiteX5" fmla="*/ 91440 w 126682"/>
                <a:gd name="connsiteY5" fmla="*/ 184785 h 184785"/>
                <a:gd name="connsiteX6" fmla="*/ 126682 w 126682"/>
                <a:gd name="connsiteY6" fmla="*/ 184785 h 184785"/>
                <a:gd name="connsiteX7" fmla="*/ 126682 w 126682"/>
                <a:gd name="connsiteY7" fmla="*/ 180975 h 184785"/>
                <a:gd name="connsiteX8" fmla="*/ 57150 w 126682"/>
                <a:gd name="connsiteY8" fmla="*/ 115253 h 184785"/>
                <a:gd name="connsiteX9" fmla="*/ 125730 w 126682"/>
                <a:gd name="connsiteY9" fmla="*/ 56198 h 184785"/>
                <a:gd name="connsiteX10" fmla="*/ 125730 w 126682"/>
                <a:gd name="connsiteY10" fmla="*/ 52388 h 184785"/>
                <a:gd name="connsiteX11" fmla="*/ 90488 w 126682"/>
                <a:gd name="connsiteY11" fmla="*/ 52388 h 184785"/>
                <a:gd name="connsiteX12" fmla="*/ 33338 w 126682"/>
                <a:gd name="connsiteY12" fmla="*/ 103823 h 184785"/>
                <a:gd name="connsiteX13" fmla="*/ 30480 w 126682"/>
                <a:gd name="connsiteY13" fmla="*/ 103823 h 184785"/>
                <a:gd name="connsiteX14" fmla="*/ 30480 w 126682"/>
                <a:gd name="connsiteY14" fmla="*/ 0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6682" h="184785">
                  <a:moveTo>
                    <a:pt x="0" y="0"/>
                  </a:moveTo>
                  <a:lnTo>
                    <a:pt x="0" y="184785"/>
                  </a:lnTo>
                  <a:lnTo>
                    <a:pt x="30480" y="184785"/>
                  </a:lnTo>
                  <a:lnTo>
                    <a:pt x="30480" y="129540"/>
                  </a:lnTo>
                  <a:lnTo>
                    <a:pt x="33338" y="129540"/>
                  </a:lnTo>
                  <a:lnTo>
                    <a:pt x="91440" y="184785"/>
                  </a:lnTo>
                  <a:lnTo>
                    <a:pt x="126682" y="184785"/>
                  </a:lnTo>
                  <a:lnTo>
                    <a:pt x="126682" y="180975"/>
                  </a:lnTo>
                  <a:lnTo>
                    <a:pt x="57150" y="115253"/>
                  </a:lnTo>
                  <a:lnTo>
                    <a:pt x="125730" y="56198"/>
                  </a:lnTo>
                  <a:lnTo>
                    <a:pt x="125730" y="52388"/>
                  </a:lnTo>
                  <a:lnTo>
                    <a:pt x="90488" y="52388"/>
                  </a:lnTo>
                  <a:lnTo>
                    <a:pt x="33338" y="103823"/>
                  </a:lnTo>
                  <a:lnTo>
                    <a:pt x="30480" y="103823"/>
                  </a:lnTo>
                  <a:lnTo>
                    <a:pt x="304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21" name="Free-form: Shape 9">
              <a:extLst>
                <a:ext uri="{FF2B5EF4-FFF2-40B4-BE49-F238E27FC236}">
                  <a16:creationId xmlns:a16="http://schemas.microsoft.com/office/drawing/2014/main" id="{5288966A-5883-9362-0094-F989C4C81CC0}"/>
                </a:ext>
              </a:extLst>
            </p:cNvPr>
            <p:cNvSpPr/>
            <p:nvPr/>
          </p:nvSpPr>
          <p:spPr>
            <a:xfrm>
              <a:off x="11953874" y="6791325"/>
              <a:ext cx="129540" cy="139065"/>
            </a:xfrm>
            <a:custGeom>
              <a:avLst/>
              <a:gdLst>
                <a:gd name="connsiteX0" fmla="*/ 29528 w 129540"/>
                <a:gd name="connsiteY0" fmla="*/ 55245 h 139065"/>
                <a:gd name="connsiteX1" fmla="*/ 65722 w 129540"/>
                <a:gd name="connsiteY1" fmla="*/ 20955 h 139065"/>
                <a:gd name="connsiteX2" fmla="*/ 100013 w 129540"/>
                <a:gd name="connsiteY2" fmla="*/ 55245 h 139065"/>
                <a:gd name="connsiteX3" fmla="*/ 29528 w 129540"/>
                <a:gd name="connsiteY3" fmla="*/ 55245 h 139065"/>
                <a:gd name="connsiteX4" fmla="*/ 66675 w 129540"/>
                <a:gd name="connsiteY4" fmla="*/ 0 h 139065"/>
                <a:gd name="connsiteX5" fmla="*/ 0 w 129540"/>
                <a:gd name="connsiteY5" fmla="*/ 69532 h 139065"/>
                <a:gd name="connsiteX6" fmla="*/ 66675 w 129540"/>
                <a:gd name="connsiteY6" fmla="*/ 139065 h 139065"/>
                <a:gd name="connsiteX7" fmla="*/ 126682 w 129540"/>
                <a:gd name="connsiteY7" fmla="*/ 98107 h 139065"/>
                <a:gd name="connsiteX8" fmla="*/ 126682 w 129540"/>
                <a:gd name="connsiteY8" fmla="*/ 94297 h 139065"/>
                <a:gd name="connsiteX9" fmla="*/ 100013 w 129540"/>
                <a:gd name="connsiteY9" fmla="*/ 94297 h 139065"/>
                <a:gd name="connsiteX10" fmla="*/ 66675 w 129540"/>
                <a:gd name="connsiteY10" fmla="*/ 117157 h 139065"/>
                <a:gd name="connsiteX11" fmla="*/ 29528 w 129540"/>
                <a:gd name="connsiteY11" fmla="*/ 77153 h 139065"/>
                <a:gd name="connsiteX12" fmla="*/ 129540 w 129540"/>
                <a:gd name="connsiteY12" fmla="*/ 77153 h 139065"/>
                <a:gd name="connsiteX13" fmla="*/ 129540 w 129540"/>
                <a:gd name="connsiteY13" fmla="*/ 64770 h 139065"/>
                <a:gd name="connsiteX14" fmla="*/ 66675 w 129540"/>
                <a:gd name="connsiteY14" fmla="*/ 0 h 13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9540" h="139065">
                  <a:moveTo>
                    <a:pt x="29528" y="55245"/>
                  </a:moveTo>
                  <a:cubicBezTo>
                    <a:pt x="31432" y="35243"/>
                    <a:pt x="43815" y="20955"/>
                    <a:pt x="65722" y="20955"/>
                  </a:cubicBezTo>
                  <a:cubicBezTo>
                    <a:pt x="88582" y="20955"/>
                    <a:pt x="100013" y="35243"/>
                    <a:pt x="100013" y="55245"/>
                  </a:cubicBezTo>
                  <a:lnTo>
                    <a:pt x="29528" y="55245"/>
                  </a:lnTo>
                  <a:close/>
                  <a:moveTo>
                    <a:pt x="66675" y="0"/>
                  </a:moveTo>
                  <a:cubicBezTo>
                    <a:pt x="26670" y="0"/>
                    <a:pt x="0" y="23813"/>
                    <a:pt x="0" y="69532"/>
                  </a:cubicBezTo>
                  <a:cubicBezTo>
                    <a:pt x="0" y="115253"/>
                    <a:pt x="26670" y="139065"/>
                    <a:pt x="66675" y="139065"/>
                  </a:cubicBezTo>
                  <a:cubicBezTo>
                    <a:pt x="106680" y="139065"/>
                    <a:pt x="122872" y="115253"/>
                    <a:pt x="126682" y="98107"/>
                  </a:cubicBezTo>
                  <a:lnTo>
                    <a:pt x="126682" y="94297"/>
                  </a:lnTo>
                  <a:lnTo>
                    <a:pt x="100013" y="94297"/>
                  </a:lnTo>
                  <a:cubicBezTo>
                    <a:pt x="98107" y="104775"/>
                    <a:pt x="88582" y="117157"/>
                    <a:pt x="66675" y="117157"/>
                  </a:cubicBezTo>
                  <a:cubicBezTo>
                    <a:pt x="43815" y="117157"/>
                    <a:pt x="30480" y="100965"/>
                    <a:pt x="29528" y="77153"/>
                  </a:cubicBezTo>
                  <a:lnTo>
                    <a:pt x="129540" y="77153"/>
                  </a:lnTo>
                  <a:lnTo>
                    <a:pt x="129540" y="64770"/>
                  </a:lnTo>
                  <a:cubicBezTo>
                    <a:pt x="129540" y="23813"/>
                    <a:pt x="106680" y="0"/>
                    <a:pt x="66675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22" name="Free-form: Shape 10">
              <a:extLst>
                <a:ext uri="{FF2B5EF4-FFF2-40B4-BE49-F238E27FC236}">
                  <a16:creationId xmlns:a16="http://schemas.microsoft.com/office/drawing/2014/main" id="{65C2749B-3930-AACD-7EE0-D99AE3BEF9F6}"/>
                </a:ext>
              </a:extLst>
            </p:cNvPr>
            <p:cNvSpPr/>
            <p:nvPr/>
          </p:nvSpPr>
          <p:spPr>
            <a:xfrm>
              <a:off x="12077699" y="6794182"/>
              <a:ext cx="137159" cy="183832"/>
            </a:xfrm>
            <a:custGeom>
              <a:avLst/>
              <a:gdLst>
                <a:gd name="connsiteX0" fmla="*/ 106680 w 137159"/>
                <a:gd name="connsiteY0" fmla="*/ 0 h 183832"/>
                <a:gd name="connsiteX1" fmla="*/ 70485 w 137159"/>
                <a:gd name="connsiteY1" fmla="*/ 97155 h 183832"/>
                <a:gd name="connsiteX2" fmla="*/ 67628 w 137159"/>
                <a:gd name="connsiteY2" fmla="*/ 97155 h 183832"/>
                <a:gd name="connsiteX3" fmla="*/ 31432 w 137159"/>
                <a:gd name="connsiteY3" fmla="*/ 0 h 183832"/>
                <a:gd name="connsiteX4" fmla="*/ 0 w 137159"/>
                <a:gd name="connsiteY4" fmla="*/ 0 h 183832"/>
                <a:gd name="connsiteX5" fmla="*/ 0 w 137159"/>
                <a:gd name="connsiteY5" fmla="*/ 3810 h 183832"/>
                <a:gd name="connsiteX6" fmla="*/ 53340 w 137159"/>
                <a:gd name="connsiteY6" fmla="*/ 132398 h 183832"/>
                <a:gd name="connsiteX7" fmla="*/ 33338 w 137159"/>
                <a:gd name="connsiteY7" fmla="*/ 180023 h 183832"/>
                <a:gd name="connsiteX8" fmla="*/ 33338 w 137159"/>
                <a:gd name="connsiteY8" fmla="*/ 183833 h 183832"/>
                <a:gd name="connsiteX9" fmla="*/ 63818 w 137159"/>
                <a:gd name="connsiteY9" fmla="*/ 183833 h 183832"/>
                <a:gd name="connsiteX10" fmla="*/ 137160 w 137159"/>
                <a:gd name="connsiteY10" fmla="*/ 3810 h 183832"/>
                <a:gd name="connsiteX11" fmla="*/ 137160 w 137159"/>
                <a:gd name="connsiteY11" fmla="*/ 0 h 18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9" h="183832">
                  <a:moveTo>
                    <a:pt x="106680" y="0"/>
                  </a:moveTo>
                  <a:lnTo>
                    <a:pt x="70485" y="97155"/>
                  </a:lnTo>
                  <a:lnTo>
                    <a:pt x="67628" y="97155"/>
                  </a:lnTo>
                  <a:lnTo>
                    <a:pt x="31432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53340" y="132398"/>
                  </a:lnTo>
                  <a:lnTo>
                    <a:pt x="33338" y="180023"/>
                  </a:lnTo>
                  <a:lnTo>
                    <a:pt x="33338" y="183833"/>
                  </a:lnTo>
                  <a:lnTo>
                    <a:pt x="63818" y="183833"/>
                  </a:lnTo>
                  <a:lnTo>
                    <a:pt x="137160" y="3810"/>
                  </a:lnTo>
                  <a:lnTo>
                    <a:pt x="13716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grpSp>
          <p:nvGrpSpPr>
            <p:cNvPr id="23" name="Graphic 7">
              <a:extLst>
                <a:ext uri="{FF2B5EF4-FFF2-40B4-BE49-F238E27FC236}">
                  <a16:creationId xmlns:a16="http://schemas.microsoft.com/office/drawing/2014/main" id="{F7739877-826A-8B5D-26D5-7830D177AB9E}"/>
                </a:ext>
              </a:extLst>
            </p:cNvPr>
            <p:cNvGrpSpPr/>
            <p:nvPr/>
          </p:nvGrpSpPr>
          <p:grpSpPr>
            <a:xfrm>
              <a:off x="12212002" y="6759892"/>
              <a:ext cx="618172" cy="170497"/>
              <a:chOff x="12212002" y="6759892"/>
              <a:chExt cx="618172" cy="170497"/>
            </a:xfrm>
            <a:grpFill/>
          </p:grpSpPr>
          <p:sp>
            <p:nvSpPr>
              <p:cNvPr id="24" name="Free-form: Shape 12">
                <a:extLst>
                  <a:ext uri="{FF2B5EF4-FFF2-40B4-BE49-F238E27FC236}">
                    <a16:creationId xmlns:a16="http://schemas.microsoft.com/office/drawing/2014/main" id="{7BF32555-A14A-4AD6-E3AB-10C77CFAB703}"/>
                  </a:ext>
                </a:extLst>
              </p:cNvPr>
              <p:cNvSpPr/>
              <p:nvPr/>
            </p:nvSpPr>
            <p:spPr>
              <a:xfrm>
                <a:off x="12212002" y="6792277"/>
                <a:ext cx="120015" cy="137159"/>
              </a:xfrm>
              <a:custGeom>
                <a:avLst/>
                <a:gdLst>
                  <a:gd name="connsiteX0" fmla="*/ 75247 w 120015"/>
                  <a:gd name="connsiteY0" fmla="*/ 58103 h 137159"/>
                  <a:gd name="connsiteX1" fmla="*/ 50482 w 120015"/>
                  <a:gd name="connsiteY1" fmla="*/ 54292 h 137159"/>
                  <a:gd name="connsiteX2" fmla="*/ 30480 w 120015"/>
                  <a:gd name="connsiteY2" fmla="*/ 38100 h 137159"/>
                  <a:gd name="connsiteX3" fmla="*/ 58103 w 120015"/>
                  <a:gd name="connsiteY3" fmla="*/ 20955 h 137159"/>
                  <a:gd name="connsiteX4" fmla="*/ 89535 w 120015"/>
                  <a:gd name="connsiteY4" fmla="*/ 43815 h 137159"/>
                  <a:gd name="connsiteX5" fmla="*/ 117157 w 120015"/>
                  <a:gd name="connsiteY5" fmla="*/ 43815 h 137159"/>
                  <a:gd name="connsiteX6" fmla="*/ 117157 w 120015"/>
                  <a:gd name="connsiteY6" fmla="*/ 40005 h 137159"/>
                  <a:gd name="connsiteX7" fmla="*/ 57150 w 120015"/>
                  <a:gd name="connsiteY7" fmla="*/ 0 h 137159"/>
                  <a:gd name="connsiteX8" fmla="*/ 953 w 120015"/>
                  <a:gd name="connsiteY8" fmla="*/ 39053 h 137159"/>
                  <a:gd name="connsiteX9" fmla="*/ 42863 w 120015"/>
                  <a:gd name="connsiteY9" fmla="*/ 77153 h 137159"/>
                  <a:gd name="connsiteX10" fmla="*/ 67628 w 120015"/>
                  <a:gd name="connsiteY10" fmla="*/ 80963 h 137159"/>
                  <a:gd name="connsiteX11" fmla="*/ 90488 w 120015"/>
                  <a:gd name="connsiteY11" fmla="*/ 98107 h 137159"/>
                  <a:gd name="connsiteX12" fmla="*/ 61913 w 120015"/>
                  <a:gd name="connsiteY12" fmla="*/ 116205 h 137159"/>
                  <a:gd name="connsiteX13" fmla="*/ 27622 w 120015"/>
                  <a:gd name="connsiteY13" fmla="*/ 92392 h 137159"/>
                  <a:gd name="connsiteX14" fmla="*/ 0 w 120015"/>
                  <a:gd name="connsiteY14" fmla="*/ 92392 h 137159"/>
                  <a:gd name="connsiteX15" fmla="*/ 0 w 120015"/>
                  <a:gd name="connsiteY15" fmla="*/ 96203 h 137159"/>
                  <a:gd name="connsiteX16" fmla="*/ 62865 w 120015"/>
                  <a:gd name="connsiteY16" fmla="*/ 137160 h 137159"/>
                  <a:gd name="connsiteX17" fmla="*/ 120015 w 120015"/>
                  <a:gd name="connsiteY17" fmla="*/ 96203 h 137159"/>
                  <a:gd name="connsiteX18" fmla="*/ 75247 w 120015"/>
                  <a:gd name="connsiteY18" fmla="*/ 58103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0015" h="137159">
                    <a:moveTo>
                      <a:pt x="75247" y="58103"/>
                    </a:moveTo>
                    <a:lnTo>
                      <a:pt x="50482" y="54292"/>
                    </a:lnTo>
                    <a:cubicBezTo>
                      <a:pt x="39053" y="52388"/>
                      <a:pt x="30480" y="48578"/>
                      <a:pt x="30480" y="38100"/>
                    </a:cubicBezTo>
                    <a:cubicBezTo>
                      <a:pt x="30480" y="27622"/>
                      <a:pt x="40005" y="20955"/>
                      <a:pt x="58103" y="20955"/>
                    </a:cubicBezTo>
                    <a:cubicBezTo>
                      <a:pt x="76200" y="20955"/>
                      <a:pt x="88582" y="27622"/>
                      <a:pt x="89535" y="43815"/>
                    </a:cubicBezTo>
                    <a:lnTo>
                      <a:pt x="117157" y="43815"/>
                    </a:lnTo>
                    <a:lnTo>
                      <a:pt x="117157" y="40005"/>
                    </a:lnTo>
                    <a:cubicBezTo>
                      <a:pt x="114300" y="16192"/>
                      <a:pt x="93345" y="0"/>
                      <a:pt x="57150" y="0"/>
                    </a:cubicBezTo>
                    <a:cubicBezTo>
                      <a:pt x="20955" y="0"/>
                      <a:pt x="953" y="16192"/>
                      <a:pt x="953" y="39053"/>
                    </a:cubicBezTo>
                    <a:cubicBezTo>
                      <a:pt x="953" y="61913"/>
                      <a:pt x="18097" y="73342"/>
                      <a:pt x="42863" y="77153"/>
                    </a:cubicBezTo>
                    <a:lnTo>
                      <a:pt x="67628" y="80963"/>
                    </a:lnTo>
                    <a:cubicBezTo>
                      <a:pt x="81915" y="82867"/>
                      <a:pt x="90488" y="87630"/>
                      <a:pt x="90488" y="98107"/>
                    </a:cubicBezTo>
                    <a:cubicBezTo>
                      <a:pt x="90488" y="109538"/>
                      <a:pt x="80963" y="116205"/>
                      <a:pt x="61913" y="116205"/>
                    </a:cubicBezTo>
                    <a:cubicBezTo>
                      <a:pt x="42863" y="116205"/>
                      <a:pt x="28575" y="108585"/>
                      <a:pt x="27622" y="92392"/>
                    </a:cubicBezTo>
                    <a:lnTo>
                      <a:pt x="0" y="92392"/>
                    </a:lnTo>
                    <a:lnTo>
                      <a:pt x="0" y="96203"/>
                    </a:lnTo>
                    <a:cubicBezTo>
                      <a:pt x="1905" y="120015"/>
                      <a:pt x="23813" y="137160"/>
                      <a:pt x="62865" y="137160"/>
                    </a:cubicBezTo>
                    <a:cubicBezTo>
                      <a:pt x="100965" y="137160"/>
                      <a:pt x="120015" y="120015"/>
                      <a:pt x="120015" y="96203"/>
                    </a:cubicBezTo>
                    <a:cubicBezTo>
                      <a:pt x="119063" y="72390"/>
                      <a:pt x="100965" y="62865"/>
                      <a:pt x="75247" y="58103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5" name="Free-form: Shape 13">
                <a:extLst>
                  <a:ext uri="{FF2B5EF4-FFF2-40B4-BE49-F238E27FC236}">
                    <a16:creationId xmlns:a16="http://schemas.microsoft.com/office/drawing/2014/main" id="{9BED0538-B2E6-4BC4-6F90-14C29F2C8EC4}"/>
                  </a:ext>
                </a:extLst>
              </p:cNvPr>
              <p:cNvSpPr/>
              <p:nvPr/>
            </p:nvSpPr>
            <p:spPr>
              <a:xfrm>
                <a:off x="12330112" y="6759892"/>
                <a:ext cx="93344" cy="166687"/>
              </a:xfrm>
              <a:custGeom>
                <a:avLst/>
                <a:gdLst>
                  <a:gd name="connsiteX0" fmla="*/ 56197 w 93344"/>
                  <a:gd name="connsiteY0" fmla="*/ 142875 h 166687"/>
                  <a:gd name="connsiteX1" fmla="*/ 56197 w 93344"/>
                  <a:gd name="connsiteY1" fmla="*/ 56197 h 166687"/>
                  <a:gd name="connsiteX2" fmla="*/ 93345 w 93344"/>
                  <a:gd name="connsiteY2" fmla="*/ 56197 h 166687"/>
                  <a:gd name="connsiteX3" fmla="*/ 93345 w 93344"/>
                  <a:gd name="connsiteY3" fmla="*/ 35242 h 166687"/>
                  <a:gd name="connsiteX4" fmla="*/ 56197 w 93344"/>
                  <a:gd name="connsiteY4" fmla="*/ 35242 h 166687"/>
                  <a:gd name="connsiteX5" fmla="*/ 56197 w 93344"/>
                  <a:gd name="connsiteY5" fmla="*/ 0 h 166687"/>
                  <a:gd name="connsiteX6" fmla="*/ 25718 w 93344"/>
                  <a:gd name="connsiteY6" fmla="*/ 0 h 166687"/>
                  <a:gd name="connsiteX7" fmla="*/ 25718 w 93344"/>
                  <a:gd name="connsiteY7" fmla="*/ 35242 h 166687"/>
                  <a:gd name="connsiteX8" fmla="*/ 0 w 93344"/>
                  <a:gd name="connsiteY8" fmla="*/ 35242 h 166687"/>
                  <a:gd name="connsiteX9" fmla="*/ 0 w 93344"/>
                  <a:gd name="connsiteY9" fmla="*/ 56197 h 166687"/>
                  <a:gd name="connsiteX10" fmla="*/ 25718 w 93344"/>
                  <a:gd name="connsiteY10" fmla="*/ 56197 h 166687"/>
                  <a:gd name="connsiteX11" fmla="*/ 25718 w 93344"/>
                  <a:gd name="connsiteY11" fmla="*/ 132397 h 166687"/>
                  <a:gd name="connsiteX12" fmla="*/ 61913 w 93344"/>
                  <a:gd name="connsiteY12" fmla="*/ 166688 h 166687"/>
                  <a:gd name="connsiteX13" fmla="*/ 92393 w 93344"/>
                  <a:gd name="connsiteY13" fmla="*/ 166688 h 166687"/>
                  <a:gd name="connsiteX14" fmla="*/ 92393 w 93344"/>
                  <a:gd name="connsiteY14" fmla="*/ 144780 h 166687"/>
                  <a:gd name="connsiteX15" fmla="*/ 58103 w 93344"/>
                  <a:gd name="connsiteY15" fmla="*/ 144780 h 166687"/>
                  <a:gd name="connsiteX16" fmla="*/ 56197 w 93344"/>
                  <a:gd name="connsiteY16" fmla="*/ 142875 h 166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344" h="166687">
                    <a:moveTo>
                      <a:pt x="56197" y="142875"/>
                    </a:moveTo>
                    <a:lnTo>
                      <a:pt x="56197" y="56197"/>
                    </a:lnTo>
                    <a:lnTo>
                      <a:pt x="93345" y="56197"/>
                    </a:lnTo>
                    <a:lnTo>
                      <a:pt x="93345" y="35242"/>
                    </a:lnTo>
                    <a:lnTo>
                      <a:pt x="56197" y="35242"/>
                    </a:lnTo>
                    <a:lnTo>
                      <a:pt x="56197" y="0"/>
                    </a:lnTo>
                    <a:lnTo>
                      <a:pt x="25718" y="0"/>
                    </a:lnTo>
                    <a:lnTo>
                      <a:pt x="25718" y="35242"/>
                    </a:lnTo>
                    <a:lnTo>
                      <a:pt x="0" y="35242"/>
                    </a:lnTo>
                    <a:lnTo>
                      <a:pt x="0" y="56197"/>
                    </a:lnTo>
                    <a:lnTo>
                      <a:pt x="25718" y="56197"/>
                    </a:lnTo>
                    <a:lnTo>
                      <a:pt x="25718" y="132397"/>
                    </a:lnTo>
                    <a:cubicBezTo>
                      <a:pt x="25718" y="155257"/>
                      <a:pt x="39053" y="166688"/>
                      <a:pt x="61913" y="166688"/>
                    </a:cubicBezTo>
                    <a:lnTo>
                      <a:pt x="92393" y="166688"/>
                    </a:lnTo>
                    <a:lnTo>
                      <a:pt x="92393" y="144780"/>
                    </a:lnTo>
                    <a:lnTo>
                      <a:pt x="58103" y="144780"/>
                    </a:lnTo>
                    <a:lnTo>
                      <a:pt x="56197" y="1428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6" name="Free-form: Shape 14">
                <a:extLst>
                  <a:ext uri="{FF2B5EF4-FFF2-40B4-BE49-F238E27FC236}">
                    <a16:creationId xmlns:a16="http://schemas.microsoft.com/office/drawing/2014/main" id="{BFFC81EC-B364-6F7C-D8FF-455CCFC495A6}"/>
                  </a:ext>
                </a:extLst>
              </p:cNvPr>
              <p:cNvSpPr/>
              <p:nvPr/>
            </p:nvSpPr>
            <p:spPr>
              <a:xfrm>
                <a:off x="12424409" y="6791325"/>
                <a:ext cx="137159" cy="139065"/>
              </a:xfrm>
              <a:custGeom>
                <a:avLst/>
                <a:gdLst>
                  <a:gd name="connsiteX0" fmla="*/ 68580 w 137159"/>
                  <a:gd name="connsiteY0" fmla="*/ 116205 h 139065"/>
                  <a:gd name="connsiteX1" fmla="*/ 30480 w 137159"/>
                  <a:gd name="connsiteY1" fmla="*/ 69532 h 139065"/>
                  <a:gd name="connsiteX2" fmla="*/ 68580 w 137159"/>
                  <a:gd name="connsiteY2" fmla="*/ 22860 h 139065"/>
                  <a:gd name="connsiteX3" fmla="*/ 106680 w 137159"/>
                  <a:gd name="connsiteY3" fmla="*/ 69532 h 139065"/>
                  <a:gd name="connsiteX4" fmla="*/ 68580 w 137159"/>
                  <a:gd name="connsiteY4" fmla="*/ 116205 h 139065"/>
                  <a:gd name="connsiteX5" fmla="*/ 68580 w 137159"/>
                  <a:gd name="connsiteY5" fmla="*/ 0 h 139065"/>
                  <a:gd name="connsiteX6" fmla="*/ 0 w 137159"/>
                  <a:gd name="connsiteY6" fmla="*/ 69532 h 139065"/>
                  <a:gd name="connsiteX7" fmla="*/ 68580 w 137159"/>
                  <a:gd name="connsiteY7" fmla="*/ 139065 h 139065"/>
                  <a:gd name="connsiteX8" fmla="*/ 137160 w 137159"/>
                  <a:gd name="connsiteY8" fmla="*/ 69532 h 139065"/>
                  <a:gd name="connsiteX9" fmla="*/ 68580 w 137159"/>
                  <a:gd name="connsiteY9" fmla="*/ 0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139065">
                    <a:moveTo>
                      <a:pt x="68580" y="116205"/>
                    </a:moveTo>
                    <a:cubicBezTo>
                      <a:pt x="45720" y="116205"/>
                      <a:pt x="30480" y="100013"/>
                      <a:pt x="30480" y="69532"/>
                    </a:cubicBezTo>
                    <a:cubicBezTo>
                      <a:pt x="30480" y="39053"/>
                      <a:pt x="45720" y="22860"/>
                      <a:pt x="68580" y="22860"/>
                    </a:cubicBezTo>
                    <a:cubicBezTo>
                      <a:pt x="91440" y="22860"/>
                      <a:pt x="106680" y="39053"/>
                      <a:pt x="106680" y="69532"/>
                    </a:cubicBezTo>
                    <a:cubicBezTo>
                      <a:pt x="106680" y="100013"/>
                      <a:pt x="91440" y="116205"/>
                      <a:pt x="68580" y="116205"/>
                    </a:cubicBezTo>
                    <a:moveTo>
                      <a:pt x="68580" y="0"/>
                    </a:moveTo>
                    <a:cubicBezTo>
                      <a:pt x="28575" y="0"/>
                      <a:pt x="0" y="23813"/>
                      <a:pt x="0" y="69532"/>
                    </a:cubicBezTo>
                    <a:cubicBezTo>
                      <a:pt x="0" y="114300"/>
                      <a:pt x="28575" y="139065"/>
                      <a:pt x="68580" y="139065"/>
                    </a:cubicBezTo>
                    <a:cubicBezTo>
                      <a:pt x="108585" y="139065"/>
                      <a:pt x="137160" y="115253"/>
                      <a:pt x="137160" y="69532"/>
                    </a:cubicBezTo>
                    <a:cubicBezTo>
                      <a:pt x="137160" y="23813"/>
                      <a:pt x="108585" y="0"/>
                      <a:pt x="68580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7" name="Free-form: Shape 15">
                <a:extLst>
                  <a:ext uri="{FF2B5EF4-FFF2-40B4-BE49-F238E27FC236}">
                    <a16:creationId xmlns:a16="http://schemas.microsoft.com/office/drawing/2014/main" id="{74CA79E8-0788-A296-3EC6-56D40541E3C3}"/>
                  </a:ext>
                </a:extLst>
              </p:cNvPr>
              <p:cNvSpPr/>
              <p:nvPr/>
            </p:nvSpPr>
            <p:spPr>
              <a:xfrm>
                <a:off x="12568237" y="6791325"/>
                <a:ext cx="123857" cy="135255"/>
              </a:xfrm>
              <a:custGeom>
                <a:avLst/>
                <a:gdLst>
                  <a:gd name="connsiteX0" fmla="*/ 75247 w 123857"/>
                  <a:gd name="connsiteY0" fmla="*/ 0 h 135255"/>
                  <a:gd name="connsiteX1" fmla="*/ 32385 w 123857"/>
                  <a:gd name="connsiteY1" fmla="*/ 20003 h 135255"/>
                  <a:gd name="connsiteX2" fmla="*/ 29528 w 123857"/>
                  <a:gd name="connsiteY2" fmla="*/ 20003 h 135255"/>
                  <a:gd name="connsiteX3" fmla="*/ 29528 w 123857"/>
                  <a:gd name="connsiteY3" fmla="*/ 2857 h 135255"/>
                  <a:gd name="connsiteX4" fmla="*/ 0 w 123857"/>
                  <a:gd name="connsiteY4" fmla="*/ 2857 h 135255"/>
                  <a:gd name="connsiteX5" fmla="*/ 0 w 123857"/>
                  <a:gd name="connsiteY5" fmla="*/ 135255 h 135255"/>
                  <a:gd name="connsiteX6" fmla="*/ 30480 w 123857"/>
                  <a:gd name="connsiteY6" fmla="*/ 135255 h 135255"/>
                  <a:gd name="connsiteX7" fmla="*/ 30480 w 123857"/>
                  <a:gd name="connsiteY7" fmla="*/ 60960 h 135255"/>
                  <a:gd name="connsiteX8" fmla="*/ 65722 w 123857"/>
                  <a:gd name="connsiteY8" fmla="*/ 22860 h 135255"/>
                  <a:gd name="connsiteX9" fmla="*/ 93345 w 123857"/>
                  <a:gd name="connsiteY9" fmla="*/ 50482 h 135255"/>
                  <a:gd name="connsiteX10" fmla="*/ 93345 w 123857"/>
                  <a:gd name="connsiteY10" fmla="*/ 134303 h 135255"/>
                  <a:gd name="connsiteX11" fmla="*/ 123825 w 123857"/>
                  <a:gd name="connsiteY11" fmla="*/ 134303 h 135255"/>
                  <a:gd name="connsiteX12" fmla="*/ 123825 w 123857"/>
                  <a:gd name="connsiteY12" fmla="*/ 47625 h 135255"/>
                  <a:gd name="connsiteX13" fmla="*/ 75247 w 123857"/>
                  <a:gd name="connsiteY13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857" h="135255">
                    <a:moveTo>
                      <a:pt x="75247" y="0"/>
                    </a:moveTo>
                    <a:cubicBezTo>
                      <a:pt x="47625" y="0"/>
                      <a:pt x="37147" y="12382"/>
                      <a:pt x="32385" y="20003"/>
                    </a:cubicBezTo>
                    <a:lnTo>
                      <a:pt x="29528" y="20003"/>
                    </a:lnTo>
                    <a:lnTo>
                      <a:pt x="29528" y="2857"/>
                    </a:lnTo>
                    <a:lnTo>
                      <a:pt x="0" y="2857"/>
                    </a:lnTo>
                    <a:lnTo>
                      <a:pt x="0" y="135255"/>
                    </a:lnTo>
                    <a:lnTo>
                      <a:pt x="30480" y="135255"/>
                    </a:lnTo>
                    <a:lnTo>
                      <a:pt x="30480" y="60960"/>
                    </a:lnTo>
                    <a:cubicBezTo>
                      <a:pt x="30480" y="34290"/>
                      <a:pt x="46672" y="22860"/>
                      <a:pt x="65722" y="22860"/>
                    </a:cubicBezTo>
                    <a:cubicBezTo>
                      <a:pt x="82868" y="22860"/>
                      <a:pt x="93345" y="31432"/>
                      <a:pt x="93345" y="50482"/>
                    </a:cubicBezTo>
                    <a:lnTo>
                      <a:pt x="93345" y="134303"/>
                    </a:lnTo>
                    <a:lnTo>
                      <a:pt x="123825" y="134303"/>
                    </a:lnTo>
                    <a:lnTo>
                      <a:pt x="123825" y="47625"/>
                    </a:lnTo>
                    <a:cubicBezTo>
                      <a:pt x="124778" y="16193"/>
                      <a:pt x="104775" y="0"/>
                      <a:pt x="75247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8" name="Free-form: Shape 16">
                <a:extLst>
                  <a:ext uri="{FF2B5EF4-FFF2-40B4-BE49-F238E27FC236}">
                    <a16:creationId xmlns:a16="http://schemas.microsoft.com/office/drawing/2014/main" id="{88947A45-BE74-9496-ACF9-CC4737B09AC4}"/>
                  </a:ext>
                </a:extLst>
              </p:cNvPr>
              <p:cNvSpPr/>
              <p:nvPr/>
            </p:nvSpPr>
            <p:spPr>
              <a:xfrm>
                <a:off x="12700634" y="6791325"/>
                <a:ext cx="129540" cy="139065"/>
              </a:xfrm>
              <a:custGeom>
                <a:avLst/>
                <a:gdLst>
                  <a:gd name="connsiteX0" fmla="*/ 29528 w 129540"/>
                  <a:gd name="connsiteY0" fmla="*/ 55245 h 139065"/>
                  <a:gd name="connsiteX1" fmla="*/ 65722 w 129540"/>
                  <a:gd name="connsiteY1" fmla="*/ 20955 h 139065"/>
                  <a:gd name="connsiteX2" fmla="*/ 100013 w 129540"/>
                  <a:gd name="connsiteY2" fmla="*/ 55245 h 139065"/>
                  <a:gd name="connsiteX3" fmla="*/ 29528 w 129540"/>
                  <a:gd name="connsiteY3" fmla="*/ 55245 h 139065"/>
                  <a:gd name="connsiteX4" fmla="*/ 129540 w 129540"/>
                  <a:gd name="connsiteY4" fmla="*/ 63818 h 139065"/>
                  <a:gd name="connsiteX5" fmla="*/ 66675 w 129540"/>
                  <a:gd name="connsiteY5" fmla="*/ 0 h 139065"/>
                  <a:gd name="connsiteX6" fmla="*/ 0 w 129540"/>
                  <a:gd name="connsiteY6" fmla="*/ 69532 h 139065"/>
                  <a:gd name="connsiteX7" fmla="*/ 66675 w 129540"/>
                  <a:gd name="connsiteY7" fmla="*/ 139065 h 139065"/>
                  <a:gd name="connsiteX8" fmla="*/ 126683 w 129540"/>
                  <a:gd name="connsiteY8" fmla="*/ 98107 h 139065"/>
                  <a:gd name="connsiteX9" fmla="*/ 126683 w 129540"/>
                  <a:gd name="connsiteY9" fmla="*/ 94297 h 139065"/>
                  <a:gd name="connsiteX10" fmla="*/ 100013 w 129540"/>
                  <a:gd name="connsiteY10" fmla="*/ 94297 h 139065"/>
                  <a:gd name="connsiteX11" fmla="*/ 66675 w 129540"/>
                  <a:gd name="connsiteY11" fmla="*/ 117157 h 139065"/>
                  <a:gd name="connsiteX12" fmla="*/ 29528 w 129540"/>
                  <a:gd name="connsiteY12" fmla="*/ 77153 h 139065"/>
                  <a:gd name="connsiteX13" fmla="*/ 129540 w 129540"/>
                  <a:gd name="connsiteY13" fmla="*/ 77153 h 139065"/>
                  <a:gd name="connsiteX14" fmla="*/ 129540 w 129540"/>
                  <a:gd name="connsiteY14" fmla="*/ 63818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540" h="139065">
                    <a:moveTo>
                      <a:pt x="29528" y="55245"/>
                    </a:moveTo>
                    <a:cubicBezTo>
                      <a:pt x="31433" y="35243"/>
                      <a:pt x="43815" y="20955"/>
                      <a:pt x="65722" y="20955"/>
                    </a:cubicBezTo>
                    <a:cubicBezTo>
                      <a:pt x="88583" y="20955"/>
                      <a:pt x="100013" y="35243"/>
                      <a:pt x="100013" y="55245"/>
                    </a:cubicBezTo>
                    <a:lnTo>
                      <a:pt x="29528" y="55245"/>
                    </a:lnTo>
                    <a:close/>
                    <a:moveTo>
                      <a:pt x="129540" y="63818"/>
                    </a:moveTo>
                    <a:cubicBezTo>
                      <a:pt x="129540" y="23813"/>
                      <a:pt x="106680" y="0"/>
                      <a:pt x="66675" y="0"/>
                    </a:cubicBezTo>
                    <a:cubicBezTo>
                      <a:pt x="26670" y="0"/>
                      <a:pt x="0" y="23813"/>
                      <a:pt x="0" y="69532"/>
                    </a:cubicBezTo>
                    <a:cubicBezTo>
                      <a:pt x="0" y="115253"/>
                      <a:pt x="26670" y="139065"/>
                      <a:pt x="66675" y="139065"/>
                    </a:cubicBezTo>
                    <a:cubicBezTo>
                      <a:pt x="106680" y="139065"/>
                      <a:pt x="122872" y="115253"/>
                      <a:pt x="126683" y="98107"/>
                    </a:cubicBezTo>
                    <a:lnTo>
                      <a:pt x="126683" y="94297"/>
                    </a:lnTo>
                    <a:lnTo>
                      <a:pt x="100013" y="94297"/>
                    </a:lnTo>
                    <a:cubicBezTo>
                      <a:pt x="98108" y="104775"/>
                      <a:pt x="88583" y="117157"/>
                      <a:pt x="66675" y="117157"/>
                    </a:cubicBezTo>
                    <a:cubicBezTo>
                      <a:pt x="43815" y="117157"/>
                      <a:pt x="30480" y="100965"/>
                      <a:pt x="29528" y="77153"/>
                    </a:cubicBezTo>
                    <a:lnTo>
                      <a:pt x="129540" y="77153"/>
                    </a:lnTo>
                    <a:lnTo>
                      <a:pt x="129540" y="63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54955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hink-cell data - do not delete" hidden="1">
            <a:extLst>
              <a:ext uri="{FF2B5EF4-FFF2-40B4-BE49-F238E27FC236}">
                <a16:creationId xmlns:a16="http://schemas.microsoft.com/office/drawing/2014/main" id="{93D60D27-42A0-88F5-2C4C-323D174AD3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D60D27-42A0-88F5-2C4C-323D174AD3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0" y="691200"/>
            <a:ext cx="7467358" cy="1540566"/>
          </a:xfrm>
        </p:spPr>
        <p:txBody>
          <a:bodyPr vert="horz" anchor="b">
            <a:normAutofit/>
          </a:bodyPr>
          <a:lstStyle>
            <a:lvl1pPr algn="l">
              <a:lnSpc>
                <a:spcPct val="88000"/>
              </a:lnSpc>
              <a:defRPr sz="5400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0" y="2334600"/>
            <a:ext cx="7467358" cy="512762"/>
          </a:xfrm>
        </p:spPr>
        <p:txBody>
          <a:bodyPr>
            <a:normAutofit/>
          </a:bodyPr>
          <a:lstStyle>
            <a:lvl1pPr marL="0" indent="0" algn="l">
              <a:lnSpc>
                <a:spcPct val="98000"/>
              </a:lnSpc>
              <a:spcBef>
                <a:spcPts val="0"/>
              </a:spcBef>
              <a:buNone/>
              <a:defRPr sz="2000" spc="-55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F59106-972B-299C-D5DA-6BA7A053EC26}"/>
              </a:ext>
            </a:extLst>
          </p:cNvPr>
          <p:cNvGrpSpPr>
            <a:grpSpLocks noChangeAspect="1"/>
          </p:cNvGrpSpPr>
          <p:nvPr/>
        </p:nvGrpSpPr>
        <p:grpSpPr>
          <a:xfrm>
            <a:off x="256032" y="6350508"/>
            <a:ext cx="1339596" cy="251244"/>
            <a:chOff x="11563349" y="6740419"/>
            <a:chExt cx="1266825" cy="237595"/>
          </a:xfrm>
          <a:solidFill>
            <a:schemeClr val="tx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C88B326C-95E8-8F16-F3CB-76D0FA39DE7E}"/>
                </a:ext>
              </a:extLst>
            </p:cNvPr>
            <p:cNvSpPr/>
            <p:nvPr/>
          </p:nvSpPr>
          <p:spPr>
            <a:xfrm>
              <a:off x="11563349" y="6740419"/>
              <a:ext cx="207262" cy="233403"/>
            </a:xfrm>
            <a:custGeom>
              <a:avLst/>
              <a:gdLst>
                <a:gd name="connsiteX0" fmla="*/ 169545 w 207262"/>
                <a:gd name="connsiteY0" fmla="*/ 103293 h 233403"/>
                <a:gd name="connsiteX1" fmla="*/ 167640 w 207262"/>
                <a:gd name="connsiteY1" fmla="*/ 106151 h 233403"/>
                <a:gd name="connsiteX2" fmla="*/ 74295 w 207262"/>
                <a:gd name="connsiteY2" fmla="*/ 51858 h 233403"/>
                <a:gd name="connsiteX3" fmla="*/ 76200 w 207262"/>
                <a:gd name="connsiteY3" fmla="*/ 49001 h 233403"/>
                <a:gd name="connsiteX4" fmla="*/ 92392 w 207262"/>
                <a:gd name="connsiteY4" fmla="*/ 21378 h 233403"/>
                <a:gd name="connsiteX5" fmla="*/ 93345 w 207262"/>
                <a:gd name="connsiteY5" fmla="*/ 22331 h 233403"/>
                <a:gd name="connsiteX6" fmla="*/ 186690 w 207262"/>
                <a:gd name="connsiteY6" fmla="*/ 75671 h 233403"/>
                <a:gd name="connsiteX7" fmla="*/ 169545 w 207262"/>
                <a:gd name="connsiteY7" fmla="*/ 103293 h 233403"/>
                <a:gd name="connsiteX8" fmla="*/ 76200 w 207262"/>
                <a:gd name="connsiteY8" fmla="*/ 154728 h 233403"/>
                <a:gd name="connsiteX9" fmla="*/ 76200 w 207262"/>
                <a:gd name="connsiteY9" fmla="*/ 78528 h 233403"/>
                <a:gd name="connsiteX10" fmla="*/ 141922 w 207262"/>
                <a:gd name="connsiteY10" fmla="*/ 116628 h 233403"/>
                <a:gd name="connsiteX11" fmla="*/ 76200 w 207262"/>
                <a:gd name="connsiteY11" fmla="*/ 154728 h 233403"/>
                <a:gd name="connsiteX12" fmla="*/ 90488 w 207262"/>
                <a:gd name="connsiteY12" fmla="*/ 210926 h 233403"/>
                <a:gd name="connsiteX13" fmla="*/ 73342 w 207262"/>
                <a:gd name="connsiteY13" fmla="*/ 180446 h 233403"/>
                <a:gd name="connsiteX14" fmla="*/ 74295 w 207262"/>
                <a:gd name="connsiteY14" fmla="*/ 179493 h 233403"/>
                <a:gd name="connsiteX15" fmla="*/ 166688 w 207262"/>
                <a:gd name="connsiteY15" fmla="*/ 126153 h 233403"/>
                <a:gd name="connsiteX16" fmla="*/ 168592 w 207262"/>
                <a:gd name="connsiteY16" fmla="*/ 129963 h 233403"/>
                <a:gd name="connsiteX17" fmla="*/ 183833 w 207262"/>
                <a:gd name="connsiteY17" fmla="*/ 156633 h 233403"/>
                <a:gd name="connsiteX18" fmla="*/ 90488 w 207262"/>
                <a:gd name="connsiteY18" fmla="*/ 210926 h 233403"/>
                <a:gd name="connsiteX19" fmla="*/ 55245 w 207262"/>
                <a:gd name="connsiteY19" fmla="*/ 170921 h 233403"/>
                <a:gd name="connsiteX20" fmla="*/ 20003 w 207262"/>
                <a:gd name="connsiteY20" fmla="*/ 170921 h 233403"/>
                <a:gd name="connsiteX21" fmla="*/ 20003 w 207262"/>
                <a:gd name="connsiteY21" fmla="*/ 62336 h 233403"/>
                <a:gd name="connsiteX22" fmla="*/ 55245 w 207262"/>
                <a:gd name="connsiteY22" fmla="*/ 62336 h 233403"/>
                <a:gd name="connsiteX23" fmla="*/ 55245 w 207262"/>
                <a:gd name="connsiteY23" fmla="*/ 170921 h 233403"/>
                <a:gd name="connsiteX24" fmla="*/ 206692 w 207262"/>
                <a:gd name="connsiteY24" fmla="*/ 162348 h 233403"/>
                <a:gd name="connsiteX25" fmla="*/ 204788 w 207262"/>
                <a:gd name="connsiteY25" fmla="*/ 149966 h 233403"/>
                <a:gd name="connsiteX26" fmla="*/ 185738 w 207262"/>
                <a:gd name="connsiteY26" fmla="*/ 116628 h 233403"/>
                <a:gd name="connsiteX27" fmla="*/ 204788 w 207262"/>
                <a:gd name="connsiteY27" fmla="*/ 83291 h 233403"/>
                <a:gd name="connsiteX28" fmla="*/ 206692 w 207262"/>
                <a:gd name="connsiteY28" fmla="*/ 70908 h 233403"/>
                <a:gd name="connsiteX29" fmla="*/ 199072 w 207262"/>
                <a:gd name="connsiteY29" fmla="*/ 61383 h 233403"/>
                <a:gd name="connsiteX30" fmla="*/ 97155 w 207262"/>
                <a:gd name="connsiteY30" fmla="*/ 2328 h 233403"/>
                <a:gd name="connsiteX31" fmla="*/ 75247 w 207262"/>
                <a:gd name="connsiteY31" fmla="*/ 8043 h 233403"/>
                <a:gd name="connsiteX32" fmla="*/ 56197 w 207262"/>
                <a:gd name="connsiteY32" fmla="*/ 41381 h 233403"/>
                <a:gd name="connsiteX33" fmla="*/ 16192 w 207262"/>
                <a:gd name="connsiteY33" fmla="*/ 41381 h 233403"/>
                <a:gd name="connsiteX34" fmla="*/ 16192 w 207262"/>
                <a:gd name="connsiteY34" fmla="*/ 41381 h 233403"/>
                <a:gd name="connsiteX35" fmla="*/ 4763 w 207262"/>
                <a:gd name="connsiteY35" fmla="*/ 46143 h 233403"/>
                <a:gd name="connsiteX36" fmla="*/ 0 w 207262"/>
                <a:gd name="connsiteY36" fmla="*/ 57573 h 233403"/>
                <a:gd name="connsiteX37" fmla="*/ 0 w 207262"/>
                <a:gd name="connsiteY37" fmla="*/ 175683 h 233403"/>
                <a:gd name="connsiteX38" fmla="*/ 16192 w 207262"/>
                <a:gd name="connsiteY38" fmla="*/ 191876 h 233403"/>
                <a:gd name="connsiteX39" fmla="*/ 56197 w 207262"/>
                <a:gd name="connsiteY39" fmla="*/ 191876 h 233403"/>
                <a:gd name="connsiteX40" fmla="*/ 75247 w 207262"/>
                <a:gd name="connsiteY40" fmla="*/ 225213 h 233403"/>
                <a:gd name="connsiteX41" fmla="*/ 84772 w 207262"/>
                <a:gd name="connsiteY41" fmla="*/ 232833 h 233403"/>
                <a:gd name="connsiteX42" fmla="*/ 97155 w 207262"/>
                <a:gd name="connsiteY42" fmla="*/ 230928 h 233403"/>
                <a:gd name="connsiteX43" fmla="*/ 199072 w 207262"/>
                <a:gd name="connsiteY43" fmla="*/ 171873 h 233403"/>
                <a:gd name="connsiteX44" fmla="*/ 206692 w 207262"/>
                <a:gd name="connsiteY44" fmla="*/ 162348 h 2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262" h="233403">
                  <a:moveTo>
                    <a:pt x="169545" y="103293"/>
                  </a:moveTo>
                  <a:lnTo>
                    <a:pt x="167640" y="106151"/>
                  </a:lnTo>
                  <a:lnTo>
                    <a:pt x="74295" y="51858"/>
                  </a:lnTo>
                  <a:lnTo>
                    <a:pt x="76200" y="49001"/>
                  </a:lnTo>
                  <a:lnTo>
                    <a:pt x="92392" y="21378"/>
                  </a:lnTo>
                  <a:lnTo>
                    <a:pt x="93345" y="22331"/>
                  </a:lnTo>
                  <a:lnTo>
                    <a:pt x="186690" y="75671"/>
                  </a:lnTo>
                  <a:lnTo>
                    <a:pt x="169545" y="103293"/>
                  </a:lnTo>
                  <a:close/>
                  <a:moveTo>
                    <a:pt x="76200" y="154728"/>
                  </a:moveTo>
                  <a:lnTo>
                    <a:pt x="76200" y="78528"/>
                  </a:lnTo>
                  <a:lnTo>
                    <a:pt x="141922" y="116628"/>
                  </a:lnTo>
                  <a:lnTo>
                    <a:pt x="76200" y="154728"/>
                  </a:lnTo>
                  <a:close/>
                  <a:moveTo>
                    <a:pt x="90488" y="210926"/>
                  </a:moveTo>
                  <a:lnTo>
                    <a:pt x="73342" y="180446"/>
                  </a:lnTo>
                  <a:lnTo>
                    <a:pt x="74295" y="179493"/>
                  </a:lnTo>
                  <a:lnTo>
                    <a:pt x="166688" y="126153"/>
                  </a:lnTo>
                  <a:lnTo>
                    <a:pt x="168592" y="129963"/>
                  </a:lnTo>
                  <a:lnTo>
                    <a:pt x="183833" y="156633"/>
                  </a:lnTo>
                  <a:lnTo>
                    <a:pt x="90488" y="210926"/>
                  </a:lnTo>
                  <a:close/>
                  <a:moveTo>
                    <a:pt x="55245" y="170921"/>
                  </a:moveTo>
                  <a:lnTo>
                    <a:pt x="20003" y="170921"/>
                  </a:lnTo>
                  <a:lnTo>
                    <a:pt x="20003" y="62336"/>
                  </a:lnTo>
                  <a:lnTo>
                    <a:pt x="55245" y="62336"/>
                  </a:lnTo>
                  <a:lnTo>
                    <a:pt x="55245" y="170921"/>
                  </a:lnTo>
                  <a:close/>
                  <a:moveTo>
                    <a:pt x="206692" y="162348"/>
                  </a:moveTo>
                  <a:cubicBezTo>
                    <a:pt x="207645" y="158538"/>
                    <a:pt x="207645" y="153776"/>
                    <a:pt x="204788" y="149966"/>
                  </a:cubicBezTo>
                  <a:lnTo>
                    <a:pt x="185738" y="116628"/>
                  </a:lnTo>
                  <a:lnTo>
                    <a:pt x="204788" y="83291"/>
                  </a:lnTo>
                  <a:cubicBezTo>
                    <a:pt x="206692" y="79481"/>
                    <a:pt x="207645" y="75671"/>
                    <a:pt x="206692" y="70908"/>
                  </a:cubicBezTo>
                  <a:cubicBezTo>
                    <a:pt x="205740" y="67098"/>
                    <a:pt x="202883" y="63288"/>
                    <a:pt x="199072" y="61383"/>
                  </a:cubicBezTo>
                  <a:lnTo>
                    <a:pt x="97155" y="2328"/>
                  </a:lnTo>
                  <a:cubicBezTo>
                    <a:pt x="89535" y="-2434"/>
                    <a:pt x="80010" y="423"/>
                    <a:pt x="75247" y="8043"/>
                  </a:cubicBezTo>
                  <a:lnTo>
                    <a:pt x="56197" y="41381"/>
                  </a:lnTo>
                  <a:lnTo>
                    <a:pt x="16192" y="41381"/>
                  </a:lnTo>
                  <a:lnTo>
                    <a:pt x="16192" y="41381"/>
                  </a:lnTo>
                  <a:cubicBezTo>
                    <a:pt x="12383" y="41381"/>
                    <a:pt x="7620" y="43286"/>
                    <a:pt x="4763" y="46143"/>
                  </a:cubicBezTo>
                  <a:cubicBezTo>
                    <a:pt x="1905" y="49001"/>
                    <a:pt x="0" y="52811"/>
                    <a:pt x="0" y="57573"/>
                  </a:cubicBezTo>
                  <a:lnTo>
                    <a:pt x="0" y="175683"/>
                  </a:lnTo>
                  <a:cubicBezTo>
                    <a:pt x="0" y="184256"/>
                    <a:pt x="7620" y="191876"/>
                    <a:pt x="16192" y="191876"/>
                  </a:cubicBezTo>
                  <a:lnTo>
                    <a:pt x="56197" y="191876"/>
                  </a:lnTo>
                  <a:lnTo>
                    <a:pt x="75247" y="225213"/>
                  </a:lnTo>
                  <a:cubicBezTo>
                    <a:pt x="77153" y="229023"/>
                    <a:pt x="80963" y="231881"/>
                    <a:pt x="84772" y="232833"/>
                  </a:cubicBezTo>
                  <a:cubicBezTo>
                    <a:pt x="88583" y="233786"/>
                    <a:pt x="93345" y="233786"/>
                    <a:pt x="97155" y="230928"/>
                  </a:cubicBezTo>
                  <a:lnTo>
                    <a:pt x="199072" y="171873"/>
                  </a:lnTo>
                  <a:cubicBezTo>
                    <a:pt x="202883" y="169968"/>
                    <a:pt x="205740" y="167111"/>
                    <a:pt x="206692" y="16234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6906D5EB-37DB-2E46-0CC8-B361FD6811A3}"/>
                </a:ext>
              </a:extLst>
            </p:cNvPr>
            <p:cNvSpPr/>
            <p:nvPr/>
          </p:nvSpPr>
          <p:spPr>
            <a:xfrm>
              <a:off x="11836717" y="6741794"/>
              <a:ext cx="126682" cy="184785"/>
            </a:xfrm>
            <a:custGeom>
              <a:avLst/>
              <a:gdLst>
                <a:gd name="connsiteX0" fmla="*/ 0 w 126682"/>
                <a:gd name="connsiteY0" fmla="*/ 0 h 184785"/>
                <a:gd name="connsiteX1" fmla="*/ 0 w 126682"/>
                <a:gd name="connsiteY1" fmla="*/ 184785 h 184785"/>
                <a:gd name="connsiteX2" fmla="*/ 30480 w 126682"/>
                <a:gd name="connsiteY2" fmla="*/ 184785 h 184785"/>
                <a:gd name="connsiteX3" fmla="*/ 30480 w 126682"/>
                <a:gd name="connsiteY3" fmla="*/ 129540 h 184785"/>
                <a:gd name="connsiteX4" fmla="*/ 33338 w 126682"/>
                <a:gd name="connsiteY4" fmla="*/ 129540 h 184785"/>
                <a:gd name="connsiteX5" fmla="*/ 91440 w 126682"/>
                <a:gd name="connsiteY5" fmla="*/ 184785 h 184785"/>
                <a:gd name="connsiteX6" fmla="*/ 126682 w 126682"/>
                <a:gd name="connsiteY6" fmla="*/ 184785 h 184785"/>
                <a:gd name="connsiteX7" fmla="*/ 126682 w 126682"/>
                <a:gd name="connsiteY7" fmla="*/ 180975 h 184785"/>
                <a:gd name="connsiteX8" fmla="*/ 57150 w 126682"/>
                <a:gd name="connsiteY8" fmla="*/ 115253 h 184785"/>
                <a:gd name="connsiteX9" fmla="*/ 125730 w 126682"/>
                <a:gd name="connsiteY9" fmla="*/ 56198 h 184785"/>
                <a:gd name="connsiteX10" fmla="*/ 125730 w 126682"/>
                <a:gd name="connsiteY10" fmla="*/ 52388 h 184785"/>
                <a:gd name="connsiteX11" fmla="*/ 90488 w 126682"/>
                <a:gd name="connsiteY11" fmla="*/ 52388 h 184785"/>
                <a:gd name="connsiteX12" fmla="*/ 33338 w 126682"/>
                <a:gd name="connsiteY12" fmla="*/ 103823 h 184785"/>
                <a:gd name="connsiteX13" fmla="*/ 30480 w 126682"/>
                <a:gd name="connsiteY13" fmla="*/ 103823 h 184785"/>
                <a:gd name="connsiteX14" fmla="*/ 30480 w 126682"/>
                <a:gd name="connsiteY14" fmla="*/ 0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6682" h="184785">
                  <a:moveTo>
                    <a:pt x="0" y="0"/>
                  </a:moveTo>
                  <a:lnTo>
                    <a:pt x="0" y="184785"/>
                  </a:lnTo>
                  <a:lnTo>
                    <a:pt x="30480" y="184785"/>
                  </a:lnTo>
                  <a:lnTo>
                    <a:pt x="30480" y="129540"/>
                  </a:lnTo>
                  <a:lnTo>
                    <a:pt x="33338" y="129540"/>
                  </a:lnTo>
                  <a:lnTo>
                    <a:pt x="91440" y="184785"/>
                  </a:lnTo>
                  <a:lnTo>
                    <a:pt x="126682" y="184785"/>
                  </a:lnTo>
                  <a:lnTo>
                    <a:pt x="126682" y="180975"/>
                  </a:lnTo>
                  <a:lnTo>
                    <a:pt x="57150" y="115253"/>
                  </a:lnTo>
                  <a:lnTo>
                    <a:pt x="125730" y="56198"/>
                  </a:lnTo>
                  <a:lnTo>
                    <a:pt x="125730" y="52388"/>
                  </a:lnTo>
                  <a:lnTo>
                    <a:pt x="90488" y="52388"/>
                  </a:lnTo>
                  <a:lnTo>
                    <a:pt x="33338" y="103823"/>
                  </a:lnTo>
                  <a:lnTo>
                    <a:pt x="30480" y="103823"/>
                  </a:lnTo>
                  <a:lnTo>
                    <a:pt x="304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9B454036-7BBB-B6DA-73E9-6BDB63A5468F}"/>
                </a:ext>
              </a:extLst>
            </p:cNvPr>
            <p:cNvSpPr/>
            <p:nvPr/>
          </p:nvSpPr>
          <p:spPr>
            <a:xfrm>
              <a:off x="11953874" y="6791325"/>
              <a:ext cx="129540" cy="139065"/>
            </a:xfrm>
            <a:custGeom>
              <a:avLst/>
              <a:gdLst>
                <a:gd name="connsiteX0" fmla="*/ 29528 w 129540"/>
                <a:gd name="connsiteY0" fmla="*/ 55245 h 139065"/>
                <a:gd name="connsiteX1" fmla="*/ 65722 w 129540"/>
                <a:gd name="connsiteY1" fmla="*/ 20955 h 139065"/>
                <a:gd name="connsiteX2" fmla="*/ 100013 w 129540"/>
                <a:gd name="connsiteY2" fmla="*/ 55245 h 139065"/>
                <a:gd name="connsiteX3" fmla="*/ 29528 w 129540"/>
                <a:gd name="connsiteY3" fmla="*/ 55245 h 139065"/>
                <a:gd name="connsiteX4" fmla="*/ 66675 w 129540"/>
                <a:gd name="connsiteY4" fmla="*/ 0 h 139065"/>
                <a:gd name="connsiteX5" fmla="*/ 0 w 129540"/>
                <a:gd name="connsiteY5" fmla="*/ 69532 h 139065"/>
                <a:gd name="connsiteX6" fmla="*/ 66675 w 129540"/>
                <a:gd name="connsiteY6" fmla="*/ 139065 h 139065"/>
                <a:gd name="connsiteX7" fmla="*/ 126682 w 129540"/>
                <a:gd name="connsiteY7" fmla="*/ 98107 h 139065"/>
                <a:gd name="connsiteX8" fmla="*/ 126682 w 129540"/>
                <a:gd name="connsiteY8" fmla="*/ 94297 h 139065"/>
                <a:gd name="connsiteX9" fmla="*/ 100013 w 129540"/>
                <a:gd name="connsiteY9" fmla="*/ 94297 h 139065"/>
                <a:gd name="connsiteX10" fmla="*/ 66675 w 129540"/>
                <a:gd name="connsiteY10" fmla="*/ 117157 h 139065"/>
                <a:gd name="connsiteX11" fmla="*/ 29528 w 129540"/>
                <a:gd name="connsiteY11" fmla="*/ 77153 h 139065"/>
                <a:gd name="connsiteX12" fmla="*/ 129540 w 129540"/>
                <a:gd name="connsiteY12" fmla="*/ 77153 h 139065"/>
                <a:gd name="connsiteX13" fmla="*/ 129540 w 129540"/>
                <a:gd name="connsiteY13" fmla="*/ 64770 h 139065"/>
                <a:gd name="connsiteX14" fmla="*/ 66675 w 129540"/>
                <a:gd name="connsiteY14" fmla="*/ 0 h 13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9540" h="139065">
                  <a:moveTo>
                    <a:pt x="29528" y="55245"/>
                  </a:moveTo>
                  <a:cubicBezTo>
                    <a:pt x="31432" y="35243"/>
                    <a:pt x="43815" y="20955"/>
                    <a:pt x="65722" y="20955"/>
                  </a:cubicBezTo>
                  <a:cubicBezTo>
                    <a:pt x="88582" y="20955"/>
                    <a:pt x="100013" y="35243"/>
                    <a:pt x="100013" y="55245"/>
                  </a:cubicBezTo>
                  <a:lnTo>
                    <a:pt x="29528" y="55245"/>
                  </a:lnTo>
                  <a:close/>
                  <a:moveTo>
                    <a:pt x="66675" y="0"/>
                  </a:moveTo>
                  <a:cubicBezTo>
                    <a:pt x="26670" y="0"/>
                    <a:pt x="0" y="23813"/>
                    <a:pt x="0" y="69532"/>
                  </a:cubicBezTo>
                  <a:cubicBezTo>
                    <a:pt x="0" y="115253"/>
                    <a:pt x="26670" y="139065"/>
                    <a:pt x="66675" y="139065"/>
                  </a:cubicBezTo>
                  <a:cubicBezTo>
                    <a:pt x="106680" y="139065"/>
                    <a:pt x="122872" y="115253"/>
                    <a:pt x="126682" y="98107"/>
                  </a:cubicBezTo>
                  <a:lnTo>
                    <a:pt x="126682" y="94297"/>
                  </a:lnTo>
                  <a:lnTo>
                    <a:pt x="100013" y="94297"/>
                  </a:lnTo>
                  <a:cubicBezTo>
                    <a:pt x="98107" y="104775"/>
                    <a:pt x="88582" y="117157"/>
                    <a:pt x="66675" y="117157"/>
                  </a:cubicBezTo>
                  <a:cubicBezTo>
                    <a:pt x="43815" y="117157"/>
                    <a:pt x="30480" y="100965"/>
                    <a:pt x="29528" y="77153"/>
                  </a:cubicBezTo>
                  <a:lnTo>
                    <a:pt x="129540" y="77153"/>
                  </a:lnTo>
                  <a:lnTo>
                    <a:pt x="129540" y="64770"/>
                  </a:lnTo>
                  <a:cubicBezTo>
                    <a:pt x="129540" y="23813"/>
                    <a:pt x="106680" y="0"/>
                    <a:pt x="66675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D1C6C67B-5C2B-725B-A531-01F4FDF08CF6}"/>
                </a:ext>
              </a:extLst>
            </p:cNvPr>
            <p:cNvSpPr/>
            <p:nvPr/>
          </p:nvSpPr>
          <p:spPr>
            <a:xfrm>
              <a:off x="12077699" y="6794182"/>
              <a:ext cx="137159" cy="183832"/>
            </a:xfrm>
            <a:custGeom>
              <a:avLst/>
              <a:gdLst>
                <a:gd name="connsiteX0" fmla="*/ 106680 w 137159"/>
                <a:gd name="connsiteY0" fmla="*/ 0 h 183832"/>
                <a:gd name="connsiteX1" fmla="*/ 70485 w 137159"/>
                <a:gd name="connsiteY1" fmla="*/ 97155 h 183832"/>
                <a:gd name="connsiteX2" fmla="*/ 67628 w 137159"/>
                <a:gd name="connsiteY2" fmla="*/ 97155 h 183832"/>
                <a:gd name="connsiteX3" fmla="*/ 31432 w 137159"/>
                <a:gd name="connsiteY3" fmla="*/ 0 h 183832"/>
                <a:gd name="connsiteX4" fmla="*/ 0 w 137159"/>
                <a:gd name="connsiteY4" fmla="*/ 0 h 183832"/>
                <a:gd name="connsiteX5" fmla="*/ 0 w 137159"/>
                <a:gd name="connsiteY5" fmla="*/ 3810 h 183832"/>
                <a:gd name="connsiteX6" fmla="*/ 53340 w 137159"/>
                <a:gd name="connsiteY6" fmla="*/ 132398 h 183832"/>
                <a:gd name="connsiteX7" fmla="*/ 33338 w 137159"/>
                <a:gd name="connsiteY7" fmla="*/ 180023 h 183832"/>
                <a:gd name="connsiteX8" fmla="*/ 33338 w 137159"/>
                <a:gd name="connsiteY8" fmla="*/ 183833 h 183832"/>
                <a:gd name="connsiteX9" fmla="*/ 63818 w 137159"/>
                <a:gd name="connsiteY9" fmla="*/ 183833 h 183832"/>
                <a:gd name="connsiteX10" fmla="*/ 137160 w 137159"/>
                <a:gd name="connsiteY10" fmla="*/ 3810 h 183832"/>
                <a:gd name="connsiteX11" fmla="*/ 137160 w 137159"/>
                <a:gd name="connsiteY11" fmla="*/ 0 h 18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9" h="183832">
                  <a:moveTo>
                    <a:pt x="106680" y="0"/>
                  </a:moveTo>
                  <a:lnTo>
                    <a:pt x="70485" y="97155"/>
                  </a:lnTo>
                  <a:lnTo>
                    <a:pt x="67628" y="97155"/>
                  </a:lnTo>
                  <a:lnTo>
                    <a:pt x="31432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53340" y="132398"/>
                  </a:lnTo>
                  <a:lnTo>
                    <a:pt x="33338" y="180023"/>
                  </a:lnTo>
                  <a:lnTo>
                    <a:pt x="33338" y="183833"/>
                  </a:lnTo>
                  <a:lnTo>
                    <a:pt x="63818" y="183833"/>
                  </a:lnTo>
                  <a:lnTo>
                    <a:pt x="137160" y="3810"/>
                  </a:lnTo>
                  <a:lnTo>
                    <a:pt x="13716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900"/>
            </a:p>
          </p:txBody>
        </p:sp>
        <p:grpSp>
          <p:nvGrpSpPr>
            <p:cNvPr id="12" name="Graphic 7">
              <a:extLst>
                <a:ext uri="{FF2B5EF4-FFF2-40B4-BE49-F238E27FC236}">
                  <a16:creationId xmlns:a16="http://schemas.microsoft.com/office/drawing/2014/main" id="{12BA6CC3-4859-D4AB-EF05-474358B4F622}"/>
                </a:ext>
              </a:extLst>
            </p:cNvPr>
            <p:cNvGrpSpPr/>
            <p:nvPr/>
          </p:nvGrpSpPr>
          <p:grpSpPr>
            <a:xfrm>
              <a:off x="12212002" y="6759892"/>
              <a:ext cx="618172" cy="170497"/>
              <a:chOff x="12212002" y="6759892"/>
              <a:chExt cx="618172" cy="170497"/>
            </a:xfrm>
            <a:grpFill/>
          </p:grpSpPr>
          <p:sp>
            <p:nvSpPr>
              <p:cNvPr id="13" name="Free-form: Shape 12">
                <a:extLst>
                  <a:ext uri="{FF2B5EF4-FFF2-40B4-BE49-F238E27FC236}">
                    <a16:creationId xmlns:a16="http://schemas.microsoft.com/office/drawing/2014/main" id="{06690A93-9701-A76D-31D7-153AD7601CE1}"/>
                  </a:ext>
                </a:extLst>
              </p:cNvPr>
              <p:cNvSpPr/>
              <p:nvPr/>
            </p:nvSpPr>
            <p:spPr>
              <a:xfrm>
                <a:off x="12212002" y="6792277"/>
                <a:ext cx="120015" cy="137159"/>
              </a:xfrm>
              <a:custGeom>
                <a:avLst/>
                <a:gdLst>
                  <a:gd name="connsiteX0" fmla="*/ 75247 w 120015"/>
                  <a:gd name="connsiteY0" fmla="*/ 58103 h 137159"/>
                  <a:gd name="connsiteX1" fmla="*/ 50482 w 120015"/>
                  <a:gd name="connsiteY1" fmla="*/ 54292 h 137159"/>
                  <a:gd name="connsiteX2" fmla="*/ 30480 w 120015"/>
                  <a:gd name="connsiteY2" fmla="*/ 38100 h 137159"/>
                  <a:gd name="connsiteX3" fmla="*/ 58103 w 120015"/>
                  <a:gd name="connsiteY3" fmla="*/ 20955 h 137159"/>
                  <a:gd name="connsiteX4" fmla="*/ 89535 w 120015"/>
                  <a:gd name="connsiteY4" fmla="*/ 43815 h 137159"/>
                  <a:gd name="connsiteX5" fmla="*/ 117157 w 120015"/>
                  <a:gd name="connsiteY5" fmla="*/ 43815 h 137159"/>
                  <a:gd name="connsiteX6" fmla="*/ 117157 w 120015"/>
                  <a:gd name="connsiteY6" fmla="*/ 40005 h 137159"/>
                  <a:gd name="connsiteX7" fmla="*/ 57150 w 120015"/>
                  <a:gd name="connsiteY7" fmla="*/ 0 h 137159"/>
                  <a:gd name="connsiteX8" fmla="*/ 953 w 120015"/>
                  <a:gd name="connsiteY8" fmla="*/ 39053 h 137159"/>
                  <a:gd name="connsiteX9" fmla="*/ 42863 w 120015"/>
                  <a:gd name="connsiteY9" fmla="*/ 77153 h 137159"/>
                  <a:gd name="connsiteX10" fmla="*/ 67628 w 120015"/>
                  <a:gd name="connsiteY10" fmla="*/ 80963 h 137159"/>
                  <a:gd name="connsiteX11" fmla="*/ 90488 w 120015"/>
                  <a:gd name="connsiteY11" fmla="*/ 98107 h 137159"/>
                  <a:gd name="connsiteX12" fmla="*/ 61913 w 120015"/>
                  <a:gd name="connsiteY12" fmla="*/ 116205 h 137159"/>
                  <a:gd name="connsiteX13" fmla="*/ 27622 w 120015"/>
                  <a:gd name="connsiteY13" fmla="*/ 92392 h 137159"/>
                  <a:gd name="connsiteX14" fmla="*/ 0 w 120015"/>
                  <a:gd name="connsiteY14" fmla="*/ 92392 h 137159"/>
                  <a:gd name="connsiteX15" fmla="*/ 0 w 120015"/>
                  <a:gd name="connsiteY15" fmla="*/ 96203 h 137159"/>
                  <a:gd name="connsiteX16" fmla="*/ 62865 w 120015"/>
                  <a:gd name="connsiteY16" fmla="*/ 137160 h 137159"/>
                  <a:gd name="connsiteX17" fmla="*/ 120015 w 120015"/>
                  <a:gd name="connsiteY17" fmla="*/ 96203 h 137159"/>
                  <a:gd name="connsiteX18" fmla="*/ 75247 w 120015"/>
                  <a:gd name="connsiteY18" fmla="*/ 58103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0015" h="137159">
                    <a:moveTo>
                      <a:pt x="75247" y="58103"/>
                    </a:moveTo>
                    <a:lnTo>
                      <a:pt x="50482" y="54292"/>
                    </a:lnTo>
                    <a:cubicBezTo>
                      <a:pt x="39053" y="52388"/>
                      <a:pt x="30480" y="48578"/>
                      <a:pt x="30480" y="38100"/>
                    </a:cubicBezTo>
                    <a:cubicBezTo>
                      <a:pt x="30480" y="27622"/>
                      <a:pt x="40005" y="20955"/>
                      <a:pt x="58103" y="20955"/>
                    </a:cubicBezTo>
                    <a:cubicBezTo>
                      <a:pt x="76200" y="20955"/>
                      <a:pt x="88582" y="27622"/>
                      <a:pt x="89535" y="43815"/>
                    </a:cubicBezTo>
                    <a:lnTo>
                      <a:pt x="117157" y="43815"/>
                    </a:lnTo>
                    <a:lnTo>
                      <a:pt x="117157" y="40005"/>
                    </a:lnTo>
                    <a:cubicBezTo>
                      <a:pt x="114300" y="16192"/>
                      <a:pt x="93345" y="0"/>
                      <a:pt x="57150" y="0"/>
                    </a:cubicBezTo>
                    <a:cubicBezTo>
                      <a:pt x="20955" y="0"/>
                      <a:pt x="953" y="16192"/>
                      <a:pt x="953" y="39053"/>
                    </a:cubicBezTo>
                    <a:cubicBezTo>
                      <a:pt x="953" y="61913"/>
                      <a:pt x="18097" y="73342"/>
                      <a:pt x="42863" y="77153"/>
                    </a:cubicBezTo>
                    <a:lnTo>
                      <a:pt x="67628" y="80963"/>
                    </a:lnTo>
                    <a:cubicBezTo>
                      <a:pt x="81915" y="82867"/>
                      <a:pt x="90488" y="87630"/>
                      <a:pt x="90488" y="98107"/>
                    </a:cubicBezTo>
                    <a:cubicBezTo>
                      <a:pt x="90488" y="109538"/>
                      <a:pt x="80963" y="116205"/>
                      <a:pt x="61913" y="116205"/>
                    </a:cubicBezTo>
                    <a:cubicBezTo>
                      <a:pt x="42863" y="116205"/>
                      <a:pt x="28575" y="108585"/>
                      <a:pt x="27622" y="92392"/>
                    </a:cubicBezTo>
                    <a:lnTo>
                      <a:pt x="0" y="92392"/>
                    </a:lnTo>
                    <a:lnTo>
                      <a:pt x="0" y="96203"/>
                    </a:lnTo>
                    <a:cubicBezTo>
                      <a:pt x="1905" y="120015"/>
                      <a:pt x="23813" y="137160"/>
                      <a:pt x="62865" y="137160"/>
                    </a:cubicBezTo>
                    <a:cubicBezTo>
                      <a:pt x="100965" y="137160"/>
                      <a:pt x="120015" y="120015"/>
                      <a:pt x="120015" y="96203"/>
                    </a:cubicBezTo>
                    <a:cubicBezTo>
                      <a:pt x="119063" y="72390"/>
                      <a:pt x="100965" y="62865"/>
                      <a:pt x="75247" y="58103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4" name="Free-form: Shape 13">
                <a:extLst>
                  <a:ext uri="{FF2B5EF4-FFF2-40B4-BE49-F238E27FC236}">
                    <a16:creationId xmlns:a16="http://schemas.microsoft.com/office/drawing/2014/main" id="{9FD7F094-8C7D-89DF-8552-F6D6AF0A1726}"/>
                  </a:ext>
                </a:extLst>
              </p:cNvPr>
              <p:cNvSpPr/>
              <p:nvPr/>
            </p:nvSpPr>
            <p:spPr>
              <a:xfrm>
                <a:off x="12330112" y="6759892"/>
                <a:ext cx="93344" cy="166687"/>
              </a:xfrm>
              <a:custGeom>
                <a:avLst/>
                <a:gdLst>
                  <a:gd name="connsiteX0" fmla="*/ 56197 w 93344"/>
                  <a:gd name="connsiteY0" fmla="*/ 142875 h 166687"/>
                  <a:gd name="connsiteX1" fmla="*/ 56197 w 93344"/>
                  <a:gd name="connsiteY1" fmla="*/ 56197 h 166687"/>
                  <a:gd name="connsiteX2" fmla="*/ 93345 w 93344"/>
                  <a:gd name="connsiteY2" fmla="*/ 56197 h 166687"/>
                  <a:gd name="connsiteX3" fmla="*/ 93345 w 93344"/>
                  <a:gd name="connsiteY3" fmla="*/ 35242 h 166687"/>
                  <a:gd name="connsiteX4" fmla="*/ 56197 w 93344"/>
                  <a:gd name="connsiteY4" fmla="*/ 35242 h 166687"/>
                  <a:gd name="connsiteX5" fmla="*/ 56197 w 93344"/>
                  <a:gd name="connsiteY5" fmla="*/ 0 h 166687"/>
                  <a:gd name="connsiteX6" fmla="*/ 25718 w 93344"/>
                  <a:gd name="connsiteY6" fmla="*/ 0 h 166687"/>
                  <a:gd name="connsiteX7" fmla="*/ 25718 w 93344"/>
                  <a:gd name="connsiteY7" fmla="*/ 35242 h 166687"/>
                  <a:gd name="connsiteX8" fmla="*/ 0 w 93344"/>
                  <a:gd name="connsiteY8" fmla="*/ 35242 h 166687"/>
                  <a:gd name="connsiteX9" fmla="*/ 0 w 93344"/>
                  <a:gd name="connsiteY9" fmla="*/ 56197 h 166687"/>
                  <a:gd name="connsiteX10" fmla="*/ 25718 w 93344"/>
                  <a:gd name="connsiteY10" fmla="*/ 56197 h 166687"/>
                  <a:gd name="connsiteX11" fmla="*/ 25718 w 93344"/>
                  <a:gd name="connsiteY11" fmla="*/ 132397 h 166687"/>
                  <a:gd name="connsiteX12" fmla="*/ 61913 w 93344"/>
                  <a:gd name="connsiteY12" fmla="*/ 166688 h 166687"/>
                  <a:gd name="connsiteX13" fmla="*/ 92393 w 93344"/>
                  <a:gd name="connsiteY13" fmla="*/ 166688 h 166687"/>
                  <a:gd name="connsiteX14" fmla="*/ 92393 w 93344"/>
                  <a:gd name="connsiteY14" fmla="*/ 144780 h 166687"/>
                  <a:gd name="connsiteX15" fmla="*/ 58103 w 93344"/>
                  <a:gd name="connsiteY15" fmla="*/ 144780 h 166687"/>
                  <a:gd name="connsiteX16" fmla="*/ 56197 w 93344"/>
                  <a:gd name="connsiteY16" fmla="*/ 142875 h 166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344" h="166687">
                    <a:moveTo>
                      <a:pt x="56197" y="142875"/>
                    </a:moveTo>
                    <a:lnTo>
                      <a:pt x="56197" y="56197"/>
                    </a:lnTo>
                    <a:lnTo>
                      <a:pt x="93345" y="56197"/>
                    </a:lnTo>
                    <a:lnTo>
                      <a:pt x="93345" y="35242"/>
                    </a:lnTo>
                    <a:lnTo>
                      <a:pt x="56197" y="35242"/>
                    </a:lnTo>
                    <a:lnTo>
                      <a:pt x="56197" y="0"/>
                    </a:lnTo>
                    <a:lnTo>
                      <a:pt x="25718" y="0"/>
                    </a:lnTo>
                    <a:lnTo>
                      <a:pt x="25718" y="35242"/>
                    </a:lnTo>
                    <a:lnTo>
                      <a:pt x="0" y="35242"/>
                    </a:lnTo>
                    <a:lnTo>
                      <a:pt x="0" y="56197"/>
                    </a:lnTo>
                    <a:lnTo>
                      <a:pt x="25718" y="56197"/>
                    </a:lnTo>
                    <a:lnTo>
                      <a:pt x="25718" y="132397"/>
                    </a:lnTo>
                    <a:cubicBezTo>
                      <a:pt x="25718" y="155257"/>
                      <a:pt x="39053" y="166688"/>
                      <a:pt x="61913" y="166688"/>
                    </a:cubicBezTo>
                    <a:lnTo>
                      <a:pt x="92393" y="166688"/>
                    </a:lnTo>
                    <a:lnTo>
                      <a:pt x="92393" y="144780"/>
                    </a:lnTo>
                    <a:lnTo>
                      <a:pt x="58103" y="144780"/>
                    </a:lnTo>
                    <a:lnTo>
                      <a:pt x="56197" y="1428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5" name="Free-form: Shape 14">
                <a:extLst>
                  <a:ext uri="{FF2B5EF4-FFF2-40B4-BE49-F238E27FC236}">
                    <a16:creationId xmlns:a16="http://schemas.microsoft.com/office/drawing/2014/main" id="{2A498ED8-C6FD-73A1-04FE-03DB53AE6517}"/>
                  </a:ext>
                </a:extLst>
              </p:cNvPr>
              <p:cNvSpPr/>
              <p:nvPr/>
            </p:nvSpPr>
            <p:spPr>
              <a:xfrm>
                <a:off x="12424409" y="6791325"/>
                <a:ext cx="137159" cy="139065"/>
              </a:xfrm>
              <a:custGeom>
                <a:avLst/>
                <a:gdLst>
                  <a:gd name="connsiteX0" fmla="*/ 68580 w 137159"/>
                  <a:gd name="connsiteY0" fmla="*/ 116205 h 139065"/>
                  <a:gd name="connsiteX1" fmla="*/ 30480 w 137159"/>
                  <a:gd name="connsiteY1" fmla="*/ 69532 h 139065"/>
                  <a:gd name="connsiteX2" fmla="*/ 68580 w 137159"/>
                  <a:gd name="connsiteY2" fmla="*/ 22860 h 139065"/>
                  <a:gd name="connsiteX3" fmla="*/ 106680 w 137159"/>
                  <a:gd name="connsiteY3" fmla="*/ 69532 h 139065"/>
                  <a:gd name="connsiteX4" fmla="*/ 68580 w 137159"/>
                  <a:gd name="connsiteY4" fmla="*/ 116205 h 139065"/>
                  <a:gd name="connsiteX5" fmla="*/ 68580 w 137159"/>
                  <a:gd name="connsiteY5" fmla="*/ 0 h 139065"/>
                  <a:gd name="connsiteX6" fmla="*/ 0 w 137159"/>
                  <a:gd name="connsiteY6" fmla="*/ 69532 h 139065"/>
                  <a:gd name="connsiteX7" fmla="*/ 68580 w 137159"/>
                  <a:gd name="connsiteY7" fmla="*/ 139065 h 139065"/>
                  <a:gd name="connsiteX8" fmla="*/ 137160 w 137159"/>
                  <a:gd name="connsiteY8" fmla="*/ 69532 h 139065"/>
                  <a:gd name="connsiteX9" fmla="*/ 68580 w 137159"/>
                  <a:gd name="connsiteY9" fmla="*/ 0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139065">
                    <a:moveTo>
                      <a:pt x="68580" y="116205"/>
                    </a:moveTo>
                    <a:cubicBezTo>
                      <a:pt x="45720" y="116205"/>
                      <a:pt x="30480" y="100013"/>
                      <a:pt x="30480" y="69532"/>
                    </a:cubicBezTo>
                    <a:cubicBezTo>
                      <a:pt x="30480" y="39053"/>
                      <a:pt x="45720" y="22860"/>
                      <a:pt x="68580" y="22860"/>
                    </a:cubicBezTo>
                    <a:cubicBezTo>
                      <a:pt x="91440" y="22860"/>
                      <a:pt x="106680" y="39053"/>
                      <a:pt x="106680" y="69532"/>
                    </a:cubicBezTo>
                    <a:cubicBezTo>
                      <a:pt x="106680" y="100013"/>
                      <a:pt x="91440" y="116205"/>
                      <a:pt x="68580" y="116205"/>
                    </a:cubicBezTo>
                    <a:moveTo>
                      <a:pt x="68580" y="0"/>
                    </a:moveTo>
                    <a:cubicBezTo>
                      <a:pt x="28575" y="0"/>
                      <a:pt x="0" y="23813"/>
                      <a:pt x="0" y="69532"/>
                    </a:cubicBezTo>
                    <a:cubicBezTo>
                      <a:pt x="0" y="114300"/>
                      <a:pt x="28575" y="139065"/>
                      <a:pt x="68580" y="139065"/>
                    </a:cubicBezTo>
                    <a:cubicBezTo>
                      <a:pt x="108585" y="139065"/>
                      <a:pt x="137160" y="115253"/>
                      <a:pt x="137160" y="69532"/>
                    </a:cubicBezTo>
                    <a:cubicBezTo>
                      <a:pt x="137160" y="23813"/>
                      <a:pt x="108585" y="0"/>
                      <a:pt x="68580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6" name="Free-form: Shape 15">
                <a:extLst>
                  <a:ext uri="{FF2B5EF4-FFF2-40B4-BE49-F238E27FC236}">
                    <a16:creationId xmlns:a16="http://schemas.microsoft.com/office/drawing/2014/main" id="{EF9BCAAE-2ABF-0942-DD54-4FDDDA730E2C}"/>
                  </a:ext>
                </a:extLst>
              </p:cNvPr>
              <p:cNvSpPr/>
              <p:nvPr/>
            </p:nvSpPr>
            <p:spPr>
              <a:xfrm>
                <a:off x="12568237" y="6791325"/>
                <a:ext cx="123857" cy="135255"/>
              </a:xfrm>
              <a:custGeom>
                <a:avLst/>
                <a:gdLst>
                  <a:gd name="connsiteX0" fmla="*/ 75247 w 123857"/>
                  <a:gd name="connsiteY0" fmla="*/ 0 h 135255"/>
                  <a:gd name="connsiteX1" fmla="*/ 32385 w 123857"/>
                  <a:gd name="connsiteY1" fmla="*/ 20003 h 135255"/>
                  <a:gd name="connsiteX2" fmla="*/ 29528 w 123857"/>
                  <a:gd name="connsiteY2" fmla="*/ 20003 h 135255"/>
                  <a:gd name="connsiteX3" fmla="*/ 29528 w 123857"/>
                  <a:gd name="connsiteY3" fmla="*/ 2857 h 135255"/>
                  <a:gd name="connsiteX4" fmla="*/ 0 w 123857"/>
                  <a:gd name="connsiteY4" fmla="*/ 2857 h 135255"/>
                  <a:gd name="connsiteX5" fmla="*/ 0 w 123857"/>
                  <a:gd name="connsiteY5" fmla="*/ 135255 h 135255"/>
                  <a:gd name="connsiteX6" fmla="*/ 30480 w 123857"/>
                  <a:gd name="connsiteY6" fmla="*/ 135255 h 135255"/>
                  <a:gd name="connsiteX7" fmla="*/ 30480 w 123857"/>
                  <a:gd name="connsiteY7" fmla="*/ 60960 h 135255"/>
                  <a:gd name="connsiteX8" fmla="*/ 65722 w 123857"/>
                  <a:gd name="connsiteY8" fmla="*/ 22860 h 135255"/>
                  <a:gd name="connsiteX9" fmla="*/ 93345 w 123857"/>
                  <a:gd name="connsiteY9" fmla="*/ 50482 h 135255"/>
                  <a:gd name="connsiteX10" fmla="*/ 93345 w 123857"/>
                  <a:gd name="connsiteY10" fmla="*/ 134303 h 135255"/>
                  <a:gd name="connsiteX11" fmla="*/ 123825 w 123857"/>
                  <a:gd name="connsiteY11" fmla="*/ 134303 h 135255"/>
                  <a:gd name="connsiteX12" fmla="*/ 123825 w 123857"/>
                  <a:gd name="connsiteY12" fmla="*/ 47625 h 135255"/>
                  <a:gd name="connsiteX13" fmla="*/ 75247 w 123857"/>
                  <a:gd name="connsiteY13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857" h="135255">
                    <a:moveTo>
                      <a:pt x="75247" y="0"/>
                    </a:moveTo>
                    <a:cubicBezTo>
                      <a:pt x="47625" y="0"/>
                      <a:pt x="37147" y="12382"/>
                      <a:pt x="32385" y="20003"/>
                    </a:cubicBezTo>
                    <a:lnTo>
                      <a:pt x="29528" y="20003"/>
                    </a:lnTo>
                    <a:lnTo>
                      <a:pt x="29528" y="2857"/>
                    </a:lnTo>
                    <a:lnTo>
                      <a:pt x="0" y="2857"/>
                    </a:lnTo>
                    <a:lnTo>
                      <a:pt x="0" y="135255"/>
                    </a:lnTo>
                    <a:lnTo>
                      <a:pt x="30480" y="135255"/>
                    </a:lnTo>
                    <a:lnTo>
                      <a:pt x="30480" y="60960"/>
                    </a:lnTo>
                    <a:cubicBezTo>
                      <a:pt x="30480" y="34290"/>
                      <a:pt x="46672" y="22860"/>
                      <a:pt x="65722" y="22860"/>
                    </a:cubicBezTo>
                    <a:cubicBezTo>
                      <a:pt x="82868" y="22860"/>
                      <a:pt x="93345" y="31432"/>
                      <a:pt x="93345" y="50482"/>
                    </a:cubicBezTo>
                    <a:lnTo>
                      <a:pt x="93345" y="134303"/>
                    </a:lnTo>
                    <a:lnTo>
                      <a:pt x="123825" y="134303"/>
                    </a:lnTo>
                    <a:lnTo>
                      <a:pt x="123825" y="47625"/>
                    </a:lnTo>
                    <a:cubicBezTo>
                      <a:pt x="124778" y="16193"/>
                      <a:pt x="104775" y="0"/>
                      <a:pt x="75247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  <p:sp>
            <p:nvSpPr>
              <p:cNvPr id="17" name="Free-form: Shape 16">
                <a:extLst>
                  <a:ext uri="{FF2B5EF4-FFF2-40B4-BE49-F238E27FC236}">
                    <a16:creationId xmlns:a16="http://schemas.microsoft.com/office/drawing/2014/main" id="{6774AE6D-EBAD-4553-23AE-5EC5D9A0C4DA}"/>
                  </a:ext>
                </a:extLst>
              </p:cNvPr>
              <p:cNvSpPr/>
              <p:nvPr/>
            </p:nvSpPr>
            <p:spPr>
              <a:xfrm>
                <a:off x="12700634" y="6791325"/>
                <a:ext cx="129540" cy="139065"/>
              </a:xfrm>
              <a:custGeom>
                <a:avLst/>
                <a:gdLst>
                  <a:gd name="connsiteX0" fmla="*/ 29528 w 129540"/>
                  <a:gd name="connsiteY0" fmla="*/ 55245 h 139065"/>
                  <a:gd name="connsiteX1" fmla="*/ 65722 w 129540"/>
                  <a:gd name="connsiteY1" fmla="*/ 20955 h 139065"/>
                  <a:gd name="connsiteX2" fmla="*/ 100013 w 129540"/>
                  <a:gd name="connsiteY2" fmla="*/ 55245 h 139065"/>
                  <a:gd name="connsiteX3" fmla="*/ 29528 w 129540"/>
                  <a:gd name="connsiteY3" fmla="*/ 55245 h 139065"/>
                  <a:gd name="connsiteX4" fmla="*/ 129540 w 129540"/>
                  <a:gd name="connsiteY4" fmla="*/ 63818 h 139065"/>
                  <a:gd name="connsiteX5" fmla="*/ 66675 w 129540"/>
                  <a:gd name="connsiteY5" fmla="*/ 0 h 139065"/>
                  <a:gd name="connsiteX6" fmla="*/ 0 w 129540"/>
                  <a:gd name="connsiteY6" fmla="*/ 69532 h 139065"/>
                  <a:gd name="connsiteX7" fmla="*/ 66675 w 129540"/>
                  <a:gd name="connsiteY7" fmla="*/ 139065 h 139065"/>
                  <a:gd name="connsiteX8" fmla="*/ 126683 w 129540"/>
                  <a:gd name="connsiteY8" fmla="*/ 98107 h 139065"/>
                  <a:gd name="connsiteX9" fmla="*/ 126683 w 129540"/>
                  <a:gd name="connsiteY9" fmla="*/ 94297 h 139065"/>
                  <a:gd name="connsiteX10" fmla="*/ 100013 w 129540"/>
                  <a:gd name="connsiteY10" fmla="*/ 94297 h 139065"/>
                  <a:gd name="connsiteX11" fmla="*/ 66675 w 129540"/>
                  <a:gd name="connsiteY11" fmla="*/ 117157 h 139065"/>
                  <a:gd name="connsiteX12" fmla="*/ 29528 w 129540"/>
                  <a:gd name="connsiteY12" fmla="*/ 77153 h 139065"/>
                  <a:gd name="connsiteX13" fmla="*/ 129540 w 129540"/>
                  <a:gd name="connsiteY13" fmla="*/ 77153 h 139065"/>
                  <a:gd name="connsiteX14" fmla="*/ 129540 w 129540"/>
                  <a:gd name="connsiteY14" fmla="*/ 63818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540" h="139065">
                    <a:moveTo>
                      <a:pt x="29528" y="55245"/>
                    </a:moveTo>
                    <a:cubicBezTo>
                      <a:pt x="31433" y="35243"/>
                      <a:pt x="43815" y="20955"/>
                      <a:pt x="65722" y="20955"/>
                    </a:cubicBezTo>
                    <a:cubicBezTo>
                      <a:pt x="88583" y="20955"/>
                      <a:pt x="100013" y="35243"/>
                      <a:pt x="100013" y="55245"/>
                    </a:cubicBezTo>
                    <a:lnTo>
                      <a:pt x="29528" y="55245"/>
                    </a:lnTo>
                    <a:close/>
                    <a:moveTo>
                      <a:pt x="129540" y="63818"/>
                    </a:moveTo>
                    <a:cubicBezTo>
                      <a:pt x="129540" y="23813"/>
                      <a:pt x="106680" y="0"/>
                      <a:pt x="66675" y="0"/>
                    </a:cubicBezTo>
                    <a:cubicBezTo>
                      <a:pt x="26670" y="0"/>
                      <a:pt x="0" y="23813"/>
                      <a:pt x="0" y="69532"/>
                    </a:cubicBezTo>
                    <a:cubicBezTo>
                      <a:pt x="0" y="115253"/>
                      <a:pt x="26670" y="139065"/>
                      <a:pt x="66675" y="139065"/>
                    </a:cubicBezTo>
                    <a:cubicBezTo>
                      <a:pt x="106680" y="139065"/>
                      <a:pt x="122872" y="115253"/>
                      <a:pt x="126683" y="98107"/>
                    </a:cubicBezTo>
                    <a:lnTo>
                      <a:pt x="126683" y="94297"/>
                    </a:lnTo>
                    <a:lnTo>
                      <a:pt x="100013" y="94297"/>
                    </a:lnTo>
                    <a:cubicBezTo>
                      <a:pt x="98108" y="104775"/>
                      <a:pt x="88583" y="117157"/>
                      <a:pt x="66675" y="117157"/>
                    </a:cubicBezTo>
                    <a:cubicBezTo>
                      <a:pt x="43815" y="117157"/>
                      <a:pt x="30480" y="100965"/>
                      <a:pt x="29528" y="77153"/>
                    </a:cubicBezTo>
                    <a:lnTo>
                      <a:pt x="129540" y="77153"/>
                    </a:lnTo>
                    <a:lnTo>
                      <a:pt x="129540" y="63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900"/>
              </a:p>
            </p:txBody>
          </p:sp>
        </p:grpSp>
      </p:grp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11BA1E65-92F4-BD8C-7BEB-66807EFE3483}"/>
              </a:ext>
            </a:extLst>
          </p:cNvPr>
          <p:cNvSpPr>
            <a:spLocks noChangeAspect="1"/>
          </p:cNvSpPr>
          <p:nvPr/>
        </p:nvSpPr>
        <p:spPr>
          <a:xfrm>
            <a:off x="8129016" y="2016252"/>
            <a:ext cx="3118104" cy="3511374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9A54DA9-46B4-6A65-D601-60E6B6A7B6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82" y="3846600"/>
            <a:ext cx="3118104" cy="1073219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F0FFE17C-3BCC-E0FA-33A5-355AA934B1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382" y="273600"/>
            <a:ext cx="3118104" cy="168966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z="900">
                <a:solidFill>
                  <a:schemeClr val="tx1"/>
                </a:solidFill>
                <a:latin typeface="FK Grotesk SemiMono Medium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FAEFD7-F57B-2C82-BB09-C04D3A1944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56032" y="6350508"/>
            <a:ext cx="1339596" cy="251244"/>
            <a:chOff x="11563349" y="6740419"/>
            <a:chExt cx="1266825" cy="237595"/>
          </a:xfrm>
          <a:solidFill>
            <a:schemeClr val="tx1"/>
          </a:solidFill>
        </p:grpSpPr>
        <p:sp>
          <p:nvSpPr>
            <p:cNvPr id="18" name="Free-form: Shape 7">
              <a:extLst>
                <a:ext uri="{FF2B5EF4-FFF2-40B4-BE49-F238E27FC236}">
                  <a16:creationId xmlns:a16="http://schemas.microsoft.com/office/drawing/2014/main" id="{3C2EF742-C6DF-E2DE-DD93-FCF4D6C1FF76}"/>
                </a:ext>
              </a:extLst>
            </p:cNvPr>
            <p:cNvSpPr/>
            <p:nvPr/>
          </p:nvSpPr>
          <p:spPr>
            <a:xfrm>
              <a:off x="11563349" y="6740419"/>
              <a:ext cx="207262" cy="233403"/>
            </a:xfrm>
            <a:custGeom>
              <a:avLst/>
              <a:gdLst>
                <a:gd name="connsiteX0" fmla="*/ 169545 w 207262"/>
                <a:gd name="connsiteY0" fmla="*/ 103293 h 233403"/>
                <a:gd name="connsiteX1" fmla="*/ 167640 w 207262"/>
                <a:gd name="connsiteY1" fmla="*/ 106151 h 233403"/>
                <a:gd name="connsiteX2" fmla="*/ 74295 w 207262"/>
                <a:gd name="connsiteY2" fmla="*/ 51858 h 233403"/>
                <a:gd name="connsiteX3" fmla="*/ 76200 w 207262"/>
                <a:gd name="connsiteY3" fmla="*/ 49001 h 233403"/>
                <a:gd name="connsiteX4" fmla="*/ 92392 w 207262"/>
                <a:gd name="connsiteY4" fmla="*/ 21378 h 233403"/>
                <a:gd name="connsiteX5" fmla="*/ 93345 w 207262"/>
                <a:gd name="connsiteY5" fmla="*/ 22331 h 233403"/>
                <a:gd name="connsiteX6" fmla="*/ 186690 w 207262"/>
                <a:gd name="connsiteY6" fmla="*/ 75671 h 233403"/>
                <a:gd name="connsiteX7" fmla="*/ 169545 w 207262"/>
                <a:gd name="connsiteY7" fmla="*/ 103293 h 233403"/>
                <a:gd name="connsiteX8" fmla="*/ 76200 w 207262"/>
                <a:gd name="connsiteY8" fmla="*/ 154728 h 233403"/>
                <a:gd name="connsiteX9" fmla="*/ 76200 w 207262"/>
                <a:gd name="connsiteY9" fmla="*/ 78528 h 233403"/>
                <a:gd name="connsiteX10" fmla="*/ 141922 w 207262"/>
                <a:gd name="connsiteY10" fmla="*/ 116628 h 233403"/>
                <a:gd name="connsiteX11" fmla="*/ 76200 w 207262"/>
                <a:gd name="connsiteY11" fmla="*/ 154728 h 233403"/>
                <a:gd name="connsiteX12" fmla="*/ 90488 w 207262"/>
                <a:gd name="connsiteY12" fmla="*/ 210926 h 233403"/>
                <a:gd name="connsiteX13" fmla="*/ 73342 w 207262"/>
                <a:gd name="connsiteY13" fmla="*/ 180446 h 233403"/>
                <a:gd name="connsiteX14" fmla="*/ 74295 w 207262"/>
                <a:gd name="connsiteY14" fmla="*/ 179493 h 233403"/>
                <a:gd name="connsiteX15" fmla="*/ 166688 w 207262"/>
                <a:gd name="connsiteY15" fmla="*/ 126153 h 233403"/>
                <a:gd name="connsiteX16" fmla="*/ 168592 w 207262"/>
                <a:gd name="connsiteY16" fmla="*/ 129963 h 233403"/>
                <a:gd name="connsiteX17" fmla="*/ 183833 w 207262"/>
                <a:gd name="connsiteY17" fmla="*/ 156633 h 233403"/>
                <a:gd name="connsiteX18" fmla="*/ 90488 w 207262"/>
                <a:gd name="connsiteY18" fmla="*/ 210926 h 233403"/>
                <a:gd name="connsiteX19" fmla="*/ 55245 w 207262"/>
                <a:gd name="connsiteY19" fmla="*/ 170921 h 233403"/>
                <a:gd name="connsiteX20" fmla="*/ 20003 w 207262"/>
                <a:gd name="connsiteY20" fmla="*/ 170921 h 233403"/>
                <a:gd name="connsiteX21" fmla="*/ 20003 w 207262"/>
                <a:gd name="connsiteY21" fmla="*/ 62336 h 233403"/>
                <a:gd name="connsiteX22" fmla="*/ 55245 w 207262"/>
                <a:gd name="connsiteY22" fmla="*/ 62336 h 233403"/>
                <a:gd name="connsiteX23" fmla="*/ 55245 w 207262"/>
                <a:gd name="connsiteY23" fmla="*/ 170921 h 233403"/>
                <a:gd name="connsiteX24" fmla="*/ 206692 w 207262"/>
                <a:gd name="connsiteY24" fmla="*/ 162348 h 233403"/>
                <a:gd name="connsiteX25" fmla="*/ 204788 w 207262"/>
                <a:gd name="connsiteY25" fmla="*/ 149966 h 233403"/>
                <a:gd name="connsiteX26" fmla="*/ 185738 w 207262"/>
                <a:gd name="connsiteY26" fmla="*/ 116628 h 233403"/>
                <a:gd name="connsiteX27" fmla="*/ 204788 w 207262"/>
                <a:gd name="connsiteY27" fmla="*/ 83291 h 233403"/>
                <a:gd name="connsiteX28" fmla="*/ 206692 w 207262"/>
                <a:gd name="connsiteY28" fmla="*/ 70908 h 233403"/>
                <a:gd name="connsiteX29" fmla="*/ 199072 w 207262"/>
                <a:gd name="connsiteY29" fmla="*/ 61383 h 233403"/>
                <a:gd name="connsiteX30" fmla="*/ 97155 w 207262"/>
                <a:gd name="connsiteY30" fmla="*/ 2328 h 233403"/>
                <a:gd name="connsiteX31" fmla="*/ 75247 w 207262"/>
                <a:gd name="connsiteY31" fmla="*/ 8043 h 233403"/>
                <a:gd name="connsiteX32" fmla="*/ 56197 w 207262"/>
                <a:gd name="connsiteY32" fmla="*/ 41381 h 233403"/>
                <a:gd name="connsiteX33" fmla="*/ 16192 w 207262"/>
                <a:gd name="connsiteY33" fmla="*/ 41381 h 233403"/>
                <a:gd name="connsiteX34" fmla="*/ 16192 w 207262"/>
                <a:gd name="connsiteY34" fmla="*/ 41381 h 233403"/>
                <a:gd name="connsiteX35" fmla="*/ 4763 w 207262"/>
                <a:gd name="connsiteY35" fmla="*/ 46143 h 233403"/>
                <a:gd name="connsiteX36" fmla="*/ 0 w 207262"/>
                <a:gd name="connsiteY36" fmla="*/ 57573 h 233403"/>
                <a:gd name="connsiteX37" fmla="*/ 0 w 207262"/>
                <a:gd name="connsiteY37" fmla="*/ 175683 h 233403"/>
                <a:gd name="connsiteX38" fmla="*/ 16192 w 207262"/>
                <a:gd name="connsiteY38" fmla="*/ 191876 h 233403"/>
                <a:gd name="connsiteX39" fmla="*/ 56197 w 207262"/>
                <a:gd name="connsiteY39" fmla="*/ 191876 h 233403"/>
                <a:gd name="connsiteX40" fmla="*/ 75247 w 207262"/>
                <a:gd name="connsiteY40" fmla="*/ 225213 h 233403"/>
                <a:gd name="connsiteX41" fmla="*/ 84772 w 207262"/>
                <a:gd name="connsiteY41" fmla="*/ 232833 h 233403"/>
                <a:gd name="connsiteX42" fmla="*/ 97155 w 207262"/>
                <a:gd name="connsiteY42" fmla="*/ 230928 h 233403"/>
                <a:gd name="connsiteX43" fmla="*/ 199072 w 207262"/>
                <a:gd name="connsiteY43" fmla="*/ 171873 h 233403"/>
                <a:gd name="connsiteX44" fmla="*/ 206692 w 207262"/>
                <a:gd name="connsiteY44" fmla="*/ 162348 h 2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262" h="233403">
                  <a:moveTo>
                    <a:pt x="169545" y="103293"/>
                  </a:moveTo>
                  <a:lnTo>
                    <a:pt x="167640" y="106151"/>
                  </a:lnTo>
                  <a:lnTo>
                    <a:pt x="74295" y="51858"/>
                  </a:lnTo>
                  <a:lnTo>
                    <a:pt x="76200" y="49001"/>
                  </a:lnTo>
                  <a:lnTo>
                    <a:pt x="92392" y="21378"/>
                  </a:lnTo>
                  <a:lnTo>
                    <a:pt x="93345" y="22331"/>
                  </a:lnTo>
                  <a:lnTo>
                    <a:pt x="186690" y="75671"/>
                  </a:lnTo>
                  <a:lnTo>
                    <a:pt x="169545" y="103293"/>
                  </a:lnTo>
                  <a:close/>
                  <a:moveTo>
                    <a:pt x="76200" y="154728"/>
                  </a:moveTo>
                  <a:lnTo>
                    <a:pt x="76200" y="78528"/>
                  </a:lnTo>
                  <a:lnTo>
                    <a:pt x="141922" y="116628"/>
                  </a:lnTo>
                  <a:lnTo>
                    <a:pt x="76200" y="154728"/>
                  </a:lnTo>
                  <a:close/>
                  <a:moveTo>
                    <a:pt x="90488" y="210926"/>
                  </a:moveTo>
                  <a:lnTo>
                    <a:pt x="73342" y="180446"/>
                  </a:lnTo>
                  <a:lnTo>
                    <a:pt x="74295" y="179493"/>
                  </a:lnTo>
                  <a:lnTo>
                    <a:pt x="166688" y="126153"/>
                  </a:lnTo>
                  <a:lnTo>
                    <a:pt x="168592" y="129963"/>
                  </a:lnTo>
                  <a:lnTo>
                    <a:pt x="183833" y="156633"/>
                  </a:lnTo>
                  <a:lnTo>
                    <a:pt x="90488" y="210926"/>
                  </a:lnTo>
                  <a:close/>
                  <a:moveTo>
                    <a:pt x="55245" y="170921"/>
                  </a:moveTo>
                  <a:lnTo>
                    <a:pt x="20003" y="170921"/>
                  </a:lnTo>
                  <a:lnTo>
                    <a:pt x="20003" y="62336"/>
                  </a:lnTo>
                  <a:lnTo>
                    <a:pt x="55245" y="62336"/>
                  </a:lnTo>
                  <a:lnTo>
                    <a:pt x="55245" y="170921"/>
                  </a:lnTo>
                  <a:close/>
                  <a:moveTo>
                    <a:pt x="206692" y="162348"/>
                  </a:moveTo>
                  <a:cubicBezTo>
                    <a:pt x="207645" y="158538"/>
                    <a:pt x="207645" y="153776"/>
                    <a:pt x="204788" y="149966"/>
                  </a:cubicBezTo>
                  <a:lnTo>
                    <a:pt x="185738" y="116628"/>
                  </a:lnTo>
                  <a:lnTo>
                    <a:pt x="204788" y="83291"/>
                  </a:lnTo>
                  <a:cubicBezTo>
                    <a:pt x="206692" y="79481"/>
                    <a:pt x="207645" y="75671"/>
                    <a:pt x="206692" y="70908"/>
                  </a:cubicBezTo>
                  <a:cubicBezTo>
                    <a:pt x="205740" y="67098"/>
                    <a:pt x="202883" y="63288"/>
                    <a:pt x="199072" y="61383"/>
                  </a:cubicBezTo>
                  <a:lnTo>
                    <a:pt x="97155" y="2328"/>
                  </a:lnTo>
                  <a:cubicBezTo>
                    <a:pt x="89535" y="-2434"/>
                    <a:pt x="80010" y="423"/>
                    <a:pt x="75247" y="8043"/>
                  </a:cubicBezTo>
                  <a:lnTo>
                    <a:pt x="56197" y="41381"/>
                  </a:lnTo>
                  <a:lnTo>
                    <a:pt x="16192" y="41381"/>
                  </a:lnTo>
                  <a:lnTo>
                    <a:pt x="16192" y="41381"/>
                  </a:lnTo>
                  <a:cubicBezTo>
                    <a:pt x="12383" y="41381"/>
                    <a:pt x="7620" y="43286"/>
                    <a:pt x="4763" y="46143"/>
                  </a:cubicBezTo>
                  <a:cubicBezTo>
                    <a:pt x="1905" y="49001"/>
                    <a:pt x="0" y="52811"/>
                    <a:pt x="0" y="57573"/>
                  </a:cubicBezTo>
                  <a:lnTo>
                    <a:pt x="0" y="175683"/>
                  </a:lnTo>
                  <a:cubicBezTo>
                    <a:pt x="0" y="184256"/>
                    <a:pt x="7620" y="191876"/>
                    <a:pt x="16192" y="191876"/>
                  </a:cubicBezTo>
                  <a:lnTo>
                    <a:pt x="56197" y="191876"/>
                  </a:lnTo>
                  <a:lnTo>
                    <a:pt x="75247" y="225213"/>
                  </a:lnTo>
                  <a:cubicBezTo>
                    <a:pt x="77153" y="229023"/>
                    <a:pt x="80963" y="231881"/>
                    <a:pt x="84772" y="232833"/>
                  </a:cubicBezTo>
                  <a:cubicBezTo>
                    <a:pt x="88583" y="233786"/>
                    <a:pt x="93345" y="233786"/>
                    <a:pt x="97155" y="230928"/>
                  </a:cubicBezTo>
                  <a:lnTo>
                    <a:pt x="199072" y="171873"/>
                  </a:lnTo>
                  <a:cubicBezTo>
                    <a:pt x="202883" y="169968"/>
                    <a:pt x="205740" y="167111"/>
                    <a:pt x="206692" y="16234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20" name="Free-form: Shape 8">
              <a:extLst>
                <a:ext uri="{FF2B5EF4-FFF2-40B4-BE49-F238E27FC236}">
                  <a16:creationId xmlns:a16="http://schemas.microsoft.com/office/drawing/2014/main" id="{E5ECC625-022E-A509-EA12-FB26D54AB5BA}"/>
                </a:ext>
              </a:extLst>
            </p:cNvPr>
            <p:cNvSpPr/>
            <p:nvPr/>
          </p:nvSpPr>
          <p:spPr>
            <a:xfrm>
              <a:off x="11836717" y="6741794"/>
              <a:ext cx="126682" cy="184785"/>
            </a:xfrm>
            <a:custGeom>
              <a:avLst/>
              <a:gdLst>
                <a:gd name="connsiteX0" fmla="*/ 0 w 126682"/>
                <a:gd name="connsiteY0" fmla="*/ 0 h 184785"/>
                <a:gd name="connsiteX1" fmla="*/ 0 w 126682"/>
                <a:gd name="connsiteY1" fmla="*/ 184785 h 184785"/>
                <a:gd name="connsiteX2" fmla="*/ 30480 w 126682"/>
                <a:gd name="connsiteY2" fmla="*/ 184785 h 184785"/>
                <a:gd name="connsiteX3" fmla="*/ 30480 w 126682"/>
                <a:gd name="connsiteY3" fmla="*/ 129540 h 184785"/>
                <a:gd name="connsiteX4" fmla="*/ 33338 w 126682"/>
                <a:gd name="connsiteY4" fmla="*/ 129540 h 184785"/>
                <a:gd name="connsiteX5" fmla="*/ 91440 w 126682"/>
                <a:gd name="connsiteY5" fmla="*/ 184785 h 184785"/>
                <a:gd name="connsiteX6" fmla="*/ 126682 w 126682"/>
                <a:gd name="connsiteY6" fmla="*/ 184785 h 184785"/>
                <a:gd name="connsiteX7" fmla="*/ 126682 w 126682"/>
                <a:gd name="connsiteY7" fmla="*/ 180975 h 184785"/>
                <a:gd name="connsiteX8" fmla="*/ 57150 w 126682"/>
                <a:gd name="connsiteY8" fmla="*/ 115253 h 184785"/>
                <a:gd name="connsiteX9" fmla="*/ 125730 w 126682"/>
                <a:gd name="connsiteY9" fmla="*/ 56198 h 184785"/>
                <a:gd name="connsiteX10" fmla="*/ 125730 w 126682"/>
                <a:gd name="connsiteY10" fmla="*/ 52388 h 184785"/>
                <a:gd name="connsiteX11" fmla="*/ 90488 w 126682"/>
                <a:gd name="connsiteY11" fmla="*/ 52388 h 184785"/>
                <a:gd name="connsiteX12" fmla="*/ 33338 w 126682"/>
                <a:gd name="connsiteY12" fmla="*/ 103823 h 184785"/>
                <a:gd name="connsiteX13" fmla="*/ 30480 w 126682"/>
                <a:gd name="connsiteY13" fmla="*/ 103823 h 184785"/>
                <a:gd name="connsiteX14" fmla="*/ 30480 w 126682"/>
                <a:gd name="connsiteY14" fmla="*/ 0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6682" h="184785">
                  <a:moveTo>
                    <a:pt x="0" y="0"/>
                  </a:moveTo>
                  <a:lnTo>
                    <a:pt x="0" y="184785"/>
                  </a:lnTo>
                  <a:lnTo>
                    <a:pt x="30480" y="184785"/>
                  </a:lnTo>
                  <a:lnTo>
                    <a:pt x="30480" y="129540"/>
                  </a:lnTo>
                  <a:lnTo>
                    <a:pt x="33338" y="129540"/>
                  </a:lnTo>
                  <a:lnTo>
                    <a:pt x="91440" y="184785"/>
                  </a:lnTo>
                  <a:lnTo>
                    <a:pt x="126682" y="184785"/>
                  </a:lnTo>
                  <a:lnTo>
                    <a:pt x="126682" y="180975"/>
                  </a:lnTo>
                  <a:lnTo>
                    <a:pt x="57150" y="115253"/>
                  </a:lnTo>
                  <a:lnTo>
                    <a:pt x="125730" y="56198"/>
                  </a:lnTo>
                  <a:lnTo>
                    <a:pt x="125730" y="52388"/>
                  </a:lnTo>
                  <a:lnTo>
                    <a:pt x="90488" y="52388"/>
                  </a:lnTo>
                  <a:lnTo>
                    <a:pt x="33338" y="103823"/>
                  </a:lnTo>
                  <a:lnTo>
                    <a:pt x="30480" y="103823"/>
                  </a:lnTo>
                  <a:lnTo>
                    <a:pt x="304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21" name="Free-form: Shape 9">
              <a:extLst>
                <a:ext uri="{FF2B5EF4-FFF2-40B4-BE49-F238E27FC236}">
                  <a16:creationId xmlns:a16="http://schemas.microsoft.com/office/drawing/2014/main" id="{61EE620E-5EE9-9394-BA97-C1D795711031}"/>
                </a:ext>
              </a:extLst>
            </p:cNvPr>
            <p:cNvSpPr/>
            <p:nvPr/>
          </p:nvSpPr>
          <p:spPr>
            <a:xfrm>
              <a:off x="11953874" y="6791325"/>
              <a:ext cx="129540" cy="139065"/>
            </a:xfrm>
            <a:custGeom>
              <a:avLst/>
              <a:gdLst>
                <a:gd name="connsiteX0" fmla="*/ 29528 w 129540"/>
                <a:gd name="connsiteY0" fmla="*/ 55245 h 139065"/>
                <a:gd name="connsiteX1" fmla="*/ 65722 w 129540"/>
                <a:gd name="connsiteY1" fmla="*/ 20955 h 139065"/>
                <a:gd name="connsiteX2" fmla="*/ 100013 w 129540"/>
                <a:gd name="connsiteY2" fmla="*/ 55245 h 139065"/>
                <a:gd name="connsiteX3" fmla="*/ 29528 w 129540"/>
                <a:gd name="connsiteY3" fmla="*/ 55245 h 139065"/>
                <a:gd name="connsiteX4" fmla="*/ 66675 w 129540"/>
                <a:gd name="connsiteY4" fmla="*/ 0 h 139065"/>
                <a:gd name="connsiteX5" fmla="*/ 0 w 129540"/>
                <a:gd name="connsiteY5" fmla="*/ 69532 h 139065"/>
                <a:gd name="connsiteX6" fmla="*/ 66675 w 129540"/>
                <a:gd name="connsiteY6" fmla="*/ 139065 h 139065"/>
                <a:gd name="connsiteX7" fmla="*/ 126682 w 129540"/>
                <a:gd name="connsiteY7" fmla="*/ 98107 h 139065"/>
                <a:gd name="connsiteX8" fmla="*/ 126682 w 129540"/>
                <a:gd name="connsiteY8" fmla="*/ 94297 h 139065"/>
                <a:gd name="connsiteX9" fmla="*/ 100013 w 129540"/>
                <a:gd name="connsiteY9" fmla="*/ 94297 h 139065"/>
                <a:gd name="connsiteX10" fmla="*/ 66675 w 129540"/>
                <a:gd name="connsiteY10" fmla="*/ 117157 h 139065"/>
                <a:gd name="connsiteX11" fmla="*/ 29528 w 129540"/>
                <a:gd name="connsiteY11" fmla="*/ 77153 h 139065"/>
                <a:gd name="connsiteX12" fmla="*/ 129540 w 129540"/>
                <a:gd name="connsiteY12" fmla="*/ 77153 h 139065"/>
                <a:gd name="connsiteX13" fmla="*/ 129540 w 129540"/>
                <a:gd name="connsiteY13" fmla="*/ 64770 h 139065"/>
                <a:gd name="connsiteX14" fmla="*/ 66675 w 129540"/>
                <a:gd name="connsiteY14" fmla="*/ 0 h 13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9540" h="139065">
                  <a:moveTo>
                    <a:pt x="29528" y="55245"/>
                  </a:moveTo>
                  <a:cubicBezTo>
                    <a:pt x="31432" y="35243"/>
                    <a:pt x="43815" y="20955"/>
                    <a:pt x="65722" y="20955"/>
                  </a:cubicBezTo>
                  <a:cubicBezTo>
                    <a:pt x="88582" y="20955"/>
                    <a:pt x="100013" y="35243"/>
                    <a:pt x="100013" y="55245"/>
                  </a:cubicBezTo>
                  <a:lnTo>
                    <a:pt x="29528" y="55245"/>
                  </a:lnTo>
                  <a:close/>
                  <a:moveTo>
                    <a:pt x="66675" y="0"/>
                  </a:moveTo>
                  <a:cubicBezTo>
                    <a:pt x="26670" y="0"/>
                    <a:pt x="0" y="23813"/>
                    <a:pt x="0" y="69532"/>
                  </a:cubicBezTo>
                  <a:cubicBezTo>
                    <a:pt x="0" y="115253"/>
                    <a:pt x="26670" y="139065"/>
                    <a:pt x="66675" y="139065"/>
                  </a:cubicBezTo>
                  <a:cubicBezTo>
                    <a:pt x="106680" y="139065"/>
                    <a:pt x="122872" y="115253"/>
                    <a:pt x="126682" y="98107"/>
                  </a:cubicBezTo>
                  <a:lnTo>
                    <a:pt x="126682" y="94297"/>
                  </a:lnTo>
                  <a:lnTo>
                    <a:pt x="100013" y="94297"/>
                  </a:lnTo>
                  <a:cubicBezTo>
                    <a:pt x="98107" y="104775"/>
                    <a:pt x="88582" y="117157"/>
                    <a:pt x="66675" y="117157"/>
                  </a:cubicBezTo>
                  <a:cubicBezTo>
                    <a:pt x="43815" y="117157"/>
                    <a:pt x="30480" y="100965"/>
                    <a:pt x="29528" y="77153"/>
                  </a:cubicBezTo>
                  <a:lnTo>
                    <a:pt x="129540" y="77153"/>
                  </a:lnTo>
                  <a:lnTo>
                    <a:pt x="129540" y="64770"/>
                  </a:lnTo>
                  <a:cubicBezTo>
                    <a:pt x="129540" y="23813"/>
                    <a:pt x="106680" y="0"/>
                    <a:pt x="66675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22" name="Free-form: Shape 10">
              <a:extLst>
                <a:ext uri="{FF2B5EF4-FFF2-40B4-BE49-F238E27FC236}">
                  <a16:creationId xmlns:a16="http://schemas.microsoft.com/office/drawing/2014/main" id="{C1B6E571-C5C7-243B-9058-A8665AEC3DEF}"/>
                </a:ext>
              </a:extLst>
            </p:cNvPr>
            <p:cNvSpPr/>
            <p:nvPr/>
          </p:nvSpPr>
          <p:spPr>
            <a:xfrm>
              <a:off x="12077699" y="6794182"/>
              <a:ext cx="137159" cy="183832"/>
            </a:xfrm>
            <a:custGeom>
              <a:avLst/>
              <a:gdLst>
                <a:gd name="connsiteX0" fmla="*/ 106680 w 137159"/>
                <a:gd name="connsiteY0" fmla="*/ 0 h 183832"/>
                <a:gd name="connsiteX1" fmla="*/ 70485 w 137159"/>
                <a:gd name="connsiteY1" fmla="*/ 97155 h 183832"/>
                <a:gd name="connsiteX2" fmla="*/ 67628 w 137159"/>
                <a:gd name="connsiteY2" fmla="*/ 97155 h 183832"/>
                <a:gd name="connsiteX3" fmla="*/ 31432 w 137159"/>
                <a:gd name="connsiteY3" fmla="*/ 0 h 183832"/>
                <a:gd name="connsiteX4" fmla="*/ 0 w 137159"/>
                <a:gd name="connsiteY4" fmla="*/ 0 h 183832"/>
                <a:gd name="connsiteX5" fmla="*/ 0 w 137159"/>
                <a:gd name="connsiteY5" fmla="*/ 3810 h 183832"/>
                <a:gd name="connsiteX6" fmla="*/ 53340 w 137159"/>
                <a:gd name="connsiteY6" fmla="*/ 132398 h 183832"/>
                <a:gd name="connsiteX7" fmla="*/ 33338 w 137159"/>
                <a:gd name="connsiteY7" fmla="*/ 180023 h 183832"/>
                <a:gd name="connsiteX8" fmla="*/ 33338 w 137159"/>
                <a:gd name="connsiteY8" fmla="*/ 183833 h 183832"/>
                <a:gd name="connsiteX9" fmla="*/ 63818 w 137159"/>
                <a:gd name="connsiteY9" fmla="*/ 183833 h 183832"/>
                <a:gd name="connsiteX10" fmla="*/ 137160 w 137159"/>
                <a:gd name="connsiteY10" fmla="*/ 3810 h 183832"/>
                <a:gd name="connsiteX11" fmla="*/ 137160 w 137159"/>
                <a:gd name="connsiteY11" fmla="*/ 0 h 18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9" h="183832">
                  <a:moveTo>
                    <a:pt x="106680" y="0"/>
                  </a:moveTo>
                  <a:lnTo>
                    <a:pt x="70485" y="97155"/>
                  </a:lnTo>
                  <a:lnTo>
                    <a:pt x="67628" y="97155"/>
                  </a:lnTo>
                  <a:lnTo>
                    <a:pt x="31432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53340" y="132398"/>
                  </a:lnTo>
                  <a:lnTo>
                    <a:pt x="33338" y="180023"/>
                  </a:lnTo>
                  <a:lnTo>
                    <a:pt x="33338" y="183833"/>
                  </a:lnTo>
                  <a:lnTo>
                    <a:pt x="63818" y="183833"/>
                  </a:lnTo>
                  <a:lnTo>
                    <a:pt x="137160" y="3810"/>
                  </a:lnTo>
                  <a:lnTo>
                    <a:pt x="13716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grpSp>
          <p:nvGrpSpPr>
            <p:cNvPr id="23" name="Graphic 7">
              <a:extLst>
                <a:ext uri="{FF2B5EF4-FFF2-40B4-BE49-F238E27FC236}">
                  <a16:creationId xmlns:a16="http://schemas.microsoft.com/office/drawing/2014/main" id="{692DA023-86CD-60A4-CAB6-3605C73A90BA}"/>
                </a:ext>
              </a:extLst>
            </p:cNvPr>
            <p:cNvGrpSpPr/>
            <p:nvPr/>
          </p:nvGrpSpPr>
          <p:grpSpPr>
            <a:xfrm>
              <a:off x="12212002" y="6759892"/>
              <a:ext cx="618172" cy="170497"/>
              <a:chOff x="12212002" y="6759892"/>
              <a:chExt cx="618172" cy="170497"/>
            </a:xfrm>
            <a:grpFill/>
          </p:grpSpPr>
          <p:sp>
            <p:nvSpPr>
              <p:cNvPr id="24" name="Free-form: Shape 12">
                <a:extLst>
                  <a:ext uri="{FF2B5EF4-FFF2-40B4-BE49-F238E27FC236}">
                    <a16:creationId xmlns:a16="http://schemas.microsoft.com/office/drawing/2014/main" id="{9D5EC4F8-23F4-BFB0-F732-AE5C6A934920}"/>
                  </a:ext>
                </a:extLst>
              </p:cNvPr>
              <p:cNvSpPr/>
              <p:nvPr/>
            </p:nvSpPr>
            <p:spPr>
              <a:xfrm>
                <a:off x="12212002" y="6792277"/>
                <a:ext cx="120015" cy="137159"/>
              </a:xfrm>
              <a:custGeom>
                <a:avLst/>
                <a:gdLst>
                  <a:gd name="connsiteX0" fmla="*/ 75247 w 120015"/>
                  <a:gd name="connsiteY0" fmla="*/ 58103 h 137159"/>
                  <a:gd name="connsiteX1" fmla="*/ 50482 w 120015"/>
                  <a:gd name="connsiteY1" fmla="*/ 54292 h 137159"/>
                  <a:gd name="connsiteX2" fmla="*/ 30480 w 120015"/>
                  <a:gd name="connsiteY2" fmla="*/ 38100 h 137159"/>
                  <a:gd name="connsiteX3" fmla="*/ 58103 w 120015"/>
                  <a:gd name="connsiteY3" fmla="*/ 20955 h 137159"/>
                  <a:gd name="connsiteX4" fmla="*/ 89535 w 120015"/>
                  <a:gd name="connsiteY4" fmla="*/ 43815 h 137159"/>
                  <a:gd name="connsiteX5" fmla="*/ 117157 w 120015"/>
                  <a:gd name="connsiteY5" fmla="*/ 43815 h 137159"/>
                  <a:gd name="connsiteX6" fmla="*/ 117157 w 120015"/>
                  <a:gd name="connsiteY6" fmla="*/ 40005 h 137159"/>
                  <a:gd name="connsiteX7" fmla="*/ 57150 w 120015"/>
                  <a:gd name="connsiteY7" fmla="*/ 0 h 137159"/>
                  <a:gd name="connsiteX8" fmla="*/ 953 w 120015"/>
                  <a:gd name="connsiteY8" fmla="*/ 39053 h 137159"/>
                  <a:gd name="connsiteX9" fmla="*/ 42863 w 120015"/>
                  <a:gd name="connsiteY9" fmla="*/ 77153 h 137159"/>
                  <a:gd name="connsiteX10" fmla="*/ 67628 w 120015"/>
                  <a:gd name="connsiteY10" fmla="*/ 80963 h 137159"/>
                  <a:gd name="connsiteX11" fmla="*/ 90488 w 120015"/>
                  <a:gd name="connsiteY11" fmla="*/ 98107 h 137159"/>
                  <a:gd name="connsiteX12" fmla="*/ 61913 w 120015"/>
                  <a:gd name="connsiteY12" fmla="*/ 116205 h 137159"/>
                  <a:gd name="connsiteX13" fmla="*/ 27622 w 120015"/>
                  <a:gd name="connsiteY13" fmla="*/ 92392 h 137159"/>
                  <a:gd name="connsiteX14" fmla="*/ 0 w 120015"/>
                  <a:gd name="connsiteY14" fmla="*/ 92392 h 137159"/>
                  <a:gd name="connsiteX15" fmla="*/ 0 w 120015"/>
                  <a:gd name="connsiteY15" fmla="*/ 96203 h 137159"/>
                  <a:gd name="connsiteX16" fmla="*/ 62865 w 120015"/>
                  <a:gd name="connsiteY16" fmla="*/ 137160 h 137159"/>
                  <a:gd name="connsiteX17" fmla="*/ 120015 w 120015"/>
                  <a:gd name="connsiteY17" fmla="*/ 96203 h 137159"/>
                  <a:gd name="connsiteX18" fmla="*/ 75247 w 120015"/>
                  <a:gd name="connsiteY18" fmla="*/ 58103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0015" h="137159">
                    <a:moveTo>
                      <a:pt x="75247" y="58103"/>
                    </a:moveTo>
                    <a:lnTo>
                      <a:pt x="50482" y="54292"/>
                    </a:lnTo>
                    <a:cubicBezTo>
                      <a:pt x="39053" y="52388"/>
                      <a:pt x="30480" y="48578"/>
                      <a:pt x="30480" y="38100"/>
                    </a:cubicBezTo>
                    <a:cubicBezTo>
                      <a:pt x="30480" y="27622"/>
                      <a:pt x="40005" y="20955"/>
                      <a:pt x="58103" y="20955"/>
                    </a:cubicBezTo>
                    <a:cubicBezTo>
                      <a:pt x="76200" y="20955"/>
                      <a:pt x="88582" y="27622"/>
                      <a:pt x="89535" y="43815"/>
                    </a:cubicBezTo>
                    <a:lnTo>
                      <a:pt x="117157" y="43815"/>
                    </a:lnTo>
                    <a:lnTo>
                      <a:pt x="117157" y="40005"/>
                    </a:lnTo>
                    <a:cubicBezTo>
                      <a:pt x="114300" y="16192"/>
                      <a:pt x="93345" y="0"/>
                      <a:pt x="57150" y="0"/>
                    </a:cubicBezTo>
                    <a:cubicBezTo>
                      <a:pt x="20955" y="0"/>
                      <a:pt x="953" y="16192"/>
                      <a:pt x="953" y="39053"/>
                    </a:cubicBezTo>
                    <a:cubicBezTo>
                      <a:pt x="953" y="61913"/>
                      <a:pt x="18097" y="73342"/>
                      <a:pt x="42863" y="77153"/>
                    </a:cubicBezTo>
                    <a:lnTo>
                      <a:pt x="67628" y="80963"/>
                    </a:lnTo>
                    <a:cubicBezTo>
                      <a:pt x="81915" y="82867"/>
                      <a:pt x="90488" y="87630"/>
                      <a:pt x="90488" y="98107"/>
                    </a:cubicBezTo>
                    <a:cubicBezTo>
                      <a:pt x="90488" y="109538"/>
                      <a:pt x="80963" y="116205"/>
                      <a:pt x="61913" y="116205"/>
                    </a:cubicBezTo>
                    <a:cubicBezTo>
                      <a:pt x="42863" y="116205"/>
                      <a:pt x="28575" y="108585"/>
                      <a:pt x="27622" y="92392"/>
                    </a:cubicBezTo>
                    <a:lnTo>
                      <a:pt x="0" y="92392"/>
                    </a:lnTo>
                    <a:lnTo>
                      <a:pt x="0" y="96203"/>
                    </a:lnTo>
                    <a:cubicBezTo>
                      <a:pt x="1905" y="120015"/>
                      <a:pt x="23813" y="137160"/>
                      <a:pt x="62865" y="137160"/>
                    </a:cubicBezTo>
                    <a:cubicBezTo>
                      <a:pt x="100965" y="137160"/>
                      <a:pt x="120015" y="120015"/>
                      <a:pt x="120015" y="96203"/>
                    </a:cubicBezTo>
                    <a:cubicBezTo>
                      <a:pt x="119063" y="72390"/>
                      <a:pt x="100965" y="62865"/>
                      <a:pt x="75247" y="58103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5" name="Free-form: Shape 13">
                <a:extLst>
                  <a:ext uri="{FF2B5EF4-FFF2-40B4-BE49-F238E27FC236}">
                    <a16:creationId xmlns:a16="http://schemas.microsoft.com/office/drawing/2014/main" id="{FC07FDBE-A420-96C2-1A73-760574ADA7CB}"/>
                  </a:ext>
                </a:extLst>
              </p:cNvPr>
              <p:cNvSpPr/>
              <p:nvPr/>
            </p:nvSpPr>
            <p:spPr>
              <a:xfrm>
                <a:off x="12330112" y="6759892"/>
                <a:ext cx="93344" cy="166687"/>
              </a:xfrm>
              <a:custGeom>
                <a:avLst/>
                <a:gdLst>
                  <a:gd name="connsiteX0" fmla="*/ 56197 w 93344"/>
                  <a:gd name="connsiteY0" fmla="*/ 142875 h 166687"/>
                  <a:gd name="connsiteX1" fmla="*/ 56197 w 93344"/>
                  <a:gd name="connsiteY1" fmla="*/ 56197 h 166687"/>
                  <a:gd name="connsiteX2" fmla="*/ 93345 w 93344"/>
                  <a:gd name="connsiteY2" fmla="*/ 56197 h 166687"/>
                  <a:gd name="connsiteX3" fmla="*/ 93345 w 93344"/>
                  <a:gd name="connsiteY3" fmla="*/ 35242 h 166687"/>
                  <a:gd name="connsiteX4" fmla="*/ 56197 w 93344"/>
                  <a:gd name="connsiteY4" fmla="*/ 35242 h 166687"/>
                  <a:gd name="connsiteX5" fmla="*/ 56197 w 93344"/>
                  <a:gd name="connsiteY5" fmla="*/ 0 h 166687"/>
                  <a:gd name="connsiteX6" fmla="*/ 25718 w 93344"/>
                  <a:gd name="connsiteY6" fmla="*/ 0 h 166687"/>
                  <a:gd name="connsiteX7" fmla="*/ 25718 w 93344"/>
                  <a:gd name="connsiteY7" fmla="*/ 35242 h 166687"/>
                  <a:gd name="connsiteX8" fmla="*/ 0 w 93344"/>
                  <a:gd name="connsiteY8" fmla="*/ 35242 h 166687"/>
                  <a:gd name="connsiteX9" fmla="*/ 0 w 93344"/>
                  <a:gd name="connsiteY9" fmla="*/ 56197 h 166687"/>
                  <a:gd name="connsiteX10" fmla="*/ 25718 w 93344"/>
                  <a:gd name="connsiteY10" fmla="*/ 56197 h 166687"/>
                  <a:gd name="connsiteX11" fmla="*/ 25718 w 93344"/>
                  <a:gd name="connsiteY11" fmla="*/ 132397 h 166687"/>
                  <a:gd name="connsiteX12" fmla="*/ 61913 w 93344"/>
                  <a:gd name="connsiteY12" fmla="*/ 166688 h 166687"/>
                  <a:gd name="connsiteX13" fmla="*/ 92393 w 93344"/>
                  <a:gd name="connsiteY13" fmla="*/ 166688 h 166687"/>
                  <a:gd name="connsiteX14" fmla="*/ 92393 w 93344"/>
                  <a:gd name="connsiteY14" fmla="*/ 144780 h 166687"/>
                  <a:gd name="connsiteX15" fmla="*/ 58103 w 93344"/>
                  <a:gd name="connsiteY15" fmla="*/ 144780 h 166687"/>
                  <a:gd name="connsiteX16" fmla="*/ 56197 w 93344"/>
                  <a:gd name="connsiteY16" fmla="*/ 142875 h 166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344" h="166687">
                    <a:moveTo>
                      <a:pt x="56197" y="142875"/>
                    </a:moveTo>
                    <a:lnTo>
                      <a:pt x="56197" y="56197"/>
                    </a:lnTo>
                    <a:lnTo>
                      <a:pt x="93345" y="56197"/>
                    </a:lnTo>
                    <a:lnTo>
                      <a:pt x="93345" y="35242"/>
                    </a:lnTo>
                    <a:lnTo>
                      <a:pt x="56197" y="35242"/>
                    </a:lnTo>
                    <a:lnTo>
                      <a:pt x="56197" y="0"/>
                    </a:lnTo>
                    <a:lnTo>
                      <a:pt x="25718" y="0"/>
                    </a:lnTo>
                    <a:lnTo>
                      <a:pt x="25718" y="35242"/>
                    </a:lnTo>
                    <a:lnTo>
                      <a:pt x="0" y="35242"/>
                    </a:lnTo>
                    <a:lnTo>
                      <a:pt x="0" y="56197"/>
                    </a:lnTo>
                    <a:lnTo>
                      <a:pt x="25718" y="56197"/>
                    </a:lnTo>
                    <a:lnTo>
                      <a:pt x="25718" y="132397"/>
                    </a:lnTo>
                    <a:cubicBezTo>
                      <a:pt x="25718" y="155257"/>
                      <a:pt x="39053" y="166688"/>
                      <a:pt x="61913" y="166688"/>
                    </a:cubicBezTo>
                    <a:lnTo>
                      <a:pt x="92393" y="166688"/>
                    </a:lnTo>
                    <a:lnTo>
                      <a:pt x="92393" y="144780"/>
                    </a:lnTo>
                    <a:lnTo>
                      <a:pt x="58103" y="144780"/>
                    </a:lnTo>
                    <a:lnTo>
                      <a:pt x="56197" y="1428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6" name="Free-form: Shape 14">
                <a:extLst>
                  <a:ext uri="{FF2B5EF4-FFF2-40B4-BE49-F238E27FC236}">
                    <a16:creationId xmlns:a16="http://schemas.microsoft.com/office/drawing/2014/main" id="{81320518-0175-B5ED-E43F-00AE7393BC97}"/>
                  </a:ext>
                </a:extLst>
              </p:cNvPr>
              <p:cNvSpPr/>
              <p:nvPr/>
            </p:nvSpPr>
            <p:spPr>
              <a:xfrm>
                <a:off x="12424409" y="6791325"/>
                <a:ext cx="137159" cy="139065"/>
              </a:xfrm>
              <a:custGeom>
                <a:avLst/>
                <a:gdLst>
                  <a:gd name="connsiteX0" fmla="*/ 68580 w 137159"/>
                  <a:gd name="connsiteY0" fmla="*/ 116205 h 139065"/>
                  <a:gd name="connsiteX1" fmla="*/ 30480 w 137159"/>
                  <a:gd name="connsiteY1" fmla="*/ 69532 h 139065"/>
                  <a:gd name="connsiteX2" fmla="*/ 68580 w 137159"/>
                  <a:gd name="connsiteY2" fmla="*/ 22860 h 139065"/>
                  <a:gd name="connsiteX3" fmla="*/ 106680 w 137159"/>
                  <a:gd name="connsiteY3" fmla="*/ 69532 h 139065"/>
                  <a:gd name="connsiteX4" fmla="*/ 68580 w 137159"/>
                  <a:gd name="connsiteY4" fmla="*/ 116205 h 139065"/>
                  <a:gd name="connsiteX5" fmla="*/ 68580 w 137159"/>
                  <a:gd name="connsiteY5" fmla="*/ 0 h 139065"/>
                  <a:gd name="connsiteX6" fmla="*/ 0 w 137159"/>
                  <a:gd name="connsiteY6" fmla="*/ 69532 h 139065"/>
                  <a:gd name="connsiteX7" fmla="*/ 68580 w 137159"/>
                  <a:gd name="connsiteY7" fmla="*/ 139065 h 139065"/>
                  <a:gd name="connsiteX8" fmla="*/ 137160 w 137159"/>
                  <a:gd name="connsiteY8" fmla="*/ 69532 h 139065"/>
                  <a:gd name="connsiteX9" fmla="*/ 68580 w 137159"/>
                  <a:gd name="connsiteY9" fmla="*/ 0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139065">
                    <a:moveTo>
                      <a:pt x="68580" y="116205"/>
                    </a:moveTo>
                    <a:cubicBezTo>
                      <a:pt x="45720" y="116205"/>
                      <a:pt x="30480" y="100013"/>
                      <a:pt x="30480" y="69532"/>
                    </a:cubicBezTo>
                    <a:cubicBezTo>
                      <a:pt x="30480" y="39053"/>
                      <a:pt x="45720" y="22860"/>
                      <a:pt x="68580" y="22860"/>
                    </a:cubicBezTo>
                    <a:cubicBezTo>
                      <a:pt x="91440" y="22860"/>
                      <a:pt x="106680" y="39053"/>
                      <a:pt x="106680" y="69532"/>
                    </a:cubicBezTo>
                    <a:cubicBezTo>
                      <a:pt x="106680" y="100013"/>
                      <a:pt x="91440" y="116205"/>
                      <a:pt x="68580" y="116205"/>
                    </a:cubicBezTo>
                    <a:moveTo>
                      <a:pt x="68580" y="0"/>
                    </a:moveTo>
                    <a:cubicBezTo>
                      <a:pt x="28575" y="0"/>
                      <a:pt x="0" y="23813"/>
                      <a:pt x="0" y="69532"/>
                    </a:cubicBezTo>
                    <a:cubicBezTo>
                      <a:pt x="0" y="114300"/>
                      <a:pt x="28575" y="139065"/>
                      <a:pt x="68580" y="139065"/>
                    </a:cubicBezTo>
                    <a:cubicBezTo>
                      <a:pt x="108585" y="139065"/>
                      <a:pt x="137160" y="115253"/>
                      <a:pt x="137160" y="69532"/>
                    </a:cubicBezTo>
                    <a:cubicBezTo>
                      <a:pt x="137160" y="23813"/>
                      <a:pt x="108585" y="0"/>
                      <a:pt x="68580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7" name="Free-form: Shape 15">
                <a:extLst>
                  <a:ext uri="{FF2B5EF4-FFF2-40B4-BE49-F238E27FC236}">
                    <a16:creationId xmlns:a16="http://schemas.microsoft.com/office/drawing/2014/main" id="{4BAF8847-F679-9A24-9308-1C177BB9EBE4}"/>
                  </a:ext>
                </a:extLst>
              </p:cNvPr>
              <p:cNvSpPr/>
              <p:nvPr/>
            </p:nvSpPr>
            <p:spPr>
              <a:xfrm>
                <a:off x="12568237" y="6791325"/>
                <a:ext cx="123857" cy="135255"/>
              </a:xfrm>
              <a:custGeom>
                <a:avLst/>
                <a:gdLst>
                  <a:gd name="connsiteX0" fmla="*/ 75247 w 123857"/>
                  <a:gd name="connsiteY0" fmla="*/ 0 h 135255"/>
                  <a:gd name="connsiteX1" fmla="*/ 32385 w 123857"/>
                  <a:gd name="connsiteY1" fmla="*/ 20003 h 135255"/>
                  <a:gd name="connsiteX2" fmla="*/ 29528 w 123857"/>
                  <a:gd name="connsiteY2" fmla="*/ 20003 h 135255"/>
                  <a:gd name="connsiteX3" fmla="*/ 29528 w 123857"/>
                  <a:gd name="connsiteY3" fmla="*/ 2857 h 135255"/>
                  <a:gd name="connsiteX4" fmla="*/ 0 w 123857"/>
                  <a:gd name="connsiteY4" fmla="*/ 2857 h 135255"/>
                  <a:gd name="connsiteX5" fmla="*/ 0 w 123857"/>
                  <a:gd name="connsiteY5" fmla="*/ 135255 h 135255"/>
                  <a:gd name="connsiteX6" fmla="*/ 30480 w 123857"/>
                  <a:gd name="connsiteY6" fmla="*/ 135255 h 135255"/>
                  <a:gd name="connsiteX7" fmla="*/ 30480 w 123857"/>
                  <a:gd name="connsiteY7" fmla="*/ 60960 h 135255"/>
                  <a:gd name="connsiteX8" fmla="*/ 65722 w 123857"/>
                  <a:gd name="connsiteY8" fmla="*/ 22860 h 135255"/>
                  <a:gd name="connsiteX9" fmla="*/ 93345 w 123857"/>
                  <a:gd name="connsiteY9" fmla="*/ 50482 h 135255"/>
                  <a:gd name="connsiteX10" fmla="*/ 93345 w 123857"/>
                  <a:gd name="connsiteY10" fmla="*/ 134303 h 135255"/>
                  <a:gd name="connsiteX11" fmla="*/ 123825 w 123857"/>
                  <a:gd name="connsiteY11" fmla="*/ 134303 h 135255"/>
                  <a:gd name="connsiteX12" fmla="*/ 123825 w 123857"/>
                  <a:gd name="connsiteY12" fmla="*/ 47625 h 135255"/>
                  <a:gd name="connsiteX13" fmla="*/ 75247 w 123857"/>
                  <a:gd name="connsiteY13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857" h="135255">
                    <a:moveTo>
                      <a:pt x="75247" y="0"/>
                    </a:moveTo>
                    <a:cubicBezTo>
                      <a:pt x="47625" y="0"/>
                      <a:pt x="37147" y="12382"/>
                      <a:pt x="32385" y="20003"/>
                    </a:cubicBezTo>
                    <a:lnTo>
                      <a:pt x="29528" y="20003"/>
                    </a:lnTo>
                    <a:lnTo>
                      <a:pt x="29528" y="2857"/>
                    </a:lnTo>
                    <a:lnTo>
                      <a:pt x="0" y="2857"/>
                    </a:lnTo>
                    <a:lnTo>
                      <a:pt x="0" y="135255"/>
                    </a:lnTo>
                    <a:lnTo>
                      <a:pt x="30480" y="135255"/>
                    </a:lnTo>
                    <a:lnTo>
                      <a:pt x="30480" y="60960"/>
                    </a:lnTo>
                    <a:cubicBezTo>
                      <a:pt x="30480" y="34290"/>
                      <a:pt x="46672" y="22860"/>
                      <a:pt x="65722" y="22860"/>
                    </a:cubicBezTo>
                    <a:cubicBezTo>
                      <a:pt x="82868" y="22860"/>
                      <a:pt x="93345" y="31432"/>
                      <a:pt x="93345" y="50482"/>
                    </a:cubicBezTo>
                    <a:lnTo>
                      <a:pt x="93345" y="134303"/>
                    </a:lnTo>
                    <a:lnTo>
                      <a:pt x="123825" y="134303"/>
                    </a:lnTo>
                    <a:lnTo>
                      <a:pt x="123825" y="47625"/>
                    </a:lnTo>
                    <a:cubicBezTo>
                      <a:pt x="124778" y="16193"/>
                      <a:pt x="104775" y="0"/>
                      <a:pt x="75247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28" name="Free-form: Shape 16">
                <a:extLst>
                  <a:ext uri="{FF2B5EF4-FFF2-40B4-BE49-F238E27FC236}">
                    <a16:creationId xmlns:a16="http://schemas.microsoft.com/office/drawing/2014/main" id="{1F5111CE-035C-BF1B-64FE-CCE6AD3B6C90}"/>
                  </a:ext>
                </a:extLst>
              </p:cNvPr>
              <p:cNvSpPr/>
              <p:nvPr/>
            </p:nvSpPr>
            <p:spPr>
              <a:xfrm>
                <a:off x="12700634" y="6791325"/>
                <a:ext cx="129540" cy="139065"/>
              </a:xfrm>
              <a:custGeom>
                <a:avLst/>
                <a:gdLst>
                  <a:gd name="connsiteX0" fmla="*/ 29528 w 129540"/>
                  <a:gd name="connsiteY0" fmla="*/ 55245 h 139065"/>
                  <a:gd name="connsiteX1" fmla="*/ 65722 w 129540"/>
                  <a:gd name="connsiteY1" fmla="*/ 20955 h 139065"/>
                  <a:gd name="connsiteX2" fmla="*/ 100013 w 129540"/>
                  <a:gd name="connsiteY2" fmla="*/ 55245 h 139065"/>
                  <a:gd name="connsiteX3" fmla="*/ 29528 w 129540"/>
                  <a:gd name="connsiteY3" fmla="*/ 55245 h 139065"/>
                  <a:gd name="connsiteX4" fmla="*/ 129540 w 129540"/>
                  <a:gd name="connsiteY4" fmla="*/ 63818 h 139065"/>
                  <a:gd name="connsiteX5" fmla="*/ 66675 w 129540"/>
                  <a:gd name="connsiteY5" fmla="*/ 0 h 139065"/>
                  <a:gd name="connsiteX6" fmla="*/ 0 w 129540"/>
                  <a:gd name="connsiteY6" fmla="*/ 69532 h 139065"/>
                  <a:gd name="connsiteX7" fmla="*/ 66675 w 129540"/>
                  <a:gd name="connsiteY7" fmla="*/ 139065 h 139065"/>
                  <a:gd name="connsiteX8" fmla="*/ 126683 w 129540"/>
                  <a:gd name="connsiteY8" fmla="*/ 98107 h 139065"/>
                  <a:gd name="connsiteX9" fmla="*/ 126683 w 129540"/>
                  <a:gd name="connsiteY9" fmla="*/ 94297 h 139065"/>
                  <a:gd name="connsiteX10" fmla="*/ 100013 w 129540"/>
                  <a:gd name="connsiteY10" fmla="*/ 94297 h 139065"/>
                  <a:gd name="connsiteX11" fmla="*/ 66675 w 129540"/>
                  <a:gd name="connsiteY11" fmla="*/ 117157 h 139065"/>
                  <a:gd name="connsiteX12" fmla="*/ 29528 w 129540"/>
                  <a:gd name="connsiteY12" fmla="*/ 77153 h 139065"/>
                  <a:gd name="connsiteX13" fmla="*/ 129540 w 129540"/>
                  <a:gd name="connsiteY13" fmla="*/ 77153 h 139065"/>
                  <a:gd name="connsiteX14" fmla="*/ 129540 w 129540"/>
                  <a:gd name="connsiteY14" fmla="*/ 63818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540" h="139065">
                    <a:moveTo>
                      <a:pt x="29528" y="55245"/>
                    </a:moveTo>
                    <a:cubicBezTo>
                      <a:pt x="31433" y="35243"/>
                      <a:pt x="43815" y="20955"/>
                      <a:pt x="65722" y="20955"/>
                    </a:cubicBezTo>
                    <a:cubicBezTo>
                      <a:pt x="88583" y="20955"/>
                      <a:pt x="100013" y="35243"/>
                      <a:pt x="100013" y="55245"/>
                    </a:cubicBezTo>
                    <a:lnTo>
                      <a:pt x="29528" y="55245"/>
                    </a:lnTo>
                    <a:close/>
                    <a:moveTo>
                      <a:pt x="129540" y="63818"/>
                    </a:moveTo>
                    <a:cubicBezTo>
                      <a:pt x="129540" y="23813"/>
                      <a:pt x="106680" y="0"/>
                      <a:pt x="66675" y="0"/>
                    </a:cubicBezTo>
                    <a:cubicBezTo>
                      <a:pt x="26670" y="0"/>
                      <a:pt x="0" y="23813"/>
                      <a:pt x="0" y="69532"/>
                    </a:cubicBezTo>
                    <a:cubicBezTo>
                      <a:pt x="0" y="115253"/>
                      <a:pt x="26670" y="139065"/>
                      <a:pt x="66675" y="139065"/>
                    </a:cubicBezTo>
                    <a:cubicBezTo>
                      <a:pt x="106680" y="139065"/>
                      <a:pt x="122872" y="115253"/>
                      <a:pt x="126683" y="98107"/>
                    </a:cubicBezTo>
                    <a:lnTo>
                      <a:pt x="126683" y="94297"/>
                    </a:lnTo>
                    <a:lnTo>
                      <a:pt x="100013" y="94297"/>
                    </a:lnTo>
                    <a:cubicBezTo>
                      <a:pt x="98108" y="104775"/>
                      <a:pt x="88583" y="117157"/>
                      <a:pt x="66675" y="117157"/>
                    </a:cubicBezTo>
                    <a:cubicBezTo>
                      <a:pt x="43815" y="117157"/>
                      <a:pt x="30480" y="100965"/>
                      <a:pt x="29528" y="77153"/>
                    </a:cubicBezTo>
                    <a:lnTo>
                      <a:pt x="129540" y="77153"/>
                    </a:lnTo>
                    <a:lnTo>
                      <a:pt x="129540" y="63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614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Lilac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D92A71D-3D9C-F189-C404-F5B2C3BC84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92A71D-3D9C-F189-C404-F5B2C3BC84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" y="2455200"/>
            <a:ext cx="8732520" cy="2852737"/>
          </a:xfrm>
        </p:spPr>
        <p:txBody>
          <a:bodyPr vert="horz" anchor="t" anchorCtr="0"/>
          <a:lstStyle>
            <a:lvl1pPr>
              <a:lnSpc>
                <a:spcPct val="88000"/>
              </a:lnSpc>
              <a:defRPr sz="5400" spc="-1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9CC082D-F806-137E-69B0-709BEA127886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172568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Nightsha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0A3655F-2D10-8046-2A32-CBF612AE91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A3655F-2D10-8046-2A32-CBF612AE91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" y="2455200"/>
            <a:ext cx="8732520" cy="2852737"/>
          </a:xfrm>
        </p:spPr>
        <p:txBody>
          <a:bodyPr vert="horz" anchor="t" anchorCtr="0"/>
          <a:lstStyle>
            <a:lvl1pPr>
              <a:lnSpc>
                <a:spcPct val="88000"/>
              </a:lnSpc>
              <a:defRPr sz="54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9CC082D-F806-137E-69B0-709BEA127886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1672445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8B87D34-999F-E655-393B-93B6AD103A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8B87D34-999F-E655-393B-93B6AD103A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" y="2455200"/>
            <a:ext cx="8732520" cy="2852737"/>
          </a:xfrm>
        </p:spPr>
        <p:txBody>
          <a:bodyPr vert="horz" anchor="t" anchorCtr="0"/>
          <a:lstStyle>
            <a:lvl1pPr>
              <a:lnSpc>
                <a:spcPct val="88000"/>
              </a:lnSpc>
              <a:defRPr sz="54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9CC082D-F806-137E-69B0-709BEA127886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358665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Dark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50AFEAF-C3A7-5C37-E472-0B7E2B147E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0AFEAF-C3A7-5C37-E472-0B7E2B147E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" y="2455200"/>
            <a:ext cx="8732520" cy="2852737"/>
          </a:xfrm>
        </p:spPr>
        <p:txBody>
          <a:bodyPr vert="horz" anchor="t" anchorCtr="0"/>
          <a:lstStyle>
            <a:lvl1pPr>
              <a:lnSpc>
                <a:spcPct val="88000"/>
              </a:lnSpc>
              <a:defRPr sz="54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9CC082D-F806-137E-69B0-709BEA127886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365797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Gre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1BCA8A1-96B9-21C3-654F-A24124439C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BCA8A1-96B9-21C3-654F-A24124439C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" y="2455200"/>
            <a:ext cx="8732520" cy="2852737"/>
          </a:xfrm>
        </p:spPr>
        <p:txBody>
          <a:bodyPr vert="horz" anchor="t" anchorCtr="0"/>
          <a:lstStyle>
            <a:lvl1pPr>
              <a:lnSpc>
                <a:spcPct val="88000"/>
              </a:lnSpc>
              <a:defRPr sz="54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9CC082D-F806-137E-69B0-709BEA127886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138171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13343FD-C78D-0F46-C2C8-72DEB9F748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3343FD-C78D-0F46-C2C8-72DEB9F748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" y="2455200"/>
            <a:ext cx="8732520" cy="2852737"/>
          </a:xfrm>
        </p:spPr>
        <p:txBody>
          <a:bodyPr vert="horz" anchor="t" anchorCtr="0"/>
          <a:lstStyle>
            <a:lvl1pPr>
              <a:lnSpc>
                <a:spcPct val="88000"/>
              </a:lnSpc>
              <a:defRPr sz="5400" spc="-1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9CC082D-F806-137E-69B0-709BEA127886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152631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EDA24F5-B2D9-68D2-67D8-6D81AD3B62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DA24F5-B2D9-68D2-67D8-6D81AD3B62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D419F76-EC68-064A-D0E8-790643D6D6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83588688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B0DE0B-3078-C551-B369-167899D4AA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B0DE0B-3078-C551-B369-167899D4AA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" y="1395000"/>
            <a:ext cx="5349638" cy="4697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69813" y="1394999"/>
            <a:ext cx="4796028" cy="1856232"/>
          </a:xfrm>
        </p:spPr>
        <p:txBody>
          <a:bodyPr/>
          <a:lstStyle>
            <a:lvl1pPr marL="0" indent="0">
              <a:spcBef>
                <a:spcPts val="900"/>
              </a:spcBef>
              <a:spcAft>
                <a:spcPts val="0"/>
              </a:spcAft>
              <a:buNone/>
              <a:defRPr/>
            </a:lvl1pPr>
            <a:lvl2pPr marL="228600" indent="-228600">
              <a:spcBef>
                <a:spcPts val="900"/>
              </a:spcBef>
              <a:spcAft>
                <a:spcPts val="0"/>
              </a:spcAft>
              <a:buFont typeface="+mj-lt"/>
              <a:buAutoNum type="arabicPeriod"/>
              <a:defRPr sz="900"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2A3D47-D707-C6FB-F544-D4FEAEF868E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69813" y="3452399"/>
            <a:ext cx="4796028" cy="1856232"/>
          </a:xfrm>
        </p:spPr>
        <p:txBody>
          <a:bodyPr/>
          <a:lstStyle>
            <a:lvl1pPr marL="0" indent="0">
              <a:spcBef>
                <a:spcPts val="900"/>
              </a:spcBef>
              <a:spcAft>
                <a:spcPts val="0"/>
              </a:spcAft>
              <a:buNone/>
              <a:defRPr/>
            </a:lvl1pPr>
            <a:lvl2pPr marL="228600" indent="-228600">
              <a:spcBef>
                <a:spcPts val="900"/>
              </a:spcBef>
              <a:spcAft>
                <a:spcPts val="0"/>
              </a:spcAft>
              <a:buFont typeface="+mj-lt"/>
              <a:buAutoNum type="arabicPeriod"/>
              <a:defRPr sz="900"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C4451E46-5E4E-9EE4-F7DE-BD44B18FED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895327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 w/Green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980E8B7-E869-0CC9-779F-210198CB5D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80E8B7-E869-0CC9-779F-210198CB5D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" y="1395000"/>
            <a:ext cx="5349638" cy="4697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69813" y="1394999"/>
            <a:ext cx="4796028" cy="1856232"/>
          </a:xfrm>
        </p:spPr>
        <p:txBody>
          <a:bodyPr/>
          <a:lstStyle>
            <a:lvl1pPr marL="0" indent="0">
              <a:spcBef>
                <a:spcPts val="900"/>
              </a:spcBef>
              <a:spcAft>
                <a:spcPts val="0"/>
              </a:spcAft>
              <a:buNone/>
              <a:defRPr/>
            </a:lvl1pPr>
            <a:lvl2pPr marL="228600" indent="-228600">
              <a:spcBef>
                <a:spcPts val="900"/>
              </a:spcBef>
              <a:spcAft>
                <a:spcPts val="0"/>
              </a:spcAft>
              <a:buFont typeface="+mj-lt"/>
              <a:buAutoNum type="arabicPeriod"/>
              <a:defRPr sz="900"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2A3D47-D707-C6FB-F544-D4FEAEF868E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032653" y="3361824"/>
            <a:ext cx="5047488" cy="1838826"/>
          </a:xfrm>
          <a:solidFill>
            <a:schemeClr val="accent6"/>
          </a:solidFill>
        </p:spPr>
        <p:txBody>
          <a:bodyPr lIns="252000" tIns="144000" rIns="252000" bIns="144000">
            <a:noAutofit/>
          </a:bodyPr>
          <a:lstStyle>
            <a:lvl1pPr marL="0" indent="0">
              <a:spcBef>
                <a:spcPts val="90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  <a:lvl2pPr marL="228600" indent="-228600">
              <a:spcBef>
                <a:spcPts val="900"/>
              </a:spcBef>
              <a:spcAft>
                <a:spcPts val="0"/>
              </a:spcAft>
              <a:buFont typeface="+mj-lt"/>
              <a:buAutoNum type="arabicPeriod"/>
              <a:defRPr sz="900">
                <a:solidFill>
                  <a:schemeClr val="bg1"/>
                </a:solidFill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54E9AEE-A4B3-C7AD-CD1F-470FAFD07E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707109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3C358FD-51A6-1EB3-27B4-FD39D25176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C358FD-51A6-1EB3-27B4-FD39D25176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32" y="1098277"/>
            <a:ext cx="5349638" cy="266906"/>
          </a:xfrm>
        </p:spPr>
        <p:txBody>
          <a:bodyPr anchor="b"/>
          <a:lstStyle>
            <a:lvl1pPr marL="0" indent="0">
              <a:buNone/>
              <a:defRPr lang="en-GB" sz="1200" kern="1200" spc="-15" baseline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" y="1395000"/>
            <a:ext cx="5349638" cy="4697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996CA24-49D8-3892-C694-6602FBEE60C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169813" y="1098277"/>
            <a:ext cx="5349638" cy="266906"/>
          </a:xfrm>
        </p:spPr>
        <p:txBody>
          <a:bodyPr anchor="b"/>
          <a:lstStyle>
            <a:lvl1pPr marL="0" indent="0">
              <a:buNone/>
              <a:defRPr lang="en-GB" sz="1200" kern="1200" spc="-15" baseline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69813" y="1395000"/>
            <a:ext cx="5349638" cy="4697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109502724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3CC401E-6EA3-82E1-6601-DB07C52493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CC401E-6EA3-82E1-6601-DB07C52493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1" y="3881335"/>
            <a:ext cx="5779008" cy="2263438"/>
          </a:xfrm>
        </p:spPr>
        <p:txBody>
          <a:bodyPr numCol="2" spcCol="256032" anchor="b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04379C0-3DF4-4181-ED9C-3DCFFBADB2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69708" y="1999040"/>
            <a:ext cx="4366260" cy="408736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43869D2-20CC-1F37-70E2-A856FD63BE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69994" y="1612489"/>
            <a:ext cx="4365625" cy="320675"/>
          </a:xfrm>
        </p:spPr>
        <p:txBody>
          <a:bodyPr anchor="b" anchorCtr="0"/>
          <a:lstStyle>
            <a:lvl1pPr marL="0" indent="0">
              <a:buNone/>
              <a:defRPr sz="800" spc="-20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3658137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Boxes w/Char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E6B5D6C2-5FF4-CDF8-AEA9-D06FD08CDB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6B5D6C2-5FF4-CDF8-AEA9-D06FD08CD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11679936" cy="618849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A76556-35D5-0CC0-C4B7-2F476CFDBB66}"/>
              </a:ext>
            </a:extLst>
          </p:cNvPr>
          <p:cNvCxnSpPr>
            <a:cxnSpLocks/>
          </p:cNvCxnSpPr>
          <p:nvPr/>
        </p:nvCxnSpPr>
        <p:spPr>
          <a:xfrm>
            <a:off x="256031" y="1330777"/>
            <a:ext cx="33840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B6ECD55-9FDD-B891-EDE8-DA75B507A2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1" y="1429967"/>
            <a:ext cx="3384000" cy="27743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C6D3278-1EBF-19B5-CA9F-4048F2B414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032" y="2704290"/>
            <a:ext cx="3384000" cy="1993917"/>
          </a:xfrm>
        </p:spPr>
        <p:txBody>
          <a:bodyPr/>
          <a:lstStyle>
            <a:lvl1pPr marL="0" indent="0">
              <a:buNone/>
              <a:defRPr sz="1100"/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B7E8783-8FF5-23B0-276D-0A07F1BD62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6032" y="1799618"/>
            <a:ext cx="3384000" cy="537780"/>
          </a:xfrm>
        </p:spPr>
        <p:txBody>
          <a:bodyPr/>
          <a:lstStyle>
            <a:lvl1pPr marL="0" indent="0">
              <a:lnSpc>
                <a:spcPct val="114000"/>
              </a:lnSpc>
              <a:buNone/>
              <a:defRPr sz="900"/>
            </a:lvl1pPr>
            <a:lvl2pPr marL="87313" indent="-87313">
              <a:buFont typeface="FK Grotesk SemiMono Medium" pitchFamily="50" charset="0"/>
              <a:buChar char="–"/>
              <a:defRPr sz="700" cap="all" baseline="0"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7E5E104-9F3C-D353-B1E1-FF335DD59F4D}"/>
              </a:ext>
            </a:extLst>
          </p:cNvPr>
          <p:cNvCxnSpPr>
            <a:cxnSpLocks/>
          </p:cNvCxnSpPr>
          <p:nvPr/>
        </p:nvCxnSpPr>
        <p:spPr>
          <a:xfrm>
            <a:off x="4166551" y="1330777"/>
            <a:ext cx="33840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1FE54228-A10E-97DF-E524-B03ADB5641B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66551" y="1429967"/>
            <a:ext cx="3384000" cy="27743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C732D99A-D8D3-A816-5502-9A6386EA314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66552" y="2704290"/>
            <a:ext cx="3384000" cy="1993917"/>
          </a:xfrm>
        </p:spPr>
        <p:txBody>
          <a:bodyPr/>
          <a:lstStyle>
            <a:lvl1pPr marL="0" indent="0">
              <a:buNone/>
              <a:defRPr sz="1100"/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907B1D43-3A57-2F5E-2615-0DDA57A7591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66552" y="1799618"/>
            <a:ext cx="3384000" cy="537780"/>
          </a:xfrm>
        </p:spPr>
        <p:txBody>
          <a:bodyPr/>
          <a:lstStyle>
            <a:lvl1pPr marL="0" indent="0">
              <a:lnSpc>
                <a:spcPct val="114000"/>
              </a:lnSpc>
              <a:buNone/>
              <a:defRPr sz="900"/>
            </a:lvl1pPr>
            <a:lvl2pPr marL="87313" indent="-87313">
              <a:buFont typeface="FK Grotesk SemiMono Medium" pitchFamily="50" charset="0"/>
              <a:buChar char="–"/>
              <a:defRPr sz="700" cap="all" baseline="0"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CD16E73-0070-1BD1-5733-B3A7C73792B1}"/>
              </a:ext>
            </a:extLst>
          </p:cNvPr>
          <p:cNvCxnSpPr>
            <a:cxnSpLocks/>
          </p:cNvCxnSpPr>
          <p:nvPr/>
        </p:nvCxnSpPr>
        <p:spPr>
          <a:xfrm>
            <a:off x="8129016" y="1330777"/>
            <a:ext cx="33840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17291836-0222-7BE1-05AB-7D412688E9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9016" y="1429967"/>
            <a:ext cx="3384000" cy="27743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F85A88C4-8755-EF7E-DCCE-F81303749D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29016" y="1799618"/>
            <a:ext cx="3384000" cy="537780"/>
          </a:xfrm>
        </p:spPr>
        <p:txBody>
          <a:bodyPr/>
          <a:lstStyle>
            <a:lvl1pPr marL="0" indent="0">
              <a:lnSpc>
                <a:spcPct val="114000"/>
              </a:lnSpc>
              <a:buNone/>
              <a:defRPr sz="900"/>
            </a:lvl1pPr>
            <a:lvl2pPr marL="87313" indent="-87313">
              <a:buFont typeface="FK Grotesk SemiMono Medium" pitchFamily="50" charset="0"/>
              <a:buChar char="–"/>
              <a:defRPr sz="700" cap="all" baseline="0"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Chart Placeholder 39">
            <a:extLst>
              <a:ext uri="{FF2B5EF4-FFF2-40B4-BE49-F238E27FC236}">
                <a16:creationId xmlns:a16="http://schemas.microsoft.com/office/drawing/2014/main" id="{D54C3981-D65F-4C51-81FA-BDEF09D7B8A0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8128794" y="2684835"/>
            <a:ext cx="3384550" cy="2208179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85CCF21-CC31-EC1B-29ED-354E41F257C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4915667"/>
            <a:ext cx="5175000" cy="914400"/>
          </a:xfrm>
          <a:solidFill>
            <a:schemeClr val="bg2"/>
          </a:solidFill>
        </p:spPr>
        <p:txBody>
          <a:bodyPr lIns="274320"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4CB1FDD7-EBEE-2F91-93CC-98D689CE30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6849" y="2403531"/>
            <a:ext cx="488335" cy="3146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200" spc="0" baseline="0">
                <a:solidFill>
                  <a:schemeClr val="accent4"/>
                </a:solidFill>
                <a:latin typeface="FK Grotesk" pitchFamily="50" charset="0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84E680CC-40B1-C2FF-BEAB-BEC11C95EF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7369" y="2403531"/>
            <a:ext cx="488335" cy="3146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200" spc="0" baseline="0">
                <a:solidFill>
                  <a:schemeClr val="accent4"/>
                </a:solidFill>
                <a:latin typeface="FK Grotesk" pitchFamily="50" charset="0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022256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Boxes w/Large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1EFB75A-8C10-A48A-262B-881F0C551D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EFB75A-8C10-A48A-262B-881F0C551D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68A5F49-3F08-07C9-77FA-E45E37A8231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256032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5651442-86B3-28DF-7326-2246EC00AB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6032" y="2070644"/>
            <a:ext cx="1313657" cy="498594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D597D52-474F-8332-09AC-7202082CB00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09800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05651BA-DD59-18E8-9270-6F1B62CD8DA0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9109800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A27F198-9DA0-A4F0-9BE3-91D8C422A0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09800" y="2070644"/>
            <a:ext cx="1313657" cy="498594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4A986075-3251-B823-FB49-F25D436E54E9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6158544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689CE70-E1E2-8F3C-BE01-C2D80CD0052C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6158544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B71A3A2-EA42-50A1-04D2-3A9A327E69B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58544" y="2070644"/>
            <a:ext cx="1313657" cy="498594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5F20FF38-6C88-7EEE-8FA9-C6778B337945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3207288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1753C80-B710-6F08-5EA1-B201F7D97201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3207288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2546201B-CCEB-5891-5748-1D6B9D235DE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07287" y="2070644"/>
            <a:ext cx="1313657" cy="498594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6663204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Boxes w/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D181F818-0944-FF00-B10E-3D29C478F3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81F818-0944-FF00-B10E-3D29C478F3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68A5F49-3F08-07C9-77FA-E45E37A8231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256032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D597D52-474F-8332-09AC-7202082CB00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10472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05651BA-DD59-18E8-9270-6F1B62CD8DA0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9110472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4A986075-3251-B823-FB49-F25D436E54E9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6158992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689CE70-E1E2-8F3C-BE01-C2D80CD0052C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6158992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5F20FF38-6C88-7EEE-8FA9-C6778B337945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3207512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1753C80-B710-6F08-5EA1-B201F7D97201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3207512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A76556-35D5-0CC0-C4B7-2F476CFDBB66}"/>
              </a:ext>
            </a:extLst>
          </p:cNvPr>
          <p:cNvCxnSpPr>
            <a:cxnSpLocks/>
          </p:cNvCxnSpPr>
          <p:nvPr/>
        </p:nvCxnSpPr>
        <p:spPr>
          <a:xfrm>
            <a:off x="256032" y="2519172"/>
            <a:ext cx="282549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7369ED-7711-B700-69ED-D7C258C8DDFC}"/>
              </a:ext>
            </a:extLst>
          </p:cNvPr>
          <p:cNvCxnSpPr>
            <a:cxnSpLocks/>
          </p:cNvCxnSpPr>
          <p:nvPr/>
        </p:nvCxnSpPr>
        <p:spPr>
          <a:xfrm>
            <a:off x="3207512" y="2519172"/>
            <a:ext cx="282549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33CA0F-712B-D675-5F27-D639AEFA8CAF}"/>
              </a:ext>
            </a:extLst>
          </p:cNvPr>
          <p:cNvCxnSpPr>
            <a:cxnSpLocks/>
          </p:cNvCxnSpPr>
          <p:nvPr/>
        </p:nvCxnSpPr>
        <p:spPr>
          <a:xfrm>
            <a:off x="6158991" y="2519172"/>
            <a:ext cx="282549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082282-D206-C315-57A1-6E5EDE1B1111}"/>
              </a:ext>
            </a:extLst>
          </p:cNvPr>
          <p:cNvCxnSpPr>
            <a:cxnSpLocks/>
          </p:cNvCxnSpPr>
          <p:nvPr/>
        </p:nvCxnSpPr>
        <p:spPr>
          <a:xfrm>
            <a:off x="9110472" y="2519172"/>
            <a:ext cx="282549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257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Boxes w/Lines, Full P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68273397-27F5-C5E7-179B-835BD28882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8273397-27F5-C5E7-179B-835BD28882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" y="2525795"/>
            <a:ext cx="2409444" cy="3460028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68A5F49-3F08-07C9-77FA-E45E37A8231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256032" y="1438072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D597D52-474F-8332-09AC-7202082CB00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10472" y="2525795"/>
            <a:ext cx="2409444" cy="3460028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05651BA-DD59-18E8-9270-6F1B62CD8DA0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9110472" y="1438072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4A986075-3251-B823-FB49-F25D436E54E9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6158992" y="2525795"/>
            <a:ext cx="2409444" cy="3460028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689CE70-E1E2-8F3C-BE01-C2D80CD0052C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6158992" y="1438072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5F20FF38-6C88-7EEE-8FA9-C6778B337945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3207512" y="2525795"/>
            <a:ext cx="2409444" cy="3460028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1753C80-B710-6F08-5EA1-B201F7D97201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3207512" y="1438072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A76556-35D5-0CC0-C4B7-2F476CFDBB66}"/>
              </a:ext>
            </a:extLst>
          </p:cNvPr>
          <p:cNvCxnSpPr>
            <a:cxnSpLocks/>
          </p:cNvCxnSpPr>
          <p:nvPr/>
        </p:nvCxnSpPr>
        <p:spPr>
          <a:xfrm>
            <a:off x="256032" y="1330777"/>
            <a:ext cx="282549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7369ED-7711-B700-69ED-D7C258C8DDFC}"/>
              </a:ext>
            </a:extLst>
          </p:cNvPr>
          <p:cNvCxnSpPr>
            <a:cxnSpLocks/>
          </p:cNvCxnSpPr>
          <p:nvPr/>
        </p:nvCxnSpPr>
        <p:spPr>
          <a:xfrm>
            <a:off x="3207512" y="1330777"/>
            <a:ext cx="282549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33CA0F-712B-D675-5F27-D639AEFA8CAF}"/>
              </a:ext>
            </a:extLst>
          </p:cNvPr>
          <p:cNvCxnSpPr>
            <a:cxnSpLocks/>
          </p:cNvCxnSpPr>
          <p:nvPr/>
        </p:nvCxnSpPr>
        <p:spPr>
          <a:xfrm>
            <a:off x="6158991" y="1330777"/>
            <a:ext cx="282549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082282-D206-C315-57A1-6E5EDE1B1111}"/>
              </a:ext>
            </a:extLst>
          </p:cNvPr>
          <p:cNvCxnSpPr>
            <a:cxnSpLocks/>
          </p:cNvCxnSpPr>
          <p:nvPr/>
        </p:nvCxnSpPr>
        <p:spPr>
          <a:xfrm>
            <a:off x="9110472" y="1330777"/>
            <a:ext cx="282549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856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3C37B73-5091-FC7D-16D0-73BD573877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C37B73-5091-FC7D-16D0-73BD57387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996CA24-49D8-3892-C694-6602FBEE60C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413759" y="1059367"/>
            <a:ext cx="2772536" cy="497059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lang="en-GB" sz="1200" kern="1200" spc="-10" baseline="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0BD033-C30D-9FDC-01E4-8DAC6EFE54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4148" y="1712068"/>
            <a:ext cx="2771993" cy="1410545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46EA5D-C2E9-5B69-2275-F0767469BCC3}"/>
              </a:ext>
            </a:extLst>
          </p:cNvPr>
          <p:cNvCxnSpPr>
            <a:cxnSpLocks/>
          </p:cNvCxnSpPr>
          <p:nvPr/>
        </p:nvCxnSpPr>
        <p:spPr>
          <a:xfrm>
            <a:off x="6088737" y="758758"/>
            <a:ext cx="0" cy="5334068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52A22E-6204-A5A9-502C-374FE5ABC81C}"/>
              </a:ext>
            </a:extLst>
          </p:cNvPr>
          <p:cNvCxnSpPr>
            <a:cxnSpLocks/>
          </p:cNvCxnSpPr>
          <p:nvPr/>
        </p:nvCxnSpPr>
        <p:spPr>
          <a:xfrm>
            <a:off x="1214402" y="3425792"/>
            <a:ext cx="9748672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05E614F-7151-9D57-F0BA-213E1FE1432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7013643" y="1059367"/>
            <a:ext cx="2772536" cy="497059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lang="en-GB" sz="1200" kern="1200" spc="-10" baseline="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313A3091-0C80-B1BC-6486-92764B6ADCD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014031" y="1712068"/>
            <a:ext cx="2771993" cy="1410545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B130F3-9F5B-1652-BA8F-EAF9714950D9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2413759" y="3734473"/>
            <a:ext cx="2772536" cy="497059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lang="en-GB" sz="1200" kern="1200" spc="-10" baseline="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AEE161C-A068-E95A-2D1B-1E2EB84433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14148" y="4387175"/>
            <a:ext cx="2771993" cy="1705651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5D097C4-C3E4-CE91-D349-8AF51BC27CEB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013643" y="3734473"/>
            <a:ext cx="2772536" cy="497059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lang="en-GB" sz="1200" kern="1200" spc="-10" baseline="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59F8E1A5-0BB5-F94A-B6A6-15A2FAA6C8B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014031" y="4387175"/>
            <a:ext cx="2771993" cy="1705651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8400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C303967-E5DA-A612-FEA9-FCF4E3632F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C303967-E5DA-A612-FEA9-FCF4E3632F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996CA24-49D8-3892-C694-6602FBEE60C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41507" y="1452277"/>
            <a:ext cx="2822706" cy="429068"/>
          </a:xfrm>
          <a:prstGeom prst="homePlate">
            <a:avLst>
              <a:gd name="adj" fmla="val 70404"/>
            </a:avLst>
          </a:prstGeom>
          <a:solidFill>
            <a:schemeClr val="accent3"/>
          </a:solidFill>
        </p:spPr>
        <p:txBody>
          <a:bodyPr lIns="72000" rIns="7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kern="1200" spc="-1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0BD033-C30D-9FDC-01E4-8DAC6EFE54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2557800"/>
            <a:ext cx="2438530" cy="3535025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4B41754-92F3-35BD-C324-DDA734F9373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198716" y="1452277"/>
            <a:ext cx="2822706" cy="429068"/>
          </a:xfrm>
          <a:prstGeom prst="chevron">
            <a:avLst>
              <a:gd name="adj" fmla="val 68137"/>
            </a:avLst>
          </a:prstGeom>
          <a:solidFill>
            <a:schemeClr val="accent3"/>
          </a:solidFill>
        </p:spPr>
        <p:txBody>
          <a:bodyPr lIns="72000" rIns="7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kern="1200" spc="-1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F5C88DA-D38B-4A8A-A76E-CD13842FC2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3241" y="2557800"/>
            <a:ext cx="2438530" cy="3535025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E3440E4-A75A-93E5-D95E-F771357CA6A6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55924" y="1452277"/>
            <a:ext cx="2822706" cy="429068"/>
          </a:xfrm>
          <a:prstGeom prst="chevron">
            <a:avLst>
              <a:gd name="adj" fmla="val 68137"/>
            </a:avLst>
          </a:prstGeom>
          <a:solidFill>
            <a:schemeClr val="accent3"/>
          </a:solidFill>
        </p:spPr>
        <p:txBody>
          <a:bodyPr lIns="72000" rIns="7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kern="1200" spc="-1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FF977EF-311A-4E61-08D8-CB8A6F88293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0449" y="2557800"/>
            <a:ext cx="2438530" cy="3535025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61E8DFB-14A4-001F-C2DC-834ACD0393C1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9113133" y="1452277"/>
            <a:ext cx="2822706" cy="429068"/>
          </a:xfrm>
          <a:prstGeom prst="chevron">
            <a:avLst>
              <a:gd name="adj" fmla="val 68137"/>
            </a:avLst>
          </a:prstGeom>
          <a:solidFill>
            <a:schemeClr val="accent3"/>
          </a:solidFill>
        </p:spPr>
        <p:txBody>
          <a:bodyPr lIns="72000" rIns="7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kern="1200" spc="-1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B3CE88CD-ED0D-495F-1ABC-CA8B640D1DA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7658" y="2557800"/>
            <a:ext cx="2438530" cy="3535025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5747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4A57B57E-9748-4E04-97B4-2934F02684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57B57E-9748-4E04-97B4-2934F0268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E4A5F8E8-BD3B-A050-CCCB-623528800575}"/>
              </a:ext>
            </a:extLst>
          </p:cNvPr>
          <p:cNvSpPr txBox="1">
            <a:spLocks/>
          </p:cNvSpPr>
          <p:nvPr/>
        </p:nvSpPr>
        <p:spPr>
          <a:xfrm>
            <a:off x="11607614" y="8395816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913417F5-EFCF-4F0D-4687-CC422F4F8665}"/>
              </a:ext>
            </a:extLst>
          </p:cNvPr>
          <p:cNvSpPr txBox="1">
            <a:spLocks/>
          </p:cNvSpPr>
          <p:nvPr/>
        </p:nvSpPr>
        <p:spPr>
          <a:xfrm>
            <a:off x="11607614" y="10339854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AF1220A-4A4A-8FEE-DF4D-C489ABE7B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109A241-C6D7-5316-94D5-7FABA1E3614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2" y="1447800"/>
            <a:ext cx="2219985" cy="3445213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5F4D6C0-4CB7-0387-A5AE-CA74E911AD5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58107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97EFD-57AE-6344-D8DF-50D82B45074A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726143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7" name="Text Placeholder 32">
            <a:extLst>
              <a:ext uri="{FF2B5EF4-FFF2-40B4-BE49-F238E27FC236}">
                <a16:creationId xmlns:a16="http://schemas.microsoft.com/office/drawing/2014/main" id="{0F7DCAFF-F9C2-00FB-4EF3-2F2253CD1E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56032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2">
            <a:extLst>
              <a:ext uri="{FF2B5EF4-FFF2-40B4-BE49-F238E27FC236}">
                <a16:creationId xmlns:a16="http://schemas.microsoft.com/office/drawing/2014/main" id="{4D5A9677-8EAB-82CD-DCA6-2E3486D9B8D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713909" y="1447800"/>
            <a:ext cx="2219985" cy="4645025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D66C7C29-1399-9571-35E9-E20CF592304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713909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61A2DA1-9D73-D686-AF90-ED16528A8848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7359134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E92AD8ED-813E-60D0-BF0D-74B03F88558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349440" y="1447800"/>
            <a:ext cx="2219985" cy="4356652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8913E958-6180-57A9-0AC5-6C995CC9AE9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349440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1FDBFAC-4D54-503C-22FD-9B7D3167051B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4992125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599A04D2-092B-FC5A-8CEE-279AA078F30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984971" y="1447800"/>
            <a:ext cx="2219985" cy="4058479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2">
            <a:extLst>
              <a:ext uri="{FF2B5EF4-FFF2-40B4-BE49-F238E27FC236}">
                <a16:creationId xmlns:a16="http://schemas.microsoft.com/office/drawing/2014/main" id="{CE7F9AE5-B996-2031-E933-720ECCD5C43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84971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460B2C77-7061-112B-35EE-4A4B558063AC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2625115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21" name="Text Placeholder 32">
            <a:extLst>
              <a:ext uri="{FF2B5EF4-FFF2-40B4-BE49-F238E27FC236}">
                <a16:creationId xmlns:a16="http://schemas.microsoft.com/office/drawing/2014/main" id="{A65B5BD1-A8E6-81BE-F910-533ADE148CE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620501" y="1447800"/>
            <a:ext cx="2219985" cy="3750365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81983B0F-E697-F67D-75D7-6C6F12E08EA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620501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A7FC60A3-1DD7-E45F-D49C-2D46A5ED06E9}"/>
              </a:ext>
            </a:extLst>
          </p:cNvPr>
          <p:cNvSpPr txBox="1">
            <a:spLocks/>
          </p:cNvSpPr>
          <p:nvPr userDrawn="1"/>
        </p:nvSpPr>
        <p:spPr>
          <a:xfrm>
            <a:off x="11607614" y="8395816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8612E8C7-4B32-B029-1B4B-43C206C6F1D0}"/>
              </a:ext>
            </a:extLst>
          </p:cNvPr>
          <p:cNvSpPr txBox="1">
            <a:spLocks/>
          </p:cNvSpPr>
          <p:nvPr userDrawn="1"/>
        </p:nvSpPr>
        <p:spPr>
          <a:xfrm>
            <a:off x="11607614" y="10339854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</p:spTree>
    <p:extLst>
      <p:ext uri="{BB962C8B-B14F-4D97-AF65-F5344CB8AC3E}">
        <p14:creationId xmlns:p14="http://schemas.microsoft.com/office/powerpoint/2010/main" val="41154955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7CDC2E8-C409-EE7F-572A-6318903FEF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CDC2E8-C409-EE7F-572A-6318903FEF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666049"/>
            <a:ext cx="4286786" cy="1357304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169408" y="245856"/>
            <a:ext cx="3383280" cy="1947672"/>
          </a:xfrm>
          <a:solidFill>
            <a:srgbClr val="FFFFFF"/>
          </a:solidFill>
        </p:spPr>
        <p:txBody>
          <a:bodyPr lIns="468000" tIns="360000" rIns="36000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82F7448-A92B-6A7D-CAD8-C02558C75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279769"/>
            <a:ext cx="4286786" cy="258006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138133-A8AA-48AB-62FE-13D386E273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382" y="2626468"/>
            <a:ext cx="2914836" cy="3466357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8C720344-60F3-0DCD-92A1-CC69C6E24F80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552688" y="245856"/>
            <a:ext cx="3383280" cy="1947672"/>
          </a:xfrm>
          <a:solidFill>
            <a:schemeClr val="accent4"/>
          </a:solidFill>
        </p:spPr>
        <p:txBody>
          <a:bodyPr lIns="468000" tIns="360000" rIns="36000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>
                <a:solidFill>
                  <a:schemeClr val="bg1"/>
                </a:solidFill>
              </a:defRPr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E4A5F8E8-BD3B-A050-CCCB-623528800575}"/>
              </a:ext>
            </a:extLst>
          </p:cNvPr>
          <p:cNvSpPr txBox="1">
            <a:spLocks/>
          </p:cNvSpPr>
          <p:nvPr/>
        </p:nvSpPr>
        <p:spPr>
          <a:xfrm>
            <a:off x="11607614" y="8395816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F4DADEB-C222-F8E1-CC31-51225AE79F8C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5169408" y="2195504"/>
            <a:ext cx="3383280" cy="1947672"/>
          </a:xfrm>
          <a:solidFill>
            <a:schemeClr val="accent4"/>
          </a:solidFill>
        </p:spPr>
        <p:txBody>
          <a:bodyPr lIns="468000" tIns="360000" rIns="36000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>
                <a:solidFill>
                  <a:schemeClr val="bg1"/>
                </a:solidFill>
              </a:defRPr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5F3DBCB-2AC7-3CF5-2563-04E9E319F8DE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8552688" y="2195504"/>
            <a:ext cx="3383280" cy="1947672"/>
          </a:xfrm>
          <a:solidFill>
            <a:srgbClr val="FFFFFF"/>
          </a:solidFill>
        </p:spPr>
        <p:txBody>
          <a:bodyPr lIns="468000" tIns="360000" rIns="36000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913417F5-EFCF-4F0D-4687-CC422F4F8665}"/>
              </a:ext>
            </a:extLst>
          </p:cNvPr>
          <p:cNvSpPr txBox="1">
            <a:spLocks/>
          </p:cNvSpPr>
          <p:nvPr/>
        </p:nvSpPr>
        <p:spPr>
          <a:xfrm>
            <a:off x="11607614" y="10339854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A019990-A8B9-7CD5-5407-7CFB7136CEB6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5169408" y="4145153"/>
            <a:ext cx="3383280" cy="1947672"/>
          </a:xfrm>
          <a:solidFill>
            <a:srgbClr val="FFFFFF"/>
          </a:solidFill>
        </p:spPr>
        <p:txBody>
          <a:bodyPr lIns="468000" tIns="360000" rIns="36000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E119E19F-BA70-96E0-2DA2-0B134E0057A9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8552688" y="4145153"/>
            <a:ext cx="3383280" cy="1947672"/>
          </a:xfrm>
          <a:solidFill>
            <a:schemeClr val="accent4"/>
          </a:solidFill>
        </p:spPr>
        <p:txBody>
          <a:bodyPr lIns="468000" tIns="360000" rIns="36000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>
                <a:solidFill>
                  <a:schemeClr val="bg1"/>
                </a:solidFill>
              </a:defRPr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D109224C-A901-2839-6C1D-E541764996C0}"/>
              </a:ext>
            </a:extLst>
          </p:cNvPr>
          <p:cNvSpPr txBox="1">
            <a:spLocks/>
          </p:cNvSpPr>
          <p:nvPr userDrawn="1"/>
        </p:nvSpPr>
        <p:spPr>
          <a:xfrm>
            <a:off x="11607614" y="8395816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2D469CC9-464D-E8CB-2579-C69858F8B4C9}"/>
              </a:ext>
            </a:extLst>
          </p:cNvPr>
          <p:cNvSpPr txBox="1">
            <a:spLocks/>
          </p:cNvSpPr>
          <p:nvPr userDrawn="1"/>
        </p:nvSpPr>
        <p:spPr>
          <a:xfrm>
            <a:off x="11607614" y="10339854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</p:spTree>
    <p:extLst>
      <p:ext uri="{BB962C8B-B14F-4D97-AF65-F5344CB8AC3E}">
        <p14:creationId xmlns:p14="http://schemas.microsoft.com/office/powerpoint/2010/main" val="37963057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6A092C98-3C7C-E668-97AF-8DB7C71306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A092C98-3C7C-E668-97AF-8DB7C71306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83400" y="1530746"/>
            <a:ext cx="3383280" cy="350286"/>
          </a:xfrm>
          <a:noFill/>
        </p:spPr>
        <p:txBody>
          <a:bodyPr lIns="0" t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82F7448-A92B-6A7D-CAD8-C02558C75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719881" y="265311"/>
            <a:ext cx="1216087" cy="258006"/>
          </a:xfrm>
          <a:prstGeom prst="roundRect">
            <a:avLst>
              <a:gd name="adj" fmla="val 50000"/>
            </a:avLst>
          </a:prstGeom>
          <a:ln w="25400">
            <a:solidFill>
              <a:schemeClr val="accent3"/>
            </a:solidFill>
          </a:ln>
        </p:spPr>
        <p:txBody>
          <a:bodyPr anchor="ctr" anchorCtr="1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00" cap="all" spc="0" baseline="0">
                <a:solidFill>
                  <a:schemeClr val="accent3"/>
                </a:solidFill>
                <a:latin typeface="FK Grotesk SemiMono Bold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138133-A8AA-48AB-62FE-13D386E273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3400" y="2704289"/>
            <a:ext cx="2467363" cy="661481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E4A5F8E8-BD3B-A050-CCCB-623528800575}"/>
              </a:ext>
            </a:extLst>
          </p:cNvPr>
          <p:cNvSpPr txBox="1">
            <a:spLocks/>
          </p:cNvSpPr>
          <p:nvPr/>
        </p:nvSpPr>
        <p:spPr>
          <a:xfrm>
            <a:off x="11607614" y="8395816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913417F5-EFCF-4F0D-4687-CC422F4F8665}"/>
              </a:ext>
            </a:extLst>
          </p:cNvPr>
          <p:cNvSpPr txBox="1">
            <a:spLocks/>
          </p:cNvSpPr>
          <p:nvPr/>
        </p:nvSpPr>
        <p:spPr>
          <a:xfrm>
            <a:off x="11607614" y="10339854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3AC2A16-FEE0-479F-1DB8-3628E0B8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9111705" cy="890377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985A9A-5928-87AB-9296-AFE5794DB1F5}"/>
              </a:ext>
            </a:extLst>
          </p:cNvPr>
          <p:cNvCxnSpPr/>
          <p:nvPr/>
        </p:nvCxnSpPr>
        <p:spPr>
          <a:xfrm>
            <a:off x="256032" y="1447800"/>
            <a:ext cx="0" cy="4281792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FDC7825-E553-758C-5385-55A354E63D49}"/>
              </a:ext>
            </a:extLst>
          </p:cNvPr>
          <p:cNvCxnSpPr>
            <a:cxnSpLocks/>
          </p:cNvCxnSpPr>
          <p:nvPr/>
        </p:nvCxnSpPr>
        <p:spPr>
          <a:xfrm>
            <a:off x="253207" y="3550596"/>
            <a:ext cx="1169273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799D8B6-3793-8214-1417-A7376697316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3400" y="1896894"/>
            <a:ext cx="1225296" cy="704088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06CF319-9F7C-5943-5EA1-89097D1E783A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83400" y="3690287"/>
            <a:ext cx="3383280" cy="350286"/>
          </a:xfrm>
          <a:noFill/>
        </p:spPr>
        <p:txBody>
          <a:bodyPr lIns="0" t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30CA5C18-0CF1-88F3-F7CB-E7C9069459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3400" y="4863830"/>
            <a:ext cx="2467363" cy="661481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F1F0BD43-28C2-CD79-E6B9-494441EB73D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83400" y="4056434"/>
            <a:ext cx="1225296" cy="704088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5EA293F-EC73-3B1F-2B0B-B8E9A720A5A4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4318238" y="1530746"/>
            <a:ext cx="3383280" cy="350286"/>
          </a:xfrm>
          <a:noFill/>
        </p:spPr>
        <p:txBody>
          <a:bodyPr lIns="0" t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A421425A-A628-1733-0D48-BB860C175B0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18238" y="2704289"/>
            <a:ext cx="2467363" cy="661481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4C79E10-6A8A-66DE-A339-7BA055A71D26}"/>
              </a:ext>
            </a:extLst>
          </p:cNvPr>
          <p:cNvCxnSpPr/>
          <p:nvPr/>
        </p:nvCxnSpPr>
        <p:spPr>
          <a:xfrm>
            <a:off x="4190870" y="1447800"/>
            <a:ext cx="0" cy="4281792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icture Placeholder 25">
            <a:extLst>
              <a:ext uri="{FF2B5EF4-FFF2-40B4-BE49-F238E27FC236}">
                <a16:creationId xmlns:a16="http://schemas.microsoft.com/office/drawing/2014/main" id="{AE377B65-6E48-269E-4AB4-3E04F932668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18238" y="1896894"/>
            <a:ext cx="1225296" cy="704088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94712A53-BCF2-0708-1CCE-D25DD239131D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4318238" y="3690287"/>
            <a:ext cx="3383280" cy="350286"/>
          </a:xfrm>
          <a:noFill/>
        </p:spPr>
        <p:txBody>
          <a:bodyPr lIns="0" t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13987500-CEDA-F323-0A89-C4C06BCCDB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18238" y="4863830"/>
            <a:ext cx="2467363" cy="661481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Picture Placeholder 25">
            <a:extLst>
              <a:ext uri="{FF2B5EF4-FFF2-40B4-BE49-F238E27FC236}">
                <a16:creationId xmlns:a16="http://schemas.microsoft.com/office/drawing/2014/main" id="{80DA0707-CA74-E26B-6389-14741514F02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18238" y="4056434"/>
            <a:ext cx="1225296" cy="704088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4C02FC2C-7BF0-BE0F-7519-981B5678B61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8253076" y="1530746"/>
            <a:ext cx="3383280" cy="350286"/>
          </a:xfrm>
          <a:noFill/>
        </p:spPr>
        <p:txBody>
          <a:bodyPr lIns="0" t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AC9040D9-86E7-2958-3785-046A750378C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253076" y="2704289"/>
            <a:ext cx="2467363" cy="661481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D873CD-B70E-C90E-481A-62E8780113A1}"/>
              </a:ext>
            </a:extLst>
          </p:cNvPr>
          <p:cNvCxnSpPr/>
          <p:nvPr/>
        </p:nvCxnSpPr>
        <p:spPr>
          <a:xfrm>
            <a:off x="8125708" y="1447800"/>
            <a:ext cx="0" cy="4281792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Picture Placeholder 25">
            <a:extLst>
              <a:ext uri="{FF2B5EF4-FFF2-40B4-BE49-F238E27FC236}">
                <a16:creationId xmlns:a16="http://schemas.microsoft.com/office/drawing/2014/main" id="{3C72EB3E-23A4-6117-10CC-5938BA46F24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253076" y="1896894"/>
            <a:ext cx="1225296" cy="704088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8E4822CF-83B5-1865-17FB-36EF601D1F8E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8253076" y="3690287"/>
            <a:ext cx="3383280" cy="350286"/>
          </a:xfrm>
          <a:noFill/>
        </p:spPr>
        <p:txBody>
          <a:bodyPr lIns="0" t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59CCABED-4FCA-98B7-4BDC-5EFB9CB58C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253076" y="4863830"/>
            <a:ext cx="2467363" cy="661481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Picture Placeholder 25">
            <a:extLst>
              <a:ext uri="{FF2B5EF4-FFF2-40B4-BE49-F238E27FC236}">
                <a16:creationId xmlns:a16="http://schemas.microsoft.com/office/drawing/2014/main" id="{8B403903-0B16-4F17-8266-B94F1D87C9E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53076" y="4056434"/>
            <a:ext cx="1225296" cy="704088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0FF29669-F8DE-DAE8-2DE3-5D7687ECE86A}"/>
              </a:ext>
            </a:extLst>
          </p:cNvPr>
          <p:cNvSpPr txBox="1">
            <a:spLocks/>
          </p:cNvSpPr>
          <p:nvPr userDrawn="1"/>
        </p:nvSpPr>
        <p:spPr>
          <a:xfrm>
            <a:off x="11607614" y="8395816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5CEF11CA-5CAC-8DB4-0519-05CB3BF3B02A}"/>
              </a:ext>
            </a:extLst>
          </p:cNvPr>
          <p:cNvSpPr txBox="1">
            <a:spLocks/>
          </p:cNvSpPr>
          <p:nvPr userDrawn="1"/>
        </p:nvSpPr>
        <p:spPr>
          <a:xfrm>
            <a:off x="11607614" y="10339854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</p:spTree>
    <p:extLst>
      <p:ext uri="{BB962C8B-B14F-4D97-AF65-F5344CB8AC3E}">
        <p14:creationId xmlns:p14="http://schemas.microsoft.com/office/powerpoint/2010/main" val="643098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B3E01-8E65-179B-D74D-4740908899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B3E01-8E65-179B-D74D-474090889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82F7448-A92B-6A7D-CAD8-C02558C75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719881" y="265311"/>
            <a:ext cx="1216087" cy="258006"/>
          </a:xfrm>
          <a:prstGeom prst="roundRect">
            <a:avLst>
              <a:gd name="adj" fmla="val 50000"/>
            </a:avLst>
          </a:prstGeom>
          <a:ln w="25400">
            <a:solidFill>
              <a:schemeClr val="accent3"/>
            </a:solidFill>
          </a:ln>
        </p:spPr>
        <p:txBody>
          <a:bodyPr anchor="ctr" anchorCtr="1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00" cap="all" spc="0" baseline="0">
                <a:solidFill>
                  <a:schemeClr val="accent3"/>
                </a:solidFill>
                <a:latin typeface="FK Grotesk SemiMono Bold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E4A5F8E8-BD3B-A050-CCCB-623528800575}"/>
              </a:ext>
            </a:extLst>
          </p:cNvPr>
          <p:cNvSpPr txBox="1">
            <a:spLocks/>
          </p:cNvSpPr>
          <p:nvPr/>
        </p:nvSpPr>
        <p:spPr>
          <a:xfrm>
            <a:off x="11607614" y="8395816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913417F5-EFCF-4F0D-4687-CC422F4F8665}"/>
              </a:ext>
            </a:extLst>
          </p:cNvPr>
          <p:cNvSpPr txBox="1">
            <a:spLocks/>
          </p:cNvSpPr>
          <p:nvPr/>
        </p:nvSpPr>
        <p:spPr>
          <a:xfrm>
            <a:off x="11607614" y="10339854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3AC2A16-FEE0-479F-1DB8-3628E0B8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9111705" cy="890377"/>
          </a:xfrm>
        </p:spPr>
        <p:txBody>
          <a:bodyPr vert="horz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FFD6086F-A9C2-A11F-3455-712E2D903A9E}"/>
              </a:ext>
            </a:extLst>
          </p:cNvPr>
          <p:cNvSpPr txBox="1">
            <a:spLocks/>
          </p:cNvSpPr>
          <p:nvPr userDrawn="1"/>
        </p:nvSpPr>
        <p:spPr>
          <a:xfrm>
            <a:off x="11607614" y="8395816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FEED62B2-C6CF-825E-E37B-78A9C66B1475}"/>
              </a:ext>
            </a:extLst>
          </p:cNvPr>
          <p:cNvSpPr txBox="1">
            <a:spLocks/>
          </p:cNvSpPr>
          <p:nvPr userDrawn="1"/>
        </p:nvSpPr>
        <p:spPr>
          <a:xfrm>
            <a:off x="11607614" y="10339854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</p:spTree>
    <p:extLst>
      <p:ext uri="{BB962C8B-B14F-4D97-AF65-F5344CB8AC3E}">
        <p14:creationId xmlns:p14="http://schemas.microsoft.com/office/powerpoint/2010/main" val="454618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Righ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91858CC-774C-BCD5-7D1F-E86081C0DD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1858CC-774C-BCD5-7D1F-E86081C0DD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996CA24-49D8-3892-C694-6602FBEE60C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169813" y="1098277"/>
            <a:ext cx="5349638" cy="266906"/>
          </a:xfrm>
        </p:spPr>
        <p:txBody>
          <a:bodyPr anchor="b"/>
          <a:lstStyle>
            <a:lvl1pPr marL="0" indent="0">
              <a:buNone/>
              <a:defRPr lang="en-GB" sz="1200" kern="1200" spc="-15" baseline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69813" y="1395000"/>
            <a:ext cx="5349638" cy="4697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5023598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Righ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6A7EBDE-3327-063F-65F9-FE336A1B4E0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6A7EBDE-3327-063F-65F9-FE336A1B4E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996CA24-49D8-3892-C694-6602FBEE60C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169813" y="1098277"/>
            <a:ext cx="5349638" cy="266906"/>
          </a:xfrm>
        </p:spPr>
        <p:txBody>
          <a:bodyPr anchor="b"/>
          <a:lstStyle>
            <a:lvl1pPr marL="0" indent="0">
              <a:buNone/>
              <a:defRPr lang="en-GB" sz="1200" kern="1200" spc="-15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69813" y="1395000"/>
            <a:ext cx="5349638" cy="46978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solidFill>
                  <a:schemeClr val="bg1"/>
                </a:solidFill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" name="Free-form: Shape 1">
            <a:extLst>
              <a:ext uri="{FF2B5EF4-FFF2-40B4-BE49-F238E27FC236}">
                <a16:creationId xmlns:a16="http://schemas.microsoft.com/office/drawing/2014/main" id="{45FDECC6-39F6-B026-19A6-F5FA5A92158F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>
              <a:solidFill>
                <a:schemeClr val="accent5"/>
              </a:solidFill>
            </a:endParaRPr>
          </a:p>
        </p:txBody>
      </p:sp>
      <p:sp>
        <p:nvSpPr>
          <p:cNvPr id="3" name="Free-form: Shape 1">
            <a:extLst>
              <a:ext uri="{FF2B5EF4-FFF2-40B4-BE49-F238E27FC236}">
                <a16:creationId xmlns:a16="http://schemas.microsoft.com/office/drawing/2014/main" id="{DD1F3FBC-831B-BB93-E25D-C1D4D9925B8A}"/>
              </a:ext>
            </a:extLst>
          </p:cNvPr>
          <p:cNvSpPr/>
          <p:nvPr userDrawn="1"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3400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2FB06EA-8E09-65DA-FCF4-0A93D2CA2F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FB06EA-8E09-65DA-FCF4-0A93D2CA2F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6003B9BF-269D-84D3-86D3-4F524753F3F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55684" y="1331844"/>
            <a:ext cx="11679936" cy="4760982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00B8968-6D0E-4647-DAF7-BE6001975E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9851702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keaways - 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F3968ED-73A7-F3EC-105C-FF59BF3475D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3968ED-73A7-F3EC-105C-FF59BF3475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11679936" cy="618849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C6D3278-1EBF-19B5-CA9F-4048F2B414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032" y="2631600"/>
            <a:ext cx="5349600" cy="209119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1500"/>
            </a:lvl1pPr>
            <a:lvl2pPr marL="87313" indent="-87313">
              <a:spcBef>
                <a:spcPts val="700"/>
              </a:spcBef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85CCF21-CC31-EC1B-29ED-354E41F257C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4915667"/>
            <a:ext cx="5175000" cy="914400"/>
          </a:xfrm>
          <a:noFill/>
        </p:spPr>
        <p:txBody>
          <a:bodyPr lIns="274320" anchor="ctr" anchorCtr="0"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4CB1FDD7-EBEE-2F91-93CC-98D689CE30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6849" y="2129809"/>
            <a:ext cx="488335" cy="3146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 spc="0" baseline="0">
                <a:solidFill>
                  <a:schemeClr val="tx1"/>
                </a:solidFill>
                <a:latin typeface="FK Grotesk" pitchFamily="50" charset="0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7CC5C508-F7DB-E099-95C4-7FA088611A0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60722" y="2631600"/>
            <a:ext cx="5349600" cy="209119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1500"/>
            </a:lvl1pPr>
            <a:lvl2pPr marL="87313" indent="-87313">
              <a:spcBef>
                <a:spcPts val="700"/>
              </a:spcBef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18523D23-A37F-93B4-F4DD-654E4ED932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31539" y="2129809"/>
            <a:ext cx="488335" cy="3146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 spc="0" baseline="0">
                <a:solidFill>
                  <a:schemeClr val="tx1"/>
                </a:solidFill>
                <a:latin typeface="FK Grotesk" pitchFamily="50" charset="0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2347263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keaways - Quot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E03197A-2551-F876-FF1D-BE0A8DB32F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03197A-2551-F876-FF1D-BE0A8DB32F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11679936" cy="618849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solidFill>
                  <a:schemeClr val="bg1"/>
                </a:solidFill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C6D3278-1EBF-19B5-CA9F-4048F2B414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032" y="2631600"/>
            <a:ext cx="5349600" cy="209119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1500">
                <a:solidFill>
                  <a:schemeClr val="bg1"/>
                </a:solidFill>
              </a:defRPr>
            </a:lvl1pPr>
            <a:lvl2pPr marL="87313" indent="-87313">
              <a:spcBef>
                <a:spcPts val="700"/>
              </a:spcBef>
              <a:buFont typeface="FK Grotesk SemiMono Medium" pitchFamily="50" charset="0"/>
              <a:buChar char="–"/>
              <a:defRPr sz="700" cap="all" spc="0" baseline="0">
                <a:solidFill>
                  <a:schemeClr val="bg1"/>
                </a:solidFill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85CCF21-CC31-EC1B-29ED-354E41F257C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4915667"/>
            <a:ext cx="5175000" cy="914400"/>
          </a:xfrm>
          <a:noFill/>
        </p:spPr>
        <p:txBody>
          <a:bodyPr lIns="274320" anchor="ctr" anchorCtr="0"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4CB1FDD7-EBEE-2F91-93CC-98D689CE30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6849" y="2129809"/>
            <a:ext cx="488335" cy="3146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 spc="0" baseline="0">
                <a:solidFill>
                  <a:schemeClr val="bg1"/>
                </a:solidFill>
                <a:latin typeface="FK Grotesk" pitchFamily="50" charset="0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7CC5C508-F7DB-E099-95C4-7FA088611A0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60722" y="2631600"/>
            <a:ext cx="5349600" cy="209119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1500">
                <a:solidFill>
                  <a:schemeClr val="bg1"/>
                </a:solidFill>
              </a:defRPr>
            </a:lvl1pPr>
            <a:lvl2pPr marL="87313" indent="-87313">
              <a:spcBef>
                <a:spcPts val="700"/>
              </a:spcBef>
              <a:buFont typeface="FK Grotesk SemiMono Medium" pitchFamily="50" charset="0"/>
              <a:buChar char="–"/>
              <a:defRPr sz="700" cap="all" spc="0" baseline="0">
                <a:solidFill>
                  <a:schemeClr val="bg1"/>
                </a:solidFill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18523D23-A37F-93B4-F4DD-654E4ED932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31539" y="2129809"/>
            <a:ext cx="488335" cy="3146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 spc="0" baseline="0">
                <a:solidFill>
                  <a:schemeClr val="bg1"/>
                </a:solidFill>
                <a:latin typeface="FK Grotesk" pitchFamily="50" charset="0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2" name="Free-form: Shape 1">
            <a:extLst>
              <a:ext uri="{FF2B5EF4-FFF2-40B4-BE49-F238E27FC236}">
                <a16:creationId xmlns:a16="http://schemas.microsoft.com/office/drawing/2014/main" id="{4D94A5A6-681B-B61E-E3E6-E2DD0F591D73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>
              <a:solidFill>
                <a:schemeClr val="accent5"/>
              </a:solidFill>
            </a:endParaRPr>
          </a:p>
        </p:txBody>
      </p:sp>
      <p:sp>
        <p:nvSpPr>
          <p:cNvPr id="3" name="Free-form: Shape 1">
            <a:extLst>
              <a:ext uri="{FF2B5EF4-FFF2-40B4-BE49-F238E27FC236}">
                <a16:creationId xmlns:a16="http://schemas.microsoft.com/office/drawing/2014/main" id="{79CE5594-200E-6DBA-5C2D-B60D0A71E598}"/>
              </a:ext>
            </a:extLst>
          </p:cNvPr>
          <p:cNvSpPr/>
          <p:nvPr userDrawn="1"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2270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pactful Qu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2CD3FEC-1495-161C-1567-249DF88385B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CD3FEC-1495-161C-1567-249DF88385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11679936" cy="618849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solidFill>
                  <a:schemeClr val="bg1"/>
                </a:solidFill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7CC5C508-F7DB-E099-95C4-7FA088611A0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163438" y="1517515"/>
            <a:ext cx="7548665" cy="368678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100" baseline="0">
                <a:solidFill>
                  <a:schemeClr val="bg1"/>
                </a:solidFill>
              </a:defRPr>
            </a:lvl1pPr>
            <a:lvl2pPr marL="87313" indent="-87313">
              <a:spcBef>
                <a:spcPts val="700"/>
              </a:spcBef>
              <a:buFont typeface="FK Grotesk SemiMono Medium" pitchFamily="50" charset="0"/>
              <a:buChar char="–"/>
              <a:defRPr sz="700" cap="all" spc="0" baseline="0">
                <a:solidFill>
                  <a:schemeClr val="bg1"/>
                </a:solidFill>
                <a:latin typeface="FK Grotesk SemiMono Medium" pitchFamily="50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Free-form: Shape 1">
            <a:extLst>
              <a:ext uri="{FF2B5EF4-FFF2-40B4-BE49-F238E27FC236}">
                <a16:creationId xmlns:a16="http://schemas.microsoft.com/office/drawing/2014/main" id="{4D94A5A6-681B-B61E-E3E6-E2DD0F591D73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>
              <a:solidFill>
                <a:schemeClr val="accent5"/>
              </a:solidFill>
            </a:endParaRPr>
          </a:p>
        </p:txBody>
      </p:sp>
      <p:sp>
        <p:nvSpPr>
          <p:cNvPr id="3" name="Free-form: Shape 1">
            <a:extLst>
              <a:ext uri="{FF2B5EF4-FFF2-40B4-BE49-F238E27FC236}">
                <a16:creationId xmlns:a16="http://schemas.microsoft.com/office/drawing/2014/main" id="{AAE3E802-0DF8-E8DA-2FF4-1B278F2DBBDE}"/>
              </a:ext>
            </a:extLst>
          </p:cNvPr>
          <p:cNvSpPr/>
          <p:nvPr userDrawn="1"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32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se Study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4A5703E-2790-3A39-C03B-795F04C148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A5703E-2790-3A39-C03B-795F04C148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8"/>
            <a:ext cx="5779800" cy="267807"/>
          </a:xfrm>
        </p:spPr>
        <p:txBody>
          <a:bodyPr vert="horz"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08408" y="1972800"/>
            <a:ext cx="3808800" cy="4113607"/>
          </a:xfrm>
        </p:spPr>
        <p:txBody>
          <a:bodyPr numCol="2" spcCol="216000"/>
          <a:lstStyle>
            <a:lvl1pPr marL="0" indent="0">
              <a:lnSpc>
                <a:spcPct val="111000"/>
              </a:lnSpc>
              <a:spcBef>
                <a:spcPts val="0"/>
              </a:spcBef>
              <a:buNone/>
              <a:defRPr sz="900">
                <a:solidFill>
                  <a:schemeClr val="accent5"/>
                </a:solidFill>
              </a:defRPr>
            </a:lvl1pPr>
            <a:lvl2pPr marL="0" indent="0">
              <a:lnSpc>
                <a:spcPct val="111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2pPr>
            <a:lvl3pPr>
              <a:defRPr sz="90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solidFill>
                  <a:schemeClr val="bg1"/>
                </a:solidFill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" name="Free-form: Shape 1">
            <a:extLst>
              <a:ext uri="{FF2B5EF4-FFF2-40B4-BE49-F238E27FC236}">
                <a16:creationId xmlns:a16="http://schemas.microsoft.com/office/drawing/2014/main" id="{45FDECC6-39F6-B026-19A6-F5FA5A92158F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>
              <a:solidFill>
                <a:schemeClr val="accent5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7D5A6-0DD8-01B5-8CB1-D21A8DE9E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1944000"/>
            <a:ext cx="2826000" cy="41424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5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9D76E85-3414-9C1D-B3D2-899EDAD157A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569708" y="1999040"/>
            <a:ext cx="4366260" cy="408736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E4387F9-78B8-BA52-5D85-5410E1B98B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569708" y="245856"/>
            <a:ext cx="1545109" cy="5257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5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726F80B-4786-245E-CE62-C528F5D9C6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54151" y="245856"/>
            <a:ext cx="1545109" cy="5257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5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5A9736E-C2EF-96E1-638A-70352A8242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569708" y="907336"/>
            <a:ext cx="1545109" cy="2405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5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4133224-1B5B-F093-F7BB-E2D7A09AED2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7100" y="1510760"/>
            <a:ext cx="824976" cy="240507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00" spc="0" baseline="0">
                <a:solidFill>
                  <a:schemeClr val="accent2"/>
                </a:solidFill>
              </a:defRPr>
            </a:lvl1pPr>
            <a:lvl2pPr marL="108000" indent="0">
              <a:buNone/>
              <a:defRPr>
                <a:solidFill>
                  <a:schemeClr val="bg1"/>
                </a:solidFill>
              </a:defRPr>
            </a:lvl2pPr>
            <a:lvl3pPr marL="216000" indent="0">
              <a:buNone/>
              <a:defRPr>
                <a:solidFill>
                  <a:schemeClr val="bg1"/>
                </a:solidFill>
              </a:defRPr>
            </a:lvl3pPr>
            <a:lvl4pPr marL="324000" indent="0">
              <a:buNone/>
              <a:defRPr>
                <a:solidFill>
                  <a:schemeClr val="bg1"/>
                </a:solidFill>
              </a:defRPr>
            </a:lvl4pPr>
            <a:lvl5pPr marL="432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C8ECFD1-4F40-273D-AE88-8B6A4E4BBD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00100" y="1510760"/>
            <a:ext cx="824976" cy="240507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00" spc="0" baseline="0">
                <a:solidFill>
                  <a:srgbClr val="FFFF00"/>
                </a:solidFill>
              </a:defRPr>
            </a:lvl1pPr>
            <a:lvl2pPr marL="108000" indent="0">
              <a:buNone/>
              <a:defRPr>
                <a:solidFill>
                  <a:schemeClr val="bg1"/>
                </a:solidFill>
              </a:defRPr>
            </a:lvl2pPr>
            <a:lvl3pPr marL="216000" indent="0">
              <a:buNone/>
              <a:defRPr>
                <a:solidFill>
                  <a:schemeClr val="bg1"/>
                </a:solidFill>
              </a:defRPr>
            </a:lvl3pPr>
            <a:lvl4pPr marL="324000" indent="0">
              <a:buNone/>
              <a:defRPr>
                <a:solidFill>
                  <a:schemeClr val="bg1"/>
                </a:solidFill>
              </a:defRPr>
            </a:lvl4pPr>
            <a:lvl5pPr marL="432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C8C255C1-B7E7-6F3F-C401-072691AB856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743099" y="1510760"/>
            <a:ext cx="824976" cy="240507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00" spc="0" baseline="0">
                <a:solidFill>
                  <a:schemeClr val="accent4"/>
                </a:solidFill>
              </a:defRPr>
            </a:lvl1pPr>
            <a:lvl2pPr marL="108000" indent="0">
              <a:buNone/>
              <a:defRPr>
                <a:solidFill>
                  <a:schemeClr val="bg1"/>
                </a:solidFill>
              </a:defRPr>
            </a:lvl2pPr>
            <a:lvl3pPr marL="216000" indent="0">
              <a:buNone/>
              <a:defRPr>
                <a:solidFill>
                  <a:schemeClr val="bg1"/>
                </a:solidFill>
              </a:defRPr>
            </a:lvl3pPr>
            <a:lvl4pPr marL="324000" indent="0">
              <a:buNone/>
              <a:defRPr>
                <a:solidFill>
                  <a:schemeClr val="bg1"/>
                </a:solidFill>
              </a:defRPr>
            </a:lvl4pPr>
            <a:lvl5pPr marL="432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CE7F0E1-EEBF-A32F-38E3-F0B045F3AB7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2" y="604800"/>
            <a:ext cx="5779800" cy="884114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2000" spc="-55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-form: Shape 1">
            <a:extLst>
              <a:ext uri="{FF2B5EF4-FFF2-40B4-BE49-F238E27FC236}">
                <a16:creationId xmlns:a16="http://schemas.microsoft.com/office/drawing/2014/main" id="{5E4345AD-45DE-90C8-5E1D-03F709172043}"/>
              </a:ext>
            </a:extLst>
          </p:cNvPr>
          <p:cNvSpPr/>
          <p:nvPr userDrawn="1"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2096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E35A830F-C20B-9CF2-6710-70C020E7F1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5A830F-C20B-9CF2-6710-70C020E7F1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0461F37-C73C-B282-AA90-88B4A0B7F6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69708" y="907336"/>
            <a:ext cx="1545109" cy="5257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8"/>
            <a:ext cx="5779800" cy="267807"/>
          </a:xfrm>
        </p:spPr>
        <p:txBody>
          <a:bodyPr vert="horz"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08408" y="3599234"/>
            <a:ext cx="3808800" cy="2493591"/>
          </a:xfrm>
        </p:spPr>
        <p:txBody>
          <a:bodyPr numCol="2" spcCol="216000"/>
          <a:lstStyle>
            <a:lvl1pPr marL="0" indent="0">
              <a:lnSpc>
                <a:spcPct val="111000"/>
              </a:lnSpc>
              <a:spcBef>
                <a:spcPts val="0"/>
              </a:spcBef>
              <a:buNone/>
              <a:defRPr sz="900">
                <a:solidFill>
                  <a:schemeClr val="accent4"/>
                </a:solidFill>
              </a:defRPr>
            </a:lvl1pPr>
            <a:lvl2pPr marL="0" indent="0">
              <a:lnSpc>
                <a:spcPct val="111000"/>
              </a:lnSpc>
              <a:spcBef>
                <a:spcPts val="0"/>
              </a:spcBef>
              <a:buNone/>
              <a:defRPr sz="900">
                <a:solidFill>
                  <a:schemeClr val="tx1"/>
                </a:solidFill>
              </a:defRPr>
            </a:lvl2pPr>
            <a:lvl3pPr>
              <a:defRPr sz="90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solidFill>
                  <a:schemeClr val="tx1"/>
                </a:solidFill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7D5A6-0DD8-01B5-8CB1-D21A8DE9E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1944000"/>
            <a:ext cx="2826000" cy="41424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9D76E85-3414-9C1D-B3D2-899EDAD157A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569708" y="1999040"/>
            <a:ext cx="4366260" cy="408736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E4387F9-78B8-BA52-5D85-5410E1B98B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569708" y="245856"/>
            <a:ext cx="1545109" cy="5257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726F80B-4786-245E-CE62-C528F5D9C6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54151" y="245856"/>
            <a:ext cx="2391787" cy="5257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CE7F0E1-EEBF-A32F-38E3-F0B045F3AB7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2" y="604800"/>
            <a:ext cx="5779800" cy="884114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2000" spc="-55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607F3E-3058-D6C0-A0CA-6C9979393F9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9831" y="1944000"/>
            <a:ext cx="3807377" cy="7505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D59F4FF-C12C-2044-D076-DD21909066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9832" y="2858401"/>
            <a:ext cx="1819369" cy="51223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DD97C11-5CC1-FBA4-B734-F20BA7B5E10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186316" y="2858400"/>
            <a:ext cx="1830892" cy="51223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029579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Light no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1FC10CB-911C-1121-9386-9E0E8804F4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FC10CB-911C-1121-9386-9E0E8804F4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8"/>
            <a:ext cx="9646726" cy="267807"/>
          </a:xfrm>
        </p:spPr>
        <p:txBody>
          <a:bodyPr vert="horz"/>
          <a:lstStyle>
            <a:lvl1pPr>
              <a:defRPr sz="20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08408" y="4095344"/>
            <a:ext cx="5779800" cy="1997481"/>
          </a:xfrm>
        </p:spPr>
        <p:txBody>
          <a:bodyPr numCol="2" spcCol="216000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900">
                <a:solidFill>
                  <a:schemeClr val="accent3"/>
                </a:solidFill>
              </a:defRPr>
            </a:lvl1pPr>
            <a:lvl2pPr marL="0" indent="0">
              <a:lnSpc>
                <a:spcPct val="125000"/>
              </a:lnSpc>
              <a:spcBef>
                <a:spcPts val="0"/>
              </a:spcBef>
              <a:buNone/>
              <a:defRPr sz="900">
                <a:solidFill>
                  <a:schemeClr val="tx1"/>
                </a:solidFill>
              </a:defRPr>
            </a:lvl2pPr>
            <a:lvl3pPr>
              <a:defRPr sz="90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solidFill>
                  <a:schemeClr val="tx1"/>
                </a:solidFill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7D5A6-0DD8-01B5-8CB1-D21A8DE9E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1429967"/>
            <a:ext cx="2826000" cy="465644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CE7F0E1-EEBF-A32F-38E3-F0B045F3AB7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2" y="604801"/>
            <a:ext cx="9646726" cy="548434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2000" spc="-55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D96BC17-C4A9-9174-AE67-633C5D7D620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13240" y="1429967"/>
            <a:ext cx="2826000" cy="96361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D410B24-968F-8CF3-0D6C-2596D7086A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150993" y="1429967"/>
            <a:ext cx="1767322" cy="96361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DE1F40C-BC47-2BE8-7248-3416FC5DE26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135436" y="1429967"/>
            <a:ext cx="1767322" cy="96361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2087CD94-F4F9-BABD-E178-8F3F016ADA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0100423" y="1429967"/>
            <a:ext cx="1767322" cy="96361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B00FF6B-1F57-C4EF-7578-7A444972539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13240" y="2626469"/>
            <a:ext cx="2826000" cy="11921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BB5B24B-87DB-B708-AA7E-625C73FCF9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50992" y="2626468"/>
            <a:ext cx="2826000" cy="119214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3F5DA9C3-C847-7D2B-8B6D-F8ABB18D829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122607" y="2626469"/>
            <a:ext cx="2826000" cy="1196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959044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t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A9C2550-5F7D-8767-3106-461051ECD8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9C2550-5F7D-8767-3106-461051ECD8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7D4FA77A-E040-13F3-B87F-A29B184ACE9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540082" y="4361302"/>
            <a:ext cx="2395538" cy="1731524"/>
          </a:xfrm>
          <a:solidFill>
            <a:schemeClr val="accent6"/>
          </a:solidFill>
        </p:spPr>
        <p:txBody>
          <a:bodyPr lIns="252000" tIns="648000" rIns="216000"/>
          <a:lstStyle>
            <a:lvl1pPr marL="0" indent="0">
              <a:spcAft>
                <a:spcPts val="750"/>
              </a:spcAft>
              <a:buNone/>
              <a:defRPr sz="700" cap="all" spc="0" baseline="0">
                <a:solidFill>
                  <a:schemeClr val="bg1"/>
                </a:solidFill>
                <a:latin typeface="FK Grotesk SemiMono Medium" pitchFamily="50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buNone/>
              <a:defRPr sz="1000" b="0">
                <a:solidFill>
                  <a:schemeClr val="bg1"/>
                </a:solidFill>
                <a:latin typeface="FK Grotesk" pitchFamily="50" charset="0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FK Grotesk" pitchFamily="50" charset="0"/>
              </a:defRPr>
            </a:lvl3pPr>
            <a:lvl4pPr marL="3240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9646726" cy="452632"/>
          </a:xfrm>
        </p:spPr>
        <p:txBody>
          <a:bodyPr vert="horz"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solidFill>
                  <a:schemeClr val="tx1"/>
                </a:solidFill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7D5A6-0DD8-01B5-8CB1-D21A8DE9E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950400"/>
            <a:ext cx="2826000" cy="566925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550"/>
              </a:spcAft>
              <a:buNone/>
              <a:defRPr sz="800" spc="0" baseline="0">
                <a:solidFill>
                  <a:schemeClr val="accent2"/>
                </a:solidFill>
                <a:latin typeface="FK Grotesk SemiMono Medium" pitchFamily="50" charset="0"/>
              </a:defRPr>
            </a:lvl1pPr>
            <a:lvl2pPr marL="0" indent="0">
              <a:lnSpc>
                <a:spcPct val="95000"/>
              </a:lnSpc>
              <a:spcBef>
                <a:spcPts val="15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D96BC17-C4A9-9174-AE67-633C5D7D620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7240" y="1556425"/>
            <a:ext cx="2694792" cy="8371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EF1618D-0A41-B4F3-9987-A4A8F682DAC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42423" y="950400"/>
            <a:ext cx="2826000" cy="566925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550"/>
              </a:spcAft>
              <a:buNone/>
              <a:defRPr sz="800" spc="0" baseline="0">
                <a:solidFill>
                  <a:schemeClr val="accent2"/>
                </a:solidFill>
                <a:latin typeface="FK Grotesk SemiMono Medium" pitchFamily="50" charset="0"/>
              </a:defRPr>
            </a:lvl1pPr>
            <a:lvl2pPr marL="0" indent="0">
              <a:lnSpc>
                <a:spcPct val="95000"/>
              </a:lnSpc>
              <a:spcBef>
                <a:spcPts val="15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72FBC6B4-1D4A-2A0A-B80D-DD17206C22E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373632" y="1556425"/>
            <a:ext cx="2694792" cy="8371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4232110-08CB-5D96-1733-C18650F4E77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80176" y="950400"/>
            <a:ext cx="2826000" cy="566925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550"/>
              </a:spcAft>
              <a:buNone/>
              <a:defRPr sz="800" spc="0" baseline="0">
                <a:solidFill>
                  <a:schemeClr val="accent2"/>
                </a:solidFill>
                <a:latin typeface="FK Grotesk SemiMono Medium" pitchFamily="50" charset="0"/>
              </a:defRPr>
            </a:lvl1pPr>
            <a:lvl2pPr marL="0" indent="0">
              <a:lnSpc>
                <a:spcPct val="95000"/>
              </a:lnSpc>
              <a:spcBef>
                <a:spcPts val="15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3B8793BD-A481-F2A4-AD51-BFB193BB9BE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311385" y="1556425"/>
            <a:ext cx="2694792" cy="837160"/>
          </a:xfrm>
          <a:solidFill>
            <a:schemeClr val="bg1"/>
          </a:solid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able Placeholder 28">
            <a:extLst>
              <a:ext uri="{FF2B5EF4-FFF2-40B4-BE49-F238E27FC236}">
                <a16:creationId xmlns:a16="http://schemas.microsoft.com/office/drawing/2014/main" id="{8FF7E244-9C29-18A5-8371-FC4F4AE64663}"/>
              </a:ext>
            </a:extLst>
          </p:cNvPr>
          <p:cNvSpPr>
            <a:spLocks noGrp="1"/>
          </p:cNvSpPr>
          <p:nvPr>
            <p:ph type="tbl" sz="quarter" idx="38"/>
          </p:nvPr>
        </p:nvSpPr>
        <p:spPr>
          <a:xfrm>
            <a:off x="256032" y="3180557"/>
            <a:ext cx="8858600" cy="301466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3A66611-A8FC-5BF5-7964-613DD4A11C0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40082" y="992221"/>
            <a:ext cx="2395537" cy="3599235"/>
          </a:xfrm>
          <a:custGeom>
            <a:avLst/>
            <a:gdLst>
              <a:gd name="connsiteX0" fmla="*/ 0 w 4791074"/>
              <a:gd name="connsiteY0" fmla="*/ 0 h 7198469"/>
              <a:gd name="connsiteX1" fmla="*/ 4791074 w 4791074"/>
              <a:gd name="connsiteY1" fmla="*/ 0 h 7198469"/>
              <a:gd name="connsiteX2" fmla="*/ 4791074 w 4791074"/>
              <a:gd name="connsiteY2" fmla="*/ 7198469 h 7198469"/>
              <a:gd name="connsiteX3" fmla="*/ 4791072 w 4791074"/>
              <a:gd name="connsiteY3" fmla="*/ 7198469 h 7198469"/>
              <a:gd name="connsiteX4" fmla="*/ 4791072 w 4791074"/>
              <a:gd name="connsiteY4" fmla="*/ 6803607 h 7198469"/>
              <a:gd name="connsiteX5" fmla="*/ 2534256 w 4791074"/>
              <a:gd name="connsiteY5" fmla="*/ 7198469 h 7198469"/>
              <a:gd name="connsiteX6" fmla="*/ 2256816 w 4791074"/>
              <a:gd name="connsiteY6" fmla="*/ 7198469 h 7198469"/>
              <a:gd name="connsiteX7" fmla="*/ 0 w 4791074"/>
              <a:gd name="connsiteY7" fmla="*/ 6803607 h 7198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91074" h="7198469">
                <a:moveTo>
                  <a:pt x="0" y="0"/>
                </a:moveTo>
                <a:lnTo>
                  <a:pt x="4791074" y="0"/>
                </a:lnTo>
                <a:lnTo>
                  <a:pt x="4791074" y="7198469"/>
                </a:lnTo>
                <a:lnTo>
                  <a:pt x="4791072" y="7198469"/>
                </a:lnTo>
                <a:lnTo>
                  <a:pt x="4791072" y="6803607"/>
                </a:lnTo>
                <a:lnTo>
                  <a:pt x="2534256" y="7198469"/>
                </a:lnTo>
                <a:lnTo>
                  <a:pt x="2256816" y="7198469"/>
                </a:lnTo>
                <a:lnTo>
                  <a:pt x="0" y="6803607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252000" tIns="252000" rIns="216000">
            <a:noAutofit/>
          </a:bodyPr>
          <a:lstStyle>
            <a:lvl1pPr marL="0" indent="0">
              <a:spcAft>
                <a:spcPts val="750"/>
              </a:spcAft>
              <a:buNone/>
              <a:defRPr sz="700" cap="all" spc="0" baseline="0">
                <a:solidFill>
                  <a:schemeClr val="bg1"/>
                </a:solidFill>
                <a:latin typeface="FK Grotesk SemiMono Medium" pitchFamily="50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buNone/>
              <a:defRPr sz="1000" b="1">
                <a:solidFill>
                  <a:schemeClr val="bg1"/>
                </a:solidFill>
                <a:latin typeface="FK Grotesk" pitchFamily="50" charset="0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FK Grotesk" pitchFamily="50" charset="0"/>
              </a:defRPr>
            </a:lvl3pPr>
            <a:lvl4pPr marL="3240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517332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2EDE6BC-8875-CBA7-17A1-37646D2F05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EDE6BC-8875-CBA7-17A1-37646D2F05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2E74B50-C976-82C2-0F5E-B0960D9849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059443854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6BAD6D-CD5F-6A8F-626E-98358981D1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6BAD6D-CD5F-6A8F-626E-98358981D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2E74B50-C976-82C2-0F5E-B0960D9849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750" spc="-5" baseline="0">
                <a:solidFill>
                  <a:schemeClr val="bg1"/>
                </a:solidFill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3" name="Free-form: Shape 2">
            <a:extLst>
              <a:ext uri="{FF2B5EF4-FFF2-40B4-BE49-F238E27FC236}">
                <a16:creationId xmlns:a16="http://schemas.microsoft.com/office/drawing/2014/main" id="{9516E7CE-9DE2-6C36-6B93-C8630E425449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>
              <a:solidFill>
                <a:schemeClr val="accent5"/>
              </a:solidFill>
            </a:endParaRPr>
          </a:p>
        </p:txBody>
      </p:sp>
      <p:sp>
        <p:nvSpPr>
          <p:cNvPr id="7" name="Free-form: Shape 2">
            <a:extLst>
              <a:ext uri="{FF2B5EF4-FFF2-40B4-BE49-F238E27FC236}">
                <a16:creationId xmlns:a16="http://schemas.microsoft.com/office/drawing/2014/main" id="{5E9702C7-17F0-64EF-7FA3-D2E792F60563}"/>
              </a:ext>
            </a:extLst>
          </p:cNvPr>
          <p:cNvSpPr/>
          <p:nvPr userDrawn="1"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7610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9849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A1D4B83-CA28-7D1B-69E7-A1EE2E3D38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1D4B83-CA28-7D1B-69E7-A1EE2E3D3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D419F76-EC68-064A-D0E8-790643D6D6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2006626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89872E8-1560-E33C-A1ED-B203378F7C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9872E8-1560-E33C-A1ED-B203378F7C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32" y="1098277"/>
            <a:ext cx="5349638" cy="266906"/>
          </a:xfrm>
        </p:spPr>
        <p:txBody>
          <a:bodyPr anchor="b"/>
          <a:lstStyle>
            <a:lvl1pPr marL="0" indent="0">
              <a:buNone/>
              <a:defRPr lang="en-GB" sz="1200" b="1" kern="1200" spc="-15" baseline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" y="1395000"/>
            <a:ext cx="5349638" cy="46978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996CA24-49D8-3892-C694-6602FBEE60C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169813" y="1098277"/>
            <a:ext cx="5349638" cy="266906"/>
          </a:xfrm>
        </p:spPr>
        <p:txBody>
          <a:bodyPr anchor="b"/>
          <a:lstStyle>
            <a:lvl1pPr marL="0" indent="0">
              <a:buNone/>
              <a:defRPr lang="en-GB" sz="1200" b="1" kern="1200" spc="-15" baseline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69813" y="1395000"/>
            <a:ext cx="5349638" cy="46978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8619547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5020619-BE23-C524-6617-D2496B773C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020619-BE23-C524-6617-D2496B773C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2E74B50-C976-82C2-0F5E-B0960D9849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7651175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EF2DB218-29F0-A9C1-F92A-97A9F11AE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2DB218-29F0-A9C1-F92A-97A9F11AE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0" y="691200"/>
            <a:ext cx="7467358" cy="1540566"/>
          </a:xfrm>
        </p:spPr>
        <p:txBody>
          <a:bodyPr vert="horz" anchor="b">
            <a:normAutofit/>
          </a:bodyPr>
          <a:lstStyle>
            <a:lvl1pPr algn="l">
              <a:lnSpc>
                <a:spcPct val="88000"/>
              </a:lnSpc>
              <a:defRPr sz="5400" spc="-15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0" y="2334600"/>
            <a:ext cx="7467358" cy="512762"/>
          </a:xfrm>
        </p:spPr>
        <p:txBody>
          <a:bodyPr>
            <a:normAutofit/>
          </a:bodyPr>
          <a:lstStyle>
            <a:lvl1pPr marL="0" indent="0" algn="l">
              <a:lnSpc>
                <a:spcPct val="98000"/>
              </a:lnSpc>
              <a:spcBef>
                <a:spcPts val="0"/>
              </a:spcBef>
              <a:buNone/>
              <a:defRPr sz="2000" spc="-55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F59106-972B-299C-D5DA-6BA7A053EC2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56032" y="6350508"/>
            <a:ext cx="1339596" cy="251244"/>
            <a:chOff x="11563349" y="6740419"/>
            <a:chExt cx="1266825" cy="237595"/>
          </a:xfrm>
          <a:solidFill>
            <a:schemeClr val="bg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C88B326C-95E8-8F16-F3CB-76D0FA39DE7E}"/>
                </a:ext>
              </a:extLst>
            </p:cNvPr>
            <p:cNvSpPr/>
            <p:nvPr/>
          </p:nvSpPr>
          <p:spPr>
            <a:xfrm>
              <a:off x="11563349" y="6740419"/>
              <a:ext cx="207262" cy="233403"/>
            </a:xfrm>
            <a:custGeom>
              <a:avLst/>
              <a:gdLst>
                <a:gd name="connsiteX0" fmla="*/ 169545 w 207262"/>
                <a:gd name="connsiteY0" fmla="*/ 103293 h 233403"/>
                <a:gd name="connsiteX1" fmla="*/ 167640 w 207262"/>
                <a:gd name="connsiteY1" fmla="*/ 106151 h 233403"/>
                <a:gd name="connsiteX2" fmla="*/ 74295 w 207262"/>
                <a:gd name="connsiteY2" fmla="*/ 51858 h 233403"/>
                <a:gd name="connsiteX3" fmla="*/ 76200 w 207262"/>
                <a:gd name="connsiteY3" fmla="*/ 49001 h 233403"/>
                <a:gd name="connsiteX4" fmla="*/ 92392 w 207262"/>
                <a:gd name="connsiteY4" fmla="*/ 21378 h 233403"/>
                <a:gd name="connsiteX5" fmla="*/ 93345 w 207262"/>
                <a:gd name="connsiteY5" fmla="*/ 22331 h 233403"/>
                <a:gd name="connsiteX6" fmla="*/ 186690 w 207262"/>
                <a:gd name="connsiteY6" fmla="*/ 75671 h 233403"/>
                <a:gd name="connsiteX7" fmla="*/ 169545 w 207262"/>
                <a:gd name="connsiteY7" fmla="*/ 103293 h 233403"/>
                <a:gd name="connsiteX8" fmla="*/ 76200 w 207262"/>
                <a:gd name="connsiteY8" fmla="*/ 154728 h 233403"/>
                <a:gd name="connsiteX9" fmla="*/ 76200 w 207262"/>
                <a:gd name="connsiteY9" fmla="*/ 78528 h 233403"/>
                <a:gd name="connsiteX10" fmla="*/ 141922 w 207262"/>
                <a:gd name="connsiteY10" fmla="*/ 116628 h 233403"/>
                <a:gd name="connsiteX11" fmla="*/ 76200 w 207262"/>
                <a:gd name="connsiteY11" fmla="*/ 154728 h 233403"/>
                <a:gd name="connsiteX12" fmla="*/ 90488 w 207262"/>
                <a:gd name="connsiteY12" fmla="*/ 210926 h 233403"/>
                <a:gd name="connsiteX13" fmla="*/ 73342 w 207262"/>
                <a:gd name="connsiteY13" fmla="*/ 180446 h 233403"/>
                <a:gd name="connsiteX14" fmla="*/ 74295 w 207262"/>
                <a:gd name="connsiteY14" fmla="*/ 179493 h 233403"/>
                <a:gd name="connsiteX15" fmla="*/ 166688 w 207262"/>
                <a:gd name="connsiteY15" fmla="*/ 126153 h 233403"/>
                <a:gd name="connsiteX16" fmla="*/ 168592 w 207262"/>
                <a:gd name="connsiteY16" fmla="*/ 129963 h 233403"/>
                <a:gd name="connsiteX17" fmla="*/ 183833 w 207262"/>
                <a:gd name="connsiteY17" fmla="*/ 156633 h 233403"/>
                <a:gd name="connsiteX18" fmla="*/ 90488 w 207262"/>
                <a:gd name="connsiteY18" fmla="*/ 210926 h 233403"/>
                <a:gd name="connsiteX19" fmla="*/ 55245 w 207262"/>
                <a:gd name="connsiteY19" fmla="*/ 170921 h 233403"/>
                <a:gd name="connsiteX20" fmla="*/ 20003 w 207262"/>
                <a:gd name="connsiteY20" fmla="*/ 170921 h 233403"/>
                <a:gd name="connsiteX21" fmla="*/ 20003 w 207262"/>
                <a:gd name="connsiteY21" fmla="*/ 62336 h 233403"/>
                <a:gd name="connsiteX22" fmla="*/ 55245 w 207262"/>
                <a:gd name="connsiteY22" fmla="*/ 62336 h 233403"/>
                <a:gd name="connsiteX23" fmla="*/ 55245 w 207262"/>
                <a:gd name="connsiteY23" fmla="*/ 170921 h 233403"/>
                <a:gd name="connsiteX24" fmla="*/ 206692 w 207262"/>
                <a:gd name="connsiteY24" fmla="*/ 162348 h 233403"/>
                <a:gd name="connsiteX25" fmla="*/ 204788 w 207262"/>
                <a:gd name="connsiteY25" fmla="*/ 149966 h 233403"/>
                <a:gd name="connsiteX26" fmla="*/ 185738 w 207262"/>
                <a:gd name="connsiteY26" fmla="*/ 116628 h 233403"/>
                <a:gd name="connsiteX27" fmla="*/ 204788 w 207262"/>
                <a:gd name="connsiteY27" fmla="*/ 83291 h 233403"/>
                <a:gd name="connsiteX28" fmla="*/ 206692 w 207262"/>
                <a:gd name="connsiteY28" fmla="*/ 70908 h 233403"/>
                <a:gd name="connsiteX29" fmla="*/ 199072 w 207262"/>
                <a:gd name="connsiteY29" fmla="*/ 61383 h 233403"/>
                <a:gd name="connsiteX30" fmla="*/ 97155 w 207262"/>
                <a:gd name="connsiteY30" fmla="*/ 2328 h 233403"/>
                <a:gd name="connsiteX31" fmla="*/ 75247 w 207262"/>
                <a:gd name="connsiteY31" fmla="*/ 8043 h 233403"/>
                <a:gd name="connsiteX32" fmla="*/ 56197 w 207262"/>
                <a:gd name="connsiteY32" fmla="*/ 41381 h 233403"/>
                <a:gd name="connsiteX33" fmla="*/ 16192 w 207262"/>
                <a:gd name="connsiteY33" fmla="*/ 41381 h 233403"/>
                <a:gd name="connsiteX34" fmla="*/ 16192 w 207262"/>
                <a:gd name="connsiteY34" fmla="*/ 41381 h 233403"/>
                <a:gd name="connsiteX35" fmla="*/ 4763 w 207262"/>
                <a:gd name="connsiteY35" fmla="*/ 46143 h 233403"/>
                <a:gd name="connsiteX36" fmla="*/ 0 w 207262"/>
                <a:gd name="connsiteY36" fmla="*/ 57573 h 233403"/>
                <a:gd name="connsiteX37" fmla="*/ 0 w 207262"/>
                <a:gd name="connsiteY37" fmla="*/ 175683 h 233403"/>
                <a:gd name="connsiteX38" fmla="*/ 16192 w 207262"/>
                <a:gd name="connsiteY38" fmla="*/ 191876 h 233403"/>
                <a:gd name="connsiteX39" fmla="*/ 56197 w 207262"/>
                <a:gd name="connsiteY39" fmla="*/ 191876 h 233403"/>
                <a:gd name="connsiteX40" fmla="*/ 75247 w 207262"/>
                <a:gd name="connsiteY40" fmla="*/ 225213 h 233403"/>
                <a:gd name="connsiteX41" fmla="*/ 84772 w 207262"/>
                <a:gd name="connsiteY41" fmla="*/ 232833 h 233403"/>
                <a:gd name="connsiteX42" fmla="*/ 97155 w 207262"/>
                <a:gd name="connsiteY42" fmla="*/ 230928 h 233403"/>
                <a:gd name="connsiteX43" fmla="*/ 199072 w 207262"/>
                <a:gd name="connsiteY43" fmla="*/ 171873 h 233403"/>
                <a:gd name="connsiteX44" fmla="*/ 206692 w 207262"/>
                <a:gd name="connsiteY44" fmla="*/ 162348 h 2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262" h="233403">
                  <a:moveTo>
                    <a:pt x="169545" y="103293"/>
                  </a:moveTo>
                  <a:lnTo>
                    <a:pt x="167640" y="106151"/>
                  </a:lnTo>
                  <a:lnTo>
                    <a:pt x="74295" y="51858"/>
                  </a:lnTo>
                  <a:lnTo>
                    <a:pt x="76200" y="49001"/>
                  </a:lnTo>
                  <a:lnTo>
                    <a:pt x="92392" y="21378"/>
                  </a:lnTo>
                  <a:lnTo>
                    <a:pt x="93345" y="22331"/>
                  </a:lnTo>
                  <a:lnTo>
                    <a:pt x="186690" y="75671"/>
                  </a:lnTo>
                  <a:lnTo>
                    <a:pt x="169545" y="103293"/>
                  </a:lnTo>
                  <a:close/>
                  <a:moveTo>
                    <a:pt x="76200" y="154728"/>
                  </a:moveTo>
                  <a:lnTo>
                    <a:pt x="76200" y="78528"/>
                  </a:lnTo>
                  <a:lnTo>
                    <a:pt x="141922" y="116628"/>
                  </a:lnTo>
                  <a:lnTo>
                    <a:pt x="76200" y="154728"/>
                  </a:lnTo>
                  <a:close/>
                  <a:moveTo>
                    <a:pt x="90488" y="210926"/>
                  </a:moveTo>
                  <a:lnTo>
                    <a:pt x="73342" y="180446"/>
                  </a:lnTo>
                  <a:lnTo>
                    <a:pt x="74295" y="179493"/>
                  </a:lnTo>
                  <a:lnTo>
                    <a:pt x="166688" y="126153"/>
                  </a:lnTo>
                  <a:lnTo>
                    <a:pt x="168592" y="129963"/>
                  </a:lnTo>
                  <a:lnTo>
                    <a:pt x="183833" y="156633"/>
                  </a:lnTo>
                  <a:lnTo>
                    <a:pt x="90488" y="210926"/>
                  </a:lnTo>
                  <a:close/>
                  <a:moveTo>
                    <a:pt x="55245" y="170921"/>
                  </a:moveTo>
                  <a:lnTo>
                    <a:pt x="20003" y="170921"/>
                  </a:lnTo>
                  <a:lnTo>
                    <a:pt x="20003" y="62336"/>
                  </a:lnTo>
                  <a:lnTo>
                    <a:pt x="55245" y="62336"/>
                  </a:lnTo>
                  <a:lnTo>
                    <a:pt x="55245" y="170921"/>
                  </a:lnTo>
                  <a:close/>
                  <a:moveTo>
                    <a:pt x="206692" y="162348"/>
                  </a:moveTo>
                  <a:cubicBezTo>
                    <a:pt x="207645" y="158538"/>
                    <a:pt x="207645" y="153776"/>
                    <a:pt x="204788" y="149966"/>
                  </a:cubicBezTo>
                  <a:lnTo>
                    <a:pt x="185738" y="116628"/>
                  </a:lnTo>
                  <a:lnTo>
                    <a:pt x="204788" y="83291"/>
                  </a:lnTo>
                  <a:cubicBezTo>
                    <a:pt x="206692" y="79481"/>
                    <a:pt x="207645" y="75671"/>
                    <a:pt x="206692" y="70908"/>
                  </a:cubicBezTo>
                  <a:cubicBezTo>
                    <a:pt x="205740" y="67098"/>
                    <a:pt x="202883" y="63288"/>
                    <a:pt x="199072" y="61383"/>
                  </a:cubicBezTo>
                  <a:lnTo>
                    <a:pt x="97155" y="2328"/>
                  </a:lnTo>
                  <a:cubicBezTo>
                    <a:pt x="89535" y="-2434"/>
                    <a:pt x="80010" y="423"/>
                    <a:pt x="75247" y="8043"/>
                  </a:cubicBezTo>
                  <a:lnTo>
                    <a:pt x="56197" y="41381"/>
                  </a:lnTo>
                  <a:lnTo>
                    <a:pt x="16192" y="41381"/>
                  </a:lnTo>
                  <a:lnTo>
                    <a:pt x="16192" y="41381"/>
                  </a:lnTo>
                  <a:cubicBezTo>
                    <a:pt x="12383" y="41381"/>
                    <a:pt x="7620" y="43286"/>
                    <a:pt x="4763" y="46143"/>
                  </a:cubicBezTo>
                  <a:cubicBezTo>
                    <a:pt x="1905" y="49001"/>
                    <a:pt x="0" y="52811"/>
                    <a:pt x="0" y="57573"/>
                  </a:cubicBezTo>
                  <a:lnTo>
                    <a:pt x="0" y="175683"/>
                  </a:lnTo>
                  <a:cubicBezTo>
                    <a:pt x="0" y="184256"/>
                    <a:pt x="7620" y="191876"/>
                    <a:pt x="16192" y="191876"/>
                  </a:cubicBezTo>
                  <a:lnTo>
                    <a:pt x="56197" y="191876"/>
                  </a:lnTo>
                  <a:lnTo>
                    <a:pt x="75247" y="225213"/>
                  </a:lnTo>
                  <a:cubicBezTo>
                    <a:pt x="77153" y="229023"/>
                    <a:pt x="80963" y="231881"/>
                    <a:pt x="84772" y="232833"/>
                  </a:cubicBezTo>
                  <a:cubicBezTo>
                    <a:pt x="88583" y="233786"/>
                    <a:pt x="93345" y="233786"/>
                    <a:pt x="97155" y="230928"/>
                  </a:cubicBezTo>
                  <a:lnTo>
                    <a:pt x="199072" y="171873"/>
                  </a:lnTo>
                  <a:cubicBezTo>
                    <a:pt x="202883" y="169968"/>
                    <a:pt x="205740" y="167111"/>
                    <a:pt x="206692" y="16234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6906D5EB-37DB-2E46-0CC8-B361FD6811A3}"/>
                </a:ext>
              </a:extLst>
            </p:cNvPr>
            <p:cNvSpPr/>
            <p:nvPr/>
          </p:nvSpPr>
          <p:spPr>
            <a:xfrm>
              <a:off x="11836717" y="6741794"/>
              <a:ext cx="126682" cy="184785"/>
            </a:xfrm>
            <a:custGeom>
              <a:avLst/>
              <a:gdLst>
                <a:gd name="connsiteX0" fmla="*/ 0 w 126682"/>
                <a:gd name="connsiteY0" fmla="*/ 0 h 184785"/>
                <a:gd name="connsiteX1" fmla="*/ 0 w 126682"/>
                <a:gd name="connsiteY1" fmla="*/ 184785 h 184785"/>
                <a:gd name="connsiteX2" fmla="*/ 30480 w 126682"/>
                <a:gd name="connsiteY2" fmla="*/ 184785 h 184785"/>
                <a:gd name="connsiteX3" fmla="*/ 30480 w 126682"/>
                <a:gd name="connsiteY3" fmla="*/ 129540 h 184785"/>
                <a:gd name="connsiteX4" fmla="*/ 33338 w 126682"/>
                <a:gd name="connsiteY4" fmla="*/ 129540 h 184785"/>
                <a:gd name="connsiteX5" fmla="*/ 91440 w 126682"/>
                <a:gd name="connsiteY5" fmla="*/ 184785 h 184785"/>
                <a:gd name="connsiteX6" fmla="*/ 126682 w 126682"/>
                <a:gd name="connsiteY6" fmla="*/ 184785 h 184785"/>
                <a:gd name="connsiteX7" fmla="*/ 126682 w 126682"/>
                <a:gd name="connsiteY7" fmla="*/ 180975 h 184785"/>
                <a:gd name="connsiteX8" fmla="*/ 57150 w 126682"/>
                <a:gd name="connsiteY8" fmla="*/ 115253 h 184785"/>
                <a:gd name="connsiteX9" fmla="*/ 125730 w 126682"/>
                <a:gd name="connsiteY9" fmla="*/ 56198 h 184785"/>
                <a:gd name="connsiteX10" fmla="*/ 125730 w 126682"/>
                <a:gd name="connsiteY10" fmla="*/ 52388 h 184785"/>
                <a:gd name="connsiteX11" fmla="*/ 90488 w 126682"/>
                <a:gd name="connsiteY11" fmla="*/ 52388 h 184785"/>
                <a:gd name="connsiteX12" fmla="*/ 33338 w 126682"/>
                <a:gd name="connsiteY12" fmla="*/ 103823 h 184785"/>
                <a:gd name="connsiteX13" fmla="*/ 30480 w 126682"/>
                <a:gd name="connsiteY13" fmla="*/ 103823 h 184785"/>
                <a:gd name="connsiteX14" fmla="*/ 30480 w 126682"/>
                <a:gd name="connsiteY14" fmla="*/ 0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6682" h="184785">
                  <a:moveTo>
                    <a:pt x="0" y="0"/>
                  </a:moveTo>
                  <a:lnTo>
                    <a:pt x="0" y="184785"/>
                  </a:lnTo>
                  <a:lnTo>
                    <a:pt x="30480" y="184785"/>
                  </a:lnTo>
                  <a:lnTo>
                    <a:pt x="30480" y="129540"/>
                  </a:lnTo>
                  <a:lnTo>
                    <a:pt x="33338" y="129540"/>
                  </a:lnTo>
                  <a:lnTo>
                    <a:pt x="91440" y="184785"/>
                  </a:lnTo>
                  <a:lnTo>
                    <a:pt x="126682" y="184785"/>
                  </a:lnTo>
                  <a:lnTo>
                    <a:pt x="126682" y="180975"/>
                  </a:lnTo>
                  <a:lnTo>
                    <a:pt x="57150" y="115253"/>
                  </a:lnTo>
                  <a:lnTo>
                    <a:pt x="125730" y="56198"/>
                  </a:lnTo>
                  <a:lnTo>
                    <a:pt x="125730" y="52388"/>
                  </a:lnTo>
                  <a:lnTo>
                    <a:pt x="90488" y="52388"/>
                  </a:lnTo>
                  <a:lnTo>
                    <a:pt x="33338" y="103823"/>
                  </a:lnTo>
                  <a:lnTo>
                    <a:pt x="30480" y="103823"/>
                  </a:lnTo>
                  <a:lnTo>
                    <a:pt x="304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9B454036-7BBB-B6DA-73E9-6BDB63A5468F}"/>
                </a:ext>
              </a:extLst>
            </p:cNvPr>
            <p:cNvSpPr/>
            <p:nvPr/>
          </p:nvSpPr>
          <p:spPr>
            <a:xfrm>
              <a:off x="11953874" y="6791325"/>
              <a:ext cx="129540" cy="139065"/>
            </a:xfrm>
            <a:custGeom>
              <a:avLst/>
              <a:gdLst>
                <a:gd name="connsiteX0" fmla="*/ 29528 w 129540"/>
                <a:gd name="connsiteY0" fmla="*/ 55245 h 139065"/>
                <a:gd name="connsiteX1" fmla="*/ 65722 w 129540"/>
                <a:gd name="connsiteY1" fmla="*/ 20955 h 139065"/>
                <a:gd name="connsiteX2" fmla="*/ 100013 w 129540"/>
                <a:gd name="connsiteY2" fmla="*/ 55245 h 139065"/>
                <a:gd name="connsiteX3" fmla="*/ 29528 w 129540"/>
                <a:gd name="connsiteY3" fmla="*/ 55245 h 139065"/>
                <a:gd name="connsiteX4" fmla="*/ 66675 w 129540"/>
                <a:gd name="connsiteY4" fmla="*/ 0 h 139065"/>
                <a:gd name="connsiteX5" fmla="*/ 0 w 129540"/>
                <a:gd name="connsiteY5" fmla="*/ 69532 h 139065"/>
                <a:gd name="connsiteX6" fmla="*/ 66675 w 129540"/>
                <a:gd name="connsiteY6" fmla="*/ 139065 h 139065"/>
                <a:gd name="connsiteX7" fmla="*/ 126682 w 129540"/>
                <a:gd name="connsiteY7" fmla="*/ 98107 h 139065"/>
                <a:gd name="connsiteX8" fmla="*/ 126682 w 129540"/>
                <a:gd name="connsiteY8" fmla="*/ 94297 h 139065"/>
                <a:gd name="connsiteX9" fmla="*/ 100013 w 129540"/>
                <a:gd name="connsiteY9" fmla="*/ 94297 h 139065"/>
                <a:gd name="connsiteX10" fmla="*/ 66675 w 129540"/>
                <a:gd name="connsiteY10" fmla="*/ 117157 h 139065"/>
                <a:gd name="connsiteX11" fmla="*/ 29528 w 129540"/>
                <a:gd name="connsiteY11" fmla="*/ 77153 h 139065"/>
                <a:gd name="connsiteX12" fmla="*/ 129540 w 129540"/>
                <a:gd name="connsiteY12" fmla="*/ 77153 h 139065"/>
                <a:gd name="connsiteX13" fmla="*/ 129540 w 129540"/>
                <a:gd name="connsiteY13" fmla="*/ 64770 h 139065"/>
                <a:gd name="connsiteX14" fmla="*/ 66675 w 129540"/>
                <a:gd name="connsiteY14" fmla="*/ 0 h 13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9540" h="139065">
                  <a:moveTo>
                    <a:pt x="29528" y="55245"/>
                  </a:moveTo>
                  <a:cubicBezTo>
                    <a:pt x="31432" y="35243"/>
                    <a:pt x="43815" y="20955"/>
                    <a:pt x="65722" y="20955"/>
                  </a:cubicBezTo>
                  <a:cubicBezTo>
                    <a:pt x="88582" y="20955"/>
                    <a:pt x="100013" y="35243"/>
                    <a:pt x="100013" y="55245"/>
                  </a:cubicBezTo>
                  <a:lnTo>
                    <a:pt x="29528" y="55245"/>
                  </a:lnTo>
                  <a:close/>
                  <a:moveTo>
                    <a:pt x="66675" y="0"/>
                  </a:moveTo>
                  <a:cubicBezTo>
                    <a:pt x="26670" y="0"/>
                    <a:pt x="0" y="23813"/>
                    <a:pt x="0" y="69532"/>
                  </a:cubicBezTo>
                  <a:cubicBezTo>
                    <a:pt x="0" y="115253"/>
                    <a:pt x="26670" y="139065"/>
                    <a:pt x="66675" y="139065"/>
                  </a:cubicBezTo>
                  <a:cubicBezTo>
                    <a:pt x="106680" y="139065"/>
                    <a:pt x="122872" y="115253"/>
                    <a:pt x="126682" y="98107"/>
                  </a:cubicBezTo>
                  <a:lnTo>
                    <a:pt x="126682" y="94297"/>
                  </a:lnTo>
                  <a:lnTo>
                    <a:pt x="100013" y="94297"/>
                  </a:lnTo>
                  <a:cubicBezTo>
                    <a:pt x="98107" y="104775"/>
                    <a:pt x="88582" y="117157"/>
                    <a:pt x="66675" y="117157"/>
                  </a:cubicBezTo>
                  <a:cubicBezTo>
                    <a:pt x="43815" y="117157"/>
                    <a:pt x="30480" y="100965"/>
                    <a:pt x="29528" y="77153"/>
                  </a:cubicBezTo>
                  <a:lnTo>
                    <a:pt x="129540" y="77153"/>
                  </a:lnTo>
                  <a:lnTo>
                    <a:pt x="129540" y="64770"/>
                  </a:lnTo>
                  <a:cubicBezTo>
                    <a:pt x="129540" y="23813"/>
                    <a:pt x="106680" y="0"/>
                    <a:pt x="66675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D1C6C67B-5C2B-725B-A531-01F4FDF08CF6}"/>
                </a:ext>
              </a:extLst>
            </p:cNvPr>
            <p:cNvSpPr/>
            <p:nvPr/>
          </p:nvSpPr>
          <p:spPr>
            <a:xfrm>
              <a:off x="12077699" y="6794182"/>
              <a:ext cx="137159" cy="183832"/>
            </a:xfrm>
            <a:custGeom>
              <a:avLst/>
              <a:gdLst>
                <a:gd name="connsiteX0" fmla="*/ 106680 w 137159"/>
                <a:gd name="connsiteY0" fmla="*/ 0 h 183832"/>
                <a:gd name="connsiteX1" fmla="*/ 70485 w 137159"/>
                <a:gd name="connsiteY1" fmla="*/ 97155 h 183832"/>
                <a:gd name="connsiteX2" fmla="*/ 67628 w 137159"/>
                <a:gd name="connsiteY2" fmla="*/ 97155 h 183832"/>
                <a:gd name="connsiteX3" fmla="*/ 31432 w 137159"/>
                <a:gd name="connsiteY3" fmla="*/ 0 h 183832"/>
                <a:gd name="connsiteX4" fmla="*/ 0 w 137159"/>
                <a:gd name="connsiteY4" fmla="*/ 0 h 183832"/>
                <a:gd name="connsiteX5" fmla="*/ 0 w 137159"/>
                <a:gd name="connsiteY5" fmla="*/ 3810 h 183832"/>
                <a:gd name="connsiteX6" fmla="*/ 53340 w 137159"/>
                <a:gd name="connsiteY6" fmla="*/ 132398 h 183832"/>
                <a:gd name="connsiteX7" fmla="*/ 33338 w 137159"/>
                <a:gd name="connsiteY7" fmla="*/ 180023 h 183832"/>
                <a:gd name="connsiteX8" fmla="*/ 33338 w 137159"/>
                <a:gd name="connsiteY8" fmla="*/ 183833 h 183832"/>
                <a:gd name="connsiteX9" fmla="*/ 63818 w 137159"/>
                <a:gd name="connsiteY9" fmla="*/ 183833 h 183832"/>
                <a:gd name="connsiteX10" fmla="*/ 137160 w 137159"/>
                <a:gd name="connsiteY10" fmla="*/ 3810 h 183832"/>
                <a:gd name="connsiteX11" fmla="*/ 137160 w 137159"/>
                <a:gd name="connsiteY11" fmla="*/ 0 h 18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9" h="183832">
                  <a:moveTo>
                    <a:pt x="106680" y="0"/>
                  </a:moveTo>
                  <a:lnTo>
                    <a:pt x="70485" y="97155"/>
                  </a:lnTo>
                  <a:lnTo>
                    <a:pt x="67628" y="97155"/>
                  </a:lnTo>
                  <a:lnTo>
                    <a:pt x="31432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53340" y="132398"/>
                  </a:lnTo>
                  <a:lnTo>
                    <a:pt x="33338" y="180023"/>
                  </a:lnTo>
                  <a:lnTo>
                    <a:pt x="33338" y="183833"/>
                  </a:lnTo>
                  <a:lnTo>
                    <a:pt x="63818" y="183833"/>
                  </a:lnTo>
                  <a:lnTo>
                    <a:pt x="137160" y="3810"/>
                  </a:lnTo>
                  <a:lnTo>
                    <a:pt x="13716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grpSp>
          <p:nvGrpSpPr>
            <p:cNvPr id="12" name="Graphic 7">
              <a:extLst>
                <a:ext uri="{FF2B5EF4-FFF2-40B4-BE49-F238E27FC236}">
                  <a16:creationId xmlns:a16="http://schemas.microsoft.com/office/drawing/2014/main" id="{12BA6CC3-4859-D4AB-EF05-474358B4F622}"/>
                </a:ext>
              </a:extLst>
            </p:cNvPr>
            <p:cNvGrpSpPr/>
            <p:nvPr/>
          </p:nvGrpSpPr>
          <p:grpSpPr>
            <a:xfrm>
              <a:off x="12212002" y="6759892"/>
              <a:ext cx="618172" cy="170497"/>
              <a:chOff x="12212002" y="6759892"/>
              <a:chExt cx="618172" cy="170497"/>
            </a:xfrm>
            <a:grpFill/>
          </p:grpSpPr>
          <p:sp>
            <p:nvSpPr>
              <p:cNvPr id="13" name="Free-form: Shape 12">
                <a:extLst>
                  <a:ext uri="{FF2B5EF4-FFF2-40B4-BE49-F238E27FC236}">
                    <a16:creationId xmlns:a16="http://schemas.microsoft.com/office/drawing/2014/main" id="{06690A93-9701-A76D-31D7-153AD7601CE1}"/>
                  </a:ext>
                </a:extLst>
              </p:cNvPr>
              <p:cNvSpPr/>
              <p:nvPr/>
            </p:nvSpPr>
            <p:spPr>
              <a:xfrm>
                <a:off x="12212002" y="6792277"/>
                <a:ext cx="120015" cy="137159"/>
              </a:xfrm>
              <a:custGeom>
                <a:avLst/>
                <a:gdLst>
                  <a:gd name="connsiteX0" fmla="*/ 75247 w 120015"/>
                  <a:gd name="connsiteY0" fmla="*/ 58103 h 137159"/>
                  <a:gd name="connsiteX1" fmla="*/ 50482 w 120015"/>
                  <a:gd name="connsiteY1" fmla="*/ 54292 h 137159"/>
                  <a:gd name="connsiteX2" fmla="*/ 30480 w 120015"/>
                  <a:gd name="connsiteY2" fmla="*/ 38100 h 137159"/>
                  <a:gd name="connsiteX3" fmla="*/ 58103 w 120015"/>
                  <a:gd name="connsiteY3" fmla="*/ 20955 h 137159"/>
                  <a:gd name="connsiteX4" fmla="*/ 89535 w 120015"/>
                  <a:gd name="connsiteY4" fmla="*/ 43815 h 137159"/>
                  <a:gd name="connsiteX5" fmla="*/ 117157 w 120015"/>
                  <a:gd name="connsiteY5" fmla="*/ 43815 h 137159"/>
                  <a:gd name="connsiteX6" fmla="*/ 117157 w 120015"/>
                  <a:gd name="connsiteY6" fmla="*/ 40005 h 137159"/>
                  <a:gd name="connsiteX7" fmla="*/ 57150 w 120015"/>
                  <a:gd name="connsiteY7" fmla="*/ 0 h 137159"/>
                  <a:gd name="connsiteX8" fmla="*/ 953 w 120015"/>
                  <a:gd name="connsiteY8" fmla="*/ 39053 h 137159"/>
                  <a:gd name="connsiteX9" fmla="*/ 42863 w 120015"/>
                  <a:gd name="connsiteY9" fmla="*/ 77153 h 137159"/>
                  <a:gd name="connsiteX10" fmla="*/ 67628 w 120015"/>
                  <a:gd name="connsiteY10" fmla="*/ 80963 h 137159"/>
                  <a:gd name="connsiteX11" fmla="*/ 90488 w 120015"/>
                  <a:gd name="connsiteY11" fmla="*/ 98107 h 137159"/>
                  <a:gd name="connsiteX12" fmla="*/ 61913 w 120015"/>
                  <a:gd name="connsiteY12" fmla="*/ 116205 h 137159"/>
                  <a:gd name="connsiteX13" fmla="*/ 27622 w 120015"/>
                  <a:gd name="connsiteY13" fmla="*/ 92392 h 137159"/>
                  <a:gd name="connsiteX14" fmla="*/ 0 w 120015"/>
                  <a:gd name="connsiteY14" fmla="*/ 92392 h 137159"/>
                  <a:gd name="connsiteX15" fmla="*/ 0 w 120015"/>
                  <a:gd name="connsiteY15" fmla="*/ 96203 h 137159"/>
                  <a:gd name="connsiteX16" fmla="*/ 62865 w 120015"/>
                  <a:gd name="connsiteY16" fmla="*/ 137160 h 137159"/>
                  <a:gd name="connsiteX17" fmla="*/ 120015 w 120015"/>
                  <a:gd name="connsiteY17" fmla="*/ 96203 h 137159"/>
                  <a:gd name="connsiteX18" fmla="*/ 75247 w 120015"/>
                  <a:gd name="connsiteY18" fmla="*/ 58103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0015" h="137159">
                    <a:moveTo>
                      <a:pt x="75247" y="58103"/>
                    </a:moveTo>
                    <a:lnTo>
                      <a:pt x="50482" y="54292"/>
                    </a:lnTo>
                    <a:cubicBezTo>
                      <a:pt x="39053" y="52388"/>
                      <a:pt x="30480" y="48578"/>
                      <a:pt x="30480" y="38100"/>
                    </a:cubicBezTo>
                    <a:cubicBezTo>
                      <a:pt x="30480" y="27622"/>
                      <a:pt x="40005" y="20955"/>
                      <a:pt x="58103" y="20955"/>
                    </a:cubicBezTo>
                    <a:cubicBezTo>
                      <a:pt x="76200" y="20955"/>
                      <a:pt x="88582" y="27622"/>
                      <a:pt x="89535" y="43815"/>
                    </a:cubicBezTo>
                    <a:lnTo>
                      <a:pt x="117157" y="43815"/>
                    </a:lnTo>
                    <a:lnTo>
                      <a:pt x="117157" y="40005"/>
                    </a:lnTo>
                    <a:cubicBezTo>
                      <a:pt x="114300" y="16192"/>
                      <a:pt x="93345" y="0"/>
                      <a:pt x="57150" y="0"/>
                    </a:cubicBezTo>
                    <a:cubicBezTo>
                      <a:pt x="20955" y="0"/>
                      <a:pt x="953" y="16192"/>
                      <a:pt x="953" y="39053"/>
                    </a:cubicBezTo>
                    <a:cubicBezTo>
                      <a:pt x="953" y="61913"/>
                      <a:pt x="18097" y="73342"/>
                      <a:pt x="42863" y="77153"/>
                    </a:cubicBezTo>
                    <a:lnTo>
                      <a:pt x="67628" y="80963"/>
                    </a:lnTo>
                    <a:cubicBezTo>
                      <a:pt x="81915" y="82867"/>
                      <a:pt x="90488" y="87630"/>
                      <a:pt x="90488" y="98107"/>
                    </a:cubicBezTo>
                    <a:cubicBezTo>
                      <a:pt x="90488" y="109538"/>
                      <a:pt x="80963" y="116205"/>
                      <a:pt x="61913" y="116205"/>
                    </a:cubicBezTo>
                    <a:cubicBezTo>
                      <a:pt x="42863" y="116205"/>
                      <a:pt x="28575" y="108585"/>
                      <a:pt x="27622" y="92392"/>
                    </a:cubicBezTo>
                    <a:lnTo>
                      <a:pt x="0" y="92392"/>
                    </a:lnTo>
                    <a:lnTo>
                      <a:pt x="0" y="96203"/>
                    </a:lnTo>
                    <a:cubicBezTo>
                      <a:pt x="1905" y="120015"/>
                      <a:pt x="23813" y="137160"/>
                      <a:pt x="62865" y="137160"/>
                    </a:cubicBezTo>
                    <a:cubicBezTo>
                      <a:pt x="100965" y="137160"/>
                      <a:pt x="120015" y="120015"/>
                      <a:pt x="120015" y="96203"/>
                    </a:cubicBezTo>
                    <a:cubicBezTo>
                      <a:pt x="119063" y="72390"/>
                      <a:pt x="100965" y="62865"/>
                      <a:pt x="75247" y="58103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4" name="Free-form: Shape 13">
                <a:extLst>
                  <a:ext uri="{FF2B5EF4-FFF2-40B4-BE49-F238E27FC236}">
                    <a16:creationId xmlns:a16="http://schemas.microsoft.com/office/drawing/2014/main" id="{9FD7F094-8C7D-89DF-8552-F6D6AF0A1726}"/>
                  </a:ext>
                </a:extLst>
              </p:cNvPr>
              <p:cNvSpPr/>
              <p:nvPr/>
            </p:nvSpPr>
            <p:spPr>
              <a:xfrm>
                <a:off x="12330112" y="6759892"/>
                <a:ext cx="93344" cy="166687"/>
              </a:xfrm>
              <a:custGeom>
                <a:avLst/>
                <a:gdLst>
                  <a:gd name="connsiteX0" fmla="*/ 56197 w 93344"/>
                  <a:gd name="connsiteY0" fmla="*/ 142875 h 166687"/>
                  <a:gd name="connsiteX1" fmla="*/ 56197 w 93344"/>
                  <a:gd name="connsiteY1" fmla="*/ 56197 h 166687"/>
                  <a:gd name="connsiteX2" fmla="*/ 93345 w 93344"/>
                  <a:gd name="connsiteY2" fmla="*/ 56197 h 166687"/>
                  <a:gd name="connsiteX3" fmla="*/ 93345 w 93344"/>
                  <a:gd name="connsiteY3" fmla="*/ 35242 h 166687"/>
                  <a:gd name="connsiteX4" fmla="*/ 56197 w 93344"/>
                  <a:gd name="connsiteY4" fmla="*/ 35242 h 166687"/>
                  <a:gd name="connsiteX5" fmla="*/ 56197 w 93344"/>
                  <a:gd name="connsiteY5" fmla="*/ 0 h 166687"/>
                  <a:gd name="connsiteX6" fmla="*/ 25718 w 93344"/>
                  <a:gd name="connsiteY6" fmla="*/ 0 h 166687"/>
                  <a:gd name="connsiteX7" fmla="*/ 25718 w 93344"/>
                  <a:gd name="connsiteY7" fmla="*/ 35242 h 166687"/>
                  <a:gd name="connsiteX8" fmla="*/ 0 w 93344"/>
                  <a:gd name="connsiteY8" fmla="*/ 35242 h 166687"/>
                  <a:gd name="connsiteX9" fmla="*/ 0 w 93344"/>
                  <a:gd name="connsiteY9" fmla="*/ 56197 h 166687"/>
                  <a:gd name="connsiteX10" fmla="*/ 25718 w 93344"/>
                  <a:gd name="connsiteY10" fmla="*/ 56197 h 166687"/>
                  <a:gd name="connsiteX11" fmla="*/ 25718 w 93344"/>
                  <a:gd name="connsiteY11" fmla="*/ 132397 h 166687"/>
                  <a:gd name="connsiteX12" fmla="*/ 61913 w 93344"/>
                  <a:gd name="connsiteY12" fmla="*/ 166688 h 166687"/>
                  <a:gd name="connsiteX13" fmla="*/ 92393 w 93344"/>
                  <a:gd name="connsiteY13" fmla="*/ 166688 h 166687"/>
                  <a:gd name="connsiteX14" fmla="*/ 92393 w 93344"/>
                  <a:gd name="connsiteY14" fmla="*/ 144780 h 166687"/>
                  <a:gd name="connsiteX15" fmla="*/ 58103 w 93344"/>
                  <a:gd name="connsiteY15" fmla="*/ 144780 h 166687"/>
                  <a:gd name="connsiteX16" fmla="*/ 56197 w 93344"/>
                  <a:gd name="connsiteY16" fmla="*/ 142875 h 166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344" h="166687">
                    <a:moveTo>
                      <a:pt x="56197" y="142875"/>
                    </a:moveTo>
                    <a:lnTo>
                      <a:pt x="56197" y="56197"/>
                    </a:lnTo>
                    <a:lnTo>
                      <a:pt x="93345" y="56197"/>
                    </a:lnTo>
                    <a:lnTo>
                      <a:pt x="93345" y="35242"/>
                    </a:lnTo>
                    <a:lnTo>
                      <a:pt x="56197" y="35242"/>
                    </a:lnTo>
                    <a:lnTo>
                      <a:pt x="56197" y="0"/>
                    </a:lnTo>
                    <a:lnTo>
                      <a:pt x="25718" y="0"/>
                    </a:lnTo>
                    <a:lnTo>
                      <a:pt x="25718" y="35242"/>
                    </a:lnTo>
                    <a:lnTo>
                      <a:pt x="0" y="35242"/>
                    </a:lnTo>
                    <a:lnTo>
                      <a:pt x="0" y="56197"/>
                    </a:lnTo>
                    <a:lnTo>
                      <a:pt x="25718" y="56197"/>
                    </a:lnTo>
                    <a:lnTo>
                      <a:pt x="25718" y="132397"/>
                    </a:lnTo>
                    <a:cubicBezTo>
                      <a:pt x="25718" y="155257"/>
                      <a:pt x="39053" y="166688"/>
                      <a:pt x="61913" y="166688"/>
                    </a:cubicBezTo>
                    <a:lnTo>
                      <a:pt x="92393" y="166688"/>
                    </a:lnTo>
                    <a:lnTo>
                      <a:pt x="92393" y="144780"/>
                    </a:lnTo>
                    <a:lnTo>
                      <a:pt x="58103" y="144780"/>
                    </a:lnTo>
                    <a:lnTo>
                      <a:pt x="56197" y="1428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5" name="Free-form: Shape 14">
                <a:extLst>
                  <a:ext uri="{FF2B5EF4-FFF2-40B4-BE49-F238E27FC236}">
                    <a16:creationId xmlns:a16="http://schemas.microsoft.com/office/drawing/2014/main" id="{2A498ED8-C6FD-73A1-04FE-03DB53AE6517}"/>
                  </a:ext>
                </a:extLst>
              </p:cNvPr>
              <p:cNvSpPr/>
              <p:nvPr/>
            </p:nvSpPr>
            <p:spPr>
              <a:xfrm>
                <a:off x="12424409" y="6791325"/>
                <a:ext cx="137159" cy="139065"/>
              </a:xfrm>
              <a:custGeom>
                <a:avLst/>
                <a:gdLst>
                  <a:gd name="connsiteX0" fmla="*/ 68580 w 137159"/>
                  <a:gd name="connsiteY0" fmla="*/ 116205 h 139065"/>
                  <a:gd name="connsiteX1" fmla="*/ 30480 w 137159"/>
                  <a:gd name="connsiteY1" fmla="*/ 69532 h 139065"/>
                  <a:gd name="connsiteX2" fmla="*/ 68580 w 137159"/>
                  <a:gd name="connsiteY2" fmla="*/ 22860 h 139065"/>
                  <a:gd name="connsiteX3" fmla="*/ 106680 w 137159"/>
                  <a:gd name="connsiteY3" fmla="*/ 69532 h 139065"/>
                  <a:gd name="connsiteX4" fmla="*/ 68580 w 137159"/>
                  <a:gd name="connsiteY4" fmla="*/ 116205 h 139065"/>
                  <a:gd name="connsiteX5" fmla="*/ 68580 w 137159"/>
                  <a:gd name="connsiteY5" fmla="*/ 0 h 139065"/>
                  <a:gd name="connsiteX6" fmla="*/ 0 w 137159"/>
                  <a:gd name="connsiteY6" fmla="*/ 69532 h 139065"/>
                  <a:gd name="connsiteX7" fmla="*/ 68580 w 137159"/>
                  <a:gd name="connsiteY7" fmla="*/ 139065 h 139065"/>
                  <a:gd name="connsiteX8" fmla="*/ 137160 w 137159"/>
                  <a:gd name="connsiteY8" fmla="*/ 69532 h 139065"/>
                  <a:gd name="connsiteX9" fmla="*/ 68580 w 137159"/>
                  <a:gd name="connsiteY9" fmla="*/ 0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139065">
                    <a:moveTo>
                      <a:pt x="68580" y="116205"/>
                    </a:moveTo>
                    <a:cubicBezTo>
                      <a:pt x="45720" y="116205"/>
                      <a:pt x="30480" y="100013"/>
                      <a:pt x="30480" y="69532"/>
                    </a:cubicBezTo>
                    <a:cubicBezTo>
                      <a:pt x="30480" y="39053"/>
                      <a:pt x="45720" y="22860"/>
                      <a:pt x="68580" y="22860"/>
                    </a:cubicBezTo>
                    <a:cubicBezTo>
                      <a:pt x="91440" y="22860"/>
                      <a:pt x="106680" y="39053"/>
                      <a:pt x="106680" y="69532"/>
                    </a:cubicBezTo>
                    <a:cubicBezTo>
                      <a:pt x="106680" y="100013"/>
                      <a:pt x="91440" y="116205"/>
                      <a:pt x="68580" y="116205"/>
                    </a:cubicBezTo>
                    <a:moveTo>
                      <a:pt x="68580" y="0"/>
                    </a:moveTo>
                    <a:cubicBezTo>
                      <a:pt x="28575" y="0"/>
                      <a:pt x="0" y="23813"/>
                      <a:pt x="0" y="69532"/>
                    </a:cubicBezTo>
                    <a:cubicBezTo>
                      <a:pt x="0" y="114300"/>
                      <a:pt x="28575" y="139065"/>
                      <a:pt x="68580" y="139065"/>
                    </a:cubicBezTo>
                    <a:cubicBezTo>
                      <a:pt x="108585" y="139065"/>
                      <a:pt x="137160" y="115253"/>
                      <a:pt x="137160" y="69532"/>
                    </a:cubicBezTo>
                    <a:cubicBezTo>
                      <a:pt x="137160" y="23813"/>
                      <a:pt x="108585" y="0"/>
                      <a:pt x="68580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6" name="Free-form: Shape 15">
                <a:extLst>
                  <a:ext uri="{FF2B5EF4-FFF2-40B4-BE49-F238E27FC236}">
                    <a16:creationId xmlns:a16="http://schemas.microsoft.com/office/drawing/2014/main" id="{EF9BCAAE-2ABF-0942-DD54-4FDDDA730E2C}"/>
                  </a:ext>
                </a:extLst>
              </p:cNvPr>
              <p:cNvSpPr/>
              <p:nvPr/>
            </p:nvSpPr>
            <p:spPr>
              <a:xfrm>
                <a:off x="12568237" y="6791325"/>
                <a:ext cx="123857" cy="135255"/>
              </a:xfrm>
              <a:custGeom>
                <a:avLst/>
                <a:gdLst>
                  <a:gd name="connsiteX0" fmla="*/ 75247 w 123857"/>
                  <a:gd name="connsiteY0" fmla="*/ 0 h 135255"/>
                  <a:gd name="connsiteX1" fmla="*/ 32385 w 123857"/>
                  <a:gd name="connsiteY1" fmla="*/ 20003 h 135255"/>
                  <a:gd name="connsiteX2" fmla="*/ 29528 w 123857"/>
                  <a:gd name="connsiteY2" fmla="*/ 20003 h 135255"/>
                  <a:gd name="connsiteX3" fmla="*/ 29528 w 123857"/>
                  <a:gd name="connsiteY3" fmla="*/ 2857 h 135255"/>
                  <a:gd name="connsiteX4" fmla="*/ 0 w 123857"/>
                  <a:gd name="connsiteY4" fmla="*/ 2857 h 135255"/>
                  <a:gd name="connsiteX5" fmla="*/ 0 w 123857"/>
                  <a:gd name="connsiteY5" fmla="*/ 135255 h 135255"/>
                  <a:gd name="connsiteX6" fmla="*/ 30480 w 123857"/>
                  <a:gd name="connsiteY6" fmla="*/ 135255 h 135255"/>
                  <a:gd name="connsiteX7" fmla="*/ 30480 w 123857"/>
                  <a:gd name="connsiteY7" fmla="*/ 60960 h 135255"/>
                  <a:gd name="connsiteX8" fmla="*/ 65722 w 123857"/>
                  <a:gd name="connsiteY8" fmla="*/ 22860 h 135255"/>
                  <a:gd name="connsiteX9" fmla="*/ 93345 w 123857"/>
                  <a:gd name="connsiteY9" fmla="*/ 50482 h 135255"/>
                  <a:gd name="connsiteX10" fmla="*/ 93345 w 123857"/>
                  <a:gd name="connsiteY10" fmla="*/ 134303 h 135255"/>
                  <a:gd name="connsiteX11" fmla="*/ 123825 w 123857"/>
                  <a:gd name="connsiteY11" fmla="*/ 134303 h 135255"/>
                  <a:gd name="connsiteX12" fmla="*/ 123825 w 123857"/>
                  <a:gd name="connsiteY12" fmla="*/ 47625 h 135255"/>
                  <a:gd name="connsiteX13" fmla="*/ 75247 w 123857"/>
                  <a:gd name="connsiteY13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857" h="135255">
                    <a:moveTo>
                      <a:pt x="75247" y="0"/>
                    </a:moveTo>
                    <a:cubicBezTo>
                      <a:pt x="47625" y="0"/>
                      <a:pt x="37147" y="12382"/>
                      <a:pt x="32385" y="20003"/>
                    </a:cubicBezTo>
                    <a:lnTo>
                      <a:pt x="29528" y="20003"/>
                    </a:lnTo>
                    <a:lnTo>
                      <a:pt x="29528" y="2857"/>
                    </a:lnTo>
                    <a:lnTo>
                      <a:pt x="0" y="2857"/>
                    </a:lnTo>
                    <a:lnTo>
                      <a:pt x="0" y="135255"/>
                    </a:lnTo>
                    <a:lnTo>
                      <a:pt x="30480" y="135255"/>
                    </a:lnTo>
                    <a:lnTo>
                      <a:pt x="30480" y="60960"/>
                    </a:lnTo>
                    <a:cubicBezTo>
                      <a:pt x="30480" y="34290"/>
                      <a:pt x="46672" y="22860"/>
                      <a:pt x="65722" y="22860"/>
                    </a:cubicBezTo>
                    <a:cubicBezTo>
                      <a:pt x="82868" y="22860"/>
                      <a:pt x="93345" y="31432"/>
                      <a:pt x="93345" y="50482"/>
                    </a:cubicBezTo>
                    <a:lnTo>
                      <a:pt x="93345" y="134303"/>
                    </a:lnTo>
                    <a:lnTo>
                      <a:pt x="123825" y="134303"/>
                    </a:lnTo>
                    <a:lnTo>
                      <a:pt x="123825" y="47625"/>
                    </a:lnTo>
                    <a:cubicBezTo>
                      <a:pt x="124778" y="16193"/>
                      <a:pt x="104775" y="0"/>
                      <a:pt x="75247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7" name="Free-form: Shape 16">
                <a:extLst>
                  <a:ext uri="{FF2B5EF4-FFF2-40B4-BE49-F238E27FC236}">
                    <a16:creationId xmlns:a16="http://schemas.microsoft.com/office/drawing/2014/main" id="{6774AE6D-EBAD-4553-23AE-5EC5D9A0C4DA}"/>
                  </a:ext>
                </a:extLst>
              </p:cNvPr>
              <p:cNvSpPr/>
              <p:nvPr/>
            </p:nvSpPr>
            <p:spPr>
              <a:xfrm>
                <a:off x="12700634" y="6791325"/>
                <a:ext cx="129540" cy="139065"/>
              </a:xfrm>
              <a:custGeom>
                <a:avLst/>
                <a:gdLst>
                  <a:gd name="connsiteX0" fmla="*/ 29528 w 129540"/>
                  <a:gd name="connsiteY0" fmla="*/ 55245 h 139065"/>
                  <a:gd name="connsiteX1" fmla="*/ 65722 w 129540"/>
                  <a:gd name="connsiteY1" fmla="*/ 20955 h 139065"/>
                  <a:gd name="connsiteX2" fmla="*/ 100013 w 129540"/>
                  <a:gd name="connsiteY2" fmla="*/ 55245 h 139065"/>
                  <a:gd name="connsiteX3" fmla="*/ 29528 w 129540"/>
                  <a:gd name="connsiteY3" fmla="*/ 55245 h 139065"/>
                  <a:gd name="connsiteX4" fmla="*/ 129540 w 129540"/>
                  <a:gd name="connsiteY4" fmla="*/ 63818 h 139065"/>
                  <a:gd name="connsiteX5" fmla="*/ 66675 w 129540"/>
                  <a:gd name="connsiteY5" fmla="*/ 0 h 139065"/>
                  <a:gd name="connsiteX6" fmla="*/ 0 w 129540"/>
                  <a:gd name="connsiteY6" fmla="*/ 69532 h 139065"/>
                  <a:gd name="connsiteX7" fmla="*/ 66675 w 129540"/>
                  <a:gd name="connsiteY7" fmla="*/ 139065 h 139065"/>
                  <a:gd name="connsiteX8" fmla="*/ 126683 w 129540"/>
                  <a:gd name="connsiteY8" fmla="*/ 98107 h 139065"/>
                  <a:gd name="connsiteX9" fmla="*/ 126683 w 129540"/>
                  <a:gd name="connsiteY9" fmla="*/ 94297 h 139065"/>
                  <a:gd name="connsiteX10" fmla="*/ 100013 w 129540"/>
                  <a:gd name="connsiteY10" fmla="*/ 94297 h 139065"/>
                  <a:gd name="connsiteX11" fmla="*/ 66675 w 129540"/>
                  <a:gd name="connsiteY11" fmla="*/ 117157 h 139065"/>
                  <a:gd name="connsiteX12" fmla="*/ 29528 w 129540"/>
                  <a:gd name="connsiteY12" fmla="*/ 77153 h 139065"/>
                  <a:gd name="connsiteX13" fmla="*/ 129540 w 129540"/>
                  <a:gd name="connsiteY13" fmla="*/ 77153 h 139065"/>
                  <a:gd name="connsiteX14" fmla="*/ 129540 w 129540"/>
                  <a:gd name="connsiteY14" fmla="*/ 63818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540" h="139065">
                    <a:moveTo>
                      <a:pt x="29528" y="55245"/>
                    </a:moveTo>
                    <a:cubicBezTo>
                      <a:pt x="31433" y="35243"/>
                      <a:pt x="43815" y="20955"/>
                      <a:pt x="65722" y="20955"/>
                    </a:cubicBezTo>
                    <a:cubicBezTo>
                      <a:pt x="88583" y="20955"/>
                      <a:pt x="100013" y="35243"/>
                      <a:pt x="100013" y="55245"/>
                    </a:cubicBezTo>
                    <a:lnTo>
                      <a:pt x="29528" y="55245"/>
                    </a:lnTo>
                    <a:close/>
                    <a:moveTo>
                      <a:pt x="129540" y="63818"/>
                    </a:moveTo>
                    <a:cubicBezTo>
                      <a:pt x="129540" y="23813"/>
                      <a:pt x="106680" y="0"/>
                      <a:pt x="66675" y="0"/>
                    </a:cubicBezTo>
                    <a:cubicBezTo>
                      <a:pt x="26670" y="0"/>
                      <a:pt x="0" y="23813"/>
                      <a:pt x="0" y="69532"/>
                    </a:cubicBezTo>
                    <a:cubicBezTo>
                      <a:pt x="0" y="115253"/>
                      <a:pt x="26670" y="139065"/>
                      <a:pt x="66675" y="139065"/>
                    </a:cubicBezTo>
                    <a:cubicBezTo>
                      <a:pt x="106680" y="139065"/>
                      <a:pt x="122872" y="115253"/>
                      <a:pt x="126683" y="98107"/>
                    </a:cubicBezTo>
                    <a:lnTo>
                      <a:pt x="126683" y="94297"/>
                    </a:lnTo>
                    <a:lnTo>
                      <a:pt x="100013" y="94297"/>
                    </a:lnTo>
                    <a:cubicBezTo>
                      <a:pt x="98108" y="104775"/>
                      <a:pt x="88583" y="117157"/>
                      <a:pt x="66675" y="117157"/>
                    </a:cubicBezTo>
                    <a:cubicBezTo>
                      <a:pt x="43815" y="117157"/>
                      <a:pt x="30480" y="100965"/>
                      <a:pt x="29528" y="77153"/>
                    </a:cubicBezTo>
                    <a:lnTo>
                      <a:pt x="129540" y="77153"/>
                    </a:lnTo>
                    <a:lnTo>
                      <a:pt x="129540" y="63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</p:grpSp>
      </p:grp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11BA1E65-92F4-BD8C-7BEB-66807EFE3483}"/>
              </a:ext>
            </a:extLst>
          </p:cNvPr>
          <p:cNvSpPr>
            <a:spLocks noChangeAspect="1"/>
          </p:cNvSpPr>
          <p:nvPr/>
        </p:nvSpPr>
        <p:spPr>
          <a:xfrm>
            <a:off x="8129016" y="2016252"/>
            <a:ext cx="3118104" cy="3511374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9A54DA9-46B4-6A65-D601-60E6B6A7B6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82" y="3846600"/>
            <a:ext cx="3118104" cy="1073219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F0FFE17C-3BCC-E0FA-33A5-355AA934B1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382" y="273600"/>
            <a:ext cx="3118104" cy="168966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20708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99F4E8D8-A0CC-C1B2-C33A-41677272A2D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F4E8D8-A0CC-C1B2-C33A-41677272A2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0" y="691200"/>
            <a:ext cx="7467358" cy="1540566"/>
          </a:xfrm>
        </p:spPr>
        <p:txBody>
          <a:bodyPr vert="horz" anchor="b">
            <a:normAutofit/>
          </a:bodyPr>
          <a:lstStyle>
            <a:lvl1pPr algn="l">
              <a:lnSpc>
                <a:spcPct val="88000"/>
              </a:lnSpc>
              <a:defRPr sz="5400" spc="-15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0" y="2334600"/>
            <a:ext cx="7467358" cy="512762"/>
          </a:xfrm>
        </p:spPr>
        <p:txBody>
          <a:bodyPr>
            <a:normAutofit/>
          </a:bodyPr>
          <a:lstStyle>
            <a:lvl1pPr marL="0" indent="0" algn="l">
              <a:lnSpc>
                <a:spcPct val="98000"/>
              </a:lnSpc>
              <a:spcBef>
                <a:spcPts val="0"/>
              </a:spcBef>
              <a:buNone/>
              <a:defRPr sz="2000" spc="-55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F59106-972B-299C-D5DA-6BA7A053EC2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56032" y="6350508"/>
            <a:ext cx="1339596" cy="251244"/>
            <a:chOff x="11563349" y="6740419"/>
            <a:chExt cx="1266825" cy="237595"/>
          </a:xfrm>
          <a:solidFill>
            <a:schemeClr val="tx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C88B326C-95E8-8F16-F3CB-76D0FA39DE7E}"/>
                </a:ext>
              </a:extLst>
            </p:cNvPr>
            <p:cNvSpPr/>
            <p:nvPr/>
          </p:nvSpPr>
          <p:spPr>
            <a:xfrm>
              <a:off x="11563349" y="6740419"/>
              <a:ext cx="207262" cy="233403"/>
            </a:xfrm>
            <a:custGeom>
              <a:avLst/>
              <a:gdLst>
                <a:gd name="connsiteX0" fmla="*/ 169545 w 207262"/>
                <a:gd name="connsiteY0" fmla="*/ 103293 h 233403"/>
                <a:gd name="connsiteX1" fmla="*/ 167640 w 207262"/>
                <a:gd name="connsiteY1" fmla="*/ 106151 h 233403"/>
                <a:gd name="connsiteX2" fmla="*/ 74295 w 207262"/>
                <a:gd name="connsiteY2" fmla="*/ 51858 h 233403"/>
                <a:gd name="connsiteX3" fmla="*/ 76200 w 207262"/>
                <a:gd name="connsiteY3" fmla="*/ 49001 h 233403"/>
                <a:gd name="connsiteX4" fmla="*/ 92392 w 207262"/>
                <a:gd name="connsiteY4" fmla="*/ 21378 h 233403"/>
                <a:gd name="connsiteX5" fmla="*/ 93345 w 207262"/>
                <a:gd name="connsiteY5" fmla="*/ 22331 h 233403"/>
                <a:gd name="connsiteX6" fmla="*/ 186690 w 207262"/>
                <a:gd name="connsiteY6" fmla="*/ 75671 h 233403"/>
                <a:gd name="connsiteX7" fmla="*/ 169545 w 207262"/>
                <a:gd name="connsiteY7" fmla="*/ 103293 h 233403"/>
                <a:gd name="connsiteX8" fmla="*/ 76200 w 207262"/>
                <a:gd name="connsiteY8" fmla="*/ 154728 h 233403"/>
                <a:gd name="connsiteX9" fmla="*/ 76200 w 207262"/>
                <a:gd name="connsiteY9" fmla="*/ 78528 h 233403"/>
                <a:gd name="connsiteX10" fmla="*/ 141922 w 207262"/>
                <a:gd name="connsiteY10" fmla="*/ 116628 h 233403"/>
                <a:gd name="connsiteX11" fmla="*/ 76200 w 207262"/>
                <a:gd name="connsiteY11" fmla="*/ 154728 h 233403"/>
                <a:gd name="connsiteX12" fmla="*/ 90488 w 207262"/>
                <a:gd name="connsiteY12" fmla="*/ 210926 h 233403"/>
                <a:gd name="connsiteX13" fmla="*/ 73342 w 207262"/>
                <a:gd name="connsiteY13" fmla="*/ 180446 h 233403"/>
                <a:gd name="connsiteX14" fmla="*/ 74295 w 207262"/>
                <a:gd name="connsiteY14" fmla="*/ 179493 h 233403"/>
                <a:gd name="connsiteX15" fmla="*/ 166688 w 207262"/>
                <a:gd name="connsiteY15" fmla="*/ 126153 h 233403"/>
                <a:gd name="connsiteX16" fmla="*/ 168592 w 207262"/>
                <a:gd name="connsiteY16" fmla="*/ 129963 h 233403"/>
                <a:gd name="connsiteX17" fmla="*/ 183833 w 207262"/>
                <a:gd name="connsiteY17" fmla="*/ 156633 h 233403"/>
                <a:gd name="connsiteX18" fmla="*/ 90488 w 207262"/>
                <a:gd name="connsiteY18" fmla="*/ 210926 h 233403"/>
                <a:gd name="connsiteX19" fmla="*/ 55245 w 207262"/>
                <a:gd name="connsiteY19" fmla="*/ 170921 h 233403"/>
                <a:gd name="connsiteX20" fmla="*/ 20003 w 207262"/>
                <a:gd name="connsiteY20" fmla="*/ 170921 h 233403"/>
                <a:gd name="connsiteX21" fmla="*/ 20003 w 207262"/>
                <a:gd name="connsiteY21" fmla="*/ 62336 h 233403"/>
                <a:gd name="connsiteX22" fmla="*/ 55245 w 207262"/>
                <a:gd name="connsiteY22" fmla="*/ 62336 h 233403"/>
                <a:gd name="connsiteX23" fmla="*/ 55245 w 207262"/>
                <a:gd name="connsiteY23" fmla="*/ 170921 h 233403"/>
                <a:gd name="connsiteX24" fmla="*/ 206692 w 207262"/>
                <a:gd name="connsiteY24" fmla="*/ 162348 h 233403"/>
                <a:gd name="connsiteX25" fmla="*/ 204788 w 207262"/>
                <a:gd name="connsiteY25" fmla="*/ 149966 h 233403"/>
                <a:gd name="connsiteX26" fmla="*/ 185738 w 207262"/>
                <a:gd name="connsiteY26" fmla="*/ 116628 h 233403"/>
                <a:gd name="connsiteX27" fmla="*/ 204788 w 207262"/>
                <a:gd name="connsiteY27" fmla="*/ 83291 h 233403"/>
                <a:gd name="connsiteX28" fmla="*/ 206692 w 207262"/>
                <a:gd name="connsiteY28" fmla="*/ 70908 h 233403"/>
                <a:gd name="connsiteX29" fmla="*/ 199072 w 207262"/>
                <a:gd name="connsiteY29" fmla="*/ 61383 h 233403"/>
                <a:gd name="connsiteX30" fmla="*/ 97155 w 207262"/>
                <a:gd name="connsiteY30" fmla="*/ 2328 h 233403"/>
                <a:gd name="connsiteX31" fmla="*/ 75247 w 207262"/>
                <a:gd name="connsiteY31" fmla="*/ 8043 h 233403"/>
                <a:gd name="connsiteX32" fmla="*/ 56197 w 207262"/>
                <a:gd name="connsiteY32" fmla="*/ 41381 h 233403"/>
                <a:gd name="connsiteX33" fmla="*/ 16192 w 207262"/>
                <a:gd name="connsiteY33" fmla="*/ 41381 h 233403"/>
                <a:gd name="connsiteX34" fmla="*/ 16192 w 207262"/>
                <a:gd name="connsiteY34" fmla="*/ 41381 h 233403"/>
                <a:gd name="connsiteX35" fmla="*/ 4763 w 207262"/>
                <a:gd name="connsiteY35" fmla="*/ 46143 h 233403"/>
                <a:gd name="connsiteX36" fmla="*/ 0 w 207262"/>
                <a:gd name="connsiteY36" fmla="*/ 57573 h 233403"/>
                <a:gd name="connsiteX37" fmla="*/ 0 w 207262"/>
                <a:gd name="connsiteY37" fmla="*/ 175683 h 233403"/>
                <a:gd name="connsiteX38" fmla="*/ 16192 w 207262"/>
                <a:gd name="connsiteY38" fmla="*/ 191876 h 233403"/>
                <a:gd name="connsiteX39" fmla="*/ 56197 w 207262"/>
                <a:gd name="connsiteY39" fmla="*/ 191876 h 233403"/>
                <a:gd name="connsiteX40" fmla="*/ 75247 w 207262"/>
                <a:gd name="connsiteY40" fmla="*/ 225213 h 233403"/>
                <a:gd name="connsiteX41" fmla="*/ 84772 w 207262"/>
                <a:gd name="connsiteY41" fmla="*/ 232833 h 233403"/>
                <a:gd name="connsiteX42" fmla="*/ 97155 w 207262"/>
                <a:gd name="connsiteY42" fmla="*/ 230928 h 233403"/>
                <a:gd name="connsiteX43" fmla="*/ 199072 w 207262"/>
                <a:gd name="connsiteY43" fmla="*/ 171873 h 233403"/>
                <a:gd name="connsiteX44" fmla="*/ 206692 w 207262"/>
                <a:gd name="connsiteY44" fmla="*/ 162348 h 2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262" h="233403">
                  <a:moveTo>
                    <a:pt x="169545" y="103293"/>
                  </a:moveTo>
                  <a:lnTo>
                    <a:pt x="167640" y="106151"/>
                  </a:lnTo>
                  <a:lnTo>
                    <a:pt x="74295" y="51858"/>
                  </a:lnTo>
                  <a:lnTo>
                    <a:pt x="76200" y="49001"/>
                  </a:lnTo>
                  <a:lnTo>
                    <a:pt x="92392" y="21378"/>
                  </a:lnTo>
                  <a:lnTo>
                    <a:pt x="93345" y="22331"/>
                  </a:lnTo>
                  <a:lnTo>
                    <a:pt x="186690" y="75671"/>
                  </a:lnTo>
                  <a:lnTo>
                    <a:pt x="169545" y="103293"/>
                  </a:lnTo>
                  <a:close/>
                  <a:moveTo>
                    <a:pt x="76200" y="154728"/>
                  </a:moveTo>
                  <a:lnTo>
                    <a:pt x="76200" y="78528"/>
                  </a:lnTo>
                  <a:lnTo>
                    <a:pt x="141922" y="116628"/>
                  </a:lnTo>
                  <a:lnTo>
                    <a:pt x="76200" y="154728"/>
                  </a:lnTo>
                  <a:close/>
                  <a:moveTo>
                    <a:pt x="90488" y="210926"/>
                  </a:moveTo>
                  <a:lnTo>
                    <a:pt x="73342" y="180446"/>
                  </a:lnTo>
                  <a:lnTo>
                    <a:pt x="74295" y="179493"/>
                  </a:lnTo>
                  <a:lnTo>
                    <a:pt x="166688" y="126153"/>
                  </a:lnTo>
                  <a:lnTo>
                    <a:pt x="168592" y="129963"/>
                  </a:lnTo>
                  <a:lnTo>
                    <a:pt x="183833" y="156633"/>
                  </a:lnTo>
                  <a:lnTo>
                    <a:pt x="90488" y="210926"/>
                  </a:lnTo>
                  <a:close/>
                  <a:moveTo>
                    <a:pt x="55245" y="170921"/>
                  </a:moveTo>
                  <a:lnTo>
                    <a:pt x="20003" y="170921"/>
                  </a:lnTo>
                  <a:lnTo>
                    <a:pt x="20003" y="62336"/>
                  </a:lnTo>
                  <a:lnTo>
                    <a:pt x="55245" y="62336"/>
                  </a:lnTo>
                  <a:lnTo>
                    <a:pt x="55245" y="170921"/>
                  </a:lnTo>
                  <a:close/>
                  <a:moveTo>
                    <a:pt x="206692" y="162348"/>
                  </a:moveTo>
                  <a:cubicBezTo>
                    <a:pt x="207645" y="158538"/>
                    <a:pt x="207645" y="153776"/>
                    <a:pt x="204788" y="149966"/>
                  </a:cubicBezTo>
                  <a:lnTo>
                    <a:pt x="185738" y="116628"/>
                  </a:lnTo>
                  <a:lnTo>
                    <a:pt x="204788" y="83291"/>
                  </a:lnTo>
                  <a:cubicBezTo>
                    <a:pt x="206692" y="79481"/>
                    <a:pt x="207645" y="75671"/>
                    <a:pt x="206692" y="70908"/>
                  </a:cubicBezTo>
                  <a:cubicBezTo>
                    <a:pt x="205740" y="67098"/>
                    <a:pt x="202883" y="63288"/>
                    <a:pt x="199072" y="61383"/>
                  </a:cubicBezTo>
                  <a:lnTo>
                    <a:pt x="97155" y="2328"/>
                  </a:lnTo>
                  <a:cubicBezTo>
                    <a:pt x="89535" y="-2434"/>
                    <a:pt x="80010" y="423"/>
                    <a:pt x="75247" y="8043"/>
                  </a:cubicBezTo>
                  <a:lnTo>
                    <a:pt x="56197" y="41381"/>
                  </a:lnTo>
                  <a:lnTo>
                    <a:pt x="16192" y="41381"/>
                  </a:lnTo>
                  <a:lnTo>
                    <a:pt x="16192" y="41381"/>
                  </a:lnTo>
                  <a:cubicBezTo>
                    <a:pt x="12383" y="41381"/>
                    <a:pt x="7620" y="43286"/>
                    <a:pt x="4763" y="46143"/>
                  </a:cubicBezTo>
                  <a:cubicBezTo>
                    <a:pt x="1905" y="49001"/>
                    <a:pt x="0" y="52811"/>
                    <a:pt x="0" y="57573"/>
                  </a:cubicBezTo>
                  <a:lnTo>
                    <a:pt x="0" y="175683"/>
                  </a:lnTo>
                  <a:cubicBezTo>
                    <a:pt x="0" y="184256"/>
                    <a:pt x="7620" y="191876"/>
                    <a:pt x="16192" y="191876"/>
                  </a:cubicBezTo>
                  <a:lnTo>
                    <a:pt x="56197" y="191876"/>
                  </a:lnTo>
                  <a:lnTo>
                    <a:pt x="75247" y="225213"/>
                  </a:lnTo>
                  <a:cubicBezTo>
                    <a:pt x="77153" y="229023"/>
                    <a:pt x="80963" y="231881"/>
                    <a:pt x="84772" y="232833"/>
                  </a:cubicBezTo>
                  <a:cubicBezTo>
                    <a:pt x="88583" y="233786"/>
                    <a:pt x="93345" y="233786"/>
                    <a:pt x="97155" y="230928"/>
                  </a:cubicBezTo>
                  <a:lnTo>
                    <a:pt x="199072" y="171873"/>
                  </a:lnTo>
                  <a:cubicBezTo>
                    <a:pt x="202883" y="169968"/>
                    <a:pt x="205740" y="167111"/>
                    <a:pt x="206692" y="16234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6906D5EB-37DB-2E46-0CC8-B361FD6811A3}"/>
                </a:ext>
              </a:extLst>
            </p:cNvPr>
            <p:cNvSpPr/>
            <p:nvPr/>
          </p:nvSpPr>
          <p:spPr>
            <a:xfrm>
              <a:off x="11836717" y="6741794"/>
              <a:ext cx="126682" cy="184785"/>
            </a:xfrm>
            <a:custGeom>
              <a:avLst/>
              <a:gdLst>
                <a:gd name="connsiteX0" fmla="*/ 0 w 126682"/>
                <a:gd name="connsiteY0" fmla="*/ 0 h 184785"/>
                <a:gd name="connsiteX1" fmla="*/ 0 w 126682"/>
                <a:gd name="connsiteY1" fmla="*/ 184785 h 184785"/>
                <a:gd name="connsiteX2" fmla="*/ 30480 w 126682"/>
                <a:gd name="connsiteY2" fmla="*/ 184785 h 184785"/>
                <a:gd name="connsiteX3" fmla="*/ 30480 w 126682"/>
                <a:gd name="connsiteY3" fmla="*/ 129540 h 184785"/>
                <a:gd name="connsiteX4" fmla="*/ 33338 w 126682"/>
                <a:gd name="connsiteY4" fmla="*/ 129540 h 184785"/>
                <a:gd name="connsiteX5" fmla="*/ 91440 w 126682"/>
                <a:gd name="connsiteY5" fmla="*/ 184785 h 184785"/>
                <a:gd name="connsiteX6" fmla="*/ 126682 w 126682"/>
                <a:gd name="connsiteY6" fmla="*/ 184785 h 184785"/>
                <a:gd name="connsiteX7" fmla="*/ 126682 w 126682"/>
                <a:gd name="connsiteY7" fmla="*/ 180975 h 184785"/>
                <a:gd name="connsiteX8" fmla="*/ 57150 w 126682"/>
                <a:gd name="connsiteY8" fmla="*/ 115253 h 184785"/>
                <a:gd name="connsiteX9" fmla="*/ 125730 w 126682"/>
                <a:gd name="connsiteY9" fmla="*/ 56198 h 184785"/>
                <a:gd name="connsiteX10" fmla="*/ 125730 w 126682"/>
                <a:gd name="connsiteY10" fmla="*/ 52388 h 184785"/>
                <a:gd name="connsiteX11" fmla="*/ 90488 w 126682"/>
                <a:gd name="connsiteY11" fmla="*/ 52388 h 184785"/>
                <a:gd name="connsiteX12" fmla="*/ 33338 w 126682"/>
                <a:gd name="connsiteY12" fmla="*/ 103823 h 184785"/>
                <a:gd name="connsiteX13" fmla="*/ 30480 w 126682"/>
                <a:gd name="connsiteY13" fmla="*/ 103823 h 184785"/>
                <a:gd name="connsiteX14" fmla="*/ 30480 w 126682"/>
                <a:gd name="connsiteY14" fmla="*/ 0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6682" h="184785">
                  <a:moveTo>
                    <a:pt x="0" y="0"/>
                  </a:moveTo>
                  <a:lnTo>
                    <a:pt x="0" y="184785"/>
                  </a:lnTo>
                  <a:lnTo>
                    <a:pt x="30480" y="184785"/>
                  </a:lnTo>
                  <a:lnTo>
                    <a:pt x="30480" y="129540"/>
                  </a:lnTo>
                  <a:lnTo>
                    <a:pt x="33338" y="129540"/>
                  </a:lnTo>
                  <a:lnTo>
                    <a:pt x="91440" y="184785"/>
                  </a:lnTo>
                  <a:lnTo>
                    <a:pt x="126682" y="184785"/>
                  </a:lnTo>
                  <a:lnTo>
                    <a:pt x="126682" y="180975"/>
                  </a:lnTo>
                  <a:lnTo>
                    <a:pt x="57150" y="115253"/>
                  </a:lnTo>
                  <a:lnTo>
                    <a:pt x="125730" y="56198"/>
                  </a:lnTo>
                  <a:lnTo>
                    <a:pt x="125730" y="52388"/>
                  </a:lnTo>
                  <a:lnTo>
                    <a:pt x="90488" y="52388"/>
                  </a:lnTo>
                  <a:lnTo>
                    <a:pt x="33338" y="103823"/>
                  </a:lnTo>
                  <a:lnTo>
                    <a:pt x="30480" y="103823"/>
                  </a:lnTo>
                  <a:lnTo>
                    <a:pt x="304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9B454036-7BBB-B6DA-73E9-6BDB63A5468F}"/>
                </a:ext>
              </a:extLst>
            </p:cNvPr>
            <p:cNvSpPr/>
            <p:nvPr/>
          </p:nvSpPr>
          <p:spPr>
            <a:xfrm>
              <a:off x="11953874" y="6791325"/>
              <a:ext cx="129540" cy="139065"/>
            </a:xfrm>
            <a:custGeom>
              <a:avLst/>
              <a:gdLst>
                <a:gd name="connsiteX0" fmla="*/ 29528 w 129540"/>
                <a:gd name="connsiteY0" fmla="*/ 55245 h 139065"/>
                <a:gd name="connsiteX1" fmla="*/ 65722 w 129540"/>
                <a:gd name="connsiteY1" fmla="*/ 20955 h 139065"/>
                <a:gd name="connsiteX2" fmla="*/ 100013 w 129540"/>
                <a:gd name="connsiteY2" fmla="*/ 55245 h 139065"/>
                <a:gd name="connsiteX3" fmla="*/ 29528 w 129540"/>
                <a:gd name="connsiteY3" fmla="*/ 55245 h 139065"/>
                <a:gd name="connsiteX4" fmla="*/ 66675 w 129540"/>
                <a:gd name="connsiteY4" fmla="*/ 0 h 139065"/>
                <a:gd name="connsiteX5" fmla="*/ 0 w 129540"/>
                <a:gd name="connsiteY5" fmla="*/ 69532 h 139065"/>
                <a:gd name="connsiteX6" fmla="*/ 66675 w 129540"/>
                <a:gd name="connsiteY6" fmla="*/ 139065 h 139065"/>
                <a:gd name="connsiteX7" fmla="*/ 126682 w 129540"/>
                <a:gd name="connsiteY7" fmla="*/ 98107 h 139065"/>
                <a:gd name="connsiteX8" fmla="*/ 126682 w 129540"/>
                <a:gd name="connsiteY8" fmla="*/ 94297 h 139065"/>
                <a:gd name="connsiteX9" fmla="*/ 100013 w 129540"/>
                <a:gd name="connsiteY9" fmla="*/ 94297 h 139065"/>
                <a:gd name="connsiteX10" fmla="*/ 66675 w 129540"/>
                <a:gd name="connsiteY10" fmla="*/ 117157 h 139065"/>
                <a:gd name="connsiteX11" fmla="*/ 29528 w 129540"/>
                <a:gd name="connsiteY11" fmla="*/ 77153 h 139065"/>
                <a:gd name="connsiteX12" fmla="*/ 129540 w 129540"/>
                <a:gd name="connsiteY12" fmla="*/ 77153 h 139065"/>
                <a:gd name="connsiteX13" fmla="*/ 129540 w 129540"/>
                <a:gd name="connsiteY13" fmla="*/ 64770 h 139065"/>
                <a:gd name="connsiteX14" fmla="*/ 66675 w 129540"/>
                <a:gd name="connsiteY14" fmla="*/ 0 h 13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9540" h="139065">
                  <a:moveTo>
                    <a:pt x="29528" y="55245"/>
                  </a:moveTo>
                  <a:cubicBezTo>
                    <a:pt x="31432" y="35243"/>
                    <a:pt x="43815" y="20955"/>
                    <a:pt x="65722" y="20955"/>
                  </a:cubicBezTo>
                  <a:cubicBezTo>
                    <a:pt x="88582" y="20955"/>
                    <a:pt x="100013" y="35243"/>
                    <a:pt x="100013" y="55245"/>
                  </a:cubicBezTo>
                  <a:lnTo>
                    <a:pt x="29528" y="55245"/>
                  </a:lnTo>
                  <a:close/>
                  <a:moveTo>
                    <a:pt x="66675" y="0"/>
                  </a:moveTo>
                  <a:cubicBezTo>
                    <a:pt x="26670" y="0"/>
                    <a:pt x="0" y="23813"/>
                    <a:pt x="0" y="69532"/>
                  </a:cubicBezTo>
                  <a:cubicBezTo>
                    <a:pt x="0" y="115253"/>
                    <a:pt x="26670" y="139065"/>
                    <a:pt x="66675" y="139065"/>
                  </a:cubicBezTo>
                  <a:cubicBezTo>
                    <a:pt x="106680" y="139065"/>
                    <a:pt x="122872" y="115253"/>
                    <a:pt x="126682" y="98107"/>
                  </a:cubicBezTo>
                  <a:lnTo>
                    <a:pt x="126682" y="94297"/>
                  </a:lnTo>
                  <a:lnTo>
                    <a:pt x="100013" y="94297"/>
                  </a:lnTo>
                  <a:cubicBezTo>
                    <a:pt x="98107" y="104775"/>
                    <a:pt x="88582" y="117157"/>
                    <a:pt x="66675" y="117157"/>
                  </a:cubicBezTo>
                  <a:cubicBezTo>
                    <a:pt x="43815" y="117157"/>
                    <a:pt x="30480" y="100965"/>
                    <a:pt x="29528" y="77153"/>
                  </a:cubicBezTo>
                  <a:lnTo>
                    <a:pt x="129540" y="77153"/>
                  </a:lnTo>
                  <a:lnTo>
                    <a:pt x="129540" y="64770"/>
                  </a:lnTo>
                  <a:cubicBezTo>
                    <a:pt x="129540" y="23813"/>
                    <a:pt x="106680" y="0"/>
                    <a:pt x="66675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D1C6C67B-5C2B-725B-A531-01F4FDF08CF6}"/>
                </a:ext>
              </a:extLst>
            </p:cNvPr>
            <p:cNvSpPr/>
            <p:nvPr/>
          </p:nvSpPr>
          <p:spPr>
            <a:xfrm>
              <a:off x="12077699" y="6794182"/>
              <a:ext cx="137159" cy="183832"/>
            </a:xfrm>
            <a:custGeom>
              <a:avLst/>
              <a:gdLst>
                <a:gd name="connsiteX0" fmla="*/ 106680 w 137159"/>
                <a:gd name="connsiteY0" fmla="*/ 0 h 183832"/>
                <a:gd name="connsiteX1" fmla="*/ 70485 w 137159"/>
                <a:gd name="connsiteY1" fmla="*/ 97155 h 183832"/>
                <a:gd name="connsiteX2" fmla="*/ 67628 w 137159"/>
                <a:gd name="connsiteY2" fmla="*/ 97155 h 183832"/>
                <a:gd name="connsiteX3" fmla="*/ 31432 w 137159"/>
                <a:gd name="connsiteY3" fmla="*/ 0 h 183832"/>
                <a:gd name="connsiteX4" fmla="*/ 0 w 137159"/>
                <a:gd name="connsiteY4" fmla="*/ 0 h 183832"/>
                <a:gd name="connsiteX5" fmla="*/ 0 w 137159"/>
                <a:gd name="connsiteY5" fmla="*/ 3810 h 183832"/>
                <a:gd name="connsiteX6" fmla="*/ 53340 w 137159"/>
                <a:gd name="connsiteY6" fmla="*/ 132398 h 183832"/>
                <a:gd name="connsiteX7" fmla="*/ 33338 w 137159"/>
                <a:gd name="connsiteY7" fmla="*/ 180023 h 183832"/>
                <a:gd name="connsiteX8" fmla="*/ 33338 w 137159"/>
                <a:gd name="connsiteY8" fmla="*/ 183833 h 183832"/>
                <a:gd name="connsiteX9" fmla="*/ 63818 w 137159"/>
                <a:gd name="connsiteY9" fmla="*/ 183833 h 183832"/>
                <a:gd name="connsiteX10" fmla="*/ 137160 w 137159"/>
                <a:gd name="connsiteY10" fmla="*/ 3810 h 183832"/>
                <a:gd name="connsiteX11" fmla="*/ 137160 w 137159"/>
                <a:gd name="connsiteY11" fmla="*/ 0 h 18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9" h="183832">
                  <a:moveTo>
                    <a:pt x="106680" y="0"/>
                  </a:moveTo>
                  <a:lnTo>
                    <a:pt x="70485" y="97155"/>
                  </a:lnTo>
                  <a:lnTo>
                    <a:pt x="67628" y="97155"/>
                  </a:lnTo>
                  <a:lnTo>
                    <a:pt x="31432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53340" y="132398"/>
                  </a:lnTo>
                  <a:lnTo>
                    <a:pt x="33338" y="180023"/>
                  </a:lnTo>
                  <a:lnTo>
                    <a:pt x="33338" y="183833"/>
                  </a:lnTo>
                  <a:lnTo>
                    <a:pt x="63818" y="183833"/>
                  </a:lnTo>
                  <a:lnTo>
                    <a:pt x="137160" y="3810"/>
                  </a:lnTo>
                  <a:lnTo>
                    <a:pt x="13716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grpSp>
          <p:nvGrpSpPr>
            <p:cNvPr id="12" name="Graphic 7">
              <a:extLst>
                <a:ext uri="{FF2B5EF4-FFF2-40B4-BE49-F238E27FC236}">
                  <a16:creationId xmlns:a16="http://schemas.microsoft.com/office/drawing/2014/main" id="{12BA6CC3-4859-D4AB-EF05-474358B4F622}"/>
                </a:ext>
              </a:extLst>
            </p:cNvPr>
            <p:cNvGrpSpPr/>
            <p:nvPr/>
          </p:nvGrpSpPr>
          <p:grpSpPr>
            <a:xfrm>
              <a:off x="12212002" y="6759892"/>
              <a:ext cx="618172" cy="170497"/>
              <a:chOff x="12212002" y="6759892"/>
              <a:chExt cx="618172" cy="170497"/>
            </a:xfrm>
            <a:grpFill/>
          </p:grpSpPr>
          <p:sp>
            <p:nvSpPr>
              <p:cNvPr id="13" name="Free-form: Shape 12">
                <a:extLst>
                  <a:ext uri="{FF2B5EF4-FFF2-40B4-BE49-F238E27FC236}">
                    <a16:creationId xmlns:a16="http://schemas.microsoft.com/office/drawing/2014/main" id="{06690A93-9701-A76D-31D7-153AD7601CE1}"/>
                  </a:ext>
                </a:extLst>
              </p:cNvPr>
              <p:cNvSpPr/>
              <p:nvPr/>
            </p:nvSpPr>
            <p:spPr>
              <a:xfrm>
                <a:off x="12212002" y="6792277"/>
                <a:ext cx="120015" cy="137159"/>
              </a:xfrm>
              <a:custGeom>
                <a:avLst/>
                <a:gdLst>
                  <a:gd name="connsiteX0" fmla="*/ 75247 w 120015"/>
                  <a:gd name="connsiteY0" fmla="*/ 58103 h 137159"/>
                  <a:gd name="connsiteX1" fmla="*/ 50482 w 120015"/>
                  <a:gd name="connsiteY1" fmla="*/ 54292 h 137159"/>
                  <a:gd name="connsiteX2" fmla="*/ 30480 w 120015"/>
                  <a:gd name="connsiteY2" fmla="*/ 38100 h 137159"/>
                  <a:gd name="connsiteX3" fmla="*/ 58103 w 120015"/>
                  <a:gd name="connsiteY3" fmla="*/ 20955 h 137159"/>
                  <a:gd name="connsiteX4" fmla="*/ 89535 w 120015"/>
                  <a:gd name="connsiteY4" fmla="*/ 43815 h 137159"/>
                  <a:gd name="connsiteX5" fmla="*/ 117157 w 120015"/>
                  <a:gd name="connsiteY5" fmla="*/ 43815 h 137159"/>
                  <a:gd name="connsiteX6" fmla="*/ 117157 w 120015"/>
                  <a:gd name="connsiteY6" fmla="*/ 40005 h 137159"/>
                  <a:gd name="connsiteX7" fmla="*/ 57150 w 120015"/>
                  <a:gd name="connsiteY7" fmla="*/ 0 h 137159"/>
                  <a:gd name="connsiteX8" fmla="*/ 953 w 120015"/>
                  <a:gd name="connsiteY8" fmla="*/ 39053 h 137159"/>
                  <a:gd name="connsiteX9" fmla="*/ 42863 w 120015"/>
                  <a:gd name="connsiteY9" fmla="*/ 77153 h 137159"/>
                  <a:gd name="connsiteX10" fmla="*/ 67628 w 120015"/>
                  <a:gd name="connsiteY10" fmla="*/ 80963 h 137159"/>
                  <a:gd name="connsiteX11" fmla="*/ 90488 w 120015"/>
                  <a:gd name="connsiteY11" fmla="*/ 98107 h 137159"/>
                  <a:gd name="connsiteX12" fmla="*/ 61913 w 120015"/>
                  <a:gd name="connsiteY12" fmla="*/ 116205 h 137159"/>
                  <a:gd name="connsiteX13" fmla="*/ 27622 w 120015"/>
                  <a:gd name="connsiteY13" fmla="*/ 92392 h 137159"/>
                  <a:gd name="connsiteX14" fmla="*/ 0 w 120015"/>
                  <a:gd name="connsiteY14" fmla="*/ 92392 h 137159"/>
                  <a:gd name="connsiteX15" fmla="*/ 0 w 120015"/>
                  <a:gd name="connsiteY15" fmla="*/ 96203 h 137159"/>
                  <a:gd name="connsiteX16" fmla="*/ 62865 w 120015"/>
                  <a:gd name="connsiteY16" fmla="*/ 137160 h 137159"/>
                  <a:gd name="connsiteX17" fmla="*/ 120015 w 120015"/>
                  <a:gd name="connsiteY17" fmla="*/ 96203 h 137159"/>
                  <a:gd name="connsiteX18" fmla="*/ 75247 w 120015"/>
                  <a:gd name="connsiteY18" fmla="*/ 58103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0015" h="137159">
                    <a:moveTo>
                      <a:pt x="75247" y="58103"/>
                    </a:moveTo>
                    <a:lnTo>
                      <a:pt x="50482" y="54292"/>
                    </a:lnTo>
                    <a:cubicBezTo>
                      <a:pt x="39053" y="52388"/>
                      <a:pt x="30480" y="48578"/>
                      <a:pt x="30480" y="38100"/>
                    </a:cubicBezTo>
                    <a:cubicBezTo>
                      <a:pt x="30480" y="27622"/>
                      <a:pt x="40005" y="20955"/>
                      <a:pt x="58103" y="20955"/>
                    </a:cubicBezTo>
                    <a:cubicBezTo>
                      <a:pt x="76200" y="20955"/>
                      <a:pt x="88582" y="27622"/>
                      <a:pt x="89535" y="43815"/>
                    </a:cubicBezTo>
                    <a:lnTo>
                      <a:pt x="117157" y="43815"/>
                    </a:lnTo>
                    <a:lnTo>
                      <a:pt x="117157" y="40005"/>
                    </a:lnTo>
                    <a:cubicBezTo>
                      <a:pt x="114300" y="16192"/>
                      <a:pt x="93345" y="0"/>
                      <a:pt x="57150" y="0"/>
                    </a:cubicBezTo>
                    <a:cubicBezTo>
                      <a:pt x="20955" y="0"/>
                      <a:pt x="953" y="16192"/>
                      <a:pt x="953" y="39053"/>
                    </a:cubicBezTo>
                    <a:cubicBezTo>
                      <a:pt x="953" y="61913"/>
                      <a:pt x="18097" y="73342"/>
                      <a:pt x="42863" y="77153"/>
                    </a:cubicBezTo>
                    <a:lnTo>
                      <a:pt x="67628" y="80963"/>
                    </a:lnTo>
                    <a:cubicBezTo>
                      <a:pt x="81915" y="82867"/>
                      <a:pt x="90488" y="87630"/>
                      <a:pt x="90488" y="98107"/>
                    </a:cubicBezTo>
                    <a:cubicBezTo>
                      <a:pt x="90488" y="109538"/>
                      <a:pt x="80963" y="116205"/>
                      <a:pt x="61913" y="116205"/>
                    </a:cubicBezTo>
                    <a:cubicBezTo>
                      <a:pt x="42863" y="116205"/>
                      <a:pt x="28575" y="108585"/>
                      <a:pt x="27622" y="92392"/>
                    </a:cubicBezTo>
                    <a:lnTo>
                      <a:pt x="0" y="92392"/>
                    </a:lnTo>
                    <a:lnTo>
                      <a:pt x="0" y="96203"/>
                    </a:lnTo>
                    <a:cubicBezTo>
                      <a:pt x="1905" y="120015"/>
                      <a:pt x="23813" y="137160"/>
                      <a:pt x="62865" y="137160"/>
                    </a:cubicBezTo>
                    <a:cubicBezTo>
                      <a:pt x="100965" y="137160"/>
                      <a:pt x="120015" y="120015"/>
                      <a:pt x="120015" y="96203"/>
                    </a:cubicBezTo>
                    <a:cubicBezTo>
                      <a:pt x="119063" y="72390"/>
                      <a:pt x="100965" y="62865"/>
                      <a:pt x="75247" y="58103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4" name="Free-form: Shape 13">
                <a:extLst>
                  <a:ext uri="{FF2B5EF4-FFF2-40B4-BE49-F238E27FC236}">
                    <a16:creationId xmlns:a16="http://schemas.microsoft.com/office/drawing/2014/main" id="{9FD7F094-8C7D-89DF-8552-F6D6AF0A1726}"/>
                  </a:ext>
                </a:extLst>
              </p:cNvPr>
              <p:cNvSpPr/>
              <p:nvPr/>
            </p:nvSpPr>
            <p:spPr>
              <a:xfrm>
                <a:off x="12330112" y="6759892"/>
                <a:ext cx="93344" cy="166687"/>
              </a:xfrm>
              <a:custGeom>
                <a:avLst/>
                <a:gdLst>
                  <a:gd name="connsiteX0" fmla="*/ 56197 w 93344"/>
                  <a:gd name="connsiteY0" fmla="*/ 142875 h 166687"/>
                  <a:gd name="connsiteX1" fmla="*/ 56197 w 93344"/>
                  <a:gd name="connsiteY1" fmla="*/ 56197 h 166687"/>
                  <a:gd name="connsiteX2" fmla="*/ 93345 w 93344"/>
                  <a:gd name="connsiteY2" fmla="*/ 56197 h 166687"/>
                  <a:gd name="connsiteX3" fmla="*/ 93345 w 93344"/>
                  <a:gd name="connsiteY3" fmla="*/ 35242 h 166687"/>
                  <a:gd name="connsiteX4" fmla="*/ 56197 w 93344"/>
                  <a:gd name="connsiteY4" fmla="*/ 35242 h 166687"/>
                  <a:gd name="connsiteX5" fmla="*/ 56197 w 93344"/>
                  <a:gd name="connsiteY5" fmla="*/ 0 h 166687"/>
                  <a:gd name="connsiteX6" fmla="*/ 25718 w 93344"/>
                  <a:gd name="connsiteY6" fmla="*/ 0 h 166687"/>
                  <a:gd name="connsiteX7" fmla="*/ 25718 w 93344"/>
                  <a:gd name="connsiteY7" fmla="*/ 35242 h 166687"/>
                  <a:gd name="connsiteX8" fmla="*/ 0 w 93344"/>
                  <a:gd name="connsiteY8" fmla="*/ 35242 h 166687"/>
                  <a:gd name="connsiteX9" fmla="*/ 0 w 93344"/>
                  <a:gd name="connsiteY9" fmla="*/ 56197 h 166687"/>
                  <a:gd name="connsiteX10" fmla="*/ 25718 w 93344"/>
                  <a:gd name="connsiteY10" fmla="*/ 56197 h 166687"/>
                  <a:gd name="connsiteX11" fmla="*/ 25718 w 93344"/>
                  <a:gd name="connsiteY11" fmla="*/ 132397 h 166687"/>
                  <a:gd name="connsiteX12" fmla="*/ 61913 w 93344"/>
                  <a:gd name="connsiteY12" fmla="*/ 166688 h 166687"/>
                  <a:gd name="connsiteX13" fmla="*/ 92393 w 93344"/>
                  <a:gd name="connsiteY13" fmla="*/ 166688 h 166687"/>
                  <a:gd name="connsiteX14" fmla="*/ 92393 w 93344"/>
                  <a:gd name="connsiteY14" fmla="*/ 144780 h 166687"/>
                  <a:gd name="connsiteX15" fmla="*/ 58103 w 93344"/>
                  <a:gd name="connsiteY15" fmla="*/ 144780 h 166687"/>
                  <a:gd name="connsiteX16" fmla="*/ 56197 w 93344"/>
                  <a:gd name="connsiteY16" fmla="*/ 142875 h 166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344" h="166687">
                    <a:moveTo>
                      <a:pt x="56197" y="142875"/>
                    </a:moveTo>
                    <a:lnTo>
                      <a:pt x="56197" y="56197"/>
                    </a:lnTo>
                    <a:lnTo>
                      <a:pt x="93345" y="56197"/>
                    </a:lnTo>
                    <a:lnTo>
                      <a:pt x="93345" y="35242"/>
                    </a:lnTo>
                    <a:lnTo>
                      <a:pt x="56197" y="35242"/>
                    </a:lnTo>
                    <a:lnTo>
                      <a:pt x="56197" y="0"/>
                    </a:lnTo>
                    <a:lnTo>
                      <a:pt x="25718" y="0"/>
                    </a:lnTo>
                    <a:lnTo>
                      <a:pt x="25718" y="35242"/>
                    </a:lnTo>
                    <a:lnTo>
                      <a:pt x="0" y="35242"/>
                    </a:lnTo>
                    <a:lnTo>
                      <a:pt x="0" y="56197"/>
                    </a:lnTo>
                    <a:lnTo>
                      <a:pt x="25718" y="56197"/>
                    </a:lnTo>
                    <a:lnTo>
                      <a:pt x="25718" y="132397"/>
                    </a:lnTo>
                    <a:cubicBezTo>
                      <a:pt x="25718" y="155257"/>
                      <a:pt x="39053" y="166688"/>
                      <a:pt x="61913" y="166688"/>
                    </a:cubicBezTo>
                    <a:lnTo>
                      <a:pt x="92393" y="166688"/>
                    </a:lnTo>
                    <a:lnTo>
                      <a:pt x="92393" y="144780"/>
                    </a:lnTo>
                    <a:lnTo>
                      <a:pt x="58103" y="144780"/>
                    </a:lnTo>
                    <a:lnTo>
                      <a:pt x="56197" y="1428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5" name="Free-form: Shape 14">
                <a:extLst>
                  <a:ext uri="{FF2B5EF4-FFF2-40B4-BE49-F238E27FC236}">
                    <a16:creationId xmlns:a16="http://schemas.microsoft.com/office/drawing/2014/main" id="{2A498ED8-C6FD-73A1-04FE-03DB53AE6517}"/>
                  </a:ext>
                </a:extLst>
              </p:cNvPr>
              <p:cNvSpPr/>
              <p:nvPr/>
            </p:nvSpPr>
            <p:spPr>
              <a:xfrm>
                <a:off x="12424409" y="6791325"/>
                <a:ext cx="137159" cy="139065"/>
              </a:xfrm>
              <a:custGeom>
                <a:avLst/>
                <a:gdLst>
                  <a:gd name="connsiteX0" fmla="*/ 68580 w 137159"/>
                  <a:gd name="connsiteY0" fmla="*/ 116205 h 139065"/>
                  <a:gd name="connsiteX1" fmla="*/ 30480 w 137159"/>
                  <a:gd name="connsiteY1" fmla="*/ 69532 h 139065"/>
                  <a:gd name="connsiteX2" fmla="*/ 68580 w 137159"/>
                  <a:gd name="connsiteY2" fmla="*/ 22860 h 139065"/>
                  <a:gd name="connsiteX3" fmla="*/ 106680 w 137159"/>
                  <a:gd name="connsiteY3" fmla="*/ 69532 h 139065"/>
                  <a:gd name="connsiteX4" fmla="*/ 68580 w 137159"/>
                  <a:gd name="connsiteY4" fmla="*/ 116205 h 139065"/>
                  <a:gd name="connsiteX5" fmla="*/ 68580 w 137159"/>
                  <a:gd name="connsiteY5" fmla="*/ 0 h 139065"/>
                  <a:gd name="connsiteX6" fmla="*/ 0 w 137159"/>
                  <a:gd name="connsiteY6" fmla="*/ 69532 h 139065"/>
                  <a:gd name="connsiteX7" fmla="*/ 68580 w 137159"/>
                  <a:gd name="connsiteY7" fmla="*/ 139065 h 139065"/>
                  <a:gd name="connsiteX8" fmla="*/ 137160 w 137159"/>
                  <a:gd name="connsiteY8" fmla="*/ 69532 h 139065"/>
                  <a:gd name="connsiteX9" fmla="*/ 68580 w 137159"/>
                  <a:gd name="connsiteY9" fmla="*/ 0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139065">
                    <a:moveTo>
                      <a:pt x="68580" y="116205"/>
                    </a:moveTo>
                    <a:cubicBezTo>
                      <a:pt x="45720" y="116205"/>
                      <a:pt x="30480" y="100013"/>
                      <a:pt x="30480" y="69532"/>
                    </a:cubicBezTo>
                    <a:cubicBezTo>
                      <a:pt x="30480" y="39053"/>
                      <a:pt x="45720" y="22860"/>
                      <a:pt x="68580" y="22860"/>
                    </a:cubicBezTo>
                    <a:cubicBezTo>
                      <a:pt x="91440" y="22860"/>
                      <a:pt x="106680" y="39053"/>
                      <a:pt x="106680" y="69532"/>
                    </a:cubicBezTo>
                    <a:cubicBezTo>
                      <a:pt x="106680" y="100013"/>
                      <a:pt x="91440" y="116205"/>
                      <a:pt x="68580" y="116205"/>
                    </a:cubicBezTo>
                    <a:moveTo>
                      <a:pt x="68580" y="0"/>
                    </a:moveTo>
                    <a:cubicBezTo>
                      <a:pt x="28575" y="0"/>
                      <a:pt x="0" y="23813"/>
                      <a:pt x="0" y="69532"/>
                    </a:cubicBezTo>
                    <a:cubicBezTo>
                      <a:pt x="0" y="114300"/>
                      <a:pt x="28575" y="139065"/>
                      <a:pt x="68580" y="139065"/>
                    </a:cubicBezTo>
                    <a:cubicBezTo>
                      <a:pt x="108585" y="139065"/>
                      <a:pt x="137160" y="115253"/>
                      <a:pt x="137160" y="69532"/>
                    </a:cubicBezTo>
                    <a:cubicBezTo>
                      <a:pt x="137160" y="23813"/>
                      <a:pt x="108585" y="0"/>
                      <a:pt x="68580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6" name="Free-form: Shape 15">
                <a:extLst>
                  <a:ext uri="{FF2B5EF4-FFF2-40B4-BE49-F238E27FC236}">
                    <a16:creationId xmlns:a16="http://schemas.microsoft.com/office/drawing/2014/main" id="{EF9BCAAE-2ABF-0942-DD54-4FDDDA730E2C}"/>
                  </a:ext>
                </a:extLst>
              </p:cNvPr>
              <p:cNvSpPr/>
              <p:nvPr/>
            </p:nvSpPr>
            <p:spPr>
              <a:xfrm>
                <a:off x="12568237" y="6791325"/>
                <a:ext cx="123857" cy="135255"/>
              </a:xfrm>
              <a:custGeom>
                <a:avLst/>
                <a:gdLst>
                  <a:gd name="connsiteX0" fmla="*/ 75247 w 123857"/>
                  <a:gd name="connsiteY0" fmla="*/ 0 h 135255"/>
                  <a:gd name="connsiteX1" fmla="*/ 32385 w 123857"/>
                  <a:gd name="connsiteY1" fmla="*/ 20003 h 135255"/>
                  <a:gd name="connsiteX2" fmla="*/ 29528 w 123857"/>
                  <a:gd name="connsiteY2" fmla="*/ 20003 h 135255"/>
                  <a:gd name="connsiteX3" fmla="*/ 29528 w 123857"/>
                  <a:gd name="connsiteY3" fmla="*/ 2857 h 135255"/>
                  <a:gd name="connsiteX4" fmla="*/ 0 w 123857"/>
                  <a:gd name="connsiteY4" fmla="*/ 2857 h 135255"/>
                  <a:gd name="connsiteX5" fmla="*/ 0 w 123857"/>
                  <a:gd name="connsiteY5" fmla="*/ 135255 h 135255"/>
                  <a:gd name="connsiteX6" fmla="*/ 30480 w 123857"/>
                  <a:gd name="connsiteY6" fmla="*/ 135255 h 135255"/>
                  <a:gd name="connsiteX7" fmla="*/ 30480 w 123857"/>
                  <a:gd name="connsiteY7" fmla="*/ 60960 h 135255"/>
                  <a:gd name="connsiteX8" fmla="*/ 65722 w 123857"/>
                  <a:gd name="connsiteY8" fmla="*/ 22860 h 135255"/>
                  <a:gd name="connsiteX9" fmla="*/ 93345 w 123857"/>
                  <a:gd name="connsiteY9" fmla="*/ 50482 h 135255"/>
                  <a:gd name="connsiteX10" fmla="*/ 93345 w 123857"/>
                  <a:gd name="connsiteY10" fmla="*/ 134303 h 135255"/>
                  <a:gd name="connsiteX11" fmla="*/ 123825 w 123857"/>
                  <a:gd name="connsiteY11" fmla="*/ 134303 h 135255"/>
                  <a:gd name="connsiteX12" fmla="*/ 123825 w 123857"/>
                  <a:gd name="connsiteY12" fmla="*/ 47625 h 135255"/>
                  <a:gd name="connsiteX13" fmla="*/ 75247 w 123857"/>
                  <a:gd name="connsiteY13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857" h="135255">
                    <a:moveTo>
                      <a:pt x="75247" y="0"/>
                    </a:moveTo>
                    <a:cubicBezTo>
                      <a:pt x="47625" y="0"/>
                      <a:pt x="37147" y="12382"/>
                      <a:pt x="32385" y="20003"/>
                    </a:cubicBezTo>
                    <a:lnTo>
                      <a:pt x="29528" y="20003"/>
                    </a:lnTo>
                    <a:lnTo>
                      <a:pt x="29528" y="2857"/>
                    </a:lnTo>
                    <a:lnTo>
                      <a:pt x="0" y="2857"/>
                    </a:lnTo>
                    <a:lnTo>
                      <a:pt x="0" y="135255"/>
                    </a:lnTo>
                    <a:lnTo>
                      <a:pt x="30480" y="135255"/>
                    </a:lnTo>
                    <a:lnTo>
                      <a:pt x="30480" y="60960"/>
                    </a:lnTo>
                    <a:cubicBezTo>
                      <a:pt x="30480" y="34290"/>
                      <a:pt x="46672" y="22860"/>
                      <a:pt x="65722" y="22860"/>
                    </a:cubicBezTo>
                    <a:cubicBezTo>
                      <a:pt x="82868" y="22860"/>
                      <a:pt x="93345" y="31432"/>
                      <a:pt x="93345" y="50482"/>
                    </a:cubicBezTo>
                    <a:lnTo>
                      <a:pt x="93345" y="134303"/>
                    </a:lnTo>
                    <a:lnTo>
                      <a:pt x="123825" y="134303"/>
                    </a:lnTo>
                    <a:lnTo>
                      <a:pt x="123825" y="47625"/>
                    </a:lnTo>
                    <a:cubicBezTo>
                      <a:pt x="124778" y="16193"/>
                      <a:pt x="104775" y="0"/>
                      <a:pt x="75247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7" name="Free-form: Shape 16">
                <a:extLst>
                  <a:ext uri="{FF2B5EF4-FFF2-40B4-BE49-F238E27FC236}">
                    <a16:creationId xmlns:a16="http://schemas.microsoft.com/office/drawing/2014/main" id="{6774AE6D-EBAD-4553-23AE-5EC5D9A0C4DA}"/>
                  </a:ext>
                </a:extLst>
              </p:cNvPr>
              <p:cNvSpPr/>
              <p:nvPr/>
            </p:nvSpPr>
            <p:spPr>
              <a:xfrm>
                <a:off x="12700634" y="6791325"/>
                <a:ext cx="129540" cy="139065"/>
              </a:xfrm>
              <a:custGeom>
                <a:avLst/>
                <a:gdLst>
                  <a:gd name="connsiteX0" fmla="*/ 29528 w 129540"/>
                  <a:gd name="connsiteY0" fmla="*/ 55245 h 139065"/>
                  <a:gd name="connsiteX1" fmla="*/ 65722 w 129540"/>
                  <a:gd name="connsiteY1" fmla="*/ 20955 h 139065"/>
                  <a:gd name="connsiteX2" fmla="*/ 100013 w 129540"/>
                  <a:gd name="connsiteY2" fmla="*/ 55245 h 139065"/>
                  <a:gd name="connsiteX3" fmla="*/ 29528 w 129540"/>
                  <a:gd name="connsiteY3" fmla="*/ 55245 h 139065"/>
                  <a:gd name="connsiteX4" fmla="*/ 129540 w 129540"/>
                  <a:gd name="connsiteY4" fmla="*/ 63818 h 139065"/>
                  <a:gd name="connsiteX5" fmla="*/ 66675 w 129540"/>
                  <a:gd name="connsiteY5" fmla="*/ 0 h 139065"/>
                  <a:gd name="connsiteX6" fmla="*/ 0 w 129540"/>
                  <a:gd name="connsiteY6" fmla="*/ 69532 h 139065"/>
                  <a:gd name="connsiteX7" fmla="*/ 66675 w 129540"/>
                  <a:gd name="connsiteY7" fmla="*/ 139065 h 139065"/>
                  <a:gd name="connsiteX8" fmla="*/ 126683 w 129540"/>
                  <a:gd name="connsiteY8" fmla="*/ 98107 h 139065"/>
                  <a:gd name="connsiteX9" fmla="*/ 126683 w 129540"/>
                  <a:gd name="connsiteY9" fmla="*/ 94297 h 139065"/>
                  <a:gd name="connsiteX10" fmla="*/ 100013 w 129540"/>
                  <a:gd name="connsiteY10" fmla="*/ 94297 h 139065"/>
                  <a:gd name="connsiteX11" fmla="*/ 66675 w 129540"/>
                  <a:gd name="connsiteY11" fmla="*/ 117157 h 139065"/>
                  <a:gd name="connsiteX12" fmla="*/ 29528 w 129540"/>
                  <a:gd name="connsiteY12" fmla="*/ 77153 h 139065"/>
                  <a:gd name="connsiteX13" fmla="*/ 129540 w 129540"/>
                  <a:gd name="connsiteY13" fmla="*/ 77153 h 139065"/>
                  <a:gd name="connsiteX14" fmla="*/ 129540 w 129540"/>
                  <a:gd name="connsiteY14" fmla="*/ 63818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540" h="139065">
                    <a:moveTo>
                      <a:pt x="29528" y="55245"/>
                    </a:moveTo>
                    <a:cubicBezTo>
                      <a:pt x="31433" y="35243"/>
                      <a:pt x="43815" y="20955"/>
                      <a:pt x="65722" y="20955"/>
                    </a:cubicBezTo>
                    <a:cubicBezTo>
                      <a:pt x="88583" y="20955"/>
                      <a:pt x="100013" y="35243"/>
                      <a:pt x="100013" y="55245"/>
                    </a:cubicBezTo>
                    <a:lnTo>
                      <a:pt x="29528" y="55245"/>
                    </a:lnTo>
                    <a:close/>
                    <a:moveTo>
                      <a:pt x="129540" y="63818"/>
                    </a:moveTo>
                    <a:cubicBezTo>
                      <a:pt x="129540" y="23813"/>
                      <a:pt x="106680" y="0"/>
                      <a:pt x="66675" y="0"/>
                    </a:cubicBezTo>
                    <a:cubicBezTo>
                      <a:pt x="26670" y="0"/>
                      <a:pt x="0" y="23813"/>
                      <a:pt x="0" y="69532"/>
                    </a:cubicBezTo>
                    <a:cubicBezTo>
                      <a:pt x="0" y="115253"/>
                      <a:pt x="26670" y="139065"/>
                      <a:pt x="66675" y="139065"/>
                    </a:cubicBezTo>
                    <a:cubicBezTo>
                      <a:pt x="106680" y="139065"/>
                      <a:pt x="122872" y="115253"/>
                      <a:pt x="126683" y="98107"/>
                    </a:cubicBezTo>
                    <a:lnTo>
                      <a:pt x="126683" y="94297"/>
                    </a:lnTo>
                    <a:lnTo>
                      <a:pt x="100013" y="94297"/>
                    </a:lnTo>
                    <a:cubicBezTo>
                      <a:pt x="98108" y="104775"/>
                      <a:pt x="88583" y="117157"/>
                      <a:pt x="66675" y="117157"/>
                    </a:cubicBezTo>
                    <a:cubicBezTo>
                      <a:pt x="43815" y="117157"/>
                      <a:pt x="30480" y="100965"/>
                      <a:pt x="29528" y="77153"/>
                    </a:cubicBezTo>
                    <a:lnTo>
                      <a:pt x="129540" y="77153"/>
                    </a:lnTo>
                    <a:lnTo>
                      <a:pt x="129540" y="63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</p:grpSp>
      </p:grp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11BA1E65-92F4-BD8C-7BEB-66807EFE3483}"/>
              </a:ext>
            </a:extLst>
          </p:cNvPr>
          <p:cNvSpPr>
            <a:spLocks noChangeAspect="1"/>
          </p:cNvSpPr>
          <p:nvPr/>
        </p:nvSpPr>
        <p:spPr>
          <a:xfrm>
            <a:off x="8129016" y="2016252"/>
            <a:ext cx="3118104" cy="3511374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9A54DA9-46B4-6A65-D601-60E6B6A7B6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82" y="3846600"/>
            <a:ext cx="3118104" cy="1073219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F0FFE17C-3BCC-E0FA-33A5-355AA934B1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382" y="273600"/>
            <a:ext cx="3118104" cy="168966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04464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Lilac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1BB0E2C1-032E-19D1-1968-46A4343A7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BB0E2C1-032E-19D1-1968-46A4343A7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0" y="691200"/>
            <a:ext cx="7467358" cy="1540566"/>
          </a:xfrm>
        </p:spPr>
        <p:txBody>
          <a:bodyPr vert="horz" anchor="b">
            <a:normAutofit/>
          </a:bodyPr>
          <a:lstStyle>
            <a:lvl1pPr algn="l">
              <a:lnSpc>
                <a:spcPct val="88000"/>
              </a:lnSpc>
              <a:defRPr sz="5400" spc="-15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0" y="2334600"/>
            <a:ext cx="7467358" cy="512762"/>
          </a:xfrm>
        </p:spPr>
        <p:txBody>
          <a:bodyPr>
            <a:normAutofit/>
          </a:bodyPr>
          <a:lstStyle>
            <a:lvl1pPr marL="0" indent="0" algn="l">
              <a:lnSpc>
                <a:spcPct val="98000"/>
              </a:lnSpc>
              <a:spcBef>
                <a:spcPts val="0"/>
              </a:spcBef>
              <a:buNone/>
              <a:defRPr sz="2000" spc="-55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F59106-972B-299C-D5DA-6BA7A053EC2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56032" y="6350508"/>
            <a:ext cx="1339596" cy="251244"/>
            <a:chOff x="11563349" y="6740419"/>
            <a:chExt cx="1266825" cy="237595"/>
          </a:xfrm>
          <a:solidFill>
            <a:schemeClr val="tx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C88B326C-95E8-8F16-F3CB-76D0FA39DE7E}"/>
                </a:ext>
              </a:extLst>
            </p:cNvPr>
            <p:cNvSpPr/>
            <p:nvPr/>
          </p:nvSpPr>
          <p:spPr>
            <a:xfrm>
              <a:off x="11563349" y="6740419"/>
              <a:ext cx="207262" cy="233403"/>
            </a:xfrm>
            <a:custGeom>
              <a:avLst/>
              <a:gdLst>
                <a:gd name="connsiteX0" fmla="*/ 169545 w 207262"/>
                <a:gd name="connsiteY0" fmla="*/ 103293 h 233403"/>
                <a:gd name="connsiteX1" fmla="*/ 167640 w 207262"/>
                <a:gd name="connsiteY1" fmla="*/ 106151 h 233403"/>
                <a:gd name="connsiteX2" fmla="*/ 74295 w 207262"/>
                <a:gd name="connsiteY2" fmla="*/ 51858 h 233403"/>
                <a:gd name="connsiteX3" fmla="*/ 76200 w 207262"/>
                <a:gd name="connsiteY3" fmla="*/ 49001 h 233403"/>
                <a:gd name="connsiteX4" fmla="*/ 92392 w 207262"/>
                <a:gd name="connsiteY4" fmla="*/ 21378 h 233403"/>
                <a:gd name="connsiteX5" fmla="*/ 93345 w 207262"/>
                <a:gd name="connsiteY5" fmla="*/ 22331 h 233403"/>
                <a:gd name="connsiteX6" fmla="*/ 186690 w 207262"/>
                <a:gd name="connsiteY6" fmla="*/ 75671 h 233403"/>
                <a:gd name="connsiteX7" fmla="*/ 169545 w 207262"/>
                <a:gd name="connsiteY7" fmla="*/ 103293 h 233403"/>
                <a:gd name="connsiteX8" fmla="*/ 76200 w 207262"/>
                <a:gd name="connsiteY8" fmla="*/ 154728 h 233403"/>
                <a:gd name="connsiteX9" fmla="*/ 76200 w 207262"/>
                <a:gd name="connsiteY9" fmla="*/ 78528 h 233403"/>
                <a:gd name="connsiteX10" fmla="*/ 141922 w 207262"/>
                <a:gd name="connsiteY10" fmla="*/ 116628 h 233403"/>
                <a:gd name="connsiteX11" fmla="*/ 76200 w 207262"/>
                <a:gd name="connsiteY11" fmla="*/ 154728 h 233403"/>
                <a:gd name="connsiteX12" fmla="*/ 90488 w 207262"/>
                <a:gd name="connsiteY12" fmla="*/ 210926 h 233403"/>
                <a:gd name="connsiteX13" fmla="*/ 73342 w 207262"/>
                <a:gd name="connsiteY13" fmla="*/ 180446 h 233403"/>
                <a:gd name="connsiteX14" fmla="*/ 74295 w 207262"/>
                <a:gd name="connsiteY14" fmla="*/ 179493 h 233403"/>
                <a:gd name="connsiteX15" fmla="*/ 166688 w 207262"/>
                <a:gd name="connsiteY15" fmla="*/ 126153 h 233403"/>
                <a:gd name="connsiteX16" fmla="*/ 168592 w 207262"/>
                <a:gd name="connsiteY16" fmla="*/ 129963 h 233403"/>
                <a:gd name="connsiteX17" fmla="*/ 183833 w 207262"/>
                <a:gd name="connsiteY17" fmla="*/ 156633 h 233403"/>
                <a:gd name="connsiteX18" fmla="*/ 90488 w 207262"/>
                <a:gd name="connsiteY18" fmla="*/ 210926 h 233403"/>
                <a:gd name="connsiteX19" fmla="*/ 55245 w 207262"/>
                <a:gd name="connsiteY19" fmla="*/ 170921 h 233403"/>
                <a:gd name="connsiteX20" fmla="*/ 20003 w 207262"/>
                <a:gd name="connsiteY20" fmla="*/ 170921 h 233403"/>
                <a:gd name="connsiteX21" fmla="*/ 20003 w 207262"/>
                <a:gd name="connsiteY21" fmla="*/ 62336 h 233403"/>
                <a:gd name="connsiteX22" fmla="*/ 55245 w 207262"/>
                <a:gd name="connsiteY22" fmla="*/ 62336 h 233403"/>
                <a:gd name="connsiteX23" fmla="*/ 55245 w 207262"/>
                <a:gd name="connsiteY23" fmla="*/ 170921 h 233403"/>
                <a:gd name="connsiteX24" fmla="*/ 206692 w 207262"/>
                <a:gd name="connsiteY24" fmla="*/ 162348 h 233403"/>
                <a:gd name="connsiteX25" fmla="*/ 204788 w 207262"/>
                <a:gd name="connsiteY25" fmla="*/ 149966 h 233403"/>
                <a:gd name="connsiteX26" fmla="*/ 185738 w 207262"/>
                <a:gd name="connsiteY26" fmla="*/ 116628 h 233403"/>
                <a:gd name="connsiteX27" fmla="*/ 204788 w 207262"/>
                <a:gd name="connsiteY27" fmla="*/ 83291 h 233403"/>
                <a:gd name="connsiteX28" fmla="*/ 206692 w 207262"/>
                <a:gd name="connsiteY28" fmla="*/ 70908 h 233403"/>
                <a:gd name="connsiteX29" fmla="*/ 199072 w 207262"/>
                <a:gd name="connsiteY29" fmla="*/ 61383 h 233403"/>
                <a:gd name="connsiteX30" fmla="*/ 97155 w 207262"/>
                <a:gd name="connsiteY30" fmla="*/ 2328 h 233403"/>
                <a:gd name="connsiteX31" fmla="*/ 75247 w 207262"/>
                <a:gd name="connsiteY31" fmla="*/ 8043 h 233403"/>
                <a:gd name="connsiteX32" fmla="*/ 56197 w 207262"/>
                <a:gd name="connsiteY32" fmla="*/ 41381 h 233403"/>
                <a:gd name="connsiteX33" fmla="*/ 16192 w 207262"/>
                <a:gd name="connsiteY33" fmla="*/ 41381 h 233403"/>
                <a:gd name="connsiteX34" fmla="*/ 16192 w 207262"/>
                <a:gd name="connsiteY34" fmla="*/ 41381 h 233403"/>
                <a:gd name="connsiteX35" fmla="*/ 4763 w 207262"/>
                <a:gd name="connsiteY35" fmla="*/ 46143 h 233403"/>
                <a:gd name="connsiteX36" fmla="*/ 0 w 207262"/>
                <a:gd name="connsiteY36" fmla="*/ 57573 h 233403"/>
                <a:gd name="connsiteX37" fmla="*/ 0 w 207262"/>
                <a:gd name="connsiteY37" fmla="*/ 175683 h 233403"/>
                <a:gd name="connsiteX38" fmla="*/ 16192 w 207262"/>
                <a:gd name="connsiteY38" fmla="*/ 191876 h 233403"/>
                <a:gd name="connsiteX39" fmla="*/ 56197 w 207262"/>
                <a:gd name="connsiteY39" fmla="*/ 191876 h 233403"/>
                <a:gd name="connsiteX40" fmla="*/ 75247 w 207262"/>
                <a:gd name="connsiteY40" fmla="*/ 225213 h 233403"/>
                <a:gd name="connsiteX41" fmla="*/ 84772 w 207262"/>
                <a:gd name="connsiteY41" fmla="*/ 232833 h 233403"/>
                <a:gd name="connsiteX42" fmla="*/ 97155 w 207262"/>
                <a:gd name="connsiteY42" fmla="*/ 230928 h 233403"/>
                <a:gd name="connsiteX43" fmla="*/ 199072 w 207262"/>
                <a:gd name="connsiteY43" fmla="*/ 171873 h 233403"/>
                <a:gd name="connsiteX44" fmla="*/ 206692 w 207262"/>
                <a:gd name="connsiteY44" fmla="*/ 162348 h 2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262" h="233403">
                  <a:moveTo>
                    <a:pt x="169545" y="103293"/>
                  </a:moveTo>
                  <a:lnTo>
                    <a:pt x="167640" y="106151"/>
                  </a:lnTo>
                  <a:lnTo>
                    <a:pt x="74295" y="51858"/>
                  </a:lnTo>
                  <a:lnTo>
                    <a:pt x="76200" y="49001"/>
                  </a:lnTo>
                  <a:lnTo>
                    <a:pt x="92392" y="21378"/>
                  </a:lnTo>
                  <a:lnTo>
                    <a:pt x="93345" y="22331"/>
                  </a:lnTo>
                  <a:lnTo>
                    <a:pt x="186690" y="75671"/>
                  </a:lnTo>
                  <a:lnTo>
                    <a:pt x="169545" y="103293"/>
                  </a:lnTo>
                  <a:close/>
                  <a:moveTo>
                    <a:pt x="76200" y="154728"/>
                  </a:moveTo>
                  <a:lnTo>
                    <a:pt x="76200" y="78528"/>
                  </a:lnTo>
                  <a:lnTo>
                    <a:pt x="141922" y="116628"/>
                  </a:lnTo>
                  <a:lnTo>
                    <a:pt x="76200" y="154728"/>
                  </a:lnTo>
                  <a:close/>
                  <a:moveTo>
                    <a:pt x="90488" y="210926"/>
                  </a:moveTo>
                  <a:lnTo>
                    <a:pt x="73342" y="180446"/>
                  </a:lnTo>
                  <a:lnTo>
                    <a:pt x="74295" y="179493"/>
                  </a:lnTo>
                  <a:lnTo>
                    <a:pt x="166688" y="126153"/>
                  </a:lnTo>
                  <a:lnTo>
                    <a:pt x="168592" y="129963"/>
                  </a:lnTo>
                  <a:lnTo>
                    <a:pt x="183833" y="156633"/>
                  </a:lnTo>
                  <a:lnTo>
                    <a:pt x="90488" y="210926"/>
                  </a:lnTo>
                  <a:close/>
                  <a:moveTo>
                    <a:pt x="55245" y="170921"/>
                  </a:moveTo>
                  <a:lnTo>
                    <a:pt x="20003" y="170921"/>
                  </a:lnTo>
                  <a:lnTo>
                    <a:pt x="20003" y="62336"/>
                  </a:lnTo>
                  <a:lnTo>
                    <a:pt x="55245" y="62336"/>
                  </a:lnTo>
                  <a:lnTo>
                    <a:pt x="55245" y="170921"/>
                  </a:lnTo>
                  <a:close/>
                  <a:moveTo>
                    <a:pt x="206692" y="162348"/>
                  </a:moveTo>
                  <a:cubicBezTo>
                    <a:pt x="207645" y="158538"/>
                    <a:pt x="207645" y="153776"/>
                    <a:pt x="204788" y="149966"/>
                  </a:cubicBezTo>
                  <a:lnTo>
                    <a:pt x="185738" y="116628"/>
                  </a:lnTo>
                  <a:lnTo>
                    <a:pt x="204788" y="83291"/>
                  </a:lnTo>
                  <a:cubicBezTo>
                    <a:pt x="206692" y="79481"/>
                    <a:pt x="207645" y="75671"/>
                    <a:pt x="206692" y="70908"/>
                  </a:cubicBezTo>
                  <a:cubicBezTo>
                    <a:pt x="205740" y="67098"/>
                    <a:pt x="202883" y="63288"/>
                    <a:pt x="199072" y="61383"/>
                  </a:cubicBezTo>
                  <a:lnTo>
                    <a:pt x="97155" y="2328"/>
                  </a:lnTo>
                  <a:cubicBezTo>
                    <a:pt x="89535" y="-2434"/>
                    <a:pt x="80010" y="423"/>
                    <a:pt x="75247" y="8043"/>
                  </a:cubicBezTo>
                  <a:lnTo>
                    <a:pt x="56197" y="41381"/>
                  </a:lnTo>
                  <a:lnTo>
                    <a:pt x="16192" y="41381"/>
                  </a:lnTo>
                  <a:lnTo>
                    <a:pt x="16192" y="41381"/>
                  </a:lnTo>
                  <a:cubicBezTo>
                    <a:pt x="12383" y="41381"/>
                    <a:pt x="7620" y="43286"/>
                    <a:pt x="4763" y="46143"/>
                  </a:cubicBezTo>
                  <a:cubicBezTo>
                    <a:pt x="1905" y="49001"/>
                    <a:pt x="0" y="52811"/>
                    <a:pt x="0" y="57573"/>
                  </a:cubicBezTo>
                  <a:lnTo>
                    <a:pt x="0" y="175683"/>
                  </a:lnTo>
                  <a:cubicBezTo>
                    <a:pt x="0" y="184256"/>
                    <a:pt x="7620" y="191876"/>
                    <a:pt x="16192" y="191876"/>
                  </a:cubicBezTo>
                  <a:lnTo>
                    <a:pt x="56197" y="191876"/>
                  </a:lnTo>
                  <a:lnTo>
                    <a:pt x="75247" y="225213"/>
                  </a:lnTo>
                  <a:cubicBezTo>
                    <a:pt x="77153" y="229023"/>
                    <a:pt x="80963" y="231881"/>
                    <a:pt x="84772" y="232833"/>
                  </a:cubicBezTo>
                  <a:cubicBezTo>
                    <a:pt x="88583" y="233786"/>
                    <a:pt x="93345" y="233786"/>
                    <a:pt x="97155" y="230928"/>
                  </a:cubicBezTo>
                  <a:lnTo>
                    <a:pt x="199072" y="171873"/>
                  </a:lnTo>
                  <a:cubicBezTo>
                    <a:pt x="202883" y="169968"/>
                    <a:pt x="205740" y="167111"/>
                    <a:pt x="206692" y="16234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6906D5EB-37DB-2E46-0CC8-B361FD6811A3}"/>
                </a:ext>
              </a:extLst>
            </p:cNvPr>
            <p:cNvSpPr/>
            <p:nvPr/>
          </p:nvSpPr>
          <p:spPr>
            <a:xfrm>
              <a:off x="11836717" y="6741794"/>
              <a:ext cx="126682" cy="184785"/>
            </a:xfrm>
            <a:custGeom>
              <a:avLst/>
              <a:gdLst>
                <a:gd name="connsiteX0" fmla="*/ 0 w 126682"/>
                <a:gd name="connsiteY0" fmla="*/ 0 h 184785"/>
                <a:gd name="connsiteX1" fmla="*/ 0 w 126682"/>
                <a:gd name="connsiteY1" fmla="*/ 184785 h 184785"/>
                <a:gd name="connsiteX2" fmla="*/ 30480 w 126682"/>
                <a:gd name="connsiteY2" fmla="*/ 184785 h 184785"/>
                <a:gd name="connsiteX3" fmla="*/ 30480 w 126682"/>
                <a:gd name="connsiteY3" fmla="*/ 129540 h 184785"/>
                <a:gd name="connsiteX4" fmla="*/ 33338 w 126682"/>
                <a:gd name="connsiteY4" fmla="*/ 129540 h 184785"/>
                <a:gd name="connsiteX5" fmla="*/ 91440 w 126682"/>
                <a:gd name="connsiteY5" fmla="*/ 184785 h 184785"/>
                <a:gd name="connsiteX6" fmla="*/ 126682 w 126682"/>
                <a:gd name="connsiteY6" fmla="*/ 184785 h 184785"/>
                <a:gd name="connsiteX7" fmla="*/ 126682 w 126682"/>
                <a:gd name="connsiteY7" fmla="*/ 180975 h 184785"/>
                <a:gd name="connsiteX8" fmla="*/ 57150 w 126682"/>
                <a:gd name="connsiteY8" fmla="*/ 115253 h 184785"/>
                <a:gd name="connsiteX9" fmla="*/ 125730 w 126682"/>
                <a:gd name="connsiteY9" fmla="*/ 56198 h 184785"/>
                <a:gd name="connsiteX10" fmla="*/ 125730 w 126682"/>
                <a:gd name="connsiteY10" fmla="*/ 52388 h 184785"/>
                <a:gd name="connsiteX11" fmla="*/ 90488 w 126682"/>
                <a:gd name="connsiteY11" fmla="*/ 52388 h 184785"/>
                <a:gd name="connsiteX12" fmla="*/ 33338 w 126682"/>
                <a:gd name="connsiteY12" fmla="*/ 103823 h 184785"/>
                <a:gd name="connsiteX13" fmla="*/ 30480 w 126682"/>
                <a:gd name="connsiteY13" fmla="*/ 103823 h 184785"/>
                <a:gd name="connsiteX14" fmla="*/ 30480 w 126682"/>
                <a:gd name="connsiteY14" fmla="*/ 0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6682" h="184785">
                  <a:moveTo>
                    <a:pt x="0" y="0"/>
                  </a:moveTo>
                  <a:lnTo>
                    <a:pt x="0" y="184785"/>
                  </a:lnTo>
                  <a:lnTo>
                    <a:pt x="30480" y="184785"/>
                  </a:lnTo>
                  <a:lnTo>
                    <a:pt x="30480" y="129540"/>
                  </a:lnTo>
                  <a:lnTo>
                    <a:pt x="33338" y="129540"/>
                  </a:lnTo>
                  <a:lnTo>
                    <a:pt x="91440" y="184785"/>
                  </a:lnTo>
                  <a:lnTo>
                    <a:pt x="126682" y="184785"/>
                  </a:lnTo>
                  <a:lnTo>
                    <a:pt x="126682" y="180975"/>
                  </a:lnTo>
                  <a:lnTo>
                    <a:pt x="57150" y="115253"/>
                  </a:lnTo>
                  <a:lnTo>
                    <a:pt x="125730" y="56198"/>
                  </a:lnTo>
                  <a:lnTo>
                    <a:pt x="125730" y="52388"/>
                  </a:lnTo>
                  <a:lnTo>
                    <a:pt x="90488" y="52388"/>
                  </a:lnTo>
                  <a:lnTo>
                    <a:pt x="33338" y="103823"/>
                  </a:lnTo>
                  <a:lnTo>
                    <a:pt x="30480" y="103823"/>
                  </a:lnTo>
                  <a:lnTo>
                    <a:pt x="304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9B454036-7BBB-B6DA-73E9-6BDB63A5468F}"/>
                </a:ext>
              </a:extLst>
            </p:cNvPr>
            <p:cNvSpPr/>
            <p:nvPr/>
          </p:nvSpPr>
          <p:spPr>
            <a:xfrm>
              <a:off x="11953874" y="6791325"/>
              <a:ext cx="129540" cy="139065"/>
            </a:xfrm>
            <a:custGeom>
              <a:avLst/>
              <a:gdLst>
                <a:gd name="connsiteX0" fmla="*/ 29528 w 129540"/>
                <a:gd name="connsiteY0" fmla="*/ 55245 h 139065"/>
                <a:gd name="connsiteX1" fmla="*/ 65722 w 129540"/>
                <a:gd name="connsiteY1" fmla="*/ 20955 h 139065"/>
                <a:gd name="connsiteX2" fmla="*/ 100013 w 129540"/>
                <a:gd name="connsiteY2" fmla="*/ 55245 h 139065"/>
                <a:gd name="connsiteX3" fmla="*/ 29528 w 129540"/>
                <a:gd name="connsiteY3" fmla="*/ 55245 h 139065"/>
                <a:gd name="connsiteX4" fmla="*/ 66675 w 129540"/>
                <a:gd name="connsiteY4" fmla="*/ 0 h 139065"/>
                <a:gd name="connsiteX5" fmla="*/ 0 w 129540"/>
                <a:gd name="connsiteY5" fmla="*/ 69532 h 139065"/>
                <a:gd name="connsiteX6" fmla="*/ 66675 w 129540"/>
                <a:gd name="connsiteY6" fmla="*/ 139065 h 139065"/>
                <a:gd name="connsiteX7" fmla="*/ 126682 w 129540"/>
                <a:gd name="connsiteY7" fmla="*/ 98107 h 139065"/>
                <a:gd name="connsiteX8" fmla="*/ 126682 w 129540"/>
                <a:gd name="connsiteY8" fmla="*/ 94297 h 139065"/>
                <a:gd name="connsiteX9" fmla="*/ 100013 w 129540"/>
                <a:gd name="connsiteY9" fmla="*/ 94297 h 139065"/>
                <a:gd name="connsiteX10" fmla="*/ 66675 w 129540"/>
                <a:gd name="connsiteY10" fmla="*/ 117157 h 139065"/>
                <a:gd name="connsiteX11" fmla="*/ 29528 w 129540"/>
                <a:gd name="connsiteY11" fmla="*/ 77153 h 139065"/>
                <a:gd name="connsiteX12" fmla="*/ 129540 w 129540"/>
                <a:gd name="connsiteY12" fmla="*/ 77153 h 139065"/>
                <a:gd name="connsiteX13" fmla="*/ 129540 w 129540"/>
                <a:gd name="connsiteY13" fmla="*/ 64770 h 139065"/>
                <a:gd name="connsiteX14" fmla="*/ 66675 w 129540"/>
                <a:gd name="connsiteY14" fmla="*/ 0 h 13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9540" h="139065">
                  <a:moveTo>
                    <a:pt x="29528" y="55245"/>
                  </a:moveTo>
                  <a:cubicBezTo>
                    <a:pt x="31432" y="35243"/>
                    <a:pt x="43815" y="20955"/>
                    <a:pt x="65722" y="20955"/>
                  </a:cubicBezTo>
                  <a:cubicBezTo>
                    <a:pt x="88582" y="20955"/>
                    <a:pt x="100013" y="35243"/>
                    <a:pt x="100013" y="55245"/>
                  </a:cubicBezTo>
                  <a:lnTo>
                    <a:pt x="29528" y="55245"/>
                  </a:lnTo>
                  <a:close/>
                  <a:moveTo>
                    <a:pt x="66675" y="0"/>
                  </a:moveTo>
                  <a:cubicBezTo>
                    <a:pt x="26670" y="0"/>
                    <a:pt x="0" y="23813"/>
                    <a:pt x="0" y="69532"/>
                  </a:cubicBezTo>
                  <a:cubicBezTo>
                    <a:pt x="0" y="115253"/>
                    <a:pt x="26670" y="139065"/>
                    <a:pt x="66675" y="139065"/>
                  </a:cubicBezTo>
                  <a:cubicBezTo>
                    <a:pt x="106680" y="139065"/>
                    <a:pt x="122872" y="115253"/>
                    <a:pt x="126682" y="98107"/>
                  </a:cubicBezTo>
                  <a:lnTo>
                    <a:pt x="126682" y="94297"/>
                  </a:lnTo>
                  <a:lnTo>
                    <a:pt x="100013" y="94297"/>
                  </a:lnTo>
                  <a:cubicBezTo>
                    <a:pt x="98107" y="104775"/>
                    <a:pt x="88582" y="117157"/>
                    <a:pt x="66675" y="117157"/>
                  </a:cubicBezTo>
                  <a:cubicBezTo>
                    <a:pt x="43815" y="117157"/>
                    <a:pt x="30480" y="100965"/>
                    <a:pt x="29528" y="77153"/>
                  </a:cubicBezTo>
                  <a:lnTo>
                    <a:pt x="129540" y="77153"/>
                  </a:lnTo>
                  <a:lnTo>
                    <a:pt x="129540" y="64770"/>
                  </a:lnTo>
                  <a:cubicBezTo>
                    <a:pt x="129540" y="23813"/>
                    <a:pt x="106680" y="0"/>
                    <a:pt x="66675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D1C6C67B-5C2B-725B-A531-01F4FDF08CF6}"/>
                </a:ext>
              </a:extLst>
            </p:cNvPr>
            <p:cNvSpPr/>
            <p:nvPr/>
          </p:nvSpPr>
          <p:spPr>
            <a:xfrm>
              <a:off x="12077699" y="6794182"/>
              <a:ext cx="137159" cy="183832"/>
            </a:xfrm>
            <a:custGeom>
              <a:avLst/>
              <a:gdLst>
                <a:gd name="connsiteX0" fmla="*/ 106680 w 137159"/>
                <a:gd name="connsiteY0" fmla="*/ 0 h 183832"/>
                <a:gd name="connsiteX1" fmla="*/ 70485 w 137159"/>
                <a:gd name="connsiteY1" fmla="*/ 97155 h 183832"/>
                <a:gd name="connsiteX2" fmla="*/ 67628 w 137159"/>
                <a:gd name="connsiteY2" fmla="*/ 97155 h 183832"/>
                <a:gd name="connsiteX3" fmla="*/ 31432 w 137159"/>
                <a:gd name="connsiteY3" fmla="*/ 0 h 183832"/>
                <a:gd name="connsiteX4" fmla="*/ 0 w 137159"/>
                <a:gd name="connsiteY4" fmla="*/ 0 h 183832"/>
                <a:gd name="connsiteX5" fmla="*/ 0 w 137159"/>
                <a:gd name="connsiteY5" fmla="*/ 3810 h 183832"/>
                <a:gd name="connsiteX6" fmla="*/ 53340 w 137159"/>
                <a:gd name="connsiteY6" fmla="*/ 132398 h 183832"/>
                <a:gd name="connsiteX7" fmla="*/ 33338 w 137159"/>
                <a:gd name="connsiteY7" fmla="*/ 180023 h 183832"/>
                <a:gd name="connsiteX8" fmla="*/ 33338 w 137159"/>
                <a:gd name="connsiteY8" fmla="*/ 183833 h 183832"/>
                <a:gd name="connsiteX9" fmla="*/ 63818 w 137159"/>
                <a:gd name="connsiteY9" fmla="*/ 183833 h 183832"/>
                <a:gd name="connsiteX10" fmla="*/ 137160 w 137159"/>
                <a:gd name="connsiteY10" fmla="*/ 3810 h 183832"/>
                <a:gd name="connsiteX11" fmla="*/ 137160 w 137159"/>
                <a:gd name="connsiteY11" fmla="*/ 0 h 18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9" h="183832">
                  <a:moveTo>
                    <a:pt x="106680" y="0"/>
                  </a:moveTo>
                  <a:lnTo>
                    <a:pt x="70485" y="97155"/>
                  </a:lnTo>
                  <a:lnTo>
                    <a:pt x="67628" y="97155"/>
                  </a:lnTo>
                  <a:lnTo>
                    <a:pt x="31432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53340" y="132398"/>
                  </a:lnTo>
                  <a:lnTo>
                    <a:pt x="33338" y="180023"/>
                  </a:lnTo>
                  <a:lnTo>
                    <a:pt x="33338" y="183833"/>
                  </a:lnTo>
                  <a:lnTo>
                    <a:pt x="63818" y="183833"/>
                  </a:lnTo>
                  <a:lnTo>
                    <a:pt x="137160" y="3810"/>
                  </a:lnTo>
                  <a:lnTo>
                    <a:pt x="13716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grpSp>
          <p:nvGrpSpPr>
            <p:cNvPr id="12" name="Graphic 7">
              <a:extLst>
                <a:ext uri="{FF2B5EF4-FFF2-40B4-BE49-F238E27FC236}">
                  <a16:creationId xmlns:a16="http://schemas.microsoft.com/office/drawing/2014/main" id="{12BA6CC3-4859-D4AB-EF05-474358B4F622}"/>
                </a:ext>
              </a:extLst>
            </p:cNvPr>
            <p:cNvGrpSpPr/>
            <p:nvPr/>
          </p:nvGrpSpPr>
          <p:grpSpPr>
            <a:xfrm>
              <a:off x="12212002" y="6759892"/>
              <a:ext cx="618172" cy="170497"/>
              <a:chOff x="12212002" y="6759892"/>
              <a:chExt cx="618172" cy="170497"/>
            </a:xfrm>
            <a:grpFill/>
          </p:grpSpPr>
          <p:sp>
            <p:nvSpPr>
              <p:cNvPr id="13" name="Free-form: Shape 12">
                <a:extLst>
                  <a:ext uri="{FF2B5EF4-FFF2-40B4-BE49-F238E27FC236}">
                    <a16:creationId xmlns:a16="http://schemas.microsoft.com/office/drawing/2014/main" id="{06690A93-9701-A76D-31D7-153AD7601CE1}"/>
                  </a:ext>
                </a:extLst>
              </p:cNvPr>
              <p:cNvSpPr/>
              <p:nvPr/>
            </p:nvSpPr>
            <p:spPr>
              <a:xfrm>
                <a:off x="12212002" y="6792277"/>
                <a:ext cx="120015" cy="137159"/>
              </a:xfrm>
              <a:custGeom>
                <a:avLst/>
                <a:gdLst>
                  <a:gd name="connsiteX0" fmla="*/ 75247 w 120015"/>
                  <a:gd name="connsiteY0" fmla="*/ 58103 h 137159"/>
                  <a:gd name="connsiteX1" fmla="*/ 50482 w 120015"/>
                  <a:gd name="connsiteY1" fmla="*/ 54292 h 137159"/>
                  <a:gd name="connsiteX2" fmla="*/ 30480 w 120015"/>
                  <a:gd name="connsiteY2" fmla="*/ 38100 h 137159"/>
                  <a:gd name="connsiteX3" fmla="*/ 58103 w 120015"/>
                  <a:gd name="connsiteY3" fmla="*/ 20955 h 137159"/>
                  <a:gd name="connsiteX4" fmla="*/ 89535 w 120015"/>
                  <a:gd name="connsiteY4" fmla="*/ 43815 h 137159"/>
                  <a:gd name="connsiteX5" fmla="*/ 117157 w 120015"/>
                  <a:gd name="connsiteY5" fmla="*/ 43815 h 137159"/>
                  <a:gd name="connsiteX6" fmla="*/ 117157 w 120015"/>
                  <a:gd name="connsiteY6" fmla="*/ 40005 h 137159"/>
                  <a:gd name="connsiteX7" fmla="*/ 57150 w 120015"/>
                  <a:gd name="connsiteY7" fmla="*/ 0 h 137159"/>
                  <a:gd name="connsiteX8" fmla="*/ 953 w 120015"/>
                  <a:gd name="connsiteY8" fmla="*/ 39053 h 137159"/>
                  <a:gd name="connsiteX9" fmla="*/ 42863 w 120015"/>
                  <a:gd name="connsiteY9" fmla="*/ 77153 h 137159"/>
                  <a:gd name="connsiteX10" fmla="*/ 67628 w 120015"/>
                  <a:gd name="connsiteY10" fmla="*/ 80963 h 137159"/>
                  <a:gd name="connsiteX11" fmla="*/ 90488 w 120015"/>
                  <a:gd name="connsiteY11" fmla="*/ 98107 h 137159"/>
                  <a:gd name="connsiteX12" fmla="*/ 61913 w 120015"/>
                  <a:gd name="connsiteY12" fmla="*/ 116205 h 137159"/>
                  <a:gd name="connsiteX13" fmla="*/ 27622 w 120015"/>
                  <a:gd name="connsiteY13" fmla="*/ 92392 h 137159"/>
                  <a:gd name="connsiteX14" fmla="*/ 0 w 120015"/>
                  <a:gd name="connsiteY14" fmla="*/ 92392 h 137159"/>
                  <a:gd name="connsiteX15" fmla="*/ 0 w 120015"/>
                  <a:gd name="connsiteY15" fmla="*/ 96203 h 137159"/>
                  <a:gd name="connsiteX16" fmla="*/ 62865 w 120015"/>
                  <a:gd name="connsiteY16" fmla="*/ 137160 h 137159"/>
                  <a:gd name="connsiteX17" fmla="*/ 120015 w 120015"/>
                  <a:gd name="connsiteY17" fmla="*/ 96203 h 137159"/>
                  <a:gd name="connsiteX18" fmla="*/ 75247 w 120015"/>
                  <a:gd name="connsiteY18" fmla="*/ 58103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0015" h="137159">
                    <a:moveTo>
                      <a:pt x="75247" y="58103"/>
                    </a:moveTo>
                    <a:lnTo>
                      <a:pt x="50482" y="54292"/>
                    </a:lnTo>
                    <a:cubicBezTo>
                      <a:pt x="39053" y="52388"/>
                      <a:pt x="30480" y="48578"/>
                      <a:pt x="30480" y="38100"/>
                    </a:cubicBezTo>
                    <a:cubicBezTo>
                      <a:pt x="30480" y="27622"/>
                      <a:pt x="40005" y="20955"/>
                      <a:pt x="58103" y="20955"/>
                    </a:cubicBezTo>
                    <a:cubicBezTo>
                      <a:pt x="76200" y="20955"/>
                      <a:pt x="88582" y="27622"/>
                      <a:pt x="89535" y="43815"/>
                    </a:cubicBezTo>
                    <a:lnTo>
                      <a:pt x="117157" y="43815"/>
                    </a:lnTo>
                    <a:lnTo>
                      <a:pt x="117157" y="40005"/>
                    </a:lnTo>
                    <a:cubicBezTo>
                      <a:pt x="114300" y="16192"/>
                      <a:pt x="93345" y="0"/>
                      <a:pt x="57150" y="0"/>
                    </a:cubicBezTo>
                    <a:cubicBezTo>
                      <a:pt x="20955" y="0"/>
                      <a:pt x="953" y="16192"/>
                      <a:pt x="953" y="39053"/>
                    </a:cubicBezTo>
                    <a:cubicBezTo>
                      <a:pt x="953" y="61913"/>
                      <a:pt x="18097" y="73342"/>
                      <a:pt x="42863" y="77153"/>
                    </a:cubicBezTo>
                    <a:lnTo>
                      <a:pt x="67628" y="80963"/>
                    </a:lnTo>
                    <a:cubicBezTo>
                      <a:pt x="81915" y="82867"/>
                      <a:pt x="90488" y="87630"/>
                      <a:pt x="90488" y="98107"/>
                    </a:cubicBezTo>
                    <a:cubicBezTo>
                      <a:pt x="90488" y="109538"/>
                      <a:pt x="80963" y="116205"/>
                      <a:pt x="61913" y="116205"/>
                    </a:cubicBezTo>
                    <a:cubicBezTo>
                      <a:pt x="42863" y="116205"/>
                      <a:pt x="28575" y="108585"/>
                      <a:pt x="27622" y="92392"/>
                    </a:cubicBezTo>
                    <a:lnTo>
                      <a:pt x="0" y="92392"/>
                    </a:lnTo>
                    <a:lnTo>
                      <a:pt x="0" y="96203"/>
                    </a:lnTo>
                    <a:cubicBezTo>
                      <a:pt x="1905" y="120015"/>
                      <a:pt x="23813" y="137160"/>
                      <a:pt x="62865" y="137160"/>
                    </a:cubicBezTo>
                    <a:cubicBezTo>
                      <a:pt x="100965" y="137160"/>
                      <a:pt x="120015" y="120015"/>
                      <a:pt x="120015" y="96203"/>
                    </a:cubicBezTo>
                    <a:cubicBezTo>
                      <a:pt x="119063" y="72390"/>
                      <a:pt x="100965" y="62865"/>
                      <a:pt x="75247" y="58103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4" name="Free-form: Shape 13">
                <a:extLst>
                  <a:ext uri="{FF2B5EF4-FFF2-40B4-BE49-F238E27FC236}">
                    <a16:creationId xmlns:a16="http://schemas.microsoft.com/office/drawing/2014/main" id="{9FD7F094-8C7D-89DF-8552-F6D6AF0A1726}"/>
                  </a:ext>
                </a:extLst>
              </p:cNvPr>
              <p:cNvSpPr/>
              <p:nvPr/>
            </p:nvSpPr>
            <p:spPr>
              <a:xfrm>
                <a:off x="12330112" y="6759892"/>
                <a:ext cx="93344" cy="166687"/>
              </a:xfrm>
              <a:custGeom>
                <a:avLst/>
                <a:gdLst>
                  <a:gd name="connsiteX0" fmla="*/ 56197 w 93344"/>
                  <a:gd name="connsiteY0" fmla="*/ 142875 h 166687"/>
                  <a:gd name="connsiteX1" fmla="*/ 56197 w 93344"/>
                  <a:gd name="connsiteY1" fmla="*/ 56197 h 166687"/>
                  <a:gd name="connsiteX2" fmla="*/ 93345 w 93344"/>
                  <a:gd name="connsiteY2" fmla="*/ 56197 h 166687"/>
                  <a:gd name="connsiteX3" fmla="*/ 93345 w 93344"/>
                  <a:gd name="connsiteY3" fmla="*/ 35242 h 166687"/>
                  <a:gd name="connsiteX4" fmla="*/ 56197 w 93344"/>
                  <a:gd name="connsiteY4" fmla="*/ 35242 h 166687"/>
                  <a:gd name="connsiteX5" fmla="*/ 56197 w 93344"/>
                  <a:gd name="connsiteY5" fmla="*/ 0 h 166687"/>
                  <a:gd name="connsiteX6" fmla="*/ 25718 w 93344"/>
                  <a:gd name="connsiteY6" fmla="*/ 0 h 166687"/>
                  <a:gd name="connsiteX7" fmla="*/ 25718 w 93344"/>
                  <a:gd name="connsiteY7" fmla="*/ 35242 h 166687"/>
                  <a:gd name="connsiteX8" fmla="*/ 0 w 93344"/>
                  <a:gd name="connsiteY8" fmla="*/ 35242 h 166687"/>
                  <a:gd name="connsiteX9" fmla="*/ 0 w 93344"/>
                  <a:gd name="connsiteY9" fmla="*/ 56197 h 166687"/>
                  <a:gd name="connsiteX10" fmla="*/ 25718 w 93344"/>
                  <a:gd name="connsiteY10" fmla="*/ 56197 h 166687"/>
                  <a:gd name="connsiteX11" fmla="*/ 25718 w 93344"/>
                  <a:gd name="connsiteY11" fmla="*/ 132397 h 166687"/>
                  <a:gd name="connsiteX12" fmla="*/ 61913 w 93344"/>
                  <a:gd name="connsiteY12" fmla="*/ 166688 h 166687"/>
                  <a:gd name="connsiteX13" fmla="*/ 92393 w 93344"/>
                  <a:gd name="connsiteY13" fmla="*/ 166688 h 166687"/>
                  <a:gd name="connsiteX14" fmla="*/ 92393 w 93344"/>
                  <a:gd name="connsiteY14" fmla="*/ 144780 h 166687"/>
                  <a:gd name="connsiteX15" fmla="*/ 58103 w 93344"/>
                  <a:gd name="connsiteY15" fmla="*/ 144780 h 166687"/>
                  <a:gd name="connsiteX16" fmla="*/ 56197 w 93344"/>
                  <a:gd name="connsiteY16" fmla="*/ 142875 h 166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344" h="166687">
                    <a:moveTo>
                      <a:pt x="56197" y="142875"/>
                    </a:moveTo>
                    <a:lnTo>
                      <a:pt x="56197" y="56197"/>
                    </a:lnTo>
                    <a:lnTo>
                      <a:pt x="93345" y="56197"/>
                    </a:lnTo>
                    <a:lnTo>
                      <a:pt x="93345" y="35242"/>
                    </a:lnTo>
                    <a:lnTo>
                      <a:pt x="56197" y="35242"/>
                    </a:lnTo>
                    <a:lnTo>
                      <a:pt x="56197" y="0"/>
                    </a:lnTo>
                    <a:lnTo>
                      <a:pt x="25718" y="0"/>
                    </a:lnTo>
                    <a:lnTo>
                      <a:pt x="25718" y="35242"/>
                    </a:lnTo>
                    <a:lnTo>
                      <a:pt x="0" y="35242"/>
                    </a:lnTo>
                    <a:lnTo>
                      <a:pt x="0" y="56197"/>
                    </a:lnTo>
                    <a:lnTo>
                      <a:pt x="25718" y="56197"/>
                    </a:lnTo>
                    <a:lnTo>
                      <a:pt x="25718" y="132397"/>
                    </a:lnTo>
                    <a:cubicBezTo>
                      <a:pt x="25718" y="155257"/>
                      <a:pt x="39053" y="166688"/>
                      <a:pt x="61913" y="166688"/>
                    </a:cubicBezTo>
                    <a:lnTo>
                      <a:pt x="92393" y="166688"/>
                    </a:lnTo>
                    <a:lnTo>
                      <a:pt x="92393" y="144780"/>
                    </a:lnTo>
                    <a:lnTo>
                      <a:pt x="58103" y="144780"/>
                    </a:lnTo>
                    <a:lnTo>
                      <a:pt x="56197" y="1428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5" name="Free-form: Shape 14">
                <a:extLst>
                  <a:ext uri="{FF2B5EF4-FFF2-40B4-BE49-F238E27FC236}">
                    <a16:creationId xmlns:a16="http://schemas.microsoft.com/office/drawing/2014/main" id="{2A498ED8-C6FD-73A1-04FE-03DB53AE6517}"/>
                  </a:ext>
                </a:extLst>
              </p:cNvPr>
              <p:cNvSpPr/>
              <p:nvPr/>
            </p:nvSpPr>
            <p:spPr>
              <a:xfrm>
                <a:off x="12424409" y="6791325"/>
                <a:ext cx="137159" cy="139065"/>
              </a:xfrm>
              <a:custGeom>
                <a:avLst/>
                <a:gdLst>
                  <a:gd name="connsiteX0" fmla="*/ 68580 w 137159"/>
                  <a:gd name="connsiteY0" fmla="*/ 116205 h 139065"/>
                  <a:gd name="connsiteX1" fmla="*/ 30480 w 137159"/>
                  <a:gd name="connsiteY1" fmla="*/ 69532 h 139065"/>
                  <a:gd name="connsiteX2" fmla="*/ 68580 w 137159"/>
                  <a:gd name="connsiteY2" fmla="*/ 22860 h 139065"/>
                  <a:gd name="connsiteX3" fmla="*/ 106680 w 137159"/>
                  <a:gd name="connsiteY3" fmla="*/ 69532 h 139065"/>
                  <a:gd name="connsiteX4" fmla="*/ 68580 w 137159"/>
                  <a:gd name="connsiteY4" fmla="*/ 116205 h 139065"/>
                  <a:gd name="connsiteX5" fmla="*/ 68580 w 137159"/>
                  <a:gd name="connsiteY5" fmla="*/ 0 h 139065"/>
                  <a:gd name="connsiteX6" fmla="*/ 0 w 137159"/>
                  <a:gd name="connsiteY6" fmla="*/ 69532 h 139065"/>
                  <a:gd name="connsiteX7" fmla="*/ 68580 w 137159"/>
                  <a:gd name="connsiteY7" fmla="*/ 139065 h 139065"/>
                  <a:gd name="connsiteX8" fmla="*/ 137160 w 137159"/>
                  <a:gd name="connsiteY8" fmla="*/ 69532 h 139065"/>
                  <a:gd name="connsiteX9" fmla="*/ 68580 w 137159"/>
                  <a:gd name="connsiteY9" fmla="*/ 0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139065">
                    <a:moveTo>
                      <a:pt x="68580" y="116205"/>
                    </a:moveTo>
                    <a:cubicBezTo>
                      <a:pt x="45720" y="116205"/>
                      <a:pt x="30480" y="100013"/>
                      <a:pt x="30480" y="69532"/>
                    </a:cubicBezTo>
                    <a:cubicBezTo>
                      <a:pt x="30480" y="39053"/>
                      <a:pt x="45720" y="22860"/>
                      <a:pt x="68580" y="22860"/>
                    </a:cubicBezTo>
                    <a:cubicBezTo>
                      <a:pt x="91440" y="22860"/>
                      <a:pt x="106680" y="39053"/>
                      <a:pt x="106680" y="69532"/>
                    </a:cubicBezTo>
                    <a:cubicBezTo>
                      <a:pt x="106680" y="100013"/>
                      <a:pt x="91440" y="116205"/>
                      <a:pt x="68580" y="116205"/>
                    </a:cubicBezTo>
                    <a:moveTo>
                      <a:pt x="68580" y="0"/>
                    </a:moveTo>
                    <a:cubicBezTo>
                      <a:pt x="28575" y="0"/>
                      <a:pt x="0" y="23813"/>
                      <a:pt x="0" y="69532"/>
                    </a:cubicBezTo>
                    <a:cubicBezTo>
                      <a:pt x="0" y="114300"/>
                      <a:pt x="28575" y="139065"/>
                      <a:pt x="68580" y="139065"/>
                    </a:cubicBezTo>
                    <a:cubicBezTo>
                      <a:pt x="108585" y="139065"/>
                      <a:pt x="137160" y="115253"/>
                      <a:pt x="137160" y="69532"/>
                    </a:cubicBezTo>
                    <a:cubicBezTo>
                      <a:pt x="137160" y="23813"/>
                      <a:pt x="108585" y="0"/>
                      <a:pt x="68580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6" name="Free-form: Shape 15">
                <a:extLst>
                  <a:ext uri="{FF2B5EF4-FFF2-40B4-BE49-F238E27FC236}">
                    <a16:creationId xmlns:a16="http://schemas.microsoft.com/office/drawing/2014/main" id="{EF9BCAAE-2ABF-0942-DD54-4FDDDA730E2C}"/>
                  </a:ext>
                </a:extLst>
              </p:cNvPr>
              <p:cNvSpPr/>
              <p:nvPr/>
            </p:nvSpPr>
            <p:spPr>
              <a:xfrm>
                <a:off x="12568237" y="6791325"/>
                <a:ext cx="123857" cy="135255"/>
              </a:xfrm>
              <a:custGeom>
                <a:avLst/>
                <a:gdLst>
                  <a:gd name="connsiteX0" fmla="*/ 75247 w 123857"/>
                  <a:gd name="connsiteY0" fmla="*/ 0 h 135255"/>
                  <a:gd name="connsiteX1" fmla="*/ 32385 w 123857"/>
                  <a:gd name="connsiteY1" fmla="*/ 20003 h 135255"/>
                  <a:gd name="connsiteX2" fmla="*/ 29528 w 123857"/>
                  <a:gd name="connsiteY2" fmla="*/ 20003 h 135255"/>
                  <a:gd name="connsiteX3" fmla="*/ 29528 w 123857"/>
                  <a:gd name="connsiteY3" fmla="*/ 2857 h 135255"/>
                  <a:gd name="connsiteX4" fmla="*/ 0 w 123857"/>
                  <a:gd name="connsiteY4" fmla="*/ 2857 h 135255"/>
                  <a:gd name="connsiteX5" fmla="*/ 0 w 123857"/>
                  <a:gd name="connsiteY5" fmla="*/ 135255 h 135255"/>
                  <a:gd name="connsiteX6" fmla="*/ 30480 w 123857"/>
                  <a:gd name="connsiteY6" fmla="*/ 135255 h 135255"/>
                  <a:gd name="connsiteX7" fmla="*/ 30480 w 123857"/>
                  <a:gd name="connsiteY7" fmla="*/ 60960 h 135255"/>
                  <a:gd name="connsiteX8" fmla="*/ 65722 w 123857"/>
                  <a:gd name="connsiteY8" fmla="*/ 22860 h 135255"/>
                  <a:gd name="connsiteX9" fmla="*/ 93345 w 123857"/>
                  <a:gd name="connsiteY9" fmla="*/ 50482 h 135255"/>
                  <a:gd name="connsiteX10" fmla="*/ 93345 w 123857"/>
                  <a:gd name="connsiteY10" fmla="*/ 134303 h 135255"/>
                  <a:gd name="connsiteX11" fmla="*/ 123825 w 123857"/>
                  <a:gd name="connsiteY11" fmla="*/ 134303 h 135255"/>
                  <a:gd name="connsiteX12" fmla="*/ 123825 w 123857"/>
                  <a:gd name="connsiteY12" fmla="*/ 47625 h 135255"/>
                  <a:gd name="connsiteX13" fmla="*/ 75247 w 123857"/>
                  <a:gd name="connsiteY13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857" h="135255">
                    <a:moveTo>
                      <a:pt x="75247" y="0"/>
                    </a:moveTo>
                    <a:cubicBezTo>
                      <a:pt x="47625" y="0"/>
                      <a:pt x="37147" y="12382"/>
                      <a:pt x="32385" y="20003"/>
                    </a:cubicBezTo>
                    <a:lnTo>
                      <a:pt x="29528" y="20003"/>
                    </a:lnTo>
                    <a:lnTo>
                      <a:pt x="29528" y="2857"/>
                    </a:lnTo>
                    <a:lnTo>
                      <a:pt x="0" y="2857"/>
                    </a:lnTo>
                    <a:lnTo>
                      <a:pt x="0" y="135255"/>
                    </a:lnTo>
                    <a:lnTo>
                      <a:pt x="30480" y="135255"/>
                    </a:lnTo>
                    <a:lnTo>
                      <a:pt x="30480" y="60960"/>
                    </a:lnTo>
                    <a:cubicBezTo>
                      <a:pt x="30480" y="34290"/>
                      <a:pt x="46672" y="22860"/>
                      <a:pt x="65722" y="22860"/>
                    </a:cubicBezTo>
                    <a:cubicBezTo>
                      <a:pt x="82868" y="22860"/>
                      <a:pt x="93345" y="31432"/>
                      <a:pt x="93345" y="50482"/>
                    </a:cubicBezTo>
                    <a:lnTo>
                      <a:pt x="93345" y="134303"/>
                    </a:lnTo>
                    <a:lnTo>
                      <a:pt x="123825" y="134303"/>
                    </a:lnTo>
                    <a:lnTo>
                      <a:pt x="123825" y="47625"/>
                    </a:lnTo>
                    <a:cubicBezTo>
                      <a:pt x="124778" y="16193"/>
                      <a:pt x="104775" y="0"/>
                      <a:pt x="75247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7" name="Free-form: Shape 16">
                <a:extLst>
                  <a:ext uri="{FF2B5EF4-FFF2-40B4-BE49-F238E27FC236}">
                    <a16:creationId xmlns:a16="http://schemas.microsoft.com/office/drawing/2014/main" id="{6774AE6D-EBAD-4553-23AE-5EC5D9A0C4DA}"/>
                  </a:ext>
                </a:extLst>
              </p:cNvPr>
              <p:cNvSpPr/>
              <p:nvPr/>
            </p:nvSpPr>
            <p:spPr>
              <a:xfrm>
                <a:off x="12700634" y="6791325"/>
                <a:ext cx="129540" cy="139065"/>
              </a:xfrm>
              <a:custGeom>
                <a:avLst/>
                <a:gdLst>
                  <a:gd name="connsiteX0" fmla="*/ 29528 w 129540"/>
                  <a:gd name="connsiteY0" fmla="*/ 55245 h 139065"/>
                  <a:gd name="connsiteX1" fmla="*/ 65722 w 129540"/>
                  <a:gd name="connsiteY1" fmla="*/ 20955 h 139065"/>
                  <a:gd name="connsiteX2" fmla="*/ 100013 w 129540"/>
                  <a:gd name="connsiteY2" fmla="*/ 55245 h 139065"/>
                  <a:gd name="connsiteX3" fmla="*/ 29528 w 129540"/>
                  <a:gd name="connsiteY3" fmla="*/ 55245 h 139065"/>
                  <a:gd name="connsiteX4" fmla="*/ 129540 w 129540"/>
                  <a:gd name="connsiteY4" fmla="*/ 63818 h 139065"/>
                  <a:gd name="connsiteX5" fmla="*/ 66675 w 129540"/>
                  <a:gd name="connsiteY5" fmla="*/ 0 h 139065"/>
                  <a:gd name="connsiteX6" fmla="*/ 0 w 129540"/>
                  <a:gd name="connsiteY6" fmla="*/ 69532 h 139065"/>
                  <a:gd name="connsiteX7" fmla="*/ 66675 w 129540"/>
                  <a:gd name="connsiteY7" fmla="*/ 139065 h 139065"/>
                  <a:gd name="connsiteX8" fmla="*/ 126683 w 129540"/>
                  <a:gd name="connsiteY8" fmla="*/ 98107 h 139065"/>
                  <a:gd name="connsiteX9" fmla="*/ 126683 w 129540"/>
                  <a:gd name="connsiteY9" fmla="*/ 94297 h 139065"/>
                  <a:gd name="connsiteX10" fmla="*/ 100013 w 129540"/>
                  <a:gd name="connsiteY10" fmla="*/ 94297 h 139065"/>
                  <a:gd name="connsiteX11" fmla="*/ 66675 w 129540"/>
                  <a:gd name="connsiteY11" fmla="*/ 117157 h 139065"/>
                  <a:gd name="connsiteX12" fmla="*/ 29528 w 129540"/>
                  <a:gd name="connsiteY12" fmla="*/ 77153 h 139065"/>
                  <a:gd name="connsiteX13" fmla="*/ 129540 w 129540"/>
                  <a:gd name="connsiteY13" fmla="*/ 77153 h 139065"/>
                  <a:gd name="connsiteX14" fmla="*/ 129540 w 129540"/>
                  <a:gd name="connsiteY14" fmla="*/ 63818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540" h="139065">
                    <a:moveTo>
                      <a:pt x="29528" y="55245"/>
                    </a:moveTo>
                    <a:cubicBezTo>
                      <a:pt x="31433" y="35243"/>
                      <a:pt x="43815" y="20955"/>
                      <a:pt x="65722" y="20955"/>
                    </a:cubicBezTo>
                    <a:cubicBezTo>
                      <a:pt x="88583" y="20955"/>
                      <a:pt x="100013" y="35243"/>
                      <a:pt x="100013" y="55245"/>
                    </a:cubicBezTo>
                    <a:lnTo>
                      <a:pt x="29528" y="55245"/>
                    </a:lnTo>
                    <a:close/>
                    <a:moveTo>
                      <a:pt x="129540" y="63818"/>
                    </a:moveTo>
                    <a:cubicBezTo>
                      <a:pt x="129540" y="23813"/>
                      <a:pt x="106680" y="0"/>
                      <a:pt x="66675" y="0"/>
                    </a:cubicBezTo>
                    <a:cubicBezTo>
                      <a:pt x="26670" y="0"/>
                      <a:pt x="0" y="23813"/>
                      <a:pt x="0" y="69532"/>
                    </a:cubicBezTo>
                    <a:cubicBezTo>
                      <a:pt x="0" y="115253"/>
                      <a:pt x="26670" y="139065"/>
                      <a:pt x="66675" y="139065"/>
                    </a:cubicBezTo>
                    <a:cubicBezTo>
                      <a:pt x="106680" y="139065"/>
                      <a:pt x="122872" y="115253"/>
                      <a:pt x="126683" y="98107"/>
                    </a:cubicBezTo>
                    <a:lnTo>
                      <a:pt x="126683" y="94297"/>
                    </a:lnTo>
                    <a:lnTo>
                      <a:pt x="100013" y="94297"/>
                    </a:lnTo>
                    <a:cubicBezTo>
                      <a:pt x="98108" y="104775"/>
                      <a:pt x="88583" y="117157"/>
                      <a:pt x="66675" y="117157"/>
                    </a:cubicBezTo>
                    <a:cubicBezTo>
                      <a:pt x="43815" y="117157"/>
                      <a:pt x="30480" y="100965"/>
                      <a:pt x="29528" y="77153"/>
                    </a:cubicBezTo>
                    <a:lnTo>
                      <a:pt x="129540" y="77153"/>
                    </a:lnTo>
                    <a:lnTo>
                      <a:pt x="129540" y="63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</p:grpSp>
      </p:grp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11BA1E65-92F4-BD8C-7BEB-66807EFE3483}"/>
              </a:ext>
            </a:extLst>
          </p:cNvPr>
          <p:cNvSpPr>
            <a:spLocks noChangeAspect="1"/>
          </p:cNvSpPr>
          <p:nvPr/>
        </p:nvSpPr>
        <p:spPr>
          <a:xfrm>
            <a:off x="8129016" y="2016252"/>
            <a:ext cx="3118104" cy="3511374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9A54DA9-46B4-6A65-D601-60E6B6A7B6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82" y="3846600"/>
            <a:ext cx="3118104" cy="1073219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F0FFE17C-3BCC-E0FA-33A5-355AA934B1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382" y="273600"/>
            <a:ext cx="3118104" cy="168966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25951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40593C56-135B-B7B0-823B-906D03A45F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593C56-135B-B7B0-823B-906D03A45F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0" y="691200"/>
            <a:ext cx="7467358" cy="1540566"/>
          </a:xfrm>
        </p:spPr>
        <p:txBody>
          <a:bodyPr vert="horz" anchor="b">
            <a:normAutofit/>
          </a:bodyPr>
          <a:lstStyle>
            <a:lvl1pPr algn="l">
              <a:lnSpc>
                <a:spcPct val="88000"/>
              </a:lnSpc>
              <a:defRPr sz="5400" spc="-15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0" y="2334600"/>
            <a:ext cx="7467358" cy="512762"/>
          </a:xfrm>
        </p:spPr>
        <p:txBody>
          <a:bodyPr>
            <a:normAutofit/>
          </a:bodyPr>
          <a:lstStyle>
            <a:lvl1pPr marL="0" indent="0" algn="l">
              <a:lnSpc>
                <a:spcPct val="98000"/>
              </a:lnSpc>
              <a:spcBef>
                <a:spcPts val="0"/>
              </a:spcBef>
              <a:buNone/>
              <a:defRPr sz="2000" spc="-55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F59106-972B-299C-D5DA-6BA7A053EC2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56032" y="6350508"/>
            <a:ext cx="1339596" cy="251244"/>
            <a:chOff x="11563349" y="6740419"/>
            <a:chExt cx="1266825" cy="237595"/>
          </a:xfrm>
          <a:solidFill>
            <a:schemeClr val="tx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C88B326C-95E8-8F16-F3CB-76D0FA39DE7E}"/>
                </a:ext>
              </a:extLst>
            </p:cNvPr>
            <p:cNvSpPr/>
            <p:nvPr/>
          </p:nvSpPr>
          <p:spPr>
            <a:xfrm>
              <a:off x="11563349" y="6740419"/>
              <a:ext cx="207262" cy="233403"/>
            </a:xfrm>
            <a:custGeom>
              <a:avLst/>
              <a:gdLst>
                <a:gd name="connsiteX0" fmla="*/ 169545 w 207262"/>
                <a:gd name="connsiteY0" fmla="*/ 103293 h 233403"/>
                <a:gd name="connsiteX1" fmla="*/ 167640 w 207262"/>
                <a:gd name="connsiteY1" fmla="*/ 106151 h 233403"/>
                <a:gd name="connsiteX2" fmla="*/ 74295 w 207262"/>
                <a:gd name="connsiteY2" fmla="*/ 51858 h 233403"/>
                <a:gd name="connsiteX3" fmla="*/ 76200 w 207262"/>
                <a:gd name="connsiteY3" fmla="*/ 49001 h 233403"/>
                <a:gd name="connsiteX4" fmla="*/ 92392 w 207262"/>
                <a:gd name="connsiteY4" fmla="*/ 21378 h 233403"/>
                <a:gd name="connsiteX5" fmla="*/ 93345 w 207262"/>
                <a:gd name="connsiteY5" fmla="*/ 22331 h 233403"/>
                <a:gd name="connsiteX6" fmla="*/ 186690 w 207262"/>
                <a:gd name="connsiteY6" fmla="*/ 75671 h 233403"/>
                <a:gd name="connsiteX7" fmla="*/ 169545 w 207262"/>
                <a:gd name="connsiteY7" fmla="*/ 103293 h 233403"/>
                <a:gd name="connsiteX8" fmla="*/ 76200 w 207262"/>
                <a:gd name="connsiteY8" fmla="*/ 154728 h 233403"/>
                <a:gd name="connsiteX9" fmla="*/ 76200 w 207262"/>
                <a:gd name="connsiteY9" fmla="*/ 78528 h 233403"/>
                <a:gd name="connsiteX10" fmla="*/ 141922 w 207262"/>
                <a:gd name="connsiteY10" fmla="*/ 116628 h 233403"/>
                <a:gd name="connsiteX11" fmla="*/ 76200 w 207262"/>
                <a:gd name="connsiteY11" fmla="*/ 154728 h 233403"/>
                <a:gd name="connsiteX12" fmla="*/ 90488 w 207262"/>
                <a:gd name="connsiteY12" fmla="*/ 210926 h 233403"/>
                <a:gd name="connsiteX13" fmla="*/ 73342 w 207262"/>
                <a:gd name="connsiteY13" fmla="*/ 180446 h 233403"/>
                <a:gd name="connsiteX14" fmla="*/ 74295 w 207262"/>
                <a:gd name="connsiteY14" fmla="*/ 179493 h 233403"/>
                <a:gd name="connsiteX15" fmla="*/ 166688 w 207262"/>
                <a:gd name="connsiteY15" fmla="*/ 126153 h 233403"/>
                <a:gd name="connsiteX16" fmla="*/ 168592 w 207262"/>
                <a:gd name="connsiteY16" fmla="*/ 129963 h 233403"/>
                <a:gd name="connsiteX17" fmla="*/ 183833 w 207262"/>
                <a:gd name="connsiteY17" fmla="*/ 156633 h 233403"/>
                <a:gd name="connsiteX18" fmla="*/ 90488 w 207262"/>
                <a:gd name="connsiteY18" fmla="*/ 210926 h 233403"/>
                <a:gd name="connsiteX19" fmla="*/ 55245 w 207262"/>
                <a:gd name="connsiteY19" fmla="*/ 170921 h 233403"/>
                <a:gd name="connsiteX20" fmla="*/ 20003 w 207262"/>
                <a:gd name="connsiteY20" fmla="*/ 170921 h 233403"/>
                <a:gd name="connsiteX21" fmla="*/ 20003 w 207262"/>
                <a:gd name="connsiteY21" fmla="*/ 62336 h 233403"/>
                <a:gd name="connsiteX22" fmla="*/ 55245 w 207262"/>
                <a:gd name="connsiteY22" fmla="*/ 62336 h 233403"/>
                <a:gd name="connsiteX23" fmla="*/ 55245 w 207262"/>
                <a:gd name="connsiteY23" fmla="*/ 170921 h 233403"/>
                <a:gd name="connsiteX24" fmla="*/ 206692 w 207262"/>
                <a:gd name="connsiteY24" fmla="*/ 162348 h 233403"/>
                <a:gd name="connsiteX25" fmla="*/ 204788 w 207262"/>
                <a:gd name="connsiteY25" fmla="*/ 149966 h 233403"/>
                <a:gd name="connsiteX26" fmla="*/ 185738 w 207262"/>
                <a:gd name="connsiteY26" fmla="*/ 116628 h 233403"/>
                <a:gd name="connsiteX27" fmla="*/ 204788 w 207262"/>
                <a:gd name="connsiteY27" fmla="*/ 83291 h 233403"/>
                <a:gd name="connsiteX28" fmla="*/ 206692 w 207262"/>
                <a:gd name="connsiteY28" fmla="*/ 70908 h 233403"/>
                <a:gd name="connsiteX29" fmla="*/ 199072 w 207262"/>
                <a:gd name="connsiteY29" fmla="*/ 61383 h 233403"/>
                <a:gd name="connsiteX30" fmla="*/ 97155 w 207262"/>
                <a:gd name="connsiteY30" fmla="*/ 2328 h 233403"/>
                <a:gd name="connsiteX31" fmla="*/ 75247 w 207262"/>
                <a:gd name="connsiteY31" fmla="*/ 8043 h 233403"/>
                <a:gd name="connsiteX32" fmla="*/ 56197 w 207262"/>
                <a:gd name="connsiteY32" fmla="*/ 41381 h 233403"/>
                <a:gd name="connsiteX33" fmla="*/ 16192 w 207262"/>
                <a:gd name="connsiteY33" fmla="*/ 41381 h 233403"/>
                <a:gd name="connsiteX34" fmla="*/ 16192 w 207262"/>
                <a:gd name="connsiteY34" fmla="*/ 41381 h 233403"/>
                <a:gd name="connsiteX35" fmla="*/ 4763 w 207262"/>
                <a:gd name="connsiteY35" fmla="*/ 46143 h 233403"/>
                <a:gd name="connsiteX36" fmla="*/ 0 w 207262"/>
                <a:gd name="connsiteY36" fmla="*/ 57573 h 233403"/>
                <a:gd name="connsiteX37" fmla="*/ 0 w 207262"/>
                <a:gd name="connsiteY37" fmla="*/ 175683 h 233403"/>
                <a:gd name="connsiteX38" fmla="*/ 16192 w 207262"/>
                <a:gd name="connsiteY38" fmla="*/ 191876 h 233403"/>
                <a:gd name="connsiteX39" fmla="*/ 56197 w 207262"/>
                <a:gd name="connsiteY39" fmla="*/ 191876 h 233403"/>
                <a:gd name="connsiteX40" fmla="*/ 75247 w 207262"/>
                <a:gd name="connsiteY40" fmla="*/ 225213 h 233403"/>
                <a:gd name="connsiteX41" fmla="*/ 84772 w 207262"/>
                <a:gd name="connsiteY41" fmla="*/ 232833 h 233403"/>
                <a:gd name="connsiteX42" fmla="*/ 97155 w 207262"/>
                <a:gd name="connsiteY42" fmla="*/ 230928 h 233403"/>
                <a:gd name="connsiteX43" fmla="*/ 199072 w 207262"/>
                <a:gd name="connsiteY43" fmla="*/ 171873 h 233403"/>
                <a:gd name="connsiteX44" fmla="*/ 206692 w 207262"/>
                <a:gd name="connsiteY44" fmla="*/ 162348 h 2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262" h="233403">
                  <a:moveTo>
                    <a:pt x="169545" y="103293"/>
                  </a:moveTo>
                  <a:lnTo>
                    <a:pt x="167640" y="106151"/>
                  </a:lnTo>
                  <a:lnTo>
                    <a:pt x="74295" y="51858"/>
                  </a:lnTo>
                  <a:lnTo>
                    <a:pt x="76200" y="49001"/>
                  </a:lnTo>
                  <a:lnTo>
                    <a:pt x="92392" y="21378"/>
                  </a:lnTo>
                  <a:lnTo>
                    <a:pt x="93345" y="22331"/>
                  </a:lnTo>
                  <a:lnTo>
                    <a:pt x="186690" y="75671"/>
                  </a:lnTo>
                  <a:lnTo>
                    <a:pt x="169545" y="103293"/>
                  </a:lnTo>
                  <a:close/>
                  <a:moveTo>
                    <a:pt x="76200" y="154728"/>
                  </a:moveTo>
                  <a:lnTo>
                    <a:pt x="76200" y="78528"/>
                  </a:lnTo>
                  <a:lnTo>
                    <a:pt x="141922" y="116628"/>
                  </a:lnTo>
                  <a:lnTo>
                    <a:pt x="76200" y="154728"/>
                  </a:lnTo>
                  <a:close/>
                  <a:moveTo>
                    <a:pt x="90488" y="210926"/>
                  </a:moveTo>
                  <a:lnTo>
                    <a:pt x="73342" y="180446"/>
                  </a:lnTo>
                  <a:lnTo>
                    <a:pt x="74295" y="179493"/>
                  </a:lnTo>
                  <a:lnTo>
                    <a:pt x="166688" y="126153"/>
                  </a:lnTo>
                  <a:lnTo>
                    <a:pt x="168592" y="129963"/>
                  </a:lnTo>
                  <a:lnTo>
                    <a:pt x="183833" y="156633"/>
                  </a:lnTo>
                  <a:lnTo>
                    <a:pt x="90488" y="210926"/>
                  </a:lnTo>
                  <a:close/>
                  <a:moveTo>
                    <a:pt x="55245" y="170921"/>
                  </a:moveTo>
                  <a:lnTo>
                    <a:pt x="20003" y="170921"/>
                  </a:lnTo>
                  <a:lnTo>
                    <a:pt x="20003" y="62336"/>
                  </a:lnTo>
                  <a:lnTo>
                    <a:pt x="55245" y="62336"/>
                  </a:lnTo>
                  <a:lnTo>
                    <a:pt x="55245" y="170921"/>
                  </a:lnTo>
                  <a:close/>
                  <a:moveTo>
                    <a:pt x="206692" y="162348"/>
                  </a:moveTo>
                  <a:cubicBezTo>
                    <a:pt x="207645" y="158538"/>
                    <a:pt x="207645" y="153776"/>
                    <a:pt x="204788" y="149966"/>
                  </a:cubicBezTo>
                  <a:lnTo>
                    <a:pt x="185738" y="116628"/>
                  </a:lnTo>
                  <a:lnTo>
                    <a:pt x="204788" y="83291"/>
                  </a:lnTo>
                  <a:cubicBezTo>
                    <a:pt x="206692" y="79481"/>
                    <a:pt x="207645" y="75671"/>
                    <a:pt x="206692" y="70908"/>
                  </a:cubicBezTo>
                  <a:cubicBezTo>
                    <a:pt x="205740" y="67098"/>
                    <a:pt x="202883" y="63288"/>
                    <a:pt x="199072" y="61383"/>
                  </a:cubicBezTo>
                  <a:lnTo>
                    <a:pt x="97155" y="2328"/>
                  </a:lnTo>
                  <a:cubicBezTo>
                    <a:pt x="89535" y="-2434"/>
                    <a:pt x="80010" y="423"/>
                    <a:pt x="75247" y="8043"/>
                  </a:cubicBezTo>
                  <a:lnTo>
                    <a:pt x="56197" y="41381"/>
                  </a:lnTo>
                  <a:lnTo>
                    <a:pt x="16192" y="41381"/>
                  </a:lnTo>
                  <a:lnTo>
                    <a:pt x="16192" y="41381"/>
                  </a:lnTo>
                  <a:cubicBezTo>
                    <a:pt x="12383" y="41381"/>
                    <a:pt x="7620" y="43286"/>
                    <a:pt x="4763" y="46143"/>
                  </a:cubicBezTo>
                  <a:cubicBezTo>
                    <a:pt x="1905" y="49001"/>
                    <a:pt x="0" y="52811"/>
                    <a:pt x="0" y="57573"/>
                  </a:cubicBezTo>
                  <a:lnTo>
                    <a:pt x="0" y="175683"/>
                  </a:lnTo>
                  <a:cubicBezTo>
                    <a:pt x="0" y="184256"/>
                    <a:pt x="7620" y="191876"/>
                    <a:pt x="16192" y="191876"/>
                  </a:cubicBezTo>
                  <a:lnTo>
                    <a:pt x="56197" y="191876"/>
                  </a:lnTo>
                  <a:lnTo>
                    <a:pt x="75247" y="225213"/>
                  </a:lnTo>
                  <a:cubicBezTo>
                    <a:pt x="77153" y="229023"/>
                    <a:pt x="80963" y="231881"/>
                    <a:pt x="84772" y="232833"/>
                  </a:cubicBezTo>
                  <a:cubicBezTo>
                    <a:pt x="88583" y="233786"/>
                    <a:pt x="93345" y="233786"/>
                    <a:pt x="97155" y="230928"/>
                  </a:cubicBezTo>
                  <a:lnTo>
                    <a:pt x="199072" y="171873"/>
                  </a:lnTo>
                  <a:cubicBezTo>
                    <a:pt x="202883" y="169968"/>
                    <a:pt x="205740" y="167111"/>
                    <a:pt x="206692" y="16234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6906D5EB-37DB-2E46-0CC8-B361FD6811A3}"/>
                </a:ext>
              </a:extLst>
            </p:cNvPr>
            <p:cNvSpPr/>
            <p:nvPr/>
          </p:nvSpPr>
          <p:spPr>
            <a:xfrm>
              <a:off x="11836717" y="6741794"/>
              <a:ext cx="126682" cy="184785"/>
            </a:xfrm>
            <a:custGeom>
              <a:avLst/>
              <a:gdLst>
                <a:gd name="connsiteX0" fmla="*/ 0 w 126682"/>
                <a:gd name="connsiteY0" fmla="*/ 0 h 184785"/>
                <a:gd name="connsiteX1" fmla="*/ 0 w 126682"/>
                <a:gd name="connsiteY1" fmla="*/ 184785 h 184785"/>
                <a:gd name="connsiteX2" fmla="*/ 30480 w 126682"/>
                <a:gd name="connsiteY2" fmla="*/ 184785 h 184785"/>
                <a:gd name="connsiteX3" fmla="*/ 30480 w 126682"/>
                <a:gd name="connsiteY3" fmla="*/ 129540 h 184785"/>
                <a:gd name="connsiteX4" fmla="*/ 33338 w 126682"/>
                <a:gd name="connsiteY4" fmla="*/ 129540 h 184785"/>
                <a:gd name="connsiteX5" fmla="*/ 91440 w 126682"/>
                <a:gd name="connsiteY5" fmla="*/ 184785 h 184785"/>
                <a:gd name="connsiteX6" fmla="*/ 126682 w 126682"/>
                <a:gd name="connsiteY6" fmla="*/ 184785 h 184785"/>
                <a:gd name="connsiteX7" fmla="*/ 126682 w 126682"/>
                <a:gd name="connsiteY7" fmla="*/ 180975 h 184785"/>
                <a:gd name="connsiteX8" fmla="*/ 57150 w 126682"/>
                <a:gd name="connsiteY8" fmla="*/ 115253 h 184785"/>
                <a:gd name="connsiteX9" fmla="*/ 125730 w 126682"/>
                <a:gd name="connsiteY9" fmla="*/ 56198 h 184785"/>
                <a:gd name="connsiteX10" fmla="*/ 125730 w 126682"/>
                <a:gd name="connsiteY10" fmla="*/ 52388 h 184785"/>
                <a:gd name="connsiteX11" fmla="*/ 90488 w 126682"/>
                <a:gd name="connsiteY11" fmla="*/ 52388 h 184785"/>
                <a:gd name="connsiteX12" fmla="*/ 33338 w 126682"/>
                <a:gd name="connsiteY12" fmla="*/ 103823 h 184785"/>
                <a:gd name="connsiteX13" fmla="*/ 30480 w 126682"/>
                <a:gd name="connsiteY13" fmla="*/ 103823 h 184785"/>
                <a:gd name="connsiteX14" fmla="*/ 30480 w 126682"/>
                <a:gd name="connsiteY14" fmla="*/ 0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6682" h="184785">
                  <a:moveTo>
                    <a:pt x="0" y="0"/>
                  </a:moveTo>
                  <a:lnTo>
                    <a:pt x="0" y="184785"/>
                  </a:lnTo>
                  <a:lnTo>
                    <a:pt x="30480" y="184785"/>
                  </a:lnTo>
                  <a:lnTo>
                    <a:pt x="30480" y="129540"/>
                  </a:lnTo>
                  <a:lnTo>
                    <a:pt x="33338" y="129540"/>
                  </a:lnTo>
                  <a:lnTo>
                    <a:pt x="91440" y="184785"/>
                  </a:lnTo>
                  <a:lnTo>
                    <a:pt x="126682" y="184785"/>
                  </a:lnTo>
                  <a:lnTo>
                    <a:pt x="126682" y="180975"/>
                  </a:lnTo>
                  <a:lnTo>
                    <a:pt x="57150" y="115253"/>
                  </a:lnTo>
                  <a:lnTo>
                    <a:pt x="125730" y="56198"/>
                  </a:lnTo>
                  <a:lnTo>
                    <a:pt x="125730" y="52388"/>
                  </a:lnTo>
                  <a:lnTo>
                    <a:pt x="90488" y="52388"/>
                  </a:lnTo>
                  <a:lnTo>
                    <a:pt x="33338" y="103823"/>
                  </a:lnTo>
                  <a:lnTo>
                    <a:pt x="30480" y="103823"/>
                  </a:lnTo>
                  <a:lnTo>
                    <a:pt x="304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9B454036-7BBB-B6DA-73E9-6BDB63A5468F}"/>
                </a:ext>
              </a:extLst>
            </p:cNvPr>
            <p:cNvSpPr/>
            <p:nvPr/>
          </p:nvSpPr>
          <p:spPr>
            <a:xfrm>
              <a:off x="11953874" y="6791325"/>
              <a:ext cx="129540" cy="139065"/>
            </a:xfrm>
            <a:custGeom>
              <a:avLst/>
              <a:gdLst>
                <a:gd name="connsiteX0" fmla="*/ 29528 w 129540"/>
                <a:gd name="connsiteY0" fmla="*/ 55245 h 139065"/>
                <a:gd name="connsiteX1" fmla="*/ 65722 w 129540"/>
                <a:gd name="connsiteY1" fmla="*/ 20955 h 139065"/>
                <a:gd name="connsiteX2" fmla="*/ 100013 w 129540"/>
                <a:gd name="connsiteY2" fmla="*/ 55245 h 139065"/>
                <a:gd name="connsiteX3" fmla="*/ 29528 w 129540"/>
                <a:gd name="connsiteY3" fmla="*/ 55245 h 139065"/>
                <a:gd name="connsiteX4" fmla="*/ 66675 w 129540"/>
                <a:gd name="connsiteY4" fmla="*/ 0 h 139065"/>
                <a:gd name="connsiteX5" fmla="*/ 0 w 129540"/>
                <a:gd name="connsiteY5" fmla="*/ 69532 h 139065"/>
                <a:gd name="connsiteX6" fmla="*/ 66675 w 129540"/>
                <a:gd name="connsiteY6" fmla="*/ 139065 h 139065"/>
                <a:gd name="connsiteX7" fmla="*/ 126682 w 129540"/>
                <a:gd name="connsiteY7" fmla="*/ 98107 h 139065"/>
                <a:gd name="connsiteX8" fmla="*/ 126682 w 129540"/>
                <a:gd name="connsiteY8" fmla="*/ 94297 h 139065"/>
                <a:gd name="connsiteX9" fmla="*/ 100013 w 129540"/>
                <a:gd name="connsiteY9" fmla="*/ 94297 h 139065"/>
                <a:gd name="connsiteX10" fmla="*/ 66675 w 129540"/>
                <a:gd name="connsiteY10" fmla="*/ 117157 h 139065"/>
                <a:gd name="connsiteX11" fmla="*/ 29528 w 129540"/>
                <a:gd name="connsiteY11" fmla="*/ 77153 h 139065"/>
                <a:gd name="connsiteX12" fmla="*/ 129540 w 129540"/>
                <a:gd name="connsiteY12" fmla="*/ 77153 h 139065"/>
                <a:gd name="connsiteX13" fmla="*/ 129540 w 129540"/>
                <a:gd name="connsiteY13" fmla="*/ 64770 h 139065"/>
                <a:gd name="connsiteX14" fmla="*/ 66675 w 129540"/>
                <a:gd name="connsiteY14" fmla="*/ 0 h 13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9540" h="139065">
                  <a:moveTo>
                    <a:pt x="29528" y="55245"/>
                  </a:moveTo>
                  <a:cubicBezTo>
                    <a:pt x="31432" y="35243"/>
                    <a:pt x="43815" y="20955"/>
                    <a:pt x="65722" y="20955"/>
                  </a:cubicBezTo>
                  <a:cubicBezTo>
                    <a:pt x="88582" y="20955"/>
                    <a:pt x="100013" y="35243"/>
                    <a:pt x="100013" y="55245"/>
                  </a:cubicBezTo>
                  <a:lnTo>
                    <a:pt x="29528" y="55245"/>
                  </a:lnTo>
                  <a:close/>
                  <a:moveTo>
                    <a:pt x="66675" y="0"/>
                  </a:moveTo>
                  <a:cubicBezTo>
                    <a:pt x="26670" y="0"/>
                    <a:pt x="0" y="23813"/>
                    <a:pt x="0" y="69532"/>
                  </a:cubicBezTo>
                  <a:cubicBezTo>
                    <a:pt x="0" y="115253"/>
                    <a:pt x="26670" y="139065"/>
                    <a:pt x="66675" y="139065"/>
                  </a:cubicBezTo>
                  <a:cubicBezTo>
                    <a:pt x="106680" y="139065"/>
                    <a:pt x="122872" y="115253"/>
                    <a:pt x="126682" y="98107"/>
                  </a:cubicBezTo>
                  <a:lnTo>
                    <a:pt x="126682" y="94297"/>
                  </a:lnTo>
                  <a:lnTo>
                    <a:pt x="100013" y="94297"/>
                  </a:lnTo>
                  <a:cubicBezTo>
                    <a:pt x="98107" y="104775"/>
                    <a:pt x="88582" y="117157"/>
                    <a:pt x="66675" y="117157"/>
                  </a:cubicBezTo>
                  <a:cubicBezTo>
                    <a:pt x="43815" y="117157"/>
                    <a:pt x="30480" y="100965"/>
                    <a:pt x="29528" y="77153"/>
                  </a:cubicBezTo>
                  <a:lnTo>
                    <a:pt x="129540" y="77153"/>
                  </a:lnTo>
                  <a:lnTo>
                    <a:pt x="129540" y="64770"/>
                  </a:lnTo>
                  <a:cubicBezTo>
                    <a:pt x="129540" y="23813"/>
                    <a:pt x="106680" y="0"/>
                    <a:pt x="66675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D1C6C67B-5C2B-725B-A531-01F4FDF08CF6}"/>
                </a:ext>
              </a:extLst>
            </p:cNvPr>
            <p:cNvSpPr/>
            <p:nvPr/>
          </p:nvSpPr>
          <p:spPr>
            <a:xfrm>
              <a:off x="12077699" y="6794182"/>
              <a:ext cx="137159" cy="183832"/>
            </a:xfrm>
            <a:custGeom>
              <a:avLst/>
              <a:gdLst>
                <a:gd name="connsiteX0" fmla="*/ 106680 w 137159"/>
                <a:gd name="connsiteY0" fmla="*/ 0 h 183832"/>
                <a:gd name="connsiteX1" fmla="*/ 70485 w 137159"/>
                <a:gd name="connsiteY1" fmla="*/ 97155 h 183832"/>
                <a:gd name="connsiteX2" fmla="*/ 67628 w 137159"/>
                <a:gd name="connsiteY2" fmla="*/ 97155 h 183832"/>
                <a:gd name="connsiteX3" fmla="*/ 31432 w 137159"/>
                <a:gd name="connsiteY3" fmla="*/ 0 h 183832"/>
                <a:gd name="connsiteX4" fmla="*/ 0 w 137159"/>
                <a:gd name="connsiteY4" fmla="*/ 0 h 183832"/>
                <a:gd name="connsiteX5" fmla="*/ 0 w 137159"/>
                <a:gd name="connsiteY5" fmla="*/ 3810 h 183832"/>
                <a:gd name="connsiteX6" fmla="*/ 53340 w 137159"/>
                <a:gd name="connsiteY6" fmla="*/ 132398 h 183832"/>
                <a:gd name="connsiteX7" fmla="*/ 33338 w 137159"/>
                <a:gd name="connsiteY7" fmla="*/ 180023 h 183832"/>
                <a:gd name="connsiteX8" fmla="*/ 33338 w 137159"/>
                <a:gd name="connsiteY8" fmla="*/ 183833 h 183832"/>
                <a:gd name="connsiteX9" fmla="*/ 63818 w 137159"/>
                <a:gd name="connsiteY9" fmla="*/ 183833 h 183832"/>
                <a:gd name="connsiteX10" fmla="*/ 137160 w 137159"/>
                <a:gd name="connsiteY10" fmla="*/ 3810 h 183832"/>
                <a:gd name="connsiteX11" fmla="*/ 137160 w 137159"/>
                <a:gd name="connsiteY11" fmla="*/ 0 h 18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9" h="183832">
                  <a:moveTo>
                    <a:pt x="106680" y="0"/>
                  </a:moveTo>
                  <a:lnTo>
                    <a:pt x="70485" y="97155"/>
                  </a:lnTo>
                  <a:lnTo>
                    <a:pt x="67628" y="97155"/>
                  </a:lnTo>
                  <a:lnTo>
                    <a:pt x="31432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53340" y="132398"/>
                  </a:lnTo>
                  <a:lnTo>
                    <a:pt x="33338" y="180023"/>
                  </a:lnTo>
                  <a:lnTo>
                    <a:pt x="33338" y="183833"/>
                  </a:lnTo>
                  <a:lnTo>
                    <a:pt x="63818" y="183833"/>
                  </a:lnTo>
                  <a:lnTo>
                    <a:pt x="137160" y="3810"/>
                  </a:lnTo>
                  <a:lnTo>
                    <a:pt x="13716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en-GB" sz="450"/>
            </a:p>
          </p:txBody>
        </p:sp>
        <p:grpSp>
          <p:nvGrpSpPr>
            <p:cNvPr id="12" name="Graphic 7">
              <a:extLst>
                <a:ext uri="{FF2B5EF4-FFF2-40B4-BE49-F238E27FC236}">
                  <a16:creationId xmlns:a16="http://schemas.microsoft.com/office/drawing/2014/main" id="{12BA6CC3-4859-D4AB-EF05-474358B4F622}"/>
                </a:ext>
              </a:extLst>
            </p:cNvPr>
            <p:cNvGrpSpPr/>
            <p:nvPr/>
          </p:nvGrpSpPr>
          <p:grpSpPr>
            <a:xfrm>
              <a:off x="12212002" y="6759892"/>
              <a:ext cx="618172" cy="170497"/>
              <a:chOff x="12212002" y="6759892"/>
              <a:chExt cx="618172" cy="170497"/>
            </a:xfrm>
            <a:grpFill/>
          </p:grpSpPr>
          <p:sp>
            <p:nvSpPr>
              <p:cNvPr id="13" name="Free-form: Shape 12">
                <a:extLst>
                  <a:ext uri="{FF2B5EF4-FFF2-40B4-BE49-F238E27FC236}">
                    <a16:creationId xmlns:a16="http://schemas.microsoft.com/office/drawing/2014/main" id="{06690A93-9701-A76D-31D7-153AD7601CE1}"/>
                  </a:ext>
                </a:extLst>
              </p:cNvPr>
              <p:cNvSpPr/>
              <p:nvPr/>
            </p:nvSpPr>
            <p:spPr>
              <a:xfrm>
                <a:off x="12212002" y="6792277"/>
                <a:ext cx="120015" cy="137159"/>
              </a:xfrm>
              <a:custGeom>
                <a:avLst/>
                <a:gdLst>
                  <a:gd name="connsiteX0" fmla="*/ 75247 w 120015"/>
                  <a:gd name="connsiteY0" fmla="*/ 58103 h 137159"/>
                  <a:gd name="connsiteX1" fmla="*/ 50482 w 120015"/>
                  <a:gd name="connsiteY1" fmla="*/ 54292 h 137159"/>
                  <a:gd name="connsiteX2" fmla="*/ 30480 w 120015"/>
                  <a:gd name="connsiteY2" fmla="*/ 38100 h 137159"/>
                  <a:gd name="connsiteX3" fmla="*/ 58103 w 120015"/>
                  <a:gd name="connsiteY3" fmla="*/ 20955 h 137159"/>
                  <a:gd name="connsiteX4" fmla="*/ 89535 w 120015"/>
                  <a:gd name="connsiteY4" fmla="*/ 43815 h 137159"/>
                  <a:gd name="connsiteX5" fmla="*/ 117157 w 120015"/>
                  <a:gd name="connsiteY5" fmla="*/ 43815 h 137159"/>
                  <a:gd name="connsiteX6" fmla="*/ 117157 w 120015"/>
                  <a:gd name="connsiteY6" fmla="*/ 40005 h 137159"/>
                  <a:gd name="connsiteX7" fmla="*/ 57150 w 120015"/>
                  <a:gd name="connsiteY7" fmla="*/ 0 h 137159"/>
                  <a:gd name="connsiteX8" fmla="*/ 953 w 120015"/>
                  <a:gd name="connsiteY8" fmla="*/ 39053 h 137159"/>
                  <a:gd name="connsiteX9" fmla="*/ 42863 w 120015"/>
                  <a:gd name="connsiteY9" fmla="*/ 77153 h 137159"/>
                  <a:gd name="connsiteX10" fmla="*/ 67628 w 120015"/>
                  <a:gd name="connsiteY10" fmla="*/ 80963 h 137159"/>
                  <a:gd name="connsiteX11" fmla="*/ 90488 w 120015"/>
                  <a:gd name="connsiteY11" fmla="*/ 98107 h 137159"/>
                  <a:gd name="connsiteX12" fmla="*/ 61913 w 120015"/>
                  <a:gd name="connsiteY12" fmla="*/ 116205 h 137159"/>
                  <a:gd name="connsiteX13" fmla="*/ 27622 w 120015"/>
                  <a:gd name="connsiteY13" fmla="*/ 92392 h 137159"/>
                  <a:gd name="connsiteX14" fmla="*/ 0 w 120015"/>
                  <a:gd name="connsiteY14" fmla="*/ 92392 h 137159"/>
                  <a:gd name="connsiteX15" fmla="*/ 0 w 120015"/>
                  <a:gd name="connsiteY15" fmla="*/ 96203 h 137159"/>
                  <a:gd name="connsiteX16" fmla="*/ 62865 w 120015"/>
                  <a:gd name="connsiteY16" fmla="*/ 137160 h 137159"/>
                  <a:gd name="connsiteX17" fmla="*/ 120015 w 120015"/>
                  <a:gd name="connsiteY17" fmla="*/ 96203 h 137159"/>
                  <a:gd name="connsiteX18" fmla="*/ 75247 w 120015"/>
                  <a:gd name="connsiteY18" fmla="*/ 58103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0015" h="137159">
                    <a:moveTo>
                      <a:pt x="75247" y="58103"/>
                    </a:moveTo>
                    <a:lnTo>
                      <a:pt x="50482" y="54292"/>
                    </a:lnTo>
                    <a:cubicBezTo>
                      <a:pt x="39053" y="52388"/>
                      <a:pt x="30480" y="48578"/>
                      <a:pt x="30480" y="38100"/>
                    </a:cubicBezTo>
                    <a:cubicBezTo>
                      <a:pt x="30480" y="27622"/>
                      <a:pt x="40005" y="20955"/>
                      <a:pt x="58103" y="20955"/>
                    </a:cubicBezTo>
                    <a:cubicBezTo>
                      <a:pt x="76200" y="20955"/>
                      <a:pt x="88582" y="27622"/>
                      <a:pt x="89535" y="43815"/>
                    </a:cubicBezTo>
                    <a:lnTo>
                      <a:pt x="117157" y="43815"/>
                    </a:lnTo>
                    <a:lnTo>
                      <a:pt x="117157" y="40005"/>
                    </a:lnTo>
                    <a:cubicBezTo>
                      <a:pt x="114300" y="16192"/>
                      <a:pt x="93345" y="0"/>
                      <a:pt x="57150" y="0"/>
                    </a:cubicBezTo>
                    <a:cubicBezTo>
                      <a:pt x="20955" y="0"/>
                      <a:pt x="953" y="16192"/>
                      <a:pt x="953" y="39053"/>
                    </a:cubicBezTo>
                    <a:cubicBezTo>
                      <a:pt x="953" y="61913"/>
                      <a:pt x="18097" y="73342"/>
                      <a:pt x="42863" y="77153"/>
                    </a:cubicBezTo>
                    <a:lnTo>
                      <a:pt x="67628" y="80963"/>
                    </a:lnTo>
                    <a:cubicBezTo>
                      <a:pt x="81915" y="82867"/>
                      <a:pt x="90488" y="87630"/>
                      <a:pt x="90488" y="98107"/>
                    </a:cubicBezTo>
                    <a:cubicBezTo>
                      <a:pt x="90488" y="109538"/>
                      <a:pt x="80963" y="116205"/>
                      <a:pt x="61913" y="116205"/>
                    </a:cubicBezTo>
                    <a:cubicBezTo>
                      <a:pt x="42863" y="116205"/>
                      <a:pt x="28575" y="108585"/>
                      <a:pt x="27622" y="92392"/>
                    </a:cubicBezTo>
                    <a:lnTo>
                      <a:pt x="0" y="92392"/>
                    </a:lnTo>
                    <a:lnTo>
                      <a:pt x="0" y="96203"/>
                    </a:lnTo>
                    <a:cubicBezTo>
                      <a:pt x="1905" y="120015"/>
                      <a:pt x="23813" y="137160"/>
                      <a:pt x="62865" y="137160"/>
                    </a:cubicBezTo>
                    <a:cubicBezTo>
                      <a:pt x="100965" y="137160"/>
                      <a:pt x="120015" y="120015"/>
                      <a:pt x="120015" y="96203"/>
                    </a:cubicBezTo>
                    <a:cubicBezTo>
                      <a:pt x="119063" y="72390"/>
                      <a:pt x="100965" y="62865"/>
                      <a:pt x="75247" y="58103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4" name="Free-form: Shape 13">
                <a:extLst>
                  <a:ext uri="{FF2B5EF4-FFF2-40B4-BE49-F238E27FC236}">
                    <a16:creationId xmlns:a16="http://schemas.microsoft.com/office/drawing/2014/main" id="{9FD7F094-8C7D-89DF-8552-F6D6AF0A1726}"/>
                  </a:ext>
                </a:extLst>
              </p:cNvPr>
              <p:cNvSpPr/>
              <p:nvPr/>
            </p:nvSpPr>
            <p:spPr>
              <a:xfrm>
                <a:off x="12330112" y="6759892"/>
                <a:ext cx="93344" cy="166687"/>
              </a:xfrm>
              <a:custGeom>
                <a:avLst/>
                <a:gdLst>
                  <a:gd name="connsiteX0" fmla="*/ 56197 w 93344"/>
                  <a:gd name="connsiteY0" fmla="*/ 142875 h 166687"/>
                  <a:gd name="connsiteX1" fmla="*/ 56197 w 93344"/>
                  <a:gd name="connsiteY1" fmla="*/ 56197 h 166687"/>
                  <a:gd name="connsiteX2" fmla="*/ 93345 w 93344"/>
                  <a:gd name="connsiteY2" fmla="*/ 56197 h 166687"/>
                  <a:gd name="connsiteX3" fmla="*/ 93345 w 93344"/>
                  <a:gd name="connsiteY3" fmla="*/ 35242 h 166687"/>
                  <a:gd name="connsiteX4" fmla="*/ 56197 w 93344"/>
                  <a:gd name="connsiteY4" fmla="*/ 35242 h 166687"/>
                  <a:gd name="connsiteX5" fmla="*/ 56197 w 93344"/>
                  <a:gd name="connsiteY5" fmla="*/ 0 h 166687"/>
                  <a:gd name="connsiteX6" fmla="*/ 25718 w 93344"/>
                  <a:gd name="connsiteY6" fmla="*/ 0 h 166687"/>
                  <a:gd name="connsiteX7" fmla="*/ 25718 w 93344"/>
                  <a:gd name="connsiteY7" fmla="*/ 35242 h 166687"/>
                  <a:gd name="connsiteX8" fmla="*/ 0 w 93344"/>
                  <a:gd name="connsiteY8" fmla="*/ 35242 h 166687"/>
                  <a:gd name="connsiteX9" fmla="*/ 0 w 93344"/>
                  <a:gd name="connsiteY9" fmla="*/ 56197 h 166687"/>
                  <a:gd name="connsiteX10" fmla="*/ 25718 w 93344"/>
                  <a:gd name="connsiteY10" fmla="*/ 56197 h 166687"/>
                  <a:gd name="connsiteX11" fmla="*/ 25718 w 93344"/>
                  <a:gd name="connsiteY11" fmla="*/ 132397 h 166687"/>
                  <a:gd name="connsiteX12" fmla="*/ 61913 w 93344"/>
                  <a:gd name="connsiteY12" fmla="*/ 166688 h 166687"/>
                  <a:gd name="connsiteX13" fmla="*/ 92393 w 93344"/>
                  <a:gd name="connsiteY13" fmla="*/ 166688 h 166687"/>
                  <a:gd name="connsiteX14" fmla="*/ 92393 w 93344"/>
                  <a:gd name="connsiteY14" fmla="*/ 144780 h 166687"/>
                  <a:gd name="connsiteX15" fmla="*/ 58103 w 93344"/>
                  <a:gd name="connsiteY15" fmla="*/ 144780 h 166687"/>
                  <a:gd name="connsiteX16" fmla="*/ 56197 w 93344"/>
                  <a:gd name="connsiteY16" fmla="*/ 142875 h 166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344" h="166687">
                    <a:moveTo>
                      <a:pt x="56197" y="142875"/>
                    </a:moveTo>
                    <a:lnTo>
                      <a:pt x="56197" y="56197"/>
                    </a:lnTo>
                    <a:lnTo>
                      <a:pt x="93345" y="56197"/>
                    </a:lnTo>
                    <a:lnTo>
                      <a:pt x="93345" y="35242"/>
                    </a:lnTo>
                    <a:lnTo>
                      <a:pt x="56197" y="35242"/>
                    </a:lnTo>
                    <a:lnTo>
                      <a:pt x="56197" y="0"/>
                    </a:lnTo>
                    <a:lnTo>
                      <a:pt x="25718" y="0"/>
                    </a:lnTo>
                    <a:lnTo>
                      <a:pt x="25718" y="35242"/>
                    </a:lnTo>
                    <a:lnTo>
                      <a:pt x="0" y="35242"/>
                    </a:lnTo>
                    <a:lnTo>
                      <a:pt x="0" y="56197"/>
                    </a:lnTo>
                    <a:lnTo>
                      <a:pt x="25718" y="56197"/>
                    </a:lnTo>
                    <a:lnTo>
                      <a:pt x="25718" y="132397"/>
                    </a:lnTo>
                    <a:cubicBezTo>
                      <a:pt x="25718" y="155257"/>
                      <a:pt x="39053" y="166688"/>
                      <a:pt x="61913" y="166688"/>
                    </a:cubicBezTo>
                    <a:lnTo>
                      <a:pt x="92393" y="166688"/>
                    </a:lnTo>
                    <a:lnTo>
                      <a:pt x="92393" y="144780"/>
                    </a:lnTo>
                    <a:lnTo>
                      <a:pt x="58103" y="144780"/>
                    </a:lnTo>
                    <a:lnTo>
                      <a:pt x="56197" y="1428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5" name="Free-form: Shape 14">
                <a:extLst>
                  <a:ext uri="{FF2B5EF4-FFF2-40B4-BE49-F238E27FC236}">
                    <a16:creationId xmlns:a16="http://schemas.microsoft.com/office/drawing/2014/main" id="{2A498ED8-C6FD-73A1-04FE-03DB53AE6517}"/>
                  </a:ext>
                </a:extLst>
              </p:cNvPr>
              <p:cNvSpPr/>
              <p:nvPr/>
            </p:nvSpPr>
            <p:spPr>
              <a:xfrm>
                <a:off x="12424409" y="6791325"/>
                <a:ext cx="137159" cy="139065"/>
              </a:xfrm>
              <a:custGeom>
                <a:avLst/>
                <a:gdLst>
                  <a:gd name="connsiteX0" fmla="*/ 68580 w 137159"/>
                  <a:gd name="connsiteY0" fmla="*/ 116205 h 139065"/>
                  <a:gd name="connsiteX1" fmla="*/ 30480 w 137159"/>
                  <a:gd name="connsiteY1" fmla="*/ 69532 h 139065"/>
                  <a:gd name="connsiteX2" fmla="*/ 68580 w 137159"/>
                  <a:gd name="connsiteY2" fmla="*/ 22860 h 139065"/>
                  <a:gd name="connsiteX3" fmla="*/ 106680 w 137159"/>
                  <a:gd name="connsiteY3" fmla="*/ 69532 h 139065"/>
                  <a:gd name="connsiteX4" fmla="*/ 68580 w 137159"/>
                  <a:gd name="connsiteY4" fmla="*/ 116205 h 139065"/>
                  <a:gd name="connsiteX5" fmla="*/ 68580 w 137159"/>
                  <a:gd name="connsiteY5" fmla="*/ 0 h 139065"/>
                  <a:gd name="connsiteX6" fmla="*/ 0 w 137159"/>
                  <a:gd name="connsiteY6" fmla="*/ 69532 h 139065"/>
                  <a:gd name="connsiteX7" fmla="*/ 68580 w 137159"/>
                  <a:gd name="connsiteY7" fmla="*/ 139065 h 139065"/>
                  <a:gd name="connsiteX8" fmla="*/ 137160 w 137159"/>
                  <a:gd name="connsiteY8" fmla="*/ 69532 h 139065"/>
                  <a:gd name="connsiteX9" fmla="*/ 68580 w 137159"/>
                  <a:gd name="connsiteY9" fmla="*/ 0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139065">
                    <a:moveTo>
                      <a:pt x="68580" y="116205"/>
                    </a:moveTo>
                    <a:cubicBezTo>
                      <a:pt x="45720" y="116205"/>
                      <a:pt x="30480" y="100013"/>
                      <a:pt x="30480" y="69532"/>
                    </a:cubicBezTo>
                    <a:cubicBezTo>
                      <a:pt x="30480" y="39053"/>
                      <a:pt x="45720" y="22860"/>
                      <a:pt x="68580" y="22860"/>
                    </a:cubicBezTo>
                    <a:cubicBezTo>
                      <a:pt x="91440" y="22860"/>
                      <a:pt x="106680" y="39053"/>
                      <a:pt x="106680" y="69532"/>
                    </a:cubicBezTo>
                    <a:cubicBezTo>
                      <a:pt x="106680" y="100013"/>
                      <a:pt x="91440" y="116205"/>
                      <a:pt x="68580" y="116205"/>
                    </a:cubicBezTo>
                    <a:moveTo>
                      <a:pt x="68580" y="0"/>
                    </a:moveTo>
                    <a:cubicBezTo>
                      <a:pt x="28575" y="0"/>
                      <a:pt x="0" y="23813"/>
                      <a:pt x="0" y="69532"/>
                    </a:cubicBezTo>
                    <a:cubicBezTo>
                      <a:pt x="0" y="114300"/>
                      <a:pt x="28575" y="139065"/>
                      <a:pt x="68580" y="139065"/>
                    </a:cubicBezTo>
                    <a:cubicBezTo>
                      <a:pt x="108585" y="139065"/>
                      <a:pt x="137160" y="115253"/>
                      <a:pt x="137160" y="69532"/>
                    </a:cubicBezTo>
                    <a:cubicBezTo>
                      <a:pt x="137160" y="23813"/>
                      <a:pt x="108585" y="0"/>
                      <a:pt x="68580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6" name="Free-form: Shape 15">
                <a:extLst>
                  <a:ext uri="{FF2B5EF4-FFF2-40B4-BE49-F238E27FC236}">
                    <a16:creationId xmlns:a16="http://schemas.microsoft.com/office/drawing/2014/main" id="{EF9BCAAE-2ABF-0942-DD54-4FDDDA730E2C}"/>
                  </a:ext>
                </a:extLst>
              </p:cNvPr>
              <p:cNvSpPr/>
              <p:nvPr/>
            </p:nvSpPr>
            <p:spPr>
              <a:xfrm>
                <a:off x="12568237" y="6791325"/>
                <a:ext cx="123857" cy="135255"/>
              </a:xfrm>
              <a:custGeom>
                <a:avLst/>
                <a:gdLst>
                  <a:gd name="connsiteX0" fmla="*/ 75247 w 123857"/>
                  <a:gd name="connsiteY0" fmla="*/ 0 h 135255"/>
                  <a:gd name="connsiteX1" fmla="*/ 32385 w 123857"/>
                  <a:gd name="connsiteY1" fmla="*/ 20003 h 135255"/>
                  <a:gd name="connsiteX2" fmla="*/ 29528 w 123857"/>
                  <a:gd name="connsiteY2" fmla="*/ 20003 h 135255"/>
                  <a:gd name="connsiteX3" fmla="*/ 29528 w 123857"/>
                  <a:gd name="connsiteY3" fmla="*/ 2857 h 135255"/>
                  <a:gd name="connsiteX4" fmla="*/ 0 w 123857"/>
                  <a:gd name="connsiteY4" fmla="*/ 2857 h 135255"/>
                  <a:gd name="connsiteX5" fmla="*/ 0 w 123857"/>
                  <a:gd name="connsiteY5" fmla="*/ 135255 h 135255"/>
                  <a:gd name="connsiteX6" fmla="*/ 30480 w 123857"/>
                  <a:gd name="connsiteY6" fmla="*/ 135255 h 135255"/>
                  <a:gd name="connsiteX7" fmla="*/ 30480 w 123857"/>
                  <a:gd name="connsiteY7" fmla="*/ 60960 h 135255"/>
                  <a:gd name="connsiteX8" fmla="*/ 65722 w 123857"/>
                  <a:gd name="connsiteY8" fmla="*/ 22860 h 135255"/>
                  <a:gd name="connsiteX9" fmla="*/ 93345 w 123857"/>
                  <a:gd name="connsiteY9" fmla="*/ 50482 h 135255"/>
                  <a:gd name="connsiteX10" fmla="*/ 93345 w 123857"/>
                  <a:gd name="connsiteY10" fmla="*/ 134303 h 135255"/>
                  <a:gd name="connsiteX11" fmla="*/ 123825 w 123857"/>
                  <a:gd name="connsiteY11" fmla="*/ 134303 h 135255"/>
                  <a:gd name="connsiteX12" fmla="*/ 123825 w 123857"/>
                  <a:gd name="connsiteY12" fmla="*/ 47625 h 135255"/>
                  <a:gd name="connsiteX13" fmla="*/ 75247 w 123857"/>
                  <a:gd name="connsiteY13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857" h="135255">
                    <a:moveTo>
                      <a:pt x="75247" y="0"/>
                    </a:moveTo>
                    <a:cubicBezTo>
                      <a:pt x="47625" y="0"/>
                      <a:pt x="37147" y="12382"/>
                      <a:pt x="32385" y="20003"/>
                    </a:cubicBezTo>
                    <a:lnTo>
                      <a:pt x="29528" y="20003"/>
                    </a:lnTo>
                    <a:lnTo>
                      <a:pt x="29528" y="2857"/>
                    </a:lnTo>
                    <a:lnTo>
                      <a:pt x="0" y="2857"/>
                    </a:lnTo>
                    <a:lnTo>
                      <a:pt x="0" y="135255"/>
                    </a:lnTo>
                    <a:lnTo>
                      <a:pt x="30480" y="135255"/>
                    </a:lnTo>
                    <a:lnTo>
                      <a:pt x="30480" y="60960"/>
                    </a:lnTo>
                    <a:cubicBezTo>
                      <a:pt x="30480" y="34290"/>
                      <a:pt x="46672" y="22860"/>
                      <a:pt x="65722" y="22860"/>
                    </a:cubicBezTo>
                    <a:cubicBezTo>
                      <a:pt x="82868" y="22860"/>
                      <a:pt x="93345" y="31432"/>
                      <a:pt x="93345" y="50482"/>
                    </a:cubicBezTo>
                    <a:lnTo>
                      <a:pt x="93345" y="134303"/>
                    </a:lnTo>
                    <a:lnTo>
                      <a:pt x="123825" y="134303"/>
                    </a:lnTo>
                    <a:lnTo>
                      <a:pt x="123825" y="47625"/>
                    </a:lnTo>
                    <a:cubicBezTo>
                      <a:pt x="124778" y="16193"/>
                      <a:pt x="104775" y="0"/>
                      <a:pt x="75247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  <p:sp>
            <p:nvSpPr>
              <p:cNvPr id="17" name="Free-form: Shape 16">
                <a:extLst>
                  <a:ext uri="{FF2B5EF4-FFF2-40B4-BE49-F238E27FC236}">
                    <a16:creationId xmlns:a16="http://schemas.microsoft.com/office/drawing/2014/main" id="{6774AE6D-EBAD-4553-23AE-5EC5D9A0C4DA}"/>
                  </a:ext>
                </a:extLst>
              </p:cNvPr>
              <p:cNvSpPr/>
              <p:nvPr/>
            </p:nvSpPr>
            <p:spPr>
              <a:xfrm>
                <a:off x="12700634" y="6791325"/>
                <a:ext cx="129540" cy="139065"/>
              </a:xfrm>
              <a:custGeom>
                <a:avLst/>
                <a:gdLst>
                  <a:gd name="connsiteX0" fmla="*/ 29528 w 129540"/>
                  <a:gd name="connsiteY0" fmla="*/ 55245 h 139065"/>
                  <a:gd name="connsiteX1" fmla="*/ 65722 w 129540"/>
                  <a:gd name="connsiteY1" fmla="*/ 20955 h 139065"/>
                  <a:gd name="connsiteX2" fmla="*/ 100013 w 129540"/>
                  <a:gd name="connsiteY2" fmla="*/ 55245 h 139065"/>
                  <a:gd name="connsiteX3" fmla="*/ 29528 w 129540"/>
                  <a:gd name="connsiteY3" fmla="*/ 55245 h 139065"/>
                  <a:gd name="connsiteX4" fmla="*/ 129540 w 129540"/>
                  <a:gd name="connsiteY4" fmla="*/ 63818 h 139065"/>
                  <a:gd name="connsiteX5" fmla="*/ 66675 w 129540"/>
                  <a:gd name="connsiteY5" fmla="*/ 0 h 139065"/>
                  <a:gd name="connsiteX6" fmla="*/ 0 w 129540"/>
                  <a:gd name="connsiteY6" fmla="*/ 69532 h 139065"/>
                  <a:gd name="connsiteX7" fmla="*/ 66675 w 129540"/>
                  <a:gd name="connsiteY7" fmla="*/ 139065 h 139065"/>
                  <a:gd name="connsiteX8" fmla="*/ 126683 w 129540"/>
                  <a:gd name="connsiteY8" fmla="*/ 98107 h 139065"/>
                  <a:gd name="connsiteX9" fmla="*/ 126683 w 129540"/>
                  <a:gd name="connsiteY9" fmla="*/ 94297 h 139065"/>
                  <a:gd name="connsiteX10" fmla="*/ 100013 w 129540"/>
                  <a:gd name="connsiteY10" fmla="*/ 94297 h 139065"/>
                  <a:gd name="connsiteX11" fmla="*/ 66675 w 129540"/>
                  <a:gd name="connsiteY11" fmla="*/ 117157 h 139065"/>
                  <a:gd name="connsiteX12" fmla="*/ 29528 w 129540"/>
                  <a:gd name="connsiteY12" fmla="*/ 77153 h 139065"/>
                  <a:gd name="connsiteX13" fmla="*/ 129540 w 129540"/>
                  <a:gd name="connsiteY13" fmla="*/ 77153 h 139065"/>
                  <a:gd name="connsiteX14" fmla="*/ 129540 w 129540"/>
                  <a:gd name="connsiteY14" fmla="*/ 63818 h 13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540" h="139065">
                    <a:moveTo>
                      <a:pt x="29528" y="55245"/>
                    </a:moveTo>
                    <a:cubicBezTo>
                      <a:pt x="31433" y="35243"/>
                      <a:pt x="43815" y="20955"/>
                      <a:pt x="65722" y="20955"/>
                    </a:cubicBezTo>
                    <a:cubicBezTo>
                      <a:pt x="88583" y="20955"/>
                      <a:pt x="100013" y="35243"/>
                      <a:pt x="100013" y="55245"/>
                    </a:cubicBezTo>
                    <a:lnTo>
                      <a:pt x="29528" y="55245"/>
                    </a:lnTo>
                    <a:close/>
                    <a:moveTo>
                      <a:pt x="129540" y="63818"/>
                    </a:moveTo>
                    <a:cubicBezTo>
                      <a:pt x="129540" y="23813"/>
                      <a:pt x="106680" y="0"/>
                      <a:pt x="66675" y="0"/>
                    </a:cubicBezTo>
                    <a:cubicBezTo>
                      <a:pt x="26670" y="0"/>
                      <a:pt x="0" y="23813"/>
                      <a:pt x="0" y="69532"/>
                    </a:cubicBezTo>
                    <a:cubicBezTo>
                      <a:pt x="0" y="115253"/>
                      <a:pt x="26670" y="139065"/>
                      <a:pt x="66675" y="139065"/>
                    </a:cubicBezTo>
                    <a:cubicBezTo>
                      <a:pt x="106680" y="139065"/>
                      <a:pt x="122872" y="115253"/>
                      <a:pt x="126683" y="98107"/>
                    </a:cubicBezTo>
                    <a:lnTo>
                      <a:pt x="126683" y="94297"/>
                    </a:lnTo>
                    <a:lnTo>
                      <a:pt x="100013" y="94297"/>
                    </a:lnTo>
                    <a:cubicBezTo>
                      <a:pt x="98108" y="104775"/>
                      <a:pt x="88583" y="117157"/>
                      <a:pt x="66675" y="117157"/>
                    </a:cubicBezTo>
                    <a:cubicBezTo>
                      <a:pt x="43815" y="117157"/>
                      <a:pt x="30480" y="100965"/>
                      <a:pt x="29528" y="77153"/>
                    </a:cubicBezTo>
                    <a:lnTo>
                      <a:pt x="129540" y="77153"/>
                    </a:lnTo>
                    <a:lnTo>
                      <a:pt x="129540" y="63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GB" sz="450"/>
              </a:p>
            </p:txBody>
          </p:sp>
        </p:grpSp>
      </p:grp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11BA1E65-92F4-BD8C-7BEB-66807EFE3483}"/>
              </a:ext>
            </a:extLst>
          </p:cNvPr>
          <p:cNvSpPr>
            <a:spLocks noChangeAspect="1"/>
          </p:cNvSpPr>
          <p:nvPr/>
        </p:nvSpPr>
        <p:spPr>
          <a:xfrm>
            <a:off x="8129016" y="2016252"/>
            <a:ext cx="3118104" cy="3511374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9A54DA9-46B4-6A65-D601-60E6B6A7B6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82" y="3846600"/>
            <a:ext cx="3118104" cy="1073219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F0FFE17C-3BCC-E0FA-33A5-355AA934B1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382" y="273600"/>
            <a:ext cx="3118104" cy="168966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FontTx/>
              <a:buNone/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1004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 Lilac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AC6521F-9F32-F71D-9E28-2A0FB982E50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C6521F-9F32-F71D-9E28-2A0FB982E5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" y="2455200"/>
            <a:ext cx="8732520" cy="2852737"/>
          </a:xfrm>
        </p:spPr>
        <p:txBody>
          <a:bodyPr vert="horz" anchor="t" anchorCtr="0"/>
          <a:lstStyle>
            <a:lvl1pPr>
              <a:lnSpc>
                <a:spcPct val="88000"/>
              </a:lnSpc>
              <a:defRPr sz="5400" spc="-100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9CC082D-F806-137E-69B0-709BEA127886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/>
          </a:p>
        </p:txBody>
      </p:sp>
    </p:spTree>
    <p:extLst>
      <p:ext uri="{BB962C8B-B14F-4D97-AF65-F5344CB8AC3E}">
        <p14:creationId xmlns:p14="http://schemas.microsoft.com/office/powerpoint/2010/main" val="41887474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 Nightsha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53C9D15-1D2B-70ED-3801-CEA10D0F75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3C9D15-1D2B-70ED-3801-CEA10D0F75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" y="2455200"/>
            <a:ext cx="8732520" cy="2852737"/>
          </a:xfrm>
        </p:spPr>
        <p:txBody>
          <a:bodyPr vert="horz" anchor="t" anchorCtr="0"/>
          <a:lstStyle>
            <a:lvl1pPr>
              <a:lnSpc>
                <a:spcPct val="88000"/>
              </a:lnSpc>
              <a:defRPr sz="5400" spc="-1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9CC082D-F806-137E-69B0-709BEA127886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/>
          </a:p>
        </p:txBody>
      </p:sp>
    </p:spTree>
    <p:extLst>
      <p:ext uri="{BB962C8B-B14F-4D97-AF65-F5344CB8AC3E}">
        <p14:creationId xmlns:p14="http://schemas.microsoft.com/office/powerpoint/2010/main" val="231969829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CB7D144-3FD5-F2CE-248F-CF8FD5F2C5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B7D144-3FD5-F2CE-248F-CF8FD5F2C5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" y="2455200"/>
            <a:ext cx="8732520" cy="2852737"/>
          </a:xfrm>
        </p:spPr>
        <p:txBody>
          <a:bodyPr vert="horz" anchor="t" anchorCtr="0"/>
          <a:lstStyle>
            <a:lvl1pPr>
              <a:lnSpc>
                <a:spcPct val="88000"/>
              </a:lnSpc>
              <a:defRPr sz="5400" spc="-1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9CC082D-F806-137E-69B0-709BEA127886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/>
          </a:p>
        </p:txBody>
      </p:sp>
    </p:spTree>
    <p:extLst>
      <p:ext uri="{BB962C8B-B14F-4D97-AF65-F5344CB8AC3E}">
        <p14:creationId xmlns:p14="http://schemas.microsoft.com/office/powerpoint/2010/main" val="17315621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 Dark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87C724A-CDFC-790F-6ADD-C0B69EC742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87C724A-CDFC-790F-6ADD-C0B69EC742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" y="2455200"/>
            <a:ext cx="8732520" cy="2852737"/>
          </a:xfrm>
        </p:spPr>
        <p:txBody>
          <a:bodyPr vert="horz" anchor="t" anchorCtr="0"/>
          <a:lstStyle>
            <a:lvl1pPr>
              <a:lnSpc>
                <a:spcPct val="88000"/>
              </a:lnSpc>
              <a:defRPr sz="5400" spc="-1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9CC082D-F806-137E-69B0-709BEA127886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/>
          </a:p>
        </p:txBody>
      </p:sp>
    </p:spTree>
    <p:extLst>
      <p:ext uri="{BB962C8B-B14F-4D97-AF65-F5344CB8AC3E}">
        <p14:creationId xmlns:p14="http://schemas.microsoft.com/office/powerpoint/2010/main" val="6609858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 Gre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09A38A2-A1E3-143A-B6D8-16058559C6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9A38A2-A1E3-143A-B6D8-16058559C6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" y="2455200"/>
            <a:ext cx="8732520" cy="2852737"/>
          </a:xfrm>
        </p:spPr>
        <p:txBody>
          <a:bodyPr vert="horz" anchor="t" anchorCtr="0"/>
          <a:lstStyle>
            <a:lvl1pPr>
              <a:lnSpc>
                <a:spcPct val="88000"/>
              </a:lnSpc>
              <a:defRPr sz="5400" spc="-1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9CC082D-F806-137E-69B0-709BEA127886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/>
          </a:p>
        </p:txBody>
      </p:sp>
    </p:spTree>
    <p:extLst>
      <p:ext uri="{BB962C8B-B14F-4D97-AF65-F5344CB8AC3E}">
        <p14:creationId xmlns:p14="http://schemas.microsoft.com/office/powerpoint/2010/main" val="249886193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B85CF4C-1F9B-C5EB-6A88-7880D4DDA6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85CF4C-1F9B-C5EB-6A88-7880D4DDA6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00" y="2455200"/>
            <a:ext cx="8732520" cy="2852737"/>
          </a:xfrm>
        </p:spPr>
        <p:txBody>
          <a:bodyPr vert="horz" anchor="t" anchorCtr="0"/>
          <a:lstStyle>
            <a:lvl1pPr>
              <a:lnSpc>
                <a:spcPct val="88000"/>
              </a:lnSpc>
              <a:defRPr sz="5400" spc="-100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9CC082D-F806-137E-69B0-709BEA127886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/>
          </a:p>
        </p:txBody>
      </p:sp>
    </p:spTree>
    <p:extLst>
      <p:ext uri="{BB962C8B-B14F-4D97-AF65-F5344CB8AC3E}">
        <p14:creationId xmlns:p14="http://schemas.microsoft.com/office/powerpoint/2010/main" val="33769979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445854A-87E5-AF2B-49E0-BD8BDD11E3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45854A-87E5-AF2B-49E0-BD8BDD11E3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" y="1395000"/>
            <a:ext cx="5349638" cy="46978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69813" y="1394999"/>
            <a:ext cx="4796028" cy="1856232"/>
          </a:xfrm>
        </p:spPr>
        <p:txBody>
          <a:bodyPr/>
          <a:lstStyle>
            <a:lvl1pPr marL="0" indent="0">
              <a:spcBef>
                <a:spcPts val="900"/>
              </a:spcBef>
              <a:spcAft>
                <a:spcPts val="0"/>
              </a:spcAft>
              <a:buNone/>
              <a:defRPr b="1">
                <a:latin typeface="+mj-lt"/>
              </a:defRPr>
            </a:lvl1pPr>
            <a:lvl2pPr marL="228600" indent="-228600">
              <a:spcBef>
                <a:spcPts val="900"/>
              </a:spcBef>
              <a:spcAft>
                <a:spcPts val="0"/>
              </a:spcAft>
              <a:buFont typeface="+mj-lt"/>
              <a:buAutoNum type="arabicPeriod"/>
              <a:defRPr sz="900">
                <a:latin typeface="+mj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2A3D47-D707-C6FB-F544-D4FEAEF868E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69813" y="3452399"/>
            <a:ext cx="4796028" cy="1856232"/>
          </a:xfrm>
        </p:spPr>
        <p:txBody>
          <a:bodyPr/>
          <a:lstStyle>
            <a:lvl1pPr marL="0" indent="0">
              <a:spcBef>
                <a:spcPts val="900"/>
              </a:spcBef>
              <a:spcAft>
                <a:spcPts val="0"/>
              </a:spcAft>
              <a:buNone/>
              <a:defRPr b="1">
                <a:latin typeface="+mj-lt"/>
              </a:defRPr>
            </a:lvl1pPr>
            <a:lvl2pPr marL="228600" indent="-228600">
              <a:spcBef>
                <a:spcPts val="900"/>
              </a:spcBef>
              <a:spcAft>
                <a:spcPts val="0"/>
              </a:spcAft>
              <a:buFont typeface="+mj-lt"/>
              <a:buAutoNum type="arabicPeriod"/>
              <a:defRPr sz="900">
                <a:latin typeface="+mj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C4451E46-5E4E-9EE4-F7DE-BD44B18FED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41313509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bjectives w/Green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760653C-F497-D898-E9EB-851FF92570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60653C-F497-D898-E9EB-851FF92570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" y="1395000"/>
            <a:ext cx="5349638" cy="46978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69813" y="1394999"/>
            <a:ext cx="4796028" cy="1856232"/>
          </a:xfrm>
        </p:spPr>
        <p:txBody>
          <a:bodyPr/>
          <a:lstStyle>
            <a:lvl1pPr marL="0" indent="0">
              <a:spcBef>
                <a:spcPts val="900"/>
              </a:spcBef>
              <a:spcAft>
                <a:spcPts val="0"/>
              </a:spcAft>
              <a:buNone/>
              <a:defRPr b="1">
                <a:latin typeface="+mj-lt"/>
              </a:defRPr>
            </a:lvl1pPr>
            <a:lvl2pPr marL="228600" indent="-228600">
              <a:spcBef>
                <a:spcPts val="900"/>
              </a:spcBef>
              <a:spcAft>
                <a:spcPts val="0"/>
              </a:spcAft>
              <a:buFont typeface="+mj-lt"/>
              <a:buAutoNum type="arabicPeriod"/>
              <a:defRPr sz="900">
                <a:latin typeface="+mj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2A3D47-D707-C6FB-F544-D4FEAEF868E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032653" y="3361824"/>
            <a:ext cx="5047488" cy="1838826"/>
          </a:xfrm>
          <a:solidFill>
            <a:schemeClr val="accent6"/>
          </a:solidFill>
        </p:spPr>
        <p:txBody>
          <a:bodyPr lIns="252000" tIns="144000" rIns="252000" bIns="144000">
            <a:noAutofit/>
          </a:bodyPr>
          <a:lstStyle>
            <a:lvl1pPr marL="0" indent="0">
              <a:spcBef>
                <a:spcPts val="90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+mj-lt"/>
              </a:defRPr>
            </a:lvl1pPr>
            <a:lvl2pPr marL="228600" indent="-228600">
              <a:spcBef>
                <a:spcPts val="900"/>
              </a:spcBef>
              <a:spcAft>
                <a:spcPts val="0"/>
              </a:spcAft>
              <a:buFont typeface="+mj-lt"/>
              <a:buAutoNum type="arabicPeriod"/>
              <a:defRPr sz="90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54E9AEE-A4B3-C7AD-CD1F-470FAFD07E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5047209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Righ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D82915D-0185-0AFA-5689-32EFA51E12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82915D-0185-0AFA-5689-32EFA51E12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996CA24-49D8-3892-C694-6602FBEE60C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169813" y="1098277"/>
            <a:ext cx="5349638" cy="266906"/>
          </a:xfrm>
        </p:spPr>
        <p:txBody>
          <a:bodyPr anchor="b"/>
          <a:lstStyle>
            <a:lvl1pPr marL="0" indent="0">
              <a:buNone/>
              <a:defRPr lang="en-GB" sz="1200" b="1" kern="1200" spc="-15" baseline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69813" y="1395000"/>
            <a:ext cx="5349638" cy="46978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30210329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ext Righ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639B069-3AC3-1593-3C28-5607D89F6C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639B069-3AC3-1593-3C28-5607D89F6C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996CA24-49D8-3892-C694-6602FBEE60C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169813" y="1098277"/>
            <a:ext cx="5349638" cy="266906"/>
          </a:xfrm>
        </p:spPr>
        <p:txBody>
          <a:bodyPr anchor="b"/>
          <a:lstStyle>
            <a:lvl1pPr marL="0" indent="0">
              <a:buNone/>
              <a:defRPr lang="en-GB" sz="1200" b="1" kern="1200" spc="-15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69813" y="1395000"/>
            <a:ext cx="5349638" cy="46978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" name="Free-form: Shape 1">
            <a:extLst>
              <a:ext uri="{FF2B5EF4-FFF2-40B4-BE49-F238E27FC236}">
                <a16:creationId xmlns:a16="http://schemas.microsoft.com/office/drawing/2014/main" id="{45FDECC6-39F6-B026-19A6-F5FA5A92158F}"/>
              </a:ext>
            </a:extLst>
          </p:cNvPr>
          <p:cNvSpPr/>
          <p:nvPr userDrawn="1"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23824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1E42CE9-75C1-3FAB-8CD7-04E58D08E3F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42CE9-75C1-3FAB-8CD7-04E58D08E3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1" y="3881335"/>
            <a:ext cx="5779008" cy="2263438"/>
          </a:xfrm>
        </p:spPr>
        <p:txBody>
          <a:bodyPr numCol="2" spcCol="256032" anchor="b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04379C0-3DF4-4181-ED9C-3DCFFBADB2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69708" y="1999040"/>
            <a:ext cx="4366260" cy="408736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43869D2-20CC-1F37-70E2-A856FD63BE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69994" y="1612489"/>
            <a:ext cx="4365625" cy="320675"/>
          </a:xfrm>
        </p:spPr>
        <p:txBody>
          <a:bodyPr anchor="b" anchorCtr="0"/>
          <a:lstStyle>
            <a:lvl1pPr marL="0" indent="0">
              <a:buNone/>
              <a:defRPr sz="800" spc="-20" baseline="0">
                <a:latin typeface="+mj-lt"/>
              </a:defRPr>
            </a:lvl1pPr>
          </a:lstStyle>
          <a:p>
            <a:pPr lvl="0"/>
            <a:r>
              <a:rPr lang="en-GB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7295013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94F3AF5-3DFE-C378-97EB-2C4DC69232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4F3AF5-3DFE-C378-97EB-2C4DC69232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6003B9BF-269D-84D3-86D3-4F524753F3F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55684" y="1331844"/>
            <a:ext cx="11679936" cy="4760982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00B8968-6D0E-4647-DAF7-BE6001975E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4452588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Boxes w/Large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BC1E3A-1075-CB4C-AB85-EBB09E4B27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BC1E3A-1075-CB4C-AB85-EBB09E4B27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68A5F49-3F08-07C9-77FA-E45E37A8231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256032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5651442-86B3-28DF-7326-2246EC00AB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6032" y="2070644"/>
            <a:ext cx="1313657" cy="498594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D597D52-474F-8332-09AC-7202082CB00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09800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05651BA-DD59-18E8-9270-6F1B62CD8DA0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9109800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A27F198-9DA0-A4F0-9BE3-91D8C422A0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09800" y="2070644"/>
            <a:ext cx="1313657" cy="498594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4A986075-3251-B823-FB49-F25D436E54E9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6158544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689CE70-E1E2-8F3C-BE01-C2D80CD0052C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6158544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B71A3A2-EA42-50A1-04D2-3A9A327E69B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58544" y="2070644"/>
            <a:ext cx="1313657" cy="498594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5F20FF38-6C88-7EEE-8FA9-C6778B337945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3207288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1753C80-B710-6F08-5EA1-B201F7D97201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3207288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2546201B-CCEB-5891-5748-1D6B9D235DE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07287" y="2070644"/>
            <a:ext cx="1313657" cy="498594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GB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29572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Boxes w/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DAAB3A96-0B42-18EE-0D96-7277DF7C59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AB3A96-0B42-18EE-0D96-7277DF7C59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68A5F49-3F08-07C9-77FA-E45E37A8231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256032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D597D52-474F-8332-09AC-7202082CB00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10472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05651BA-DD59-18E8-9270-6F1B62CD8DA0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9110472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4A986075-3251-B823-FB49-F25D436E54E9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6158992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689CE70-E1E2-8F3C-BE01-C2D80CD0052C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6158992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5F20FF38-6C88-7EEE-8FA9-C6778B337945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3207512" y="3821193"/>
            <a:ext cx="2409444" cy="2263140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1753C80-B710-6F08-5EA1-B201F7D97201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3207512" y="2626468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A76556-35D5-0CC0-C4B7-2F476CFDBB66}"/>
              </a:ext>
            </a:extLst>
          </p:cNvPr>
          <p:cNvCxnSpPr>
            <a:cxnSpLocks/>
          </p:cNvCxnSpPr>
          <p:nvPr userDrawn="1"/>
        </p:nvCxnSpPr>
        <p:spPr>
          <a:xfrm>
            <a:off x="256032" y="2519172"/>
            <a:ext cx="28254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7369ED-7711-B700-69ED-D7C258C8DDFC}"/>
              </a:ext>
            </a:extLst>
          </p:cNvPr>
          <p:cNvCxnSpPr>
            <a:cxnSpLocks/>
          </p:cNvCxnSpPr>
          <p:nvPr userDrawn="1"/>
        </p:nvCxnSpPr>
        <p:spPr>
          <a:xfrm>
            <a:off x="3207512" y="2519172"/>
            <a:ext cx="28254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33CA0F-712B-D675-5F27-D639AEFA8CAF}"/>
              </a:ext>
            </a:extLst>
          </p:cNvPr>
          <p:cNvCxnSpPr>
            <a:cxnSpLocks/>
          </p:cNvCxnSpPr>
          <p:nvPr userDrawn="1"/>
        </p:nvCxnSpPr>
        <p:spPr>
          <a:xfrm>
            <a:off x="6158991" y="2519172"/>
            <a:ext cx="28254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082282-D206-C315-57A1-6E5EDE1B1111}"/>
              </a:ext>
            </a:extLst>
          </p:cNvPr>
          <p:cNvCxnSpPr>
            <a:cxnSpLocks/>
          </p:cNvCxnSpPr>
          <p:nvPr userDrawn="1"/>
        </p:nvCxnSpPr>
        <p:spPr>
          <a:xfrm>
            <a:off x="9110472" y="2519172"/>
            <a:ext cx="28254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1721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Boxes w/Lines, Full P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BCF63E6F-8702-E2BC-0163-0C8E8D317C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CF63E6F-8702-E2BC-0163-0C8E8D317C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" y="2525795"/>
            <a:ext cx="2409444" cy="3460028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68A5F49-3F08-07C9-77FA-E45E37A8231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256032" y="1438072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D597D52-474F-8332-09AC-7202082CB00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10472" y="2525795"/>
            <a:ext cx="2409444" cy="3460028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05651BA-DD59-18E8-9270-6F1B62CD8DA0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9110472" y="1438072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4A986075-3251-B823-FB49-F25D436E54E9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6158992" y="2525795"/>
            <a:ext cx="2409444" cy="3460028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689CE70-E1E2-8F3C-BE01-C2D80CD0052C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6158992" y="1438072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5F20FF38-6C88-7EEE-8FA9-C6778B337945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3207512" y="2525795"/>
            <a:ext cx="2409444" cy="3460028"/>
          </a:xfrm>
        </p:spPr>
        <p:txBody>
          <a:bodyPr numCol="1" spcCol="256032" anchor="t" anchorCtr="0"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1753C80-B710-6F08-5EA1-B201F7D97201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3207512" y="1438072"/>
            <a:ext cx="2409444" cy="1089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A76556-35D5-0CC0-C4B7-2F476CFDBB66}"/>
              </a:ext>
            </a:extLst>
          </p:cNvPr>
          <p:cNvCxnSpPr>
            <a:cxnSpLocks/>
          </p:cNvCxnSpPr>
          <p:nvPr userDrawn="1"/>
        </p:nvCxnSpPr>
        <p:spPr>
          <a:xfrm>
            <a:off x="256032" y="1330777"/>
            <a:ext cx="28254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7369ED-7711-B700-69ED-D7C258C8DDFC}"/>
              </a:ext>
            </a:extLst>
          </p:cNvPr>
          <p:cNvCxnSpPr>
            <a:cxnSpLocks/>
          </p:cNvCxnSpPr>
          <p:nvPr userDrawn="1"/>
        </p:nvCxnSpPr>
        <p:spPr>
          <a:xfrm>
            <a:off x="3207512" y="1330777"/>
            <a:ext cx="28254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33CA0F-712B-D675-5F27-D639AEFA8CAF}"/>
              </a:ext>
            </a:extLst>
          </p:cNvPr>
          <p:cNvCxnSpPr>
            <a:cxnSpLocks/>
          </p:cNvCxnSpPr>
          <p:nvPr userDrawn="1"/>
        </p:nvCxnSpPr>
        <p:spPr>
          <a:xfrm>
            <a:off x="6158991" y="1330777"/>
            <a:ext cx="28254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082282-D206-C315-57A1-6E5EDE1B1111}"/>
              </a:ext>
            </a:extLst>
          </p:cNvPr>
          <p:cNvCxnSpPr>
            <a:cxnSpLocks/>
          </p:cNvCxnSpPr>
          <p:nvPr userDrawn="1"/>
        </p:nvCxnSpPr>
        <p:spPr>
          <a:xfrm>
            <a:off x="9110472" y="1330777"/>
            <a:ext cx="28254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82556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E81570B-FFC6-97EC-E684-B37F4512A3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81570B-FFC6-97EC-E684-B37F4512A3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996CA24-49D8-3892-C694-6602FBEE60C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413759" y="1059367"/>
            <a:ext cx="2772536" cy="497059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lang="en-GB" sz="1200" b="1" kern="1200" spc="-10" baseline="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0BD033-C30D-9FDC-01E4-8DAC6EFE54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4148" y="1712068"/>
            <a:ext cx="2771993" cy="1410545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46EA5D-C2E9-5B69-2275-F0767469BCC3}"/>
              </a:ext>
            </a:extLst>
          </p:cNvPr>
          <p:cNvCxnSpPr>
            <a:cxnSpLocks/>
          </p:cNvCxnSpPr>
          <p:nvPr userDrawn="1"/>
        </p:nvCxnSpPr>
        <p:spPr>
          <a:xfrm>
            <a:off x="6088737" y="758758"/>
            <a:ext cx="0" cy="5334068"/>
          </a:xfrm>
          <a:prstGeom prst="line">
            <a:avLst/>
          </a:prstGeom>
          <a:ln w="508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52A22E-6204-A5A9-502C-374FE5ABC81C}"/>
              </a:ext>
            </a:extLst>
          </p:cNvPr>
          <p:cNvCxnSpPr>
            <a:cxnSpLocks/>
          </p:cNvCxnSpPr>
          <p:nvPr userDrawn="1"/>
        </p:nvCxnSpPr>
        <p:spPr>
          <a:xfrm>
            <a:off x="1214402" y="3425792"/>
            <a:ext cx="9748672" cy="0"/>
          </a:xfrm>
          <a:prstGeom prst="line">
            <a:avLst/>
          </a:prstGeom>
          <a:ln w="508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05E614F-7151-9D57-F0BA-213E1FE1432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7013643" y="1059367"/>
            <a:ext cx="2772536" cy="497059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lang="en-GB" sz="1200" b="1" kern="1200" spc="-10" baseline="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313A3091-0C80-B1BC-6486-92764B6ADCD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014031" y="1712068"/>
            <a:ext cx="2771993" cy="1410545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B130F3-9F5B-1652-BA8F-EAF9714950D9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2413759" y="3734473"/>
            <a:ext cx="2772536" cy="497059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lang="en-GB" sz="1200" b="1" kern="1200" spc="-10" baseline="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AEE161C-A068-E95A-2D1B-1E2EB84433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14148" y="4387175"/>
            <a:ext cx="2771993" cy="1705651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5D097C4-C3E4-CE91-D349-8AF51BC27CEB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013643" y="3734473"/>
            <a:ext cx="2772536" cy="497059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lang="en-GB" sz="1200" b="1" kern="1200" spc="-10" baseline="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59F8E1A5-0BB5-F94A-B6A6-15A2FAA6C8B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014031" y="4387175"/>
            <a:ext cx="2771993" cy="1705651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73596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50D4183-4E05-DF3E-9124-36E82867F3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0D4183-4E05-DF3E-9124-36E82867F3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996CA24-49D8-3892-C694-6602FBEE60C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41507" y="1452277"/>
            <a:ext cx="2822706" cy="429068"/>
          </a:xfrm>
          <a:prstGeom prst="homePlate">
            <a:avLst>
              <a:gd name="adj" fmla="val 70404"/>
            </a:avLst>
          </a:prstGeom>
          <a:solidFill>
            <a:schemeClr val="accent3"/>
          </a:solidFill>
        </p:spPr>
        <p:txBody>
          <a:bodyPr lIns="72000" rIns="7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kern="1200" spc="-1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0BD033-C30D-9FDC-01E4-8DAC6EFE54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2557800"/>
            <a:ext cx="2438530" cy="3535025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4B41754-92F3-35BD-C324-DDA734F9373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198716" y="1452277"/>
            <a:ext cx="2822706" cy="429068"/>
          </a:xfrm>
          <a:prstGeom prst="chevron">
            <a:avLst>
              <a:gd name="adj" fmla="val 68137"/>
            </a:avLst>
          </a:prstGeom>
          <a:solidFill>
            <a:schemeClr val="accent3"/>
          </a:solidFill>
        </p:spPr>
        <p:txBody>
          <a:bodyPr lIns="72000" rIns="7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kern="1200" spc="-1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F5C88DA-D38B-4A8A-A76E-CD13842FC2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3241" y="2557800"/>
            <a:ext cx="2438530" cy="3535025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E3440E4-A75A-93E5-D95E-F771357CA6A6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55924" y="1452277"/>
            <a:ext cx="2822706" cy="429068"/>
          </a:xfrm>
          <a:prstGeom prst="chevron">
            <a:avLst>
              <a:gd name="adj" fmla="val 68137"/>
            </a:avLst>
          </a:prstGeom>
          <a:solidFill>
            <a:schemeClr val="accent3"/>
          </a:solidFill>
        </p:spPr>
        <p:txBody>
          <a:bodyPr lIns="72000" rIns="7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kern="1200" spc="-1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FF977EF-311A-4E61-08D8-CB8A6F88293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0449" y="2557800"/>
            <a:ext cx="2438530" cy="3535025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61E8DFB-14A4-001F-C2DC-834ACD0393C1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9113133" y="1452277"/>
            <a:ext cx="2822706" cy="429068"/>
          </a:xfrm>
          <a:prstGeom prst="chevron">
            <a:avLst>
              <a:gd name="adj" fmla="val 68137"/>
            </a:avLst>
          </a:prstGeom>
          <a:solidFill>
            <a:schemeClr val="accent3"/>
          </a:solidFill>
        </p:spPr>
        <p:txBody>
          <a:bodyPr lIns="72000" rIns="7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kern="1200" spc="-1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B3CE88CD-ED0D-495F-1ABC-CA8B640D1DA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7658" y="2557800"/>
            <a:ext cx="2438530" cy="3535025"/>
          </a:xfrm>
        </p:spPr>
        <p:txBody>
          <a:bodyPr/>
          <a:lstStyle>
            <a:lvl1pPr>
              <a:lnSpc>
                <a:spcPct val="120000"/>
              </a:lnSpc>
              <a:defRPr sz="1000" baseline="0"/>
            </a:lvl1pPr>
            <a:lvl2pPr>
              <a:lnSpc>
                <a:spcPct val="120000"/>
              </a:lnSpc>
              <a:defRPr sz="1000" baseline="0"/>
            </a:lvl2pPr>
            <a:lvl3pPr>
              <a:lnSpc>
                <a:spcPct val="120000"/>
              </a:lnSpc>
              <a:defRPr sz="1000" baseline="0"/>
            </a:lvl3pPr>
            <a:lvl4pPr>
              <a:lnSpc>
                <a:spcPct val="120000"/>
              </a:lnSpc>
              <a:defRPr sz="1000" baseline="0"/>
            </a:lvl4pPr>
            <a:lvl5pPr>
              <a:lnSpc>
                <a:spcPct val="120000"/>
              </a:lnSpc>
              <a:defRPr sz="1000" baseline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10948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Green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55E7941-C7DF-F407-5606-37ED62DD18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5E7941-C7DF-F407-5606-37ED62DD18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666049"/>
            <a:ext cx="4286786" cy="1357304"/>
          </a:xfrm>
        </p:spPr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169408" y="245856"/>
            <a:ext cx="3383280" cy="1947672"/>
          </a:xfrm>
          <a:solidFill>
            <a:srgbClr val="FFFFFF"/>
          </a:solidFill>
        </p:spPr>
        <p:txBody>
          <a:bodyPr lIns="468000" tIns="360000" rIns="36000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82F7448-A92B-6A7D-CAD8-C02558C75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279769"/>
            <a:ext cx="4286786" cy="258006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spc="-5" baseline="0">
                <a:latin typeface="FK Grotesk SemiMono Medium" pitchFamily="50" charset="0"/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138133-A8AA-48AB-62FE-13D386E273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382" y="2626468"/>
            <a:ext cx="2914836" cy="3466357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8C720344-60F3-0DCD-92A1-CC69C6E24F80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552688" y="245856"/>
            <a:ext cx="3383280" cy="1947672"/>
          </a:xfrm>
          <a:solidFill>
            <a:schemeClr val="accent4"/>
          </a:solidFill>
        </p:spPr>
        <p:txBody>
          <a:bodyPr lIns="468000" tIns="360000" rIns="36000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>
                <a:solidFill>
                  <a:schemeClr val="bg1"/>
                </a:solidFill>
              </a:defRPr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E4A5F8E8-BD3B-A050-CCCB-623528800575}"/>
              </a:ext>
            </a:extLst>
          </p:cNvPr>
          <p:cNvSpPr txBox="1">
            <a:spLocks/>
          </p:cNvSpPr>
          <p:nvPr userDrawn="1"/>
        </p:nvSpPr>
        <p:spPr>
          <a:xfrm>
            <a:off x="11607614" y="8395816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F4DADEB-C222-F8E1-CC31-51225AE79F8C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5169408" y="2195504"/>
            <a:ext cx="3383280" cy="1947672"/>
          </a:xfrm>
          <a:solidFill>
            <a:schemeClr val="accent4"/>
          </a:solidFill>
        </p:spPr>
        <p:txBody>
          <a:bodyPr lIns="468000" tIns="360000" rIns="36000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>
                <a:solidFill>
                  <a:schemeClr val="bg1"/>
                </a:solidFill>
              </a:defRPr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5F3DBCB-2AC7-3CF5-2563-04E9E319F8DE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8552688" y="2195504"/>
            <a:ext cx="3383280" cy="1947672"/>
          </a:xfrm>
          <a:solidFill>
            <a:srgbClr val="FFFFFF"/>
          </a:solidFill>
        </p:spPr>
        <p:txBody>
          <a:bodyPr lIns="468000" tIns="360000" rIns="36000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913417F5-EFCF-4F0D-4687-CC422F4F8665}"/>
              </a:ext>
            </a:extLst>
          </p:cNvPr>
          <p:cNvSpPr txBox="1">
            <a:spLocks/>
          </p:cNvSpPr>
          <p:nvPr userDrawn="1"/>
        </p:nvSpPr>
        <p:spPr>
          <a:xfrm>
            <a:off x="11607614" y="10339854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A019990-A8B9-7CD5-5407-7CFB7136CEB6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5169408" y="4145153"/>
            <a:ext cx="3383280" cy="1947672"/>
          </a:xfrm>
          <a:solidFill>
            <a:srgbClr val="FFFFFF"/>
          </a:solidFill>
        </p:spPr>
        <p:txBody>
          <a:bodyPr lIns="468000" tIns="360000" rIns="36000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E119E19F-BA70-96E0-2DA2-0B134E0057A9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8552688" y="4145153"/>
            <a:ext cx="3383280" cy="1947672"/>
          </a:xfrm>
          <a:solidFill>
            <a:schemeClr val="accent4"/>
          </a:solidFill>
        </p:spPr>
        <p:txBody>
          <a:bodyPr lIns="468000" tIns="360000" rIns="36000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>
                <a:solidFill>
                  <a:schemeClr val="bg1"/>
                </a:solidFill>
              </a:defRPr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0340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ix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B89C57A-B4FB-844F-13AA-B8BB2C6FE4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89C57A-B4FB-844F-13AA-B8BB2C6FE4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83400" y="1530746"/>
            <a:ext cx="3383280" cy="350286"/>
          </a:xfrm>
          <a:noFill/>
        </p:spPr>
        <p:txBody>
          <a:bodyPr lIns="0" t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82F7448-A92B-6A7D-CAD8-C02558C75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719881" y="265311"/>
            <a:ext cx="1216087" cy="258006"/>
          </a:xfrm>
          <a:prstGeom prst="roundRect">
            <a:avLst>
              <a:gd name="adj" fmla="val 50000"/>
            </a:avLst>
          </a:prstGeom>
          <a:ln w="25400">
            <a:solidFill>
              <a:schemeClr val="accent3"/>
            </a:solidFill>
          </a:ln>
        </p:spPr>
        <p:txBody>
          <a:bodyPr anchor="ctr" anchorCtr="1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cap="all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138133-A8AA-48AB-62FE-13D386E273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3400" y="2704289"/>
            <a:ext cx="2467363" cy="661481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E4A5F8E8-BD3B-A050-CCCB-623528800575}"/>
              </a:ext>
            </a:extLst>
          </p:cNvPr>
          <p:cNvSpPr txBox="1">
            <a:spLocks/>
          </p:cNvSpPr>
          <p:nvPr userDrawn="1"/>
        </p:nvSpPr>
        <p:spPr>
          <a:xfrm>
            <a:off x="11607614" y="8395816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913417F5-EFCF-4F0D-4687-CC422F4F8665}"/>
              </a:ext>
            </a:extLst>
          </p:cNvPr>
          <p:cNvSpPr txBox="1">
            <a:spLocks/>
          </p:cNvSpPr>
          <p:nvPr userDrawn="1"/>
        </p:nvSpPr>
        <p:spPr>
          <a:xfrm>
            <a:off x="11607614" y="10339854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3AC2A16-FEE0-479F-1DB8-3628E0B8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9111705" cy="890377"/>
          </a:xfrm>
        </p:spPr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985A9A-5928-87AB-9296-AFE5794DB1F5}"/>
              </a:ext>
            </a:extLst>
          </p:cNvPr>
          <p:cNvCxnSpPr/>
          <p:nvPr userDrawn="1"/>
        </p:nvCxnSpPr>
        <p:spPr>
          <a:xfrm>
            <a:off x="256032" y="1447800"/>
            <a:ext cx="0" cy="42817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FDC7825-E553-758C-5385-55A354E63D49}"/>
              </a:ext>
            </a:extLst>
          </p:cNvPr>
          <p:cNvCxnSpPr>
            <a:cxnSpLocks/>
          </p:cNvCxnSpPr>
          <p:nvPr userDrawn="1"/>
        </p:nvCxnSpPr>
        <p:spPr>
          <a:xfrm>
            <a:off x="253207" y="3550596"/>
            <a:ext cx="1169273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799D8B6-3793-8214-1417-A7376697316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3400" y="1896894"/>
            <a:ext cx="1225296" cy="704088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endParaRPr lang="en-GB"/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06CF319-9F7C-5943-5EA1-89097D1E783A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83400" y="3690287"/>
            <a:ext cx="3383280" cy="350286"/>
          </a:xfrm>
          <a:noFill/>
        </p:spPr>
        <p:txBody>
          <a:bodyPr lIns="0" t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30CA5C18-0CF1-88F3-F7CB-E7C9069459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3400" y="4863830"/>
            <a:ext cx="2467363" cy="661481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F1F0BD43-28C2-CD79-E6B9-494441EB73D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83400" y="4056434"/>
            <a:ext cx="1225296" cy="704088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endParaRPr lang="en-GB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5EA293F-EC73-3B1F-2B0B-B8E9A720A5A4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4318238" y="1530746"/>
            <a:ext cx="3383280" cy="350286"/>
          </a:xfrm>
          <a:noFill/>
        </p:spPr>
        <p:txBody>
          <a:bodyPr lIns="0" t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A421425A-A628-1733-0D48-BB860C175B0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18238" y="2704289"/>
            <a:ext cx="2467363" cy="661481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4C79E10-6A8A-66DE-A339-7BA055A71D26}"/>
              </a:ext>
            </a:extLst>
          </p:cNvPr>
          <p:cNvCxnSpPr/>
          <p:nvPr userDrawn="1"/>
        </p:nvCxnSpPr>
        <p:spPr>
          <a:xfrm>
            <a:off x="4190870" y="1447800"/>
            <a:ext cx="0" cy="42817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icture Placeholder 25">
            <a:extLst>
              <a:ext uri="{FF2B5EF4-FFF2-40B4-BE49-F238E27FC236}">
                <a16:creationId xmlns:a16="http://schemas.microsoft.com/office/drawing/2014/main" id="{AE377B65-6E48-269E-4AB4-3E04F932668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18238" y="1896894"/>
            <a:ext cx="1225296" cy="704088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endParaRPr lang="en-GB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94712A53-BCF2-0708-1CCE-D25DD239131D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4318238" y="3690287"/>
            <a:ext cx="3383280" cy="350286"/>
          </a:xfrm>
          <a:noFill/>
        </p:spPr>
        <p:txBody>
          <a:bodyPr lIns="0" t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13987500-CEDA-F323-0A89-C4C06BCCDB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18238" y="4863830"/>
            <a:ext cx="2467363" cy="661481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6" name="Picture Placeholder 25">
            <a:extLst>
              <a:ext uri="{FF2B5EF4-FFF2-40B4-BE49-F238E27FC236}">
                <a16:creationId xmlns:a16="http://schemas.microsoft.com/office/drawing/2014/main" id="{80DA0707-CA74-E26B-6389-14741514F02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18238" y="4056434"/>
            <a:ext cx="1225296" cy="704088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endParaRPr lang="en-GB"/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4C02FC2C-7BF0-BE0F-7519-981B5678B61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8253076" y="1530746"/>
            <a:ext cx="3383280" cy="350286"/>
          </a:xfrm>
          <a:noFill/>
        </p:spPr>
        <p:txBody>
          <a:bodyPr lIns="0" t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AC9040D9-86E7-2958-3785-046A750378C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253076" y="2704289"/>
            <a:ext cx="2467363" cy="661481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D873CD-B70E-C90E-481A-62E8780113A1}"/>
              </a:ext>
            </a:extLst>
          </p:cNvPr>
          <p:cNvCxnSpPr/>
          <p:nvPr userDrawn="1"/>
        </p:nvCxnSpPr>
        <p:spPr>
          <a:xfrm>
            <a:off x="8125708" y="1447800"/>
            <a:ext cx="0" cy="42817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Picture Placeholder 25">
            <a:extLst>
              <a:ext uri="{FF2B5EF4-FFF2-40B4-BE49-F238E27FC236}">
                <a16:creationId xmlns:a16="http://schemas.microsoft.com/office/drawing/2014/main" id="{3C72EB3E-23A4-6117-10CC-5938BA46F24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253076" y="1896894"/>
            <a:ext cx="1225296" cy="704088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endParaRPr lang="en-GB"/>
          </a:p>
        </p:txBody>
      </p:sp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8E4822CF-83B5-1865-17FB-36EF601D1F8E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8253076" y="3690287"/>
            <a:ext cx="3383280" cy="350286"/>
          </a:xfrm>
          <a:noFill/>
        </p:spPr>
        <p:txBody>
          <a:bodyPr lIns="0" t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400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59CCABED-4FCA-98B7-4BDC-5EFB9CB58C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253076" y="4863830"/>
            <a:ext cx="2467363" cy="661481"/>
          </a:xfrm>
        </p:spPr>
        <p:txBody>
          <a:bodyPr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3" name="Picture Placeholder 25">
            <a:extLst>
              <a:ext uri="{FF2B5EF4-FFF2-40B4-BE49-F238E27FC236}">
                <a16:creationId xmlns:a16="http://schemas.microsoft.com/office/drawing/2014/main" id="{8B403903-0B16-4F17-8266-B94F1D87C9E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53076" y="4056434"/>
            <a:ext cx="1225296" cy="704088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140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9EB55C1-35B0-C46E-FD7E-789CC8FAD4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EB55C1-35B0-C46E-FD7E-789CC8FAD4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2E74B50-C976-82C2-0F5E-B0960D9849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3" name="Free-form: Shape 2">
            <a:extLst>
              <a:ext uri="{FF2B5EF4-FFF2-40B4-BE49-F238E27FC236}">
                <a16:creationId xmlns:a16="http://schemas.microsoft.com/office/drawing/2014/main" id="{9516E7CE-9DE2-6C36-6B93-C8630E425449}"/>
              </a:ext>
            </a:extLst>
          </p:cNvPr>
          <p:cNvSpPr/>
          <p:nvPr userDrawn="1"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14052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813506E-CF04-0685-44CB-01DDA00BB1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13506E-CF04-0685-44CB-01DDA00BB1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3325B80-6D97-8283-F6B5-E87F94E2521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2" y="1447800"/>
            <a:ext cx="2219985" cy="3445213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E4A5F8E8-BD3B-A050-CCCB-623528800575}"/>
              </a:ext>
            </a:extLst>
          </p:cNvPr>
          <p:cNvSpPr txBox="1">
            <a:spLocks/>
          </p:cNvSpPr>
          <p:nvPr userDrawn="1"/>
        </p:nvSpPr>
        <p:spPr>
          <a:xfrm>
            <a:off x="11607614" y="8395816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913417F5-EFCF-4F0D-4687-CC422F4F8665}"/>
              </a:ext>
            </a:extLst>
          </p:cNvPr>
          <p:cNvSpPr txBox="1">
            <a:spLocks/>
          </p:cNvSpPr>
          <p:nvPr userDrawn="1"/>
        </p:nvSpPr>
        <p:spPr>
          <a:xfrm>
            <a:off x="11607614" y="10339854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AF1220A-4A4A-8FEE-DF4D-C489ABE7B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9B65122-67F7-5FE6-9AF2-A6EDCDF9605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58107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1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C63B81EB-4C89-2FBA-94BE-D10272F456F9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726143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1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A0C901D9-43BE-1FB4-7DE7-C893866A06C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56032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1B86B2DF-8555-17D5-2D6C-07AA72DD2F1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713909" y="1447800"/>
            <a:ext cx="2219985" cy="4645025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7AE8177B-2738-903B-A316-9A44DA2DDE9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713909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A4BCBDE6-9FD0-E091-3C72-A4542F3A4896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7359134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1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68028E9C-DBC8-3FD5-C08E-2A78443ECC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349440" y="1447800"/>
            <a:ext cx="2219985" cy="4356652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543D612C-1664-C187-3881-B0CBF1FBF5A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349440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40E057D8-E551-F30A-C657-379A774CF0FE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4992125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1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44" name="Text Placeholder 32">
            <a:extLst>
              <a:ext uri="{FF2B5EF4-FFF2-40B4-BE49-F238E27FC236}">
                <a16:creationId xmlns:a16="http://schemas.microsoft.com/office/drawing/2014/main" id="{D9A3E2EB-2D9B-F143-A9FA-5F21195F34D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984971" y="1447800"/>
            <a:ext cx="2219985" cy="4058479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5" name="Text Placeholder 32">
            <a:extLst>
              <a:ext uri="{FF2B5EF4-FFF2-40B4-BE49-F238E27FC236}">
                <a16:creationId xmlns:a16="http://schemas.microsoft.com/office/drawing/2014/main" id="{AA0C3828-9BEB-49D5-85F4-C2103F0B40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84971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6" name="Content Placeholder 3">
            <a:extLst>
              <a:ext uri="{FF2B5EF4-FFF2-40B4-BE49-F238E27FC236}">
                <a16:creationId xmlns:a16="http://schemas.microsoft.com/office/drawing/2014/main" id="{FE24C774-07CE-A9F7-CD05-818782F86571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2625115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1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FFDD9242-556E-3B1C-7D2B-F8604F75FE5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620501" y="1447800"/>
            <a:ext cx="2219985" cy="3750365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8" name="Text Placeholder 32">
            <a:extLst>
              <a:ext uri="{FF2B5EF4-FFF2-40B4-BE49-F238E27FC236}">
                <a16:creationId xmlns:a16="http://schemas.microsoft.com/office/drawing/2014/main" id="{A2E562DE-B6CE-3317-4B51-1A015971BE8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620501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777428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Boxes w/Char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A8BD8E5-E5EB-73A5-72D5-125A12F25AB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8BD8E5-E5EB-73A5-72D5-125A12F25A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11679936" cy="618849"/>
          </a:xfrm>
        </p:spPr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A76556-35D5-0CC0-C4B7-2F476CFDBB66}"/>
              </a:ext>
            </a:extLst>
          </p:cNvPr>
          <p:cNvCxnSpPr>
            <a:cxnSpLocks/>
          </p:cNvCxnSpPr>
          <p:nvPr userDrawn="1"/>
        </p:nvCxnSpPr>
        <p:spPr>
          <a:xfrm>
            <a:off x="256031" y="1330777"/>
            <a:ext cx="338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B6ECD55-9FDD-B891-EDE8-DA75B507A2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1" y="1429967"/>
            <a:ext cx="3384000" cy="27743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C6D3278-1EBF-19B5-CA9F-4048F2B414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032" y="2704290"/>
            <a:ext cx="3384000" cy="1993917"/>
          </a:xfrm>
        </p:spPr>
        <p:txBody>
          <a:bodyPr/>
          <a:lstStyle>
            <a:lvl1pPr marL="0" indent="0">
              <a:buNone/>
              <a:defRPr sz="1100">
                <a:latin typeface="+mj-lt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+mj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B7E8783-8FF5-23B0-276D-0A07F1BD62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6032" y="1799618"/>
            <a:ext cx="3384000" cy="537780"/>
          </a:xfrm>
        </p:spPr>
        <p:txBody>
          <a:bodyPr/>
          <a:lstStyle>
            <a:lvl1pPr marL="0" indent="0">
              <a:lnSpc>
                <a:spcPct val="114000"/>
              </a:lnSpc>
              <a:buNone/>
              <a:defRPr sz="900"/>
            </a:lvl1pPr>
            <a:lvl2pPr marL="87313" indent="-87313">
              <a:buFont typeface="FK Grotesk SemiMono Medium" pitchFamily="50" charset="0"/>
              <a:buChar char="–"/>
              <a:defRPr sz="700" cap="all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7E5E104-9F3C-D353-B1E1-FF335DD59F4D}"/>
              </a:ext>
            </a:extLst>
          </p:cNvPr>
          <p:cNvCxnSpPr>
            <a:cxnSpLocks/>
          </p:cNvCxnSpPr>
          <p:nvPr userDrawn="1"/>
        </p:nvCxnSpPr>
        <p:spPr>
          <a:xfrm>
            <a:off x="4166551" y="1330777"/>
            <a:ext cx="338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1FE54228-A10E-97DF-E524-B03ADB5641B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66551" y="1429967"/>
            <a:ext cx="3384000" cy="27743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C732D99A-D8D3-A816-5502-9A6386EA314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66552" y="2704290"/>
            <a:ext cx="3384000" cy="1993917"/>
          </a:xfrm>
        </p:spPr>
        <p:txBody>
          <a:bodyPr/>
          <a:lstStyle>
            <a:lvl1pPr marL="0" indent="0">
              <a:buNone/>
              <a:defRPr sz="1100">
                <a:latin typeface="+mj-lt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+mj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907B1D43-3A57-2F5E-2615-0DDA57A7591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66552" y="1799618"/>
            <a:ext cx="3384000" cy="537780"/>
          </a:xfrm>
        </p:spPr>
        <p:txBody>
          <a:bodyPr/>
          <a:lstStyle>
            <a:lvl1pPr marL="0" indent="0">
              <a:lnSpc>
                <a:spcPct val="114000"/>
              </a:lnSpc>
              <a:buNone/>
              <a:defRPr sz="900"/>
            </a:lvl1pPr>
            <a:lvl2pPr marL="87313" indent="-87313">
              <a:buFont typeface="FK Grotesk SemiMono Medium" pitchFamily="50" charset="0"/>
              <a:buChar char="–"/>
              <a:defRPr sz="700" cap="all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CD16E73-0070-1BD1-5733-B3A7C73792B1}"/>
              </a:ext>
            </a:extLst>
          </p:cNvPr>
          <p:cNvCxnSpPr>
            <a:cxnSpLocks/>
          </p:cNvCxnSpPr>
          <p:nvPr userDrawn="1"/>
        </p:nvCxnSpPr>
        <p:spPr>
          <a:xfrm>
            <a:off x="8129016" y="1330777"/>
            <a:ext cx="338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17291836-0222-7BE1-05AB-7D412688E9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9016" y="1429967"/>
            <a:ext cx="3384000" cy="27743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F85A88C4-8755-EF7E-DCCE-F81303749D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29016" y="1799618"/>
            <a:ext cx="3384000" cy="537780"/>
          </a:xfrm>
        </p:spPr>
        <p:txBody>
          <a:bodyPr/>
          <a:lstStyle>
            <a:lvl1pPr marL="0" indent="0">
              <a:lnSpc>
                <a:spcPct val="114000"/>
              </a:lnSpc>
              <a:buNone/>
              <a:defRPr sz="900"/>
            </a:lvl1pPr>
            <a:lvl2pPr marL="87313" indent="-87313">
              <a:buFont typeface="FK Grotesk SemiMono Medium" pitchFamily="50" charset="0"/>
              <a:buChar char="–"/>
              <a:defRPr sz="700" cap="all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Chart Placeholder 39">
            <a:extLst>
              <a:ext uri="{FF2B5EF4-FFF2-40B4-BE49-F238E27FC236}">
                <a16:creationId xmlns:a16="http://schemas.microsoft.com/office/drawing/2014/main" id="{D54C3981-D65F-4C51-81FA-BDEF09D7B8A0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8128794" y="2684835"/>
            <a:ext cx="3384550" cy="2208179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85CCF21-CC31-EC1B-29ED-354E41F257C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4915667"/>
            <a:ext cx="5175000" cy="914400"/>
          </a:xfrm>
          <a:solidFill>
            <a:schemeClr val="bg2"/>
          </a:solidFill>
        </p:spPr>
        <p:txBody>
          <a:bodyPr lIns="504000"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4CB1FDD7-EBEE-2F91-93CC-98D689CE30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6849" y="2403531"/>
            <a:ext cx="488335" cy="3146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200" spc="0" baseline="0">
                <a:solidFill>
                  <a:schemeClr val="accent4"/>
                </a:solidFill>
                <a:latin typeface="FK Grotesk" pitchFamily="50" charset="0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84E680CC-40B1-C2FF-BEAB-BEC11C95EF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7369" y="2403531"/>
            <a:ext cx="488335" cy="3146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200" spc="0" baseline="0">
                <a:solidFill>
                  <a:schemeClr val="accent4"/>
                </a:solidFill>
                <a:latin typeface="FK Grotesk" pitchFamily="50" charset="0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82577798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akeaways - Quot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CA6916D-73F0-6604-67B2-9B2C1C8F98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A6916D-73F0-6604-67B2-9B2C1C8F98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11679936" cy="618849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C6D3278-1EBF-19B5-CA9F-4048F2B414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032" y="2631600"/>
            <a:ext cx="5349600" cy="209119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1500">
                <a:solidFill>
                  <a:schemeClr val="bg1"/>
                </a:solidFill>
                <a:latin typeface="+mj-lt"/>
              </a:defRPr>
            </a:lvl1pPr>
            <a:lvl2pPr marL="87313" indent="-87313">
              <a:spcBef>
                <a:spcPts val="700"/>
              </a:spcBef>
              <a:buFont typeface="FK Grotesk SemiMono Medium" pitchFamily="50" charset="0"/>
              <a:buChar char="–"/>
              <a:defRPr sz="700" cap="all" spc="0" baseline="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85CCF21-CC31-EC1B-29ED-354E41F257C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4915667"/>
            <a:ext cx="5175000" cy="914400"/>
          </a:xfrm>
          <a:noFill/>
        </p:spPr>
        <p:txBody>
          <a:bodyPr lIns="504000" anchor="ctr" anchorCtr="0"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4CB1FDD7-EBEE-2F91-93CC-98D689CE30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6849" y="2129809"/>
            <a:ext cx="488335" cy="3146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 spc="0" baseline="0">
                <a:solidFill>
                  <a:schemeClr val="bg1"/>
                </a:solidFill>
                <a:latin typeface="+mj-lt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7CC5C508-F7DB-E099-95C4-7FA088611A0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60722" y="2631600"/>
            <a:ext cx="5349600" cy="209119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1500">
                <a:solidFill>
                  <a:schemeClr val="bg1"/>
                </a:solidFill>
                <a:latin typeface="+mj-lt"/>
              </a:defRPr>
            </a:lvl1pPr>
            <a:lvl2pPr marL="87313" indent="-87313">
              <a:spcBef>
                <a:spcPts val="700"/>
              </a:spcBef>
              <a:buFont typeface="FK Grotesk SemiMono Medium" pitchFamily="50" charset="0"/>
              <a:buChar char="–"/>
              <a:defRPr sz="700" cap="all" spc="0" baseline="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18523D23-A37F-93B4-F4DD-654E4ED932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31539" y="2129809"/>
            <a:ext cx="488335" cy="3146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 spc="0" baseline="0">
                <a:solidFill>
                  <a:schemeClr val="bg1"/>
                </a:solidFill>
                <a:latin typeface="+mj-lt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2" name="Free-form: Shape 1">
            <a:extLst>
              <a:ext uri="{FF2B5EF4-FFF2-40B4-BE49-F238E27FC236}">
                <a16:creationId xmlns:a16="http://schemas.microsoft.com/office/drawing/2014/main" id="{4D94A5A6-681B-B61E-E3E6-E2DD0F591D73}"/>
              </a:ext>
            </a:extLst>
          </p:cNvPr>
          <p:cNvSpPr/>
          <p:nvPr userDrawn="1"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18662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keaways - 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59E196-9F4E-BB5A-1811-66D1D16BC1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59E196-9F4E-BB5A-1811-66D1D16BC1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11679936" cy="618849"/>
          </a:xfrm>
        </p:spPr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C6D3278-1EBF-19B5-CA9F-4048F2B414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032" y="2631600"/>
            <a:ext cx="5349600" cy="209119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1500">
                <a:latin typeface="+mj-lt"/>
              </a:defRPr>
            </a:lvl1pPr>
            <a:lvl2pPr marL="87313" indent="-87313">
              <a:spcBef>
                <a:spcPts val="700"/>
              </a:spcBef>
              <a:buFont typeface="FK Grotesk SemiMono Medium" pitchFamily="50" charset="0"/>
              <a:buChar char="–"/>
              <a:defRPr sz="700" cap="all" spc="0" baseline="0">
                <a:latin typeface="+mj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85CCF21-CC31-EC1B-29ED-354E41F257C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4915667"/>
            <a:ext cx="5175000" cy="914400"/>
          </a:xfrm>
          <a:noFill/>
        </p:spPr>
        <p:txBody>
          <a:bodyPr lIns="504000" anchor="ctr" anchorCtr="0"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4CB1FDD7-EBEE-2F91-93CC-98D689CE30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6849" y="2129809"/>
            <a:ext cx="488335" cy="3146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 spc="0" baseline="0">
                <a:solidFill>
                  <a:schemeClr val="tx1"/>
                </a:solidFill>
                <a:latin typeface="+mj-lt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7CC5C508-F7DB-E099-95C4-7FA088611A0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60722" y="2631600"/>
            <a:ext cx="5349600" cy="209119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1500">
                <a:latin typeface="+mj-lt"/>
              </a:defRPr>
            </a:lvl1pPr>
            <a:lvl2pPr marL="87313" indent="-87313">
              <a:spcBef>
                <a:spcPts val="700"/>
              </a:spcBef>
              <a:buFont typeface="FK Grotesk SemiMono Medium" pitchFamily="50" charset="0"/>
              <a:buChar char="–"/>
              <a:defRPr sz="700" cap="all" spc="0" baseline="0">
                <a:latin typeface="+mj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18523D23-A37F-93B4-F4DD-654E4ED932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31539" y="2129809"/>
            <a:ext cx="488335" cy="3146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 spc="0" baseline="0">
                <a:solidFill>
                  <a:schemeClr val="tx1"/>
                </a:solidFill>
                <a:latin typeface="+mj-lt"/>
              </a:defRPr>
            </a:lvl1pPr>
            <a:lvl2pPr marL="87313" indent="-87313">
              <a:buFont typeface="FK Grotesk SemiMono Medium" pitchFamily="50" charset="0"/>
              <a:buChar char="–"/>
              <a:defRPr sz="700" cap="all" spc="0" baseline="0">
                <a:latin typeface="FK Grotesk SemiMono Medium" pitchFamily="50" charset="0"/>
              </a:defRPr>
            </a:lvl2pPr>
          </a:lstStyle>
          <a:p>
            <a:pPr lvl="0"/>
            <a:r>
              <a:rPr lang="en-GB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8213598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Impactful Qu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B477FCB-33B9-0026-D04F-92CD830B9C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477FCB-33B9-0026-D04F-92CD830B9C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11679936" cy="618849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7CC5C508-F7DB-E099-95C4-7FA088611A0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163438" y="1517515"/>
            <a:ext cx="7548665" cy="368678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100" baseline="0">
                <a:solidFill>
                  <a:schemeClr val="bg1"/>
                </a:solidFill>
              </a:defRPr>
            </a:lvl1pPr>
            <a:lvl2pPr marL="87313" indent="-87313">
              <a:spcBef>
                <a:spcPts val="700"/>
              </a:spcBef>
              <a:buFont typeface="FK Grotesk SemiMono Medium" pitchFamily="50" charset="0"/>
              <a:buChar char="–"/>
              <a:defRPr sz="700" cap="all" spc="0" baseline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" name="Free-form: Shape 1">
            <a:extLst>
              <a:ext uri="{FF2B5EF4-FFF2-40B4-BE49-F238E27FC236}">
                <a16:creationId xmlns:a16="http://schemas.microsoft.com/office/drawing/2014/main" id="{4D94A5A6-681B-B61E-E3E6-E2DD0F591D73}"/>
              </a:ext>
            </a:extLst>
          </p:cNvPr>
          <p:cNvSpPr/>
          <p:nvPr userDrawn="1"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76514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ase Study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9423475-4F9C-2DCD-552D-B53B04D3F2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423475-4F9C-2DCD-552D-B53B04D3F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8"/>
            <a:ext cx="5779800" cy="267807"/>
          </a:xfrm>
        </p:spPr>
        <p:txBody>
          <a:bodyPr vert="horz"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08408" y="1972800"/>
            <a:ext cx="3808800" cy="4113607"/>
          </a:xfrm>
        </p:spPr>
        <p:txBody>
          <a:bodyPr numCol="2" spcCol="216000"/>
          <a:lstStyle>
            <a:lvl1pPr marL="0" indent="0">
              <a:lnSpc>
                <a:spcPct val="111000"/>
              </a:lnSpc>
              <a:spcBef>
                <a:spcPts val="0"/>
              </a:spcBef>
              <a:buNone/>
              <a:defRPr sz="900">
                <a:solidFill>
                  <a:schemeClr val="accent5"/>
                </a:solidFill>
              </a:defRPr>
            </a:lvl1pPr>
            <a:lvl2pPr marL="0" indent="0">
              <a:lnSpc>
                <a:spcPct val="111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2pPr>
            <a:lvl3pPr>
              <a:defRPr sz="90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" name="Free-form: Shape 1">
            <a:extLst>
              <a:ext uri="{FF2B5EF4-FFF2-40B4-BE49-F238E27FC236}">
                <a16:creationId xmlns:a16="http://schemas.microsoft.com/office/drawing/2014/main" id="{45FDECC6-39F6-B026-19A6-F5FA5A92158F}"/>
              </a:ext>
            </a:extLst>
          </p:cNvPr>
          <p:cNvSpPr/>
          <p:nvPr userDrawn="1"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450">
              <a:solidFill>
                <a:schemeClr val="accent5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7D5A6-0DD8-01B5-8CB1-D21A8DE9E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1944000"/>
            <a:ext cx="2826000" cy="41424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5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9D76E85-3414-9C1D-B3D2-899EDAD157A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569708" y="1999040"/>
            <a:ext cx="4366260" cy="408736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E4387F9-78B8-BA52-5D85-5410E1B98B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569708" y="245856"/>
            <a:ext cx="1545109" cy="5257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5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726F80B-4786-245E-CE62-C528F5D9C6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54151" y="245856"/>
            <a:ext cx="1545109" cy="5257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5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5A9736E-C2EF-96E1-638A-70352A8242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569708" y="907336"/>
            <a:ext cx="1545109" cy="2405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5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4133224-1B5B-F093-F7BB-E2D7A09AED2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7100" y="1510760"/>
            <a:ext cx="824976" cy="240507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00" spc="0" baseline="0">
                <a:solidFill>
                  <a:schemeClr val="accent2"/>
                </a:solidFill>
              </a:defRPr>
            </a:lvl1pPr>
            <a:lvl2pPr marL="108000" indent="0">
              <a:buNone/>
              <a:defRPr>
                <a:solidFill>
                  <a:schemeClr val="bg1"/>
                </a:solidFill>
              </a:defRPr>
            </a:lvl2pPr>
            <a:lvl3pPr marL="216000" indent="0">
              <a:buNone/>
              <a:defRPr>
                <a:solidFill>
                  <a:schemeClr val="bg1"/>
                </a:solidFill>
              </a:defRPr>
            </a:lvl3pPr>
            <a:lvl4pPr marL="324000" indent="0">
              <a:buNone/>
              <a:defRPr>
                <a:solidFill>
                  <a:schemeClr val="bg1"/>
                </a:solidFill>
              </a:defRPr>
            </a:lvl4pPr>
            <a:lvl5pPr marL="432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C8ECFD1-4F40-273D-AE88-8B6A4E4BBD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00100" y="1510760"/>
            <a:ext cx="824976" cy="240507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00" spc="0" baseline="0">
                <a:solidFill>
                  <a:srgbClr val="FFFF00"/>
                </a:solidFill>
              </a:defRPr>
            </a:lvl1pPr>
            <a:lvl2pPr marL="108000" indent="0">
              <a:buNone/>
              <a:defRPr>
                <a:solidFill>
                  <a:schemeClr val="bg1"/>
                </a:solidFill>
              </a:defRPr>
            </a:lvl2pPr>
            <a:lvl3pPr marL="216000" indent="0">
              <a:buNone/>
              <a:defRPr>
                <a:solidFill>
                  <a:schemeClr val="bg1"/>
                </a:solidFill>
              </a:defRPr>
            </a:lvl3pPr>
            <a:lvl4pPr marL="324000" indent="0">
              <a:buNone/>
              <a:defRPr>
                <a:solidFill>
                  <a:schemeClr val="bg1"/>
                </a:solidFill>
              </a:defRPr>
            </a:lvl4pPr>
            <a:lvl5pPr marL="432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C8C255C1-B7E7-6F3F-C401-072691AB856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743099" y="1510760"/>
            <a:ext cx="824976" cy="240507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00" spc="0" baseline="0">
                <a:solidFill>
                  <a:schemeClr val="accent4"/>
                </a:solidFill>
              </a:defRPr>
            </a:lvl1pPr>
            <a:lvl2pPr marL="108000" indent="0">
              <a:buNone/>
              <a:defRPr>
                <a:solidFill>
                  <a:schemeClr val="bg1"/>
                </a:solidFill>
              </a:defRPr>
            </a:lvl2pPr>
            <a:lvl3pPr marL="216000" indent="0">
              <a:buNone/>
              <a:defRPr>
                <a:solidFill>
                  <a:schemeClr val="bg1"/>
                </a:solidFill>
              </a:defRPr>
            </a:lvl3pPr>
            <a:lvl4pPr marL="324000" indent="0">
              <a:buNone/>
              <a:defRPr>
                <a:solidFill>
                  <a:schemeClr val="bg1"/>
                </a:solidFill>
              </a:defRPr>
            </a:lvl4pPr>
            <a:lvl5pPr marL="432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CE7F0E1-EEBF-A32F-38E3-F0B045F3AB7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2" y="604800"/>
            <a:ext cx="5779800" cy="884114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2000" spc="-55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6480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se Study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E6AE09D1-0E29-C7E6-EC84-7B12CA364DB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6AE09D1-0E29-C7E6-EC84-7B12CA364D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0461F37-C73C-B282-AA90-88B4A0B7F6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69708" y="907336"/>
            <a:ext cx="1545109" cy="5257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8"/>
            <a:ext cx="5779800" cy="267807"/>
          </a:xfrm>
        </p:spPr>
        <p:txBody>
          <a:bodyPr vert="horz"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08408" y="3599234"/>
            <a:ext cx="3808800" cy="2493591"/>
          </a:xfrm>
        </p:spPr>
        <p:txBody>
          <a:bodyPr numCol="2" spcCol="216000"/>
          <a:lstStyle>
            <a:lvl1pPr marL="0" indent="0">
              <a:lnSpc>
                <a:spcPct val="111000"/>
              </a:lnSpc>
              <a:spcBef>
                <a:spcPts val="0"/>
              </a:spcBef>
              <a:buNone/>
              <a:defRPr sz="900">
                <a:solidFill>
                  <a:schemeClr val="accent4"/>
                </a:solidFill>
              </a:defRPr>
            </a:lvl1pPr>
            <a:lvl2pPr marL="0" indent="0">
              <a:lnSpc>
                <a:spcPct val="111000"/>
              </a:lnSpc>
              <a:spcBef>
                <a:spcPts val="0"/>
              </a:spcBef>
              <a:buNone/>
              <a:defRPr sz="900">
                <a:solidFill>
                  <a:schemeClr val="tx1"/>
                </a:solidFill>
              </a:defRPr>
            </a:lvl2pPr>
            <a:lvl3pPr>
              <a:defRPr sz="90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7D5A6-0DD8-01B5-8CB1-D21A8DE9E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1944000"/>
            <a:ext cx="2826000" cy="41424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9D76E85-3414-9C1D-B3D2-899EDAD157A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569708" y="1999040"/>
            <a:ext cx="4366260" cy="408736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E4387F9-78B8-BA52-5D85-5410E1B98B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569708" y="245856"/>
            <a:ext cx="1545109" cy="5257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726F80B-4786-245E-CE62-C528F5D9C6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54151" y="245856"/>
            <a:ext cx="2391787" cy="5257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CE7F0E1-EEBF-A32F-38E3-F0B045F3AB7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2" y="604800"/>
            <a:ext cx="5779800" cy="884114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2000" spc="-55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607F3E-3058-D6C0-A0CA-6C9979393F9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9831" y="1944000"/>
            <a:ext cx="3807377" cy="7505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D59F4FF-C12C-2044-D076-DD21909066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9832" y="2858401"/>
            <a:ext cx="1819369" cy="51223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DD97C11-5CC1-FBA4-B734-F20BA7B5E10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186316" y="2858400"/>
            <a:ext cx="1830892" cy="51223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8126554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se Study Light no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12E0972-7130-DD73-BFDD-0CD5F4F9E6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2E0972-7130-DD73-BFDD-0CD5F4F9E6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8"/>
            <a:ext cx="9646726" cy="267807"/>
          </a:xfrm>
        </p:spPr>
        <p:txBody>
          <a:bodyPr vert="horz"/>
          <a:lstStyle>
            <a:lvl1pPr>
              <a:defRPr sz="200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B3F010-B29D-EC36-D6CB-8276C90BA2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08408" y="4095344"/>
            <a:ext cx="5779800" cy="1997481"/>
          </a:xfrm>
        </p:spPr>
        <p:txBody>
          <a:bodyPr numCol="2" spcCol="216000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900">
                <a:solidFill>
                  <a:schemeClr val="accent3"/>
                </a:solidFill>
              </a:defRPr>
            </a:lvl1pPr>
            <a:lvl2pPr marL="0" indent="0">
              <a:lnSpc>
                <a:spcPct val="125000"/>
              </a:lnSpc>
              <a:spcBef>
                <a:spcPts val="0"/>
              </a:spcBef>
              <a:buNone/>
              <a:defRPr sz="900">
                <a:solidFill>
                  <a:schemeClr val="tx1"/>
                </a:solidFill>
              </a:defRPr>
            </a:lvl2pPr>
            <a:lvl3pPr>
              <a:defRPr sz="90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7D5A6-0DD8-01B5-8CB1-D21A8DE9E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1429967"/>
            <a:ext cx="2826000" cy="465644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CE7F0E1-EEBF-A32F-38E3-F0B045F3AB7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2" y="604801"/>
            <a:ext cx="9646726" cy="548434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2000" spc="-55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D96BC17-C4A9-9174-AE67-633C5D7D620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13240" y="1429967"/>
            <a:ext cx="2826000" cy="96361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D410B24-968F-8CF3-0D6C-2596D7086A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150993" y="1429967"/>
            <a:ext cx="1767322" cy="96361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DE1F40C-BC47-2BE8-7248-3416FC5DE26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135436" y="1429967"/>
            <a:ext cx="1767322" cy="96361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2087CD94-F4F9-BABD-E178-8F3F016ADA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0100423" y="1429967"/>
            <a:ext cx="1767322" cy="96361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B00FF6B-1F57-C4EF-7578-7A444972539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13240" y="2626469"/>
            <a:ext cx="2826000" cy="11921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BB5B24B-87DB-B708-AA7E-625C73FCF9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50992" y="2626468"/>
            <a:ext cx="2826000" cy="119214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3F5DA9C3-C847-7D2B-8B6D-F8ABB18D829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122607" y="2626469"/>
            <a:ext cx="2826000" cy="1196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5304767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art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A0BBA4D-4381-8622-EB50-6DB70371DC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A0BBA4D-4381-8622-EB50-6DB70371DC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7D4FA77A-E040-13F3-B87F-A29B184ACE9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540082" y="4361302"/>
            <a:ext cx="2395538" cy="1731524"/>
          </a:xfrm>
          <a:solidFill>
            <a:schemeClr val="accent6"/>
          </a:solidFill>
        </p:spPr>
        <p:txBody>
          <a:bodyPr lIns="252000" tIns="648000" rIns="216000"/>
          <a:lstStyle>
            <a:lvl1pPr marL="0" indent="0">
              <a:spcAft>
                <a:spcPts val="750"/>
              </a:spcAft>
              <a:buNone/>
              <a:defRPr sz="700" cap="all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buNone/>
              <a:defRPr sz="1000" b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324000" indent="0">
              <a:buNone/>
              <a:defRPr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A402816-77AC-269F-85AF-F750654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9646726" cy="452632"/>
          </a:xfrm>
        </p:spPr>
        <p:txBody>
          <a:bodyPr vert="horz"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7D5A6-0DD8-01B5-8CB1-D21A8DE9E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950400"/>
            <a:ext cx="2826000" cy="566925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550"/>
              </a:spcAft>
              <a:buNone/>
              <a:defRPr sz="800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150"/>
              </a:spcBef>
              <a:buNone/>
              <a:defRPr>
                <a:solidFill>
                  <a:schemeClr val="tx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D96BC17-C4A9-9174-AE67-633C5D7D620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7240" y="1556425"/>
            <a:ext cx="2694792" cy="8371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EF1618D-0A41-B4F3-9987-A4A8F682DAC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42423" y="950400"/>
            <a:ext cx="2826000" cy="566925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550"/>
              </a:spcAft>
              <a:buNone/>
              <a:defRPr sz="800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150"/>
              </a:spcBef>
              <a:buNone/>
              <a:defRPr>
                <a:solidFill>
                  <a:schemeClr val="tx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72FBC6B4-1D4A-2A0A-B80D-DD17206C22E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373632" y="1556425"/>
            <a:ext cx="2694792" cy="8371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4232110-08CB-5D96-1733-C18650F4E77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80176" y="950400"/>
            <a:ext cx="2826000" cy="566925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550"/>
              </a:spcAft>
              <a:buNone/>
              <a:defRPr sz="800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150"/>
              </a:spcBef>
              <a:buNone/>
              <a:defRPr>
                <a:solidFill>
                  <a:schemeClr val="tx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3B8793BD-A481-F2A4-AD51-BFB193BB9BE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311385" y="1556425"/>
            <a:ext cx="2694792" cy="837160"/>
          </a:xfrm>
          <a:solidFill>
            <a:schemeClr val="bg1"/>
          </a:solid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able Placeholder 28">
            <a:extLst>
              <a:ext uri="{FF2B5EF4-FFF2-40B4-BE49-F238E27FC236}">
                <a16:creationId xmlns:a16="http://schemas.microsoft.com/office/drawing/2014/main" id="{8FF7E244-9C29-18A5-8371-FC4F4AE64663}"/>
              </a:ext>
            </a:extLst>
          </p:cNvPr>
          <p:cNvSpPr>
            <a:spLocks noGrp="1"/>
          </p:cNvSpPr>
          <p:nvPr>
            <p:ph type="tbl" sz="quarter" idx="38"/>
          </p:nvPr>
        </p:nvSpPr>
        <p:spPr>
          <a:xfrm>
            <a:off x="256032" y="3180557"/>
            <a:ext cx="8858600" cy="3014663"/>
          </a:xfrm>
        </p:spPr>
        <p:txBody>
          <a:bodyPr/>
          <a:lstStyle/>
          <a:p>
            <a:endParaRPr lang="en-GB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3A66611-A8FC-5BF5-7964-613DD4A11C0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40082" y="992221"/>
            <a:ext cx="2395537" cy="3599235"/>
          </a:xfrm>
          <a:custGeom>
            <a:avLst/>
            <a:gdLst>
              <a:gd name="connsiteX0" fmla="*/ 0 w 4791074"/>
              <a:gd name="connsiteY0" fmla="*/ 0 h 7198469"/>
              <a:gd name="connsiteX1" fmla="*/ 4791074 w 4791074"/>
              <a:gd name="connsiteY1" fmla="*/ 0 h 7198469"/>
              <a:gd name="connsiteX2" fmla="*/ 4791074 w 4791074"/>
              <a:gd name="connsiteY2" fmla="*/ 7198469 h 7198469"/>
              <a:gd name="connsiteX3" fmla="*/ 4791072 w 4791074"/>
              <a:gd name="connsiteY3" fmla="*/ 7198469 h 7198469"/>
              <a:gd name="connsiteX4" fmla="*/ 4791072 w 4791074"/>
              <a:gd name="connsiteY4" fmla="*/ 6803607 h 7198469"/>
              <a:gd name="connsiteX5" fmla="*/ 2534256 w 4791074"/>
              <a:gd name="connsiteY5" fmla="*/ 7198469 h 7198469"/>
              <a:gd name="connsiteX6" fmla="*/ 2256816 w 4791074"/>
              <a:gd name="connsiteY6" fmla="*/ 7198469 h 7198469"/>
              <a:gd name="connsiteX7" fmla="*/ 0 w 4791074"/>
              <a:gd name="connsiteY7" fmla="*/ 6803607 h 7198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91074" h="7198469">
                <a:moveTo>
                  <a:pt x="0" y="0"/>
                </a:moveTo>
                <a:lnTo>
                  <a:pt x="4791074" y="0"/>
                </a:lnTo>
                <a:lnTo>
                  <a:pt x="4791074" y="7198469"/>
                </a:lnTo>
                <a:lnTo>
                  <a:pt x="4791072" y="7198469"/>
                </a:lnTo>
                <a:lnTo>
                  <a:pt x="4791072" y="6803607"/>
                </a:lnTo>
                <a:lnTo>
                  <a:pt x="2534256" y="7198469"/>
                </a:lnTo>
                <a:lnTo>
                  <a:pt x="2256816" y="7198469"/>
                </a:lnTo>
                <a:lnTo>
                  <a:pt x="0" y="6803607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252000" tIns="252000" rIns="216000">
            <a:noAutofit/>
          </a:bodyPr>
          <a:lstStyle>
            <a:lvl1pPr marL="0" indent="0">
              <a:spcAft>
                <a:spcPts val="750"/>
              </a:spcAft>
              <a:buNone/>
              <a:defRPr sz="700" cap="all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324000" indent="0">
              <a:buNone/>
              <a:defRPr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7537203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5308A5-F197-2C4B-9D5D-0869AB4E419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5308A5-F197-2C4B-9D5D-0869AB4E41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3325B80-6D97-8283-F6B5-E87F94E2521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2" y="1447800"/>
            <a:ext cx="2219985" cy="4645025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fld id="{F9A9DF1F-AAF4-42C8-8B76-672AEDF4D6A3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3D8C1B8-49F4-3204-9165-A53F451CB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584" y="6322979"/>
            <a:ext cx="6373813" cy="25800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spc="-5" baseline="0">
                <a:latin typeface="+mj-lt"/>
              </a:defRPr>
            </a:lvl1pPr>
          </a:lstStyle>
          <a:p>
            <a:pPr lvl="0"/>
            <a:r>
              <a:rPr lang="en-GB"/>
              <a:t>Source</a:t>
            </a:r>
          </a:p>
        </p:txBody>
      </p:sp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E4A5F8E8-BD3B-A050-CCCB-623528800575}"/>
              </a:ext>
            </a:extLst>
          </p:cNvPr>
          <p:cNvSpPr txBox="1">
            <a:spLocks/>
          </p:cNvSpPr>
          <p:nvPr userDrawn="1"/>
        </p:nvSpPr>
        <p:spPr>
          <a:xfrm>
            <a:off x="11607614" y="8395816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913417F5-EFCF-4F0D-4687-CC422F4F8665}"/>
              </a:ext>
            </a:extLst>
          </p:cNvPr>
          <p:cNvSpPr txBox="1">
            <a:spLocks/>
          </p:cNvSpPr>
          <p:nvPr userDrawn="1"/>
        </p:nvSpPr>
        <p:spPr>
          <a:xfrm>
            <a:off x="11607614" y="10339854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A9DF1F-AAF4-42C8-8B76-672AEDF4D6A3}" type="slidenum">
              <a:rPr lang="en-GB" sz="600" smtClean="0"/>
              <a:pPr/>
              <a:t>‹#›</a:t>
            </a:fld>
            <a:endParaRPr lang="en-GB" sz="6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AF1220A-4A4A-8FEE-DF4D-C489ABE7B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9B65122-67F7-5FE6-9AF2-A6EDCDF9605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58107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1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C63B81EB-4C89-2FBA-94BE-D10272F456F9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726143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1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A0C901D9-43BE-1FB4-7DE7-C893866A06C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56032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1B86B2DF-8555-17D5-2D6C-07AA72DD2F1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713909" y="1447800"/>
            <a:ext cx="2219985" cy="4645025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7AE8177B-2738-903B-A316-9A44DA2DDE9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713909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A4BCBDE6-9FD0-E091-3C72-A4542F3A4896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7359134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1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68028E9C-DBC8-3FD5-C08E-2A78443ECC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349440" y="1447800"/>
            <a:ext cx="2219985" cy="4645024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543D612C-1664-C187-3881-B0CBF1FBF5A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349440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40E057D8-E551-F30A-C657-379A774CF0FE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4992125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1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44" name="Text Placeholder 32">
            <a:extLst>
              <a:ext uri="{FF2B5EF4-FFF2-40B4-BE49-F238E27FC236}">
                <a16:creationId xmlns:a16="http://schemas.microsoft.com/office/drawing/2014/main" id="{D9A3E2EB-2D9B-F143-A9FA-5F21195F34D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984971" y="1447800"/>
            <a:ext cx="2219985" cy="4645024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5" name="Text Placeholder 32">
            <a:extLst>
              <a:ext uri="{FF2B5EF4-FFF2-40B4-BE49-F238E27FC236}">
                <a16:creationId xmlns:a16="http://schemas.microsoft.com/office/drawing/2014/main" id="{AA0C3828-9BEB-49D5-85F4-C2103F0B40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84971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6" name="Content Placeholder 3">
            <a:extLst>
              <a:ext uri="{FF2B5EF4-FFF2-40B4-BE49-F238E27FC236}">
                <a16:creationId xmlns:a16="http://schemas.microsoft.com/office/drawing/2014/main" id="{FE24C774-07CE-A9F7-CD05-818782F86571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2625115" y="1146877"/>
            <a:ext cx="2206609" cy="235102"/>
          </a:xfrm>
          <a:noFill/>
        </p:spPr>
        <p:txBody>
          <a:bodyPr lIns="0" tIns="0" rIns="0"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200" b="1"/>
            </a:lvl1pPr>
            <a:lvl2pPr marL="135000" indent="-135000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000"/>
            </a:lvl2pPr>
            <a:lvl3pPr marL="243000" indent="-135000">
              <a:lnSpc>
                <a:spcPct val="120000"/>
              </a:lnSpc>
              <a:buFont typeface="FK Grotesk Medium" pitchFamily="50" charset="0"/>
              <a:buChar char="–"/>
              <a:defRPr sz="1000"/>
            </a:lvl3pPr>
          </a:lstStyle>
          <a:p>
            <a:pPr lvl="0"/>
            <a:r>
              <a:rPr lang="en-GB"/>
              <a:t>00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FFDD9242-556E-3B1C-7D2B-F8604F75FE5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620501" y="1447800"/>
            <a:ext cx="2219985" cy="4645024"/>
          </a:xfrm>
          <a:solidFill>
            <a:schemeClr val="accent5"/>
          </a:solidFill>
        </p:spPr>
        <p:txBody>
          <a:bodyPr lIns="108000" tIns="1548000" rIns="108000"/>
          <a:lstStyle>
            <a:lvl1pPr>
              <a:lnSpc>
                <a:spcPct val="120000"/>
              </a:lnSpc>
              <a:defRPr sz="1000"/>
            </a:lvl1pPr>
            <a:lvl2pPr>
              <a:lnSpc>
                <a:spcPct val="120000"/>
              </a:lnSpc>
              <a:defRPr sz="1000"/>
            </a:lvl2pPr>
            <a:lvl3pPr>
              <a:lnSpc>
                <a:spcPct val="120000"/>
              </a:lnSpc>
              <a:defRPr sz="1000"/>
            </a:lvl3pPr>
            <a:lvl4pPr>
              <a:lnSpc>
                <a:spcPct val="120000"/>
              </a:lnSpc>
              <a:defRPr sz="10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8" name="Text Placeholder 32">
            <a:extLst>
              <a:ext uri="{FF2B5EF4-FFF2-40B4-BE49-F238E27FC236}">
                <a16:creationId xmlns:a16="http://schemas.microsoft.com/office/drawing/2014/main" id="{A2E562DE-B6CE-3317-4B51-1A015971BE8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620501" y="1503430"/>
            <a:ext cx="2219985" cy="497918"/>
          </a:xfrm>
        </p:spPr>
        <p:txBody>
          <a:bodyPr lIns="108000" rIns="108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4989506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E2BA95-12F9-1D40-B03C-C17AEA354D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5C624-8B2B-F749-97CF-F0B710A1CC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Proprietary and Confidential | </a:t>
            </a:r>
            <a:fld id="{0BB17459-B6F1-6943-BC50-6CD59A6A19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7CDCDAA-598E-FFF1-303A-EB864D248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457200"/>
            <a:ext cx="11274552" cy="8230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234494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25485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9" imgH="350" progId="TCLayout.ActiveDocument.1">
                  <p:embed/>
                </p:oleObj>
              </mc:Choice>
              <mc:Fallback>
                <p:oleObj name="think-cell Slide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3195AE6-329B-A009-4997-BDE856CA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3363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137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image" Target="../media/image1.emf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6032" y="335309"/>
            <a:ext cx="11679936" cy="61884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32" y="1394964"/>
            <a:ext cx="11679936" cy="46978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9016" y="6440556"/>
            <a:ext cx="2520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&amp; Proprietary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07614" y="6440556"/>
            <a:ext cx="328355" cy="1715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fld id="{F9A9DF1F-AAF4-42C8-8B76-672AEDF4D6A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32C59707-86EA-56A2-43F2-A91F413E0313}"/>
              </a:ext>
            </a:extLst>
          </p:cNvPr>
          <p:cNvSpPr/>
          <p:nvPr/>
        </p:nvSpPr>
        <p:spPr>
          <a:xfrm>
            <a:off x="256032" y="6350508"/>
            <a:ext cx="219168" cy="246811"/>
          </a:xfrm>
          <a:custGeom>
            <a:avLst/>
            <a:gdLst>
              <a:gd name="connsiteX0" fmla="*/ 169545 w 207262"/>
              <a:gd name="connsiteY0" fmla="*/ 103293 h 233403"/>
              <a:gd name="connsiteX1" fmla="*/ 167640 w 207262"/>
              <a:gd name="connsiteY1" fmla="*/ 106151 h 233403"/>
              <a:gd name="connsiteX2" fmla="*/ 74295 w 207262"/>
              <a:gd name="connsiteY2" fmla="*/ 51858 h 233403"/>
              <a:gd name="connsiteX3" fmla="*/ 76200 w 207262"/>
              <a:gd name="connsiteY3" fmla="*/ 49001 h 233403"/>
              <a:gd name="connsiteX4" fmla="*/ 92392 w 207262"/>
              <a:gd name="connsiteY4" fmla="*/ 21378 h 233403"/>
              <a:gd name="connsiteX5" fmla="*/ 93345 w 207262"/>
              <a:gd name="connsiteY5" fmla="*/ 22331 h 233403"/>
              <a:gd name="connsiteX6" fmla="*/ 186690 w 207262"/>
              <a:gd name="connsiteY6" fmla="*/ 75671 h 233403"/>
              <a:gd name="connsiteX7" fmla="*/ 169545 w 207262"/>
              <a:gd name="connsiteY7" fmla="*/ 103293 h 233403"/>
              <a:gd name="connsiteX8" fmla="*/ 76200 w 207262"/>
              <a:gd name="connsiteY8" fmla="*/ 154728 h 233403"/>
              <a:gd name="connsiteX9" fmla="*/ 76200 w 207262"/>
              <a:gd name="connsiteY9" fmla="*/ 78528 h 233403"/>
              <a:gd name="connsiteX10" fmla="*/ 141922 w 207262"/>
              <a:gd name="connsiteY10" fmla="*/ 116628 h 233403"/>
              <a:gd name="connsiteX11" fmla="*/ 76200 w 207262"/>
              <a:gd name="connsiteY11" fmla="*/ 154728 h 233403"/>
              <a:gd name="connsiteX12" fmla="*/ 90488 w 207262"/>
              <a:gd name="connsiteY12" fmla="*/ 210926 h 233403"/>
              <a:gd name="connsiteX13" fmla="*/ 73342 w 207262"/>
              <a:gd name="connsiteY13" fmla="*/ 180446 h 233403"/>
              <a:gd name="connsiteX14" fmla="*/ 74295 w 207262"/>
              <a:gd name="connsiteY14" fmla="*/ 179493 h 233403"/>
              <a:gd name="connsiteX15" fmla="*/ 166688 w 207262"/>
              <a:gd name="connsiteY15" fmla="*/ 126153 h 233403"/>
              <a:gd name="connsiteX16" fmla="*/ 168592 w 207262"/>
              <a:gd name="connsiteY16" fmla="*/ 129963 h 233403"/>
              <a:gd name="connsiteX17" fmla="*/ 183833 w 207262"/>
              <a:gd name="connsiteY17" fmla="*/ 156633 h 233403"/>
              <a:gd name="connsiteX18" fmla="*/ 90488 w 207262"/>
              <a:gd name="connsiteY18" fmla="*/ 210926 h 233403"/>
              <a:gd name="connsiteX19" fmla="*/ 55245 w 207262"/>
              <a:gd name="connsiteY19" fmla="*/ 170921 h 233403"/>
              <a:gd name="connsiteX20" fmla="*/ 20003 w 207262"/>
              <a:gd name="connsiteY20" fmla="*/ 170921 h 233403"/>
              <a:gd name="connsiteX21" fmla="*/ 20003 w 207262"/>
              <a:gd name="connsiteY21" fmla="*/ 62336 h 233403"/>
              <a:gd name="connsiteX22" fmla="*/ 55245 w 207262"/>
              <a:gd name="connsiteY22" fmla="*/ 62336 h 233403"/>
              <a:gd name="connsiteX23" fmla="*/ 55245 w 207262"/>
              <a:gd name="connsiteY23" fmla="*/ 170921 h 233403"/>
              <a:gd name="connsiteX24" fmla="*/ 206692 w 207262"/>
              <a:gd name="connsiteY24" fmla="*/ 162348 h 233403"/>
              <a:gd name="connsiteX25" fmla="*/ 204788 w 207262"/>
              <a:gd name="connsiteY25" fmla="*/ 149966 h 233403"/>
              <a:gd name="connsiteX26" fmla="*/ 185738 w 207262"/>
              <a:gd name="connsiteY26" fmla="*/ 116628 h 233403"/>
              <a:gd name="connsiteX27" fmla="*/ 204788 w 207262"/>
              <a:gd name="connsiteY27" fmla="*/ 83291 h 233403"/>
              <a:gd name="connsiteX28" fmla="*/ 206692 w 207262"/>
              <a:gd name="connsiteY28" fmla="*/ 70908 h 233403"/>
              <a:gd name="connsiteX29" fmla="*/ 199072 w 207262"/>
              <a:gd name="connsiteY29" fmla="*/ 61383 h 233403"/>
              <a:gd name="connsiteX30" fmla="*/ 97155 w 207262"/>
              <a:gd name="connsiteY30" fmla="*/ 2328 h 233403"/>
              <a:gd name="connsiteX31" fmla="*/ 75247 w 207262"/>
              <a:gd name="connsiteY31" fmla="*/ 8043 h 233403"/>
              <a:gd name="connsiteX32" fmla="*/ 56197 w 207262"/>
              <a:gd name="connsiteY32" fmla="*/ 41381 h 233403"/>
              <a:gd name="connsiteX33" fmla="*/ 16192 w 207262"/>
              <a:gd name="connsiteY33" fmla="*/ 41381 h 233403"/>
              <a:gd name="connsiteX34" fmla="*/ 16192 w 207262"/>
              <a:gd name="connsiteY34" fmla="*/ 41381 h 233403"/>
              <a:gd name="connsiteX35" fmla="*/ 4763 w 207262"/>
              <a:gd name="connsiteY35" fmla="*/ 46143 h 233403"/>
              <a:gd name="connsiteX36" fmla="*/ 0 w 207262"/>
              <a:gd name="connsiteY36" fmla="*/ 57573 h 233403"/>
              <a:gd name="connsiteX37" fmla="*/ 0 w 207262"/>
              <a:gd name="connsiteY37" fmla="*/ 175683 h 233403"/>
              <a:gd name="connsiteX38" fmla="*/ 16192 w 207262"/>
              <a:gd name="connsiteY38" fmla="*/ 191876 h 233403"/>
              <a:gd name="connsiteX39" fmla="*/ 56197 w 207262"/>
              <a:gd name="connsiteY39" fmla="*/ 191876 h 233403"/>
              <a:gd name="connsiteX40" fmla="*/ 75247 w 207262"/>
              <a:gd name="connsiteY40" fmla="*/ 225213 h 233403"/>
              <a:gd name="connsiteX41" fmla="*/ 84772 w 207262"/>
              <a:gd name="connsiteY41" fmla="*/ 232833 h 233403"/>
              <a:gd name="connsiteX42" fmla="*/ 97155 w 207262"/>
              <a:gd name="connsiteY42" fmla="*/ 230928 h 233403"/>
              <a:gd name="connsiteX43" fmla="*/ 199072 w 207262"/>
              <a:gd name="connsiteY43" fmla="*/ 171873 h 233403"/>
              <a:gd name="connsiteX44" fmla="*/ 206692 w 207262"/>
              <a:gd name="connsiteY44" fmla="*/ 162348 h 2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7262" h="233403">
                <a:moveTo>
                  <a:pt x="169545" y="103293"/>
                </a:moveTo>
                <a:lnTo>
                  <a:pt x="167640" y="106151"/>
                </a:lnTo>
                <a:lnTo>
                  <a:pt x="74295" y="51858"/>
                </a:lnTo>
                <a:lnTo>
                  <a:pt x="76200" y="49001"/>
                </a:lnTo>
                <a:lnTo>
                  <a:pt x="92392" y="21378"/>
                </a:lnTo>
                <a:lnTo>
                  <a:pt x="93345" y="22331"/>
                </a:lnTo>
                <a:lnTo>
                  <a:pt x="186690" y="75671"/>
                </a:lnTo>
                <a:lnTo>
                  <a:pt x="169545" y="103293"/>
                </a:lnTo>
                <a:close/>
                <a:moveTo>
                  <a:pt x="76200" y="154728"/>
                </a:moveTo>
                <a:lnTo>
                  <a:pt x="76200" y="78528"/>
                </a:lnTo>
                <a:lnTo>
                  <a:pt x="141922" y="116628"/>
                </a:lnTo>
                <a:lnTo>
                  <a:pt x="76200" y="154728"/>
                </a:lnTo>
                <a:close/>
                <a:moveTo>
                  <a:pt x="90488" y="210926"/>
                </a:moveTo>
                <a:lnTo>
                  <a:pt x="73342" y="180446"/>
                </a:lnTo>
                <a:lnTo>
                  <a:pt x="74295" y="179493"/>
                </a:lnTo>
                <a:lnTo>
                  <a:pt x="166688" y="126153"/>
                </a:lnTo>
                <a:lnTo>
                  <a:pt x="168592" y="129963"/>
                </a:lnTo>
                <a:lnTo>
                  <a:pt x="183833" y="156633"/>
                </a:lnTo>
                <a:lnTo>
                  <a:pt x="90488" y="210926"/>
                </a:lnTo>
                <a:close/>
                <a:moveTo>
                  <a:pt x="55245" y="170921"/>
                </a:moveTo>
                <a:lnTo>
                  <a:pt x="20003" y="170921"/>
                </a:lnTo>
                <a:lnTo>
                  <a:pt x="20003" y="62336"/>
                </a:lnTo>
                <a:lnTo>
                  <a:pt x="55245" y="62336"/>
                </a:lnTo>
                <a:lnTo>
                  <a:pt x="55245" y="170921"/>
                </a:lnTo>
                <a:close/>
                <a:moveTo>
                  <a:pt x="206692" y="162348"/>
                </a:moveTo>
                <a:cubicBezTo>
                  <a:pt x="207645" y="158538"/>
                  <a:pt x="207645" y="153776"/>
                  <a:pt x="204788" y="149966"/>
                </a:cubicBezTo>
                <a:lnTo>
                  <a:pt x="185738" y="116628"/>
                </a:lnTo>
                <a:lnTo>
                  <a:pt x="204788" y="83291"/>
                </a:lnTo>
                <a:cubicBezTo>
                  <a:pt x="206692" y="79481"/>
                  <a:pt x="207645" y="75671"/>
                  <a:pt x="206692" y="70908"/>
                </a:cubicBezTo>
                <a:cubicBezTo>
                  <a:pt x="205740" y="67098"/>
                  <a:pt x="202883" y="63288"/>
                  <a:pt x="199072" y="61383"/>
                </a:cubicBezTo>
                <a:lnTo>
                  <a:pt x="97155" y="2328"/>
                </a:lnTo>
                <a:cubicBezTo>
                  <a:pt x="89535" y="-2434"/>
                  <a:pt x="80010" y="423"/>
                  <a:pt x="75247" y="8043"/>
                </a:cubicBezTo>
                <a:lnTo>
                  <a:pt x="56197" y="41381"/>
                </a:lnTo>
                <a:lnTo>
                  <a:pt x="16192" y="41381"/>
                </a:lnTo>
                <a:lnTo>
                  <a:pt x="16192" y="41381"/>
                </a:lnTo>
                <a:cubicBezTo>
                  <a:pt x="12383" y="41381"/>
                  <a:pt x="7620" y="43286"/>
                  <a:pt x="4763" y="46143"/>
                </a:cubicBezTo>
                <a:cubicBezTo>
                  <a:pt x="1905" y="49001"/>
                  <a:pt x="0" y="52811"/>
                  <a:pt x="0" y="57573"/>
                </a:cubicBezTo>
                <a:lnTo>
                  <a:pt x="0" y="175683"/>
                </a:lnTo>
                <a:cubicBezTo>
                  <a:pt x="0" y="184256"/>
                  <a:pt x="7620" y="191876"/>
                  <a:pt x="16192" y="191876"/>
                </a:cubicBezTo>
                <a:lnTo>
                  <a:pt x="56197" y="191876"/>
                </a:lnTo>
                <a:lnTo>
                  <a:pt x="75247" y="225213"/>
                </a:lnTo>
                <a:cubicBezTo>
                  <a:pt x="77153" y="229023"/>
                  <a:pt x="80963" y="231881"/>
                  <a:pt x="84772" y="232833"/>
                </a:cubicBezTo>
                <a:cubicBezTo>
                  <a:pt x="88583" y="233786"/>
                  <a:pt x="93345" y="233786"/>
                  <a:pt x="97155" y="230928"/>
                </a:cubicBezTo>
                <a:lnTo>
                  <a:pt x="199072" y="171873"/>
                </a:lnTo>
                <a:cubicBezTo>
                  <a:pt x="202883" y="169968"/>
                  <a:pt x="205740" y="167111"/>
                  <a:pt x="206692" y="162348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en-GB" sz="900"/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27C8A2D-44FB-D04C-6C57-3CF378780DA8}"/>
              </a:ext>
            </a:extLst>
          </p:cNvPr>
          <p:cNvGraphicFramePr>
            <a:graphicFrameLocks/>
          </p:cNvGraphicFramePr>
          <p:nvPr userDrawn="1">
            <p:custDataLst>
              <p:tags r:id="rId8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1" imgW="353" imgH="353" progId="TCLayout.ActiveDocument.1">
                  <p:embed/>
                </p:oleObj>
              </mc:Choice>
              <mc:Fallback>
                <p:oleObj name="think-cell Slide" r:id="rId81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27C8A2D-44FB-D04C-6C57-3CF378780D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8498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  <p:sldLayoutId id="2147483722" r:id="rId50"/>
    <p:sldLayoutId id="2147483723" r:id="rId51"/>
    <p:sldLayoutId id="2147483724" r:id="rId52"/>
    <p:sldLayoutId id="2147483725" r:id="rId53"/>
    <p:sldLayoutId id="2147483726" r:id="rId54"/>
    <p:sldLayoutId id="2147483727" r:id="rId55"/>
    <p:sldLayoutId id="2147483728" r:id="rId56"/>
    <p:sldLayoutId id="2147483729" r:id="rId57"/>
    <p:sldLayoutId id="2147483730" r:id="rId58"/>
    <p:sldLayoutId id="2147483731" r:id="rId59"/>
    <p:sldLayoutId id="2147483732" r:id="rId60"/>
    <p:sldLayoutId id="2147483733" r:id="rId61"/>
    <p:sldLayoutId id="2147483734" r:id="rId62"/>
    <p:sldLayoutId id="2147483735" r:id="rId63"/>
    <p:sldLayoutId id="2147483736" r:id="rId64"/>
    <p:sldLayoutId id="2147483737" r:id="rId65"/>
    <p:sldLayoutId id="2147483738" r:id="rId66"/>
    <p:sldLayoutId id="2147483739" r:id="rId67"/>
    <p:sldLayoutId id="2147483740" r:id="rId68"/>
    <p:sldLayoutId id="2147483741" r:id="rId69"/>
    <p:sldLayoutId id="2147483742" r:id="rId70"/>
    <p:sldLayoutId id="2147483743" r:id="rId71"/>
    <p:sldLayoutId id="2147483744" r:id="rId72"/>
    <p:sldLayoutId id="2147483745" r:id="rId73"/>
    <p:sldLayoutId id="2147483746" r:id="rId74"/>
    <p:sldLayoutId id="2147483747" r:id="rId75"/>
    <p:sldLayoutId id="2147483748" r:id="rId76"/>
    <p:sldLayoutId id="2147483750" r:id="rId77"/>
    <p:sldLayoutId id="2147483751" r:id="rId7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spc="-55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00" indent="-108000" algn="l" defTabSz="914400" rtl="0" eaLnBrk="1" latinLnBrk="0" hangingPunct="1">
        <a:lnSpc>
          <a:spcPct val="125000"/>
        </a:lnSpc>
        <a:spcBef>
          <a:spcPts val="900"/>
        </a:spcBef>
        <a:buFont typeface="Arial" panose="020B0604020202020204" pitchFamily="34" charset="0"/>
        <a:buChar char="•"/>
        <a:defRPr sz="12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243000" indent="-135000" algn="l" defTabSz="914400" rtl="0" eaLnBrk="1" latinLnBrk="0" hangingPunct="1">
        <a:lnSpc>
          <a:spcPct val="125000"/>
        </a:lnSpc>
        <a:spcBef>
          <a:spcPts val="400"/>
        </a:spcBef>
        <a:buFont typeface="FK Grotesk Medium" pitchFamily="50" charset="0"/>
        <a:buChar char="–"/>
        <a:defRPr sz="12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24000" indent="-108000" algn="l" defTabSz="914400" rtl="0" eaLnBrk="1" latinLnBrk="0" hangingPunct="1">
        <a:lnSpc>
          <a:spcPct val="125000"/>
        </a:lnSpc>
        <a:spcBef>
          <a:spcPts val="400"/>
        </a:spcBef>
        <a:buFont typeface="Arial" panose="020B0604020202020204" pitchFamily="34" charset="0"/>
        <a:buChar char="•"/>
        <a:defRPr sz="12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432000" indent="-108000" algn="l" defTabSz="914400" rtl="0" eaLnBrk="1" latinLnBrk="0" hangingPunct="1">
        <a:lnSpc>
          <a:spcPct val="125000"/>
        </a:lnSpc>
        <a:spcBef>
          <a:spcPts val="400"/>
        </a:spcBef>
        <a:buFont typeface="FK Grotesk Medium" pitchFamily="50" charset="0"/>
        <a:buChar char="–"/>
        <a:defRPr sz="12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08000" algn="l" defTabSz="914400" rtl="0" eaLnBrk="1" latinLnBrk="0" hangingPunct="1">
        <a:lnSpc>
          <a:spcPct val="125000"/>
        </a:lnSpc>
        <a:spcBef>
          <a:spcPts val="400"/>
        </a:spcBef>
        <a:buFont typeface="Arial" panose="020B0604020202020204" pitchFamily="34" charset="0"/>
        <a:buChar char="•"/>
        <a:defRPr sz="12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676">
          <p15:clr>
            <a:srgbClr val="F26B43"/>
          </p15:clr>
        </p15:guide>
        <p15:guide id="2" pos="319">
          <p15:clr>
            <a:srgbClr val="F26B43"/>
          </p15:clr>
        </p15:guide>
        <p15:guide id="3" orient="horz" pos="1824">
          <p15:clr>
            <a:srgbClr val="F26B43"/>
          </p15:clr>
        </p15:guide>
        <p15:guide id="4" pos="15050">
          <p15:clr>
            <a:srgbClr val="F26B43"/>
          </p15:clr>
        </p15:guide>
        <p15:guide id="5" orient="horz" pos="167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79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0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34.xml"/><Relationship Id="rId7" Type="http://schemas.openxmlformats.org/officeDocument/2006/relationships/image" Target="../media/image7.png"/><Relationship Id="rId2" Type="http://schemas.openxmlformats.org/officeDocument/2006/relationships/tags" Target="../tags/tag8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10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34.xml"/><Relationship Id="rId7" Type="http://schemas.openxmlformats.org/officeDocument/2006/relationships/image" Target="../media/image7.png"/><Relationship Id="rId2" Type="http://schemas.openxmlformats.org/officeDocument/2006/relationships/tags" Target="../tags/tag8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80.bin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3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84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8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85.xml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86.xml"/><Relationship Id="rId4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87.xml"/><Relationship Id="rId4" Type="http://schemas.openxmlformats.org/officeDocument/2006/relationships/image" Target="../media/image13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8.xml"/><Relationship Id="rId4" Type="http://schemas.openxmlformats.org/officeDocument/2006/relationships/image" Target="../media/image5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13" Type="http://schemas.openxmlformats.org/officeDocument/2006/relationships/tags" Target="../tags/tag101.xml"/><Relationship Id="rId18" Type="http://schemas.openxmlformats.org/officeDocument/2006/relationships/tags" Target="../tags/tag106.xml"/><Relationship Id="rId26" Type="http://schemas.openxmlformats.org/officeDocument/2006/relationships/slideLayout" Target="../slideLayouts/slideLayout36.xml"/><Relationship Id="rId3" Type="http://schemas.openxmlformats.org/officeDocument/2006/relationships/tags" Target="../tags/tag91.xml"/><Relationship Id="rId21" Type="http://schemas.openxmlformats.org/officeDocument/2006/relationships/tags" Target="../tags/tag109.xml"/><Relationship Id="rId7" Type="http://schemas.openxmlformats.org/officeDocument/2006/relationships/tags" Target="../tags/tag95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5" Type="http://schemas.openxmlformats.org/officeDocument/2006/relationships/tags" Target="../tags/tag113.xml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20" Type="http://schemas.openxmlformats.org/officeDocument/2006/relationships/tags" Target="../tags/tag108.xml"/><Relationship Id="rId29" Type="http://schemas.openxmlformats.org/officeDocument/2006/relationships/chart" Target="../charts/chart1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24" Type="http://schemas.openxmlformats.org/officeDocument/2006/relationships/tags" Target="../tags/tag112.xml"/><Relationship Id="rId32" Type="http://schemas.openxmlformats.org/officeDocument/2006/relationships/chart" Target="../charts/chart4.xml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23" Type="http://schemas.openxmlformats.org/officeDocument/2006/relationships/tags" Target="../tags/tag111.xml"/><Relationship Id="rId28" Type="http://schemas.openxmlformats.org/officeDocument/2006/relationships/image" Target="../media/image4.emf"/><Relationship Id="rId10" Type="http://schemas.openxmlformats.org/officeDocument/2006/relationships/tags" Target="../tags/tag98.xml"/><Relationship Id="rId19" Type="http://schemas.openxmlformats.org/officeDocument/2006/relationships/tags" Target="../tags/tag107.xml"/><Relationship Id="rId31" Type="http://schemas.openxmlformats.org/officeDocument/2006/relationships/chart" Target="../charts/chart3.xml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Relationship Id="rId22" Type="http://schemas.openxmlformats.org/officeDocument/2006/relationships/tags" Target="../tags/tag110.xml"/><Relationship Id="rId27" Type="http://schemas.openxmlformats.org/officeDocument/2006/relationships/oleObject" Target="../embeddings/oleObject84.bin"/><Relationship Id="rId30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4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8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sv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0.svg"/><Relationship Id="rId12" Type="http://schemas.openxmlformats.org/officeDocument/2006/relationships/image" Target="../media/image25.svg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29.svg"/><Relationship Id="rId1" Type="http://schemas.openxmlformats.org/officeDocument/2006/relationships/tags" Target="../tags/tag115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emf"/><Relationship Id="rId15" Type="http://schemas.openxmlformats.org/officeDocument/2006/relationships/image" Target="../media/image28.svg"/><Relationship Id="rId10" Type="http://schemas.openxmlformats.org/officeDocument/2006/relationships/image" Target="../media/image23.svg"/><Relationship Id="rId4" Type="http://schemas.openxmlformats.org/officeDocument/2006/relationships/oleObject" Target="../embeddings/oleObject86.bin"/><Relationship Id="rId9" Type="http://schemas.openxmlformats.org/officeDocument/2006/relationships/image" Target="../media/image22.svg"/><Relationship Id="rId14" Type="http://schemas.openxmlformats.org/officeDocument/2006/relationships/image" Target="../media/image27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sv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2.svg"/><Relationship Id="rId12" Type="http://schemas.openxmlformats.org/officeDocument/2006/relationships/image" Target="../media/image37.svg"/><Relationship Id="rId17" Type="http://schemas.openxmlformats.org/officeDocument/2006/relationships/image" Target="../media/image42.svg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41.svg"/><Relationship Id="rId1" Type="http://schemas.openxmlformats.org/officeDocument/2006/relationships/tags" Target="../tags/tag116.xml"/><Relationship Id="rId6" Type="http://schemas.openxmlformats.org/officeDocument/2006/relationships/image" Target="../media/image31.svg"/><Relationship Id="rId11" Type="http://schemas.openxmlformats.org/officeDocument/2006/relationships/image" Target="../media/image36.svg"/><Relationship Id="rId5" Type="http://schemas.openxmlformats.org/officeDocument/2006/relationships/image" Target="../media/image30.emf"/><Relationship Id="rId15" Type="http://schemas.openxmlformats.org/officeDocument/2006/relationships/image" Target="../media/image40.svg"/><Relationship Id="rId10" Type="http://schemas.openxmlformats.org/officeDocument/2006/relationships/image" Target="../media/image35.svg"/><Relationship Id="rId4" Type="http://schemas.openxmlformats.org/officeDocument/2006/relationships/oleObject" Target="../embeddings/oleObject87.bin"/><Relationship Id="rId9" Type="http://schemas.openxmlformats.org/officeDocument/2006/relationships/image" Target="../media/image34.svg"/><Relationship Id="rId14" Type="http://schemas.openxmlformats.org/officeDocument/2006/relationships/image" Target="../media/image39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5.sv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7.xml"/><Relationship Id="rId6" Type="http://schemas.openxmlformats.org/officeDocument/2006/relationships/image" Target="../media/image44.svg"/><Relationship Id="rId5" Type="http://schemas.openxmlformats.org/officeDocument/2006/relationships/image" Target="../media/image43.emf"/><Relationship Id="rId4" Type="http://schemas.openxmlformats.org/officeDocument/2006/relationships/oleObject" Target="../embeddings/oleObject8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8.xml"/><Relationship Id="rId4" Type="http://schemas.openxmlformats.org/officeDocument/2006/relationships/image" Target="../media/image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9.sv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9.xml"/><Relationship Id="rId6" Type="http://schemas.openxmlformats.org/officeDocument/2006/relationships/image" Target="../media/image48.svg"/><Relationship Id="rId5" Type="http://schemas.openxmlformats.org/officeDocument/2006/relationships/image" Target="../media/image47.emf"/><Relationship Id="rId4" Type="http://schemas.openxmlformats.org/officeDocument/2006/relationships/oleObject" Target="../embeddings/oleObject8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52.sv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120.xml"/><Relationship Id="rId6" Type="http://schemas.openxmlformats.org/officeDocument/2006/relationships/image" Target="../media/image51.svg"/><Relationship Id="rId5" Type="http://schemas.openxmlformats.org/officeDocument/2006/relationships/image" Target="../media/image50.emf"/><Relationship Id="rId4" Type="http://schemas.openxmlformats.org/officeDocument/2006/relationships/oleObject" Target="../embeddings/oleObject90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1.xml"/><Relationship Id="rId5" Type="http://schemas.openxmlformats.org/officeDocument/2006/relationships/image" Target="../media/image52.svg"/><Relationship Id="rId4" Type="http://schemas.openxmlformats.org/officeDocument/2006/relationships/image" Target="../media/image1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2.xml"/><Relationship Id="rId4" Type="http://schemas.openxmlformats.org/officeDocument/2006/relationships/image" Target="../media/image54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56.png"/><Relationship Id="rId12" Type="http://schemas.openxmlformats.org/officeDocument/2006/relationships/image" Target="../media/image60.png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23.xml"/><Relationship Id="rId6" Type="http://schemas.openxmlformats.org/officeDocument/2006/relationships/image" Target="../media/image6.emf"/><Relationship Id="rId11" Type="http://schemas.openxmlformats.org/officeDocument/2006/relationships/image" Target="../media/image59.svg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58.png"/><Relationship Id="rId4" Type="http://schemas.openxmlformats.org/officeDocument/2006/relationships/image" Target="../media/image55.png"/><Relationship Id="rId9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62.png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24.xml"/><Relationship Id="rId6" Type="http://schemas.openxmlformats.org/officeDocument/2006/relationships/image" Target="../media/image61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4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57.png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25.xml"/><Relationship Id="rId6" Type="http://schemas.openxmlformats.org/officeDocument/2006/relationships/image" Target="../media/image61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26.xml"/><Relationship Id="rId6" Type="http://schemas.openxmlformats.org/officeDocument/2006/relationships/image" Target="../media/image56.png"/><Relationship Id="rId11" Type="http://schemas.openxmlformats.org/officeDocument/2006/relationships/image" Target="../media/image67.png"/><Relationship Id="rId5" Type="http://schemas.openxmlformats.org/officeDocument/2006/relationships/image" Target="../media/image6.emf"/><Relationship Id="rId10" Type="http://schemas.openxmlformats.org/officeDocument/2006/relationships/image" Target="../media/image58.png"/><Relationship Id="rId4" Type="http://schemas.openxmlformats.org/officeDocument/2006/relationships/oleObject" Target="../embeddings/oleObject80.bin"/><Relationship Id="rId9" Type="http://schemas.openxmlformats.org/officeDocument/2006/relationships/image" Target="../media/image66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27.xml"/><Relationship Id="rId6" Type="http://schemas.openxmlformats.org/officeDocument/2006/relationships/image" Target="../media/image56.png"/><Relationship Id="rId5" Type="http://schemas.openxmlformats.org/officeDocument/2006/relationships/image" Target="../media/image6.emf"/><Relationship Id="rId10" Type="http://schemas.openxmlformats.org/officeDocument/2006/relationships/image" Target="../media/image69.png"/><Relationship Id="rId4" Type="http://schemas.openxmlformats.org/officeDocument/2006/relationships/oleObject" Target="../embeddings/oleObject80.bin"/><Relationship Id="rId9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28.xml"/><Relationship Id="rId6" Type="http://schemas.openxmlformats.org/officeDocument/2006/relationships/image" Target="../media/image56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80.bin"/><Relationship Id="rId9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9.xml"/><Relationship Id="rId4" Type="http://schemas.openxmlformats.org/officeDocument/2006/relationships/image" Target="../media/image70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0.xml"/><Relationship Id="rId4" Type="http://schemas.openxmlformats.org/officeDocument/2006/relationships/image" Target="../media/image54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131.xml"/><Relationship Id="rId5" Type="http://schemas.openxmlformats.org/officeDocument/2006/relationships/image" Target="../media/image71.emf"/><Relationship Id="rId4" Type="http://schemas.openxmlformats.org/officeDocument/2006/relationships/oleObject" Target="../embeddings/oleObject94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4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3.xml"/><Relationship Id="rId4" Type="http://schemas.openxmlformats.org/officeDocument/2006/relationships/image" Target="../media/image13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4.xml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59D415F-A0CE-7596-8E0F-88DA1AFA6E6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70130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9D415F-A0CE-7596-8E0F-88DA1AFA6E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25503E3-1268-A188-60CC-0C7D07BB6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0">
            <a:noAutofit/>
          </a:bodyPr>
          <a:lstStyle/>
          <a:p>
            <a:r>
              <a:rPr lang="en-US" sz="3600">
                <a:cs typeface="Arial"/>
              </a:rPr>
              <a:t>MSFT Frontier Firms Research | </a:t>
            </a:r>
            <a:br>
              <a:rPr lang="en-US" sz="3600">
                <a:cs typeface="Arial"/>
              </a:rPr>
            </a:br>
            <a:r>
              <a:rPr lang="en-US" sz="3600"/>
              <a:t>Check-in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1B39E-00BD-1512-2B43-F30733B64B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June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F9E77-CE7A-D194-747C-4DB91D861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4A0921-0A4A-5C7C-EB41-4CB64BC4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AE3318-8C1D-99D2-24D2-4A9D219F69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Marco </a:t>
            </a:r>
            <a:r>
              <a:rPr lang="en-US" err="1"/>
              <a:t>Iansiti</a:t>
            </a:r>
            <a:endParaRPr lang="en-US"/>
          </a:p>
          <a:p>
            <a:r>
              <a:rPr lang="en-US"/>
              <a:t>Jen Stave</a:t>
            </a:r>
          </a:p>
          <a:p>
            <a:r>
              <a:rPr lang="en-US"/>
              <a:t>Ellora Sarkar</a:t>
            </a:r>
          </a:p>
          <a:p>
            <a:r>
              <a:rPr lang="en-US"/>
              <a:t>Dilina Abudurexiti</a:t>
            </a:r>
          </a:p>
          <a:p>
            <a:r>
              <a:rPr lang="en-US"/>
              <a:t>Elisabeth </a:t>
            </a:r>
            <a:r>
              <a:rPr lang="en-US" err="1"/>
              <a:t>Beltinger</a:t>
            </a:r>
            <a:endParaRPr lang="en-US"/>
          </a:p>
          <a:p>
            <a:r>
              <a:rPr lang="en-US"/>
              <a:t>Tyler Richards</a:t>
            </a:r>
          </a:p>
          <a:p>
            <a:r>
              <a:rPr lang="en-US"/>
              <a:t>Mark </a:t>
            </a:r>
            <a:r>
              <a:rPr lang="en-US" err="1"/>
              <a:t>Cherepashensky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5F554C6-C296-84F2-5DFB-EEA207640F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12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7527B-6A39-AFDC-4E44-EC83C517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81F5367-D5CD-556D-8DC0-0224B1FAF34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1F5367-D5CD-556D-8DC0-0224B1FAF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0F554FF-6152-BEFC-3795-5A327B3ED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11679936" cy="618849"/>
          </a:xfrm>
        </p:spPr>
        <p:txBody>
          <a:bodyPr vert="horz" rIns="0"/>
          <a:lstStyle/>
          <a:p>
            <a:r>
              <a:rPr lang="en-US"/>
              <a:t>Agenda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0BADCC-7470-34C0-D6A3-81F260AD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EF8C5-FC72-9350-8569-033AC7B59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9890A8-435E-7DB4-B2EC-9BF1E17CC8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4483AD-E215-65F1-6273-FFDC838C9453}"/>
              </a:ext>
            </a:extLst>
          </p:cNvPr>
          <p:cNvSpPr/>
          <p:nvPr/>
        </p:nvSpPr>
        <p:spPr>
          <a:xfrm>
            <a:off x="256032" y="1160585"/>
            <a:ext cx="10198022" cy="3329256"/>
          </a:xfrm>
          <a:prstGeom prst="rect">
            <a:avLst/>
          </a:prstGeom>
          <a:noFill/>
          <a:ln w="12700">
            <a:noFill/>
          </a:ln>
        </p:spPr>
        <p:txBody>
          <a:bodyPr wrap="square" lIns="144000" tIns="0" rIns="144000" bIns="0" rtlCol="0" anchor="t">
            <a:noAutofit/>
          </a:bodyPr>
          <a:lstStyle/>
          <a:p>
            <a:pPr>
              <a:spcAft>
                <a:spcPts val="1800"/>
              </a:spcAft>
            </a:pPr>
            <a:endParaRPr lang="en-US" sz="1600" spc="-20"/>
          </a:p>
          <a:p>
            <a:pPr marL="228600" indent="-228600">
              <a:spcAft>
                <a:spcPts val="1800"/>
              </a:spcAft>
              <a:buFont typeface="+mj-lt"/>
              <a:buAutoNum type="arabicPeriod"/>
            </a:pPr>
            <a:r>
              <a:rPr lang="en-US" sz="1600" spc="-20"/>
              <a:t>Case studies &amp; observations</a:t>
            </a:r>
          </a:p>
          <a:p>
            <a:pPr marL="228600" indent="-228600">
              <a:spcAft>
                <a:spcPts val="1800"/>
              </a:spcAft>
              <a:buFont typeface="+mj-lt"/>
              <a:buAutoNum type="arabicPeriod"/>
            </a:pPr>
            <a:r>
              <a:rPr lang="en-US" sz="1600" spc="-20"/>
              <a:t>Initial scorecard</a:t>
            </a:r>
          </a:p>
          <a:p>
            <a:pPr marL="228600" indent="-228600">
              <a:spcAft>
                <a:spcPts val="1800"/>
              </a:spcAft>
              <a:buFont typeface="+mj-lt"/>
              <a:buAutoNum type="arabicPeriod"/>
            </a:pPr>
            <a:r>
              <a:rPr lang="en-US" sz="1600" spc="-20"/>
              <a:t>What’s next</a:t>
            </a:r>
          </a:p>
          <a:p>
            <a:pPr>
              <a:spcAft>
                <a:spcPts val="1800"/>
              </a:spcAft>
            </a:pPr>
            <a:endParaRPr lang="en-US" sz="1600" spc="-20"/>
          </a:p>
          <a:p>
            <a:pPr marL="228600" indent="-228600">
              <a:spcAft>
                <a:spcPts val="1800"/>
              </a:spcAft>
              <a:buFont typeface="+mj-lt"/>
              <a:buAutoNum type="arabicPeriod"/>
            </a:pPr>
            <a:endParaRPr lang="en-US" sz="1600" spc="-20"/>
          </a:p>
        </p:txBody>
      </p:sp>
    </p:spTree>
    <p:extLst>
      <p:ext uri="{BB962C8B-B14F-4D97-AF65-F5344CB8AC3E}">
        <p14:creationId xmlns:p14="http://schemas.microsoft.com/office/powerpoint/2010/main" val="907091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3D90C-F255-FA15-47D6-C966DEA3B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FB52515-3C6B-5D02-5A3A-524534E627A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B52515-3C6B-5D02-5A3A-524534E627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926C398-F469-4F86-F757-9A08A917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Case Studies &amp; Observations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C5CAC-F826-B9E1-159B-F28DDEB27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3157C-274B-A368-0AFB-07EE3D32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872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AED77-BC78-EF9B-2F64-7D496B94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CEDE815E-5CF8-7A56-E9D9-CD1A8F86BD73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DE815E-5CF8-7A56-E9D9-CD1A8F86BD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D65B26-9A61-6249-9142-9382F5EA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228600"/>
            <a:r>
              <a:rPr lang="en-GB">
                <a:solidFill>
                  <a:srgbClr val="050519"/>
                </a:solidFill>
                <a:latin typeface="Arial"/>
              </a:rPr>
              <a:t>Confidential &amp; Proprietary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43D83-42B3-7778-E3D1-A604DFB5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228600"/>
            <a:fld id="{F9A9DF1F-AAF4-42C8-8B76-672AEDF4D6A3}" type="slidenum">
              <a:rPr lang="en-GB">
                <a:solidFill>
                  <a:srgbClr val="050519"/>
                </a:solidFill>
                <a:latin typeface="Arial"/>
              </a:rPr>
              <a:pPr defTabSz="228600"/>
              <a:t>4</a:t>
            </a:fld>
            <a:endParaRPr lang="en-GB">
              <a:solidFill>
                <a:srgbClr val="050519"/>
              </a:solidFill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8A1126-0873-8C5F-782D-10E71D18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Frontier Firms IDI Case Study: Frontier Startup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E45D84-031D-9325-469D-836CE9435A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5588" y="2036763"/>
            <a:ext cx="2249044" cy="3948325"/>
          </a:xfrm>
        </p:spPr>
        <p:txBody>
          <a:bodyPr vert="horz" lIns="9144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200" b="1" i="0" u="none" strike="noStrike" kern="1200" cap="none" spc="-10" normalizeH="0" baseline="0" noProof="0">
              <a:ln>
                <a:noFill/>
              </a:ln>
              <a:solidFill>
                <a:srgbClr val="5856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1" i="0" u="none" strike="noStrike" kern="1200" cap="none" spc="-10" normalizeH="0" baseline="0" noProof="0">
                <a:ln>
                  <a:noFill/>
                </a:ln>
                <a:solidFill>
                  <a:srgbClr val="5856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Global Logistics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1" u="none" strike="noStrike" kern="1200" cap="none" spc="-10" normalizeH="0" baseline="0" noProof="0">
                <a:ln>
                  <a:noFill/>
                </a:ln>
                <a:solidFill>
                  <a:srgbClr val="05051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Launched in 1904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200" b="0" i="1" u="none" strike="noStrike" kern="1200" cap="none" spc="-10" normalizeH="0" baseline="0" noProof="0">
              <a:ln>
                <a:noFill/>
              </a:ln>
              <a:solidFill>
                <a:srgbClr val="05051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05051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Integrated logistics and container shipping with end-to-end supply chain coverage.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-10" normalizeH="0" baseline="0" noProof="0">
              <a:ln>
                <a:noFill/>
              </a:ln>
              <a:solidFill>
                <a:srgbClr val="5856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K Grotesk Medium" pitchFamily="50" charset="0"/>
              <a:buNone/>
              <a:tabLst/>
              <a:defRPr/>
            </a:pPr>
            <a:r>
              <a:rPr kumimoji="0" lang="en-US" sz="1200" b="1" i="1" u="none" strike="noStrike" kern="1200" cap="none" spc="-10" normalizeH="0" baseline="0" noProof="0">
                <a:ln>
                  <a:noFill/>
                </a:ln>
                <a:solidFill>
                  <a:srgbClr val="5856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AI tools used:</a:t>
            </a:r>
          </a:p>
          <a:p>
            <a:pPr marL="108000" lvl="1" indent="0">
              <a:buNone/>
            </a:pPr>
            <a:endParaRPr lang="en-GB">
              <a:latin typeface="+mj-lt"/>
            </a:endParaRPr>
          </a:p>
          <a:p>
            <a:endParaRPr lang="en-GB">
              <a:latin typeface="+mj-lt"/>
            </a:endParaRPr>
          </a:p>
          <a:p>
            <a:pPr marL="108000" lvl="1" indent="0">
              <a:buNone/>
            </a:pPr>
            <a:endParaRPr lang="en-GB">
              <a:solidFill>
                <a:schemeClr val="accent3"/>
              </a:solidFill>
              <a:latin typeface="+mj-lt"/>
            </a:endParaRPr>
          </a:p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8EB60B-662E-CEBB-70C5-95DA54635A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1" y="630559"/>
            <a:ext cx="11616655" cy="548434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85000"/>
              </a:lnSpc>
              <a:spcBef>
                <a:spcPts val="900"/>
              </a:spcBef>
            </a:pPr>
            <a:r>
              <a:rPr lang="en-US" sz="1800" spc="-55">
                <a:solidFill>
                  <a:schemeClr val="tx1"/>
                </a:solidFill>
              </a:rPr>
              <a:t>Enterprise firms are being selective and intentional in how they deploy agentic workflows to ensure no disruption to output level and consumer sentiment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C63309-7E19-1F1C-D393-15660A6867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73959" y="1520120"/>
            <a:ext cx="2880360" cy="3154911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b="1" spc="-10">
                <a:solidFill>
                  <a:schemeClr val="accent3"/>
                </a:solidFill>
              </a:rPr>
              <a:t>Operating model: Multi-layered comms protocol with limited manual input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Presentation layer creates case, LLM orchestration layer queries, data layer unifies data sources, then reasoning layer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CX agents review output and make changes; </a:t>
            </a:r>
            <a:r>
              <a:rPr 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in onboarded cases, human adjustment is needed 20% of the time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Currently designed as one-agent monolith, but considering multiple agents for different cases/orchestration types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Use GPT-4o tweaked for Azure OpenAI Services for cost efficiency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pc="-20">
              <a:solidFill>
                <a:srgbClr val="050519"/>
              </a:solidFill>
              <a:latin typeface="Arial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0525D1A-4BC1-D2F8-621C-86AAAE286CC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83194" y="1520120"/>
            <a:ext cx="2880360" cy="3195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b="1"/>
              <a:t>Enabling factors: Clear ownership and processes to support agentic growth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Tech stack owned by IT, agentic deployment a collective decision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Aggregate customer, service history, sales, CPQ, contracting, and shipment data into Azure Data Lake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Tech team review manual interventions every 14 days; Feed reviews back into orchestration layer and guardrails, potential SOP changes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Majority of </a:t>
            </a:r>
            <a:r>
              <a:rPr lang="en-US" alt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expertise is built with reskilling not new hires</a:t>
            </a:r>
            <a:r>
              <a:rPr lang="en-US" altLang="en-US" spc="-20">
                <a:solidFill>
                  <a:srgbClr val="050519"/>
                </a:solidFill>
                <a:latin typeface="Arial"/>
              </a:rPr>
              <a:t>; Design curriculum to increase AI fluency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10B15DD-5815-2A5B-597C-58A0AD80B39A}"/>
              </a:ext>
            </a:extLst>
          </p:cNvPr>
          <p:cNvCxnSpPr>
            <a:cxnSpLocks/>
          </p:cNvCxnSpPr>
          <p:nvPr/>
        </p:nvCxnSpPr>
        <p:spPr>
          <a:xfrm>
            <a:off x="2973818" y="1332707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CF6A65C1-ED63-9DF6-753B-CA0C6DE13D10}"/>
              </a:ext>
            </a:extLst>
          </p:cNvPr>
          <p:cNvSpPr txBox="1">
            <a:spLocks/>
          </p:cNvSpPr>
          <p:nvPr/>
        </p:nvSpPr>
        <p:spPr>
          <a:xfrm>
            <a:off x="2962824" y="4960566"/>
            <a:ext cx="4005244" cy="1266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Token burn is limited by internal testing guardrails</a:t>
            </a:r>
          </a:p>
          <a:p>
            <a:pPr lvl="1" defTabSz="457200"/>
            <a:r>
              <a:rPr lang="en-US" i="1" spc="-20">
                <a:solidFill>
                  <a:srgbClr val="050519"/>
                </a:solidFill>
              </a:rPr>
              <a:t>“[W]e limit the number of tokens that we are using only for those onboarded type of cases… </a:t>
            </a:r>
            <a:r>
              <a:rPr lang="en-US" b="1" i="1">
                <a:highlight>
                  <a:srgbClr val="DEDEFF"/>
                </a:highlight>
              </a:rPr>
              <a:t>We do not launch a particular version unless we are able to get to 60% of our acceptance in a test environment…</a:t>
            </a:r>
            <a:r>
              <a:rPr lang="en-US" i="1" spc="-20">
                <a:solidFill>
                  <a:srgbClr val="050519"/>
                </a:solidFill>
              </a:rPr>
              <a:t> Then we take it all the way to the 80% mark.”</a:t>
            </a:r>
            <a:endParaRPr lang="en-GB" i="1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AEF6B085-51DC-43CE-7E75-A3B1B14F8DAC}"/>
              </a:ext>
            </a:extLst>
          </p:cNvPr>
          <p:cNvSpPr txBox="1">
            <a:spLocks/>
          </p:cNvSpPr>
          <p:nvPr/>
        </p:nvSpPr>
        <p:spPr>
          <a:xfrm>
            <a:off x="7188200" y="4960566"/>
            <a:ext cx="4520838" cy="1362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Scale and economics support internal development</a:t>
            </a:r>
            <a:endParaRPr lang="en-GB" b="1"/>
          </a:p>
          <a:p>
            <a:r>
              <a:rPr lang="en-GB" i="1">
                <a:solidFill>
                  <a:schemeClr val="tx1"/>
                </a:solidFill>
              </a:rPr>
              <a:t>“The scale at which we operate, what we have generally seen </a:t>
            </a:r>
            <a:r>
              <a:rPr lang="en-GB" b="1" i="1">
                <a:solidFill>
                  <a:schemeClr val="tx1"/>
                </a:solidFill>
                <a:highlight>
                  <a:srgbClr val="DEDEFF"/>
                </a:highlight>
              </a:rPr>
              <a:t>when we build the tech stack internally, it works out to be a lot more economical for us… With a higher amount of efficiency as well…</a:t>
            </a:r>
            <a:r>
              <a:rPr lang="en-GB" i="1">
                <a:solidFill>
                  <a:schemeClr val="tx1"/>
                </a:solidFill>
              </a:rPr>
              <a:t> We typically go by an ROI-based approach… We saved close to $3.5M of cost associated with [the agentic service].”</a:t>
            </a:r>
            <a:endParaRPr lang="en-US" altLang="en-US" i="1">
              <a:solidFill>
                <a:schemeClr val="tx1"/>
              </a:solidFill>
            </a:endParaRP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3AAF7681-F733-1447-EB3A-C59724CFBED1}"/>
              </a:ext>
            </a:extLst>
          </p:cNvPr>
          <p:cNvSpPr txBox="1">
            <a:spLocks/>
          </p:cNvSpPr>
          <p:nvPr/>
        </p:nvSpPr>
        <p:spPr>
          <a:xfrm>
            <a:off x="3924801" y="5186922"/>
            <a:ext cx="170446" cy="260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4" name="Rectangle: Diagonal Corners Snipped 5">
            <a:extLst>
              <a:ext uri="{FF2B5EF4-FFF2-40B4-BE49-F238E27FC236}">
                <a16:creationId xmlns:a16="http://schemas.microsoft.com/office/drawing/2014/main" id="{75C21328-C7A5-C459-4BB1-CE67ED7B28C4}"/>
              </a:ext>
            </a:extLst>
          </p:cNvPr>
          <p:cNvSpPr/>
          <p:nvPr/>
        </p:nvSpPr>
        <p:spPr>
          <a:xfrm>
            <a:off x="256032" y="1332707"/>
            <a:ext cx="2249044" cy="549858"/>
          </a:xfrm>
          <a:prstGeom prst="snip2Diag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/>
              <a:t>Head of CRM Platform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5D938D-F291-82FA-9A2B-5065F7DC6712}"/>
              </a:ext>
            </a:extLst>
          </p:cNvPr>
          <p:cNvCxnSpPr>
            <a:cxnSpLocks/>
          </p:cNvCxnSpPr>
          <p:nvPr/>
        </p:nvCxnSpPr>
        <p:spPr>
          <a:xfrm>
            <a:off x="2973818" y="4893685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72A431D-677F-E1B2-E6D4-13EAABF8D33F}"/>
              </a:ext>
            </a:extLst>
          </p:cNvPr>
          <p:cNvSpPr txBox="1">
            <a:spLocks/>
          </p:cNvSpPr>
          <p:nvPr/>
        </p:nvSpPr>
        <p:spPr>
          <a:xfrm>
            <a:off x="9260874" y="1520119"/>
            <a:ext cx="2379844" cy="3195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Outcomes: Time reduction, increasing agentic workflows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Case resolution via 15+ systems on average </a:t>
            </a:r>
            <a:r>
              <a:rPr 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took 7 minutes, now reduced to 1 minute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6 million cases a year are being handled through agentic service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; Roadmap to go from 20% to 80%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High CSAT (90%) before agentic as key metric; currently at 92%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Explored new AI-initiative cross-selling lead investigation, </a:t>
            </a:r>
            <a:r>
              <a:rPr 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generated $100M last year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b="1" spc="0">
              <a:solidFill>
                <a:srgbClr val="101010"/>
              </a:solidFill>
              <a:highlight>
                <a:srgbClr val="DEDEFF"/>
              </a:highlight>
            </a:endParaRP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A390C98-158B-8908-ECA5-6E4E3EB6271E}"/>
              </a:ext>
            </a:extLst>
          </p:cNvPr>
          <p:cNvSpPr txBox="1">
            <a:spLocks/>
          </p:cNvSpPr>
          <p:nvPr/>
        </p:nvSpPr>
        <p:spPr>
          <a:xfrm>
            <a:off x="1243584" y="6464873"/>
            <a:ext cx="6373813" cy="258006"/>
          </a:xfrm>
          <a:prstGeom prst="rect">
            <a:avLst/>
          </a:prstGeom>
        </p:spPr>
        <p:txBody>
          <a:bodyPr vert="horz" lIns="0" tIns="0" rIns="0" bIns="0" numCol="2" spcCol="21600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9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Source: Keystone Frontier Firm Research (06/2026)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86F2A0D-4D67-64DB-7BE5-3F7C7E5EF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87" y="4614092"/>
            <a:ext cx="1004423" cy="17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sing Dependency Injection in C# to Configure Secret-Less Access to Cosmos  DB | by Vladimir Gusarov | Medium">
            <a:extLst>
              <a:ext uri="{FF2B5EF4-FFF2-40B4-BE49-F238E27FC236}">
                <a16:creationId xmlns:a16="http://schemas.microsoft.com/office/drawing/2014/main" id="{DD6A96D0-53B5-86AA-9344-BF415FEA77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6" r="15396"/>
          <a:stretch>
            <a:fillRect/>
          </a:stretch>
        </p:blipFill>
        <p:spPr bwMode="auto">
          <a:xfrm>
            <a:off x="374482" y="4912128"/>
            <a:ext cx="931196" cy="61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58C25581-5711-C972-24E4-1C8E5F11F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82" y="5654037"/>
            <a:ext cx="810468" cy="21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crosoft CoPilot by Microsoft">
            <a:extLst>
              <a:ext uri="{FF2B5EF4-FFF2-40B4-BE49-F238E27FC236}">
                <a16:creationId xmlns:a16="http://schemas.microsoft.com/office/drawing/2014/main" id="{0CB2BE9B-B2C4-B96D-0869-E8816C06E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82" y="6000407"/>
            <a:ext cx="980632" cy="24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0705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93A2F-B96D-34A0-22F6-F346479F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15B289B0-36E7-8A94-9ECF-6F5DB4D869C8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B289B0-36E7-8A94-9ECF-6F5DB4D869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0CA42C-DC9D-724C-B2E3-F59EFA2D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228600"/>
            <a:r>
              <a:rPr lang="en-GB">
                <a:solidFill>
                  <a:srgbClr val="050519"/>
                </a:solidFill>
                <a:latin typeface="Arial"/>
              </a:rPr>
              <a:t>Confidential &amp; Proprietary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FA06AE-DD79-5E5B-0844-2DD5D9D6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228600"/>
            <a:fld id="{F9A9DF1F-AAF4-42C8-8B76-672AEDF4D6A3}" type="slidenum">
              <a:rPr lang="en-GB">
                <a:solidFill>
                  <a:srgbClr val="050519"/>
                </a:solidFill>
                <a:latin typeface="Arial"/>
              </a:rPr>
              <a:pPr defTabSz="228600"/>
              <a:t>5</a:t>
            </a:fld>
            <a:endParaRPr lang="en-GB">
              <a:solidFill>
                <a:srgbClr val="050519"/>
              </a:solidFill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F2C2E4-FC1D-3914-E728-B5DED7A21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Frontier Firms IDI Case Study: Frontier Enterprise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2404C0-89D3-A6C6-5EB1-3FEEABA13D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5588" y="2036763"/>
            <a:ext cx="2249044" cy="3948325"/>
          </a:xfrm>
        </p:spPr>
        <p:txBody>
          <a:bodyPr vert="horz" lIns="9144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200" b="1" i="0" u="none" strike="noStrike" kern="1200" cap="none" spc="-10" normalizeH="0" baseline="0" noProof="0">
              <a:ln>
                <a:noFill/>
              </a:ln>
              <a:solidFill>
                <a:srgbClr val="5856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1" i="0" u="none" strike="noStrike" kern="1200" cap="none" spc="-10" normalizeH="0" baseline="0" noProof="0">
                <a:ln>
                  <a:noFill/>
                </a:ln>
                <a:solidFill>
                  <a:srgbClr val="5856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Global Financial Services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1" u="none" strike="noStrike" kern="1200" cap="none" spc="-10" normalizeH="0" baseline="0" noProof="0">
                <a:ln>
                  <a:noFill/>
                </a:ln>
                <a:solidFill>
                  <a:srgbClr val="05051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Launched in 2000*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200" b="0" i="1" u="none" strike="noStrike" kern="1200" cap="none" spc="-10" normalizeH="0" baseline="0" noProof="0">
              <a:ln>
                <a:noFill/>
              </a:ln>
              <a:solidFill>
                <a:srgbClr val="05051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05051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Blurb.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-10" normalizeH="0" baseline="0" noProof="0">
              <a:ln>
                <a:noFill/>
              </a:ln>
              <a:solidFill>
                <a:srgbClr val="5856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K Grotesk Medium" pitchFamily="50" charset="0"/>
              <a:buNone/>
              <a:tabLst/>
              <a:defRPr/>
            </a:pPr>
            <a:r>
              <a:rPr kumimoji="0" lang="en-US" sz="1200" b="1" i="1" u="none" strike="noStrike" kern="1200" cap="none" spc="-10" normalizeH="0" baseline="0" noProof="0">
                <a:ln>
                  <a:noFill/>
                </a:ln>
                <a:solidFill>
                  <a:srgbClr val="5856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AI tools used:</a:t>
            </a:r>
          </a:p>
          <a:p>
            <a:pPr marL="108000" lvl="1" indent="0">
              <a:buNone/>
            </a:pPr>
            <a:endParaRPr lang="en-GB">
              <a:latin typeface="+mj-lt"/>
            </a:endParaRPr>
          </a:p>
          <a:p>
            <a:endParaRPr lang="en-GB">
              <a:latin typeface="+mj-lt"/>
            </a:endParaRPr>
          </a:p>
          <a:p>
            <a:pPr marL="108000" lvl="1" indent="0">
              <a:buNone/>
            </a:pPr>
            <a:endParaRPr lang="en-GB">
              <a:solidFill>
                <a:schemeClr val="accent3"/>
              </a:solidFill>
              <a:latin typeface="+mj-lt"/>
            </a:endParaRPr>
          </a:p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514676-BDEC-A02B-A910-B51AF297DB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1" y="630559"/>
            <a:ext cx="11616655" cy="548434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85000"/>
              </a:lnSpc>
              <a:spcBef>
                <a:spcPts val="900"/>
              </a:spcBef>
            </a:pPr>
            <a:r>
              <a:rPr lang="en-US" sz="1800" spc="-55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329FD00-060E-F0F8-A5FA-8AB52003423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73959" y="1520120"/>
            <a:ext cx="2880360" cy="3154911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b="1" spc="-10">
                <a:solidFill>
                  <a:schemeClr val="accent3"/>
                </a:solidFill>
              </a:rPr>
              <a:t>O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T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pc="-20">
              <a:solidFill>
                <a:srgbClr val="050519"/>
              </a:solidFill>
              <a:latin typeface="Arial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13F988-F887-0B3E-F6D6-71C4168A26C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83194" y="1520120"/>
            <a:ext cx="2880360" cy="3195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b="1"/>
              <a:t>Enabling factors: T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150000-D754-8A7E-9604-900E8219EC5E}"/>
              </a:ext>
            </a:extLst>
          </p:cNvPr>
          <p:cNvCxnSpPr>
            <a:cxnSpLocks/>
          </p:cNvCxnSpPr>
          <p:nvPr/>
        </p:nvCxnSpPr>
        <p:spPr>
          <a:xfrm>
            <a:off x="2973818" y="1332707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23C1FBA7-1E31-994C-3588-B9F08D64A0A0}"/>
              </a:ext>
            </a:extLst>
          </p:cNvPr>
          <p:cNvSpPr txBox="1">
            <a:spLocks/>
          </p:cNvSpPr>
          <p:nvPr/>
        </p:nvSpPr>
        <p:spPr>
          <a:xfrm>
            <a:off x="2962824" y="4960566"/>
            <a:ext cx="4005244" cy="1266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Q</a:t>
            </a:r>
          </a:p>
          <a:p>
            <a:pPr lvl="1" defTabSz="457200"/>
            <a:r>
              <a:rPr lang="en-US" i="1" spc="-20">
                <a:solidFill>
                  <a:srgbClr val="050519"/>
                </a:solidFill>
              </a:rPr>
              <a:t>“</a:t>
            </a:r>
            <a:endParaRPr lang="en-GB" i="1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A690B361-5976-EAED-EC13-124E19BF66AA}"/>
              </a:ext>
            </a:extLst>
          </p:cNvPr>
          <p:cNvSpPr txBox="1">
            <a:spLocks/>
          </p:cNvSpPr>
          <p:nvPr/>
        </p:nvSpPr>
        <p:spPr>
          <a:xfrm>
            <a:off x="7188200" y="4960566"/>
            <a:ext cx="4520838" cy="1362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Q</a:t>
            </a:r>
            <a:endParaRPr lang="en-GB" b="1"/>
          </a:p>
          <a:p>
            <a:r>
              <a:rPr lang="en-GB" i="1">
                <a:solidFill>
                  <a:schemeClr val="tx1"/>
                </a:solidFill>
              </a:rPr>
              <a:t>“</a:t>
            </a:r>
            <a:endParaRPr lang="en-US" altLang="en-US" i="1">
              <a:solidFill>
                <a:schemeClr val="tx1"/>
              </a:solidFill>
            </a:endParaRP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C973827D-F400-E0B9-32F2-98ABB6CB0B6F}"/>
              </a:ext>
            </a:extLst>
          </p:cNvPr>
          <p:cNvSpPr txBox="1">
            <a:spLocks/>
          </p:cNvSpPr>
          <p:nvPr/>
        </p:nvSpPr>
        <p:spPr>
          <a:xfrm>
            <a:off x="3924801" y="5186922"/>
            <a:ext cx="170446" cy="260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4" name="Rectangle: Diagonal Corners Snipped 5">
            <a:extLst>
              <a:ext uri="{FF2B5EF4-FFF2-40B4-BE49-F238E27FC236}">
                <a16:creationId xmlns:a16="http://schemas.microsoft.com/office/drawing/2014/main" id="{154181E2-A676-8B2B-7697-4399DCB8F305}"/>
              </a:ext>
            </a:extLst>
          </p:cNvPr>
          <p:cNvSpPr/>
          <p:nvPr/>
        </p:nvSpPr>
        <p:spPr>
          <a:xfrm>
            <a:off x="256032" y="1332707"/>
            <a:ext cx="2249044" cy="549858"/>
          </a:xfrm>
          <a:prstGeom prst="snip2Diag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/>
              <a:t>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B7C7DE-2587-445B-92B4-9AD066F1E05B}"/>
              </a:ext>
            </a:extLst>
          </p:cNvPr>
          <p:cNvCxnSpPr>
            <a:cxnSpLocks/>
          </p:cNvCxnSpPr>
          <p:nvPr/>
        </p:nvCxnSpPr>
        <p:spPr>
          <a:xfrm>
            <a:off x="2973818" y="4893685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D4B9931A-596F-812F-1111-DD468C81AE6C}"/>
              </a:ext>
            </a:extLst>
          </p:cNvPr>
          <p:cNvSpPr txBox="1">
            <a:spLocks/>
          </p:cNvSpPr>
          <p:nvPr/>
        </p:nvSpPr>
        <p:spPr>
          <a:xfrm>
            <a:off x="9260874" y="1520119"/>
            <a:ext cx="2379844" cy="3195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Outcomes: T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T</a:t>
            </a:r>
            <a:endParaRPr lang="en-US" b="1" spc="-20">
              <a:solidFill>
                <a:srgbClr val="050519"/>
              </a:solidFill>
              <a:highlight>
                <a:srgbClr val="DEDDFF"/>
              </a:highlight>
              <a:latin typeface="Arial"/>
            </a:endParaRP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b="1" spc="0">
              <a:solidFill>
                <a:srgbClr val="101010"/>
              </a:solidFill>
              <a:highlight>
                <a:srgbClr val="DEDEFF"/>
              </a:highlight>
            </a:endParaRP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BCB44E8-7A64-3945-5C36-2E269F3E290C}"/>
              </a:ext>
            </a:extLst>
          </p:cNvPr>
          <p:cNvSpPr txBox="1">
            <a:spLocks/>
          </p:cNvSpPr>
          <p:nvPr/>
        </p:nvSpPr>
        <p:spPr>
          <a:xfrm>
            <a:off x="1243584" y="6464873"/>
            <a:ext cx="6373813" cy="258006"/>
          </a:xfrm>
          <a:prstGeom prst="rect">
            <a:avLst/>
          </a:prstGeom>
        </p:spPr>
        <p:txBody>
          <a:bodyPr vert="horz" lIns="0" tIns="0" rIns="0" bIns="0" numCol="2" spcCol="21600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9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Source: Keystone Frontier Firm Research (06/2026)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37BB8E6-20D5-AF05-C7ED-53B49DF7E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87" y="4510749"/>
            <a:ext cx="1004423" cy="17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674A4F-53FC-F50D-1967-7A17546BBAA2}"/>
              </a:ext>
            </a:extLst>
          </p:cNvPr>
          <p:cNvSpPr/>
          <p:nvPr/>
        </p:nvSpPr>
        <p:spPr>
          <a:xfrm>
            <a:off x="9425289" y="393668"/>
            <a:ext cx="2448163" cy="406902"/>
          </a:xfrm>
          <a:prstGeom prst="roundRect">
            <a:avLst/>
          </a:prstGeom>
          <a:solidFill>
            <a:schemeClr val="accent4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JPMC Kal</a:t>
            </a:r>
          </a:p>
        </p:txBody>
      </p:sp>
      <p:pic>
        <p:nvPicPr>
          <p:cNvPr id="13" name="Picture 4" descr="LangGraph logo in PNG and vector formats (SVG, EPS)">
            <a:extLst>
              <a:ext uri="{FF2B5EF4-FFF2-40B4-BE49-F238E27FC236}">
                <a16:creationId xmlns:a16="http://schemas.microsoft.com/office/drawing/2014/main" id="{3013D07D-949A-383E-B742-5505B7C64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87" y="4704547"/>
            <a:ext cx="1081053" cy="17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108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774C6656-C41C-F8AE-5D8F-250FB4136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on Enterprise vs Startup Frontier Firm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45B4D6-DAED-45BE-CA2B-BF2C9BB8F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ECDC08-7E1D-BD22-8AAD-D65BC465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B211743-C772-3446-A35B-79016FC82F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36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8A3AA-5750-98B8-3968-67FB29CE6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00A9E03-B252-A6A2-8942-14F685B4366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0A9E03-B252-A6A2-8942-14F685B436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49B4F69-1DD6-3A3E-2841-47630DC63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Operating Model &amp; Initial Scorecard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C1C2B-7568-1C37-F39F-F0354D74F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2CC99-9BAB-027A-A71C-2460D55F2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08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146304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operating model to scorecard: structure and a sample enterprise read-out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10608628" y="146304"/>
            <a:ext cx="1325880" cy="292608"/>
          </a:xfrm>
          <a:prstGeom prst="rect">
            <a:avLst/>
          </a:prstGeom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08628" y="1463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</a:t>
            </a:r>
            <a:endParaRPr lang="en-US" sz="1000"/>
          </a:p>
        </p:txBody>
      </p:sp>
      <p:pic>
        <p:nvPicPr>
          <p:cNvPr id="5" name="Image 0" descr="k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68" y="6437376"/>
            <a:ext cx="310896" cy="2606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24948" y="6473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850"/>
          </a:p>
        </p:txBody>
      </p:sp>
      <p:sp>
        <p:nvSpPr>
          <p:cNvPr id="7" name="Text 4"/>
          <p:cNvSpPr/>
          <p:nvPr/>
        </p:nvSpPr>
        <p:spPr>
          <a:xfrm>
            <a:off x="11614468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/>
          </a:p>
        </p:txBody>
      </p:sp>
      <p:sp>
        <p:nvSpPr>
          <p:cNvPr id="8" name="Shape 5"/>
          <p:cNvSpPr/>
          <p:nvPr/>
        </p:nvSpPr>
        <p:spPr>
          <a:xfrm>
            <a:off x="413068" y="1325880"/>
            <a:ext cx="2395728" cy="384048"/>
          </a:xfrm>
          <a:prstGeom prst="rect">
            <a:avLst/>
          </a:prstGeom>
          <a:solidFill>
            <a:srgbClr val="5856FF"/>
          </a:solidFill>
          <a:ln w="12700">
            <a:solidFill>
              <a:srgbClr val="585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6220" y="132588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50"/>
          </a:p>
        </p:txBody>
      </p:sp>
      <p:sp>
        <p:nvSpPr>
          <p:cNvPr id="10" name="Text 7"/>
          <p:cNvSpPr/>
          <p:nvPr/>
        </p:nvSpPr>
        <p:spPr>
          <a:xfrm>
            <a:off x="235159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413068" y="18013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22796" y="18013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environments</a:t>
            </a:r>
            <a:endParaRPr lang="en-US" sz="950"/>
          </a:p>
        </p:txBody>
      </p:sp>
      <p:sp>
        <p:nvSpPr>
          <p:cNvPr id="13" name="Text 10"/>
          <p:cNvSpPr/>
          <p:nvPr/>
        </p:nvSpPr>
        <p:spPr>
          <a:xfrm>
            <a:off x="2397316" y="18013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/>
          </a:p>
        </p:txBody>
      </p:sp>
      <p:sp>
        <p:nvSpPr>
          <p:cNvPr id="14" name="Shape 11"/>
          <p:cNvSpPr/>
          <p:nvPr/>
        </p:nvSpPr>
        <p:spPr>
          <a:xfrm>
            <a:off x="413068" y="22585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2796" y="22585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950"/>
          </a:p>
        </p:txBody>
      </p:sp>
      <p:sp>
        <p:nvSpPr>
          <p:cNvPr id="16" name="Text 13"/>
          <p:cNvSpPr/>
          <p:nvPr/>
        </p:nvSpPr>
        <p:spPr>
          <a:xfrm>
            <a:off x="2397316" y="22585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/>
          </a:p>
        </p:txBody>
      </p:sp>
      <p:sp>
        <p:nvSpPr>
          <p:cNvPr id="17" name="Shape 14"/>
          <p:cNvSpPr/>
          <p:nvPr/>
        </p:nvSpPr>
        <p:spPr>
          <a:xfrm>
            <a:off x="413068" y="27157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22796" y="27157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connection</a:t>
            </a:r>
            <a:endParaRPr lang="en-US" sz="950"/>
          </a:p>
        </p:txBody>
      </p:sp>
      <p:sp>
        <p:nvSpPr>
          <p:cNvPr id="19" name="Text 16"/>
          <p:cNvSpPr/>
          <p:nvPr/>
        </p:nvSpPr>
        <p:spPr>
          <a:xfrm>
            <a:off x="2397316" y="27157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/>
          </a:p>
        </p:txBody>
      </p:sp>
      <p:sp>
        <p:nvSpPr>
          <p:cNvPr id="20" name="Shape 17"/>
          <p:cNvSpPr/>
          <p:nvPr/>
        </p:nvSpPr>
        <p:spPr>
          <a:xfrm>
            <a:off x="413068" y="31729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22796" y="31729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context substrate</a:t>
            </a:r>
            <a:endParaRPr lang="en-US" sz="950"/>
          </a:p>
        </p:txBody>
      </p:sp>
      <p:sp>
        <p:nvSpPr>
          <p:cNvPr id="22" name="Text 19"/>
          <p:cNvSpPr/>
          <p:nvPr/>
        </p:nvSpPr>
        <p:spPr>
          <a:xfrm>
            <a:off x="2397316" y="31729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/>
          </a:p>
        </p:txBody>
      </p:sp>
      <p:sp>
        <p:nvSpPr>
          <p:cNvPr id="23" name="Shape 20"/>
          <p:cNvSpPr/>
          <p:nvPr/>
        </p:nvSpPr>
        <p:spPr>
          <a:xfrm>
            <a:off x="413068" y="36301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2796" y="36301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/ telemetry infra</a:t>
            </a:r>
            <a:endParaRPr lang="en-US" sz="950"/>
          </a:p>
        </p:txBody>
      </p:sp>
      <p:sp>
        <p:nvSpPr>
          <p:cNvPr id="25" name="Text 22"/>
          <p:cNvSpPr/>
          <p:nvPr/>
        </p:nvSpPr>
        <p:spPr>
          <a:xfrm>
            <a:off x="2397316" y="36301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/>
          </a:p>
        </p:txBody>
      </p:sp>
      <p:sp>
        <p:nvSpPr>
          <p:cNvPr id="26" name="Shape 23"/>
          <p:cNvSpPr/>
          <p:nvPr/>
        </p:nvSpPr>
        <p:spPr>
          <a:xfrm>
            <a:off x="413068" y="40873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22796" y="40873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950"/>
          </a:p>
        </p:txBody>
      </p:sp>
      <p:sp>
        <p:nvSpPr>
          <p:cNvPr id="28" name="Text 25"/>
          <p:cNvSpPr/>
          <p:nvPr/>
        </p:nvSpPr>
        <p:spPr>
          <a:xfrm>
            <a:off x="2397316" y="40873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/>
          </a:p>
        </p:txBody>
      </p:sp>
      <p:sp>
        <p:nvSpPr>
          <p:cNvPr id="29" name="Text 26"/>
          <p:cNvSpPr/>
          <p:nvPr/>
        </p:nvSpPr>
        <p:spPr>
          <a:xfrm>
            <a:off x="431356" y="459028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85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swap models at the task level?</a:t>
            </a:r>
            <a:endParaRPr lang="en-US" sz="850"/>
          </a:p>
        </p:txBody>
      </p:sp>
      <p:sp>
        <p:nvSpPr>
          <p:cNvPr id="30" name="Shape 27"/>
          <p:cNvSpPr/>
          <p:nvPr/>
        </p:nvSpPr>
        <p:spPr>
          <a:xfrm>
            <a:off x="2955100" y="1325880"/>
            <a:ext cx="2395728" cy="384048"/>
          </a:xfrm>
          <a:prstGeom prst="rect">
            <a:avLst/>
          </a:prstGeom>
          <a:solidFill>
            <a:srgbClr val="5856FF"/>
          </a:solidFill>
          <a:ln w="12700">
            <a:solidFill>
              <a:srgbClr val="585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028252" y="132588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050"/>
          </a:p>
        </p:txBody>
      </p:sp>
      <p:sp>
        <p:nvSpPr>
          <p:cNvPr id="32" name="Text 29"/>
          <p:cNvSpPr/>
          <p:nvPr/>
        </p:nvSpPr>
        <p:spPr>
          <a:xfrm>
            <a:off x="4893628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100"/>
          </a:p>
        </p:txBody>
      </p:sp>
      <p:sp>
        <p:nvSpPr>
          <p:cNvPr id="33" name="Shape 30"/>
          <p:cNvSpPr/>
          <p:nvPr/>
        </p:nvSpPr>
        <p:spPr>
          <a:xfrm>
            <a:off x="2955100" y="18013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064828" y="18013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management</a:t>
            </a:r>
            <a:endParaRPr lang="en-US" sz="950"/>
          </a:p>
        </p:txBody>
      </p:sp>
      <p:sp>
        <p:nvSpPr>
          <p:cNvPr id="35" name="Text 32"/>
          <p:cNvSpPr/>
          <p:nvPr/>
        </p:nvSpPr>
        <p:spPr>
          <a:xfrm>
            <a:off x="4939348" y="18013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/>
          </a:p>
        </p:txBody>
      </p:sp>
      <p:sp>
        <p:nvSpPr>
          <p:cNvPr id="36" name="Shape 33"/>
          <p:cNvSpPr/>
          <p:nvPr/>
        </p:nvSpPr>
        <p:spPr>
          <a:xfrm>
            <a:off x="2955100" y="22585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3064828" y="22585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design</a:t>
            </a:r>
            <a:endParaRPr lang="en-US" sz="950"/>
          </a:p>
        </p:txBody>
      </p:sp>
      <p:sp>
        <p:nvSpPr>
          <p:cNvPr id="38" name="Text 35"/>
          <p:cNvSpPr/>
          <p:nvPr/>
        </p:nvSpPr>
        <p:spPr>
          <a:xfrm>
            <a:off x="4939348" y="22585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/>
          </a:p>
        </p:txBody>
      </p:sp>
      <p:sp>
        <p:nvSpPr>
          <p:cNvPr id="39" name="Shape 36"/>
          <p:cNvSpPr/>
          <p:nvPr/>
        </p:nvSpPr>
        <p:spPr>
          <a:xfrm>
            <a:off x="2955100" y="27157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064828" y="27157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&amp; task design</a:t>
            </a:r>
            <a:endParaRPr lang="en-US" sz="950"/>
          </a:p>
        </p:txBody>
      </p:sp>
      <p:sp>
        <p:nvSpPr>
          <p:cNvPr id="41" name="Text 38"/>
          <p:cNvSpPr/>
          <p:nvPr/>
        </p:nvSpPr>
        <p:spPr>
          <a:xfrm>
            <a:off x="4939348" y="27157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/>
          </a:p>
        </p:txBody>
      </p:sp>
      <p:sp>
        <p:nvSpPr>
          <p:cNvPr id="42" name="Shape 39"/>
          <p:cNvSpPr/>
          <p:nvPr/>
        </p:nvSpPr>
        <p:spPr>
          <a:xfrm>
            <a:off x="2955100" y="31729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3064828" y="31729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950"/>
          </a:p>
        </p:txBody>
      </p:sp>
      <p:sp>
        <p:nvSpPr>
          <p:cNvPr id="44" name="Text 41"/>
          <p:cNvSpPr/>
          <p:nvPr/>
        </p:nvSpPr>
        <p:spPr>
          <a:xfrm>
            <a:off x="4939348" y="31729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/>
          </a:p>
        </p:txBody>
      </p:sp>
      <p:sp>
        <p:nvSpPr>
          <p:cNvPr id="45" name="Shape 42"/>
          <p:cNvSpPr/>
          <p:nvPr/>
        </p:nvSpPr>
        <p:spPr>
          <a:xfrm>
            <a:off x="2955100" y="36301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3064828" y="36301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950"/>
          </a:p>
        </p:txBody>
      </p:sp>
      <p:sp>
        <p:nvSpPr>
          <p:cNvPr id="47" name="Text 44"/>
          <p:cNvSpPr/>
          <p:nvPr/>
        </p:nvSpPr>
        <p:spPr>
          <a:xfrm>
            <a:off x="4939348" y="36301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/>
          </a:p>
        </p:txBody>
      </p:sp>
      <p:sp>
        <p:nvSpPr>
          <p:cNvPr id="48" name="Shape 45"/>
          <p:cNvSpPr/>
          <p:nvPr/>
        </p:nvSpPr>
        <p:spPr>
          <a:xfrm>
            <a:off x="2955100" y="40873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3064828" y="40873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systems</a:t>
            </a:r>
            <a:endParaRPr lang="en-US" sz="950"/>
          </a:p>
        </p:txBody>
      </p:sp>
      <p:sp>
        <p:nvSpPr>
          <p:cNvPr id="50" name="Text 47"/>
          <p:cNvSpPr/>
          <p:nvPr/>
        </p:nvSpPr>
        <p:spPr>
          <a:xfrm>
            <a:off x="4939348" y="40873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/>
          </a:p>
        </p:txBody>
      </p:sp>
      <p:sp>
        <p:nvSpPr>
          <p:cNvPr id="51" name="Text 48"/>
          <p:cNvSpPr/>
          <p:nvPr/>
        </p:nvSpPr>
        <p:spPr>
          <a:xfrm>
            <a:off x="2973388" y="459028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85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agent identity &amp; access managed centrally?</a:t>
            </a:r>
            <a:endParaRPr lang="en-US" sz="850"/>
          </a:p>
        </p:txBody>
      </p:sp>
      <p:sp>
        <p:nvSpPr>
          <p:cNvPr id="52" name="Shape 49"/>
          <p:cNvSpPr/>
          <p:nvPr/>
        </p:nvSpPr>
        <p:spPr>
          <a:xfrm>
            <a:off x="5497132" y="1325880"/>
            <a:ext cx="2395728" cy="384048"/>
          </a:xfrm>
          <a:prstGeom prst="rect">
            <a:avLst/>
          </a:prstGeom>
          <a:solidFill>
            <a:srgbClr val="5856FF"/>
          </a:solidFill>
          <a:ln w="12700">
            <a:solidFill>
              <a:srgbClr val="585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570284" y="132588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Capabilities</a:t>
            </a:r>
            <a:endParaRPr lang="en-US" sz="1050"/>
          </a:p>
        </p:txBody>
      </p:sp>
      <p:sp>
        <p:nvSpPr>
          <p:cNvPr id="54" name="Text 51"/>
          <p:cNvSpPr/>
          <p:nvPr/>
        </p:nvSpPr>
        <p:spPr>
          <a:xfrm>
            <a:off x="74356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100"/>
          </a:p>
        </p:txBody>
      </p:sp>
      <p:sp>
        <p:nvSpPr>
          <p:cNvPr id="55" name="Shape 52"/>
          <p:cNvSpPr/>
          <p:nvPr/>
        </p:nvSpPr>
        <p:spPr>
          <a:xfrm>
            <a:off x="5497132" y="18013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5606860" y="18013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structure &amp; composition</a:t>
            </a:r>
            <a:endParaRPr lang="en-US" sz="950"/>
          </a:p>
        </p:txBody>
      </p:sp>
      <p:sp>
        <p:nvSpPr>
          <p:cNvPr id="57" name="Text 54"/>
          <p:cNvSpPr/>
          <p:nvPr/>
        </p:nvSpPr>
        <p:spPr>
          <a:xfrm>
            <a:off x="7481380" y="18013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/>
          </a:p>
        </p:txBody>
      </p:sp>
      <p:sp>
        <p:nvSpPr>
          <p:cNvPr id="58" name="Shape 55"/>
          <p:cNvSpPr/>
          <p:nvPr/>
        </p:nvSpPr>
        <p:spPr>
          <a:xfrm>
            <a:off x="5497132" y="22585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5606860" y="22585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readiness</a:t>
            </a:r>
            <a:endParaRPr lang="en-US" sz="950"/>
          </a:p>
        </p:txBody>
      </p:sp>
      <p:sp>
        <p:nvSpPr>
          <p:cNvPr id="60" name="Text 57"/>
          <p:cNvSpPr/>
          <p:nvPr/>
        </p:nvSpPr>
        <p:spPr>
          <a:xfrm>
            <a:off x="7481380" y="22585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/>
          </a:p>
        </p:txBody>
      </p:sp>
      <p:sp>
        <p:nvSpPr>
          <p:cNvPr id="61" name="Shape 58"/>
          <p:cNvSpPr/>
          <p:nvPr/>
        </p:nvSpPr>
        <p:spPr>
          <a:xfrm>
            <a:off x="5497132" y="27157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606860" y="27157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management</a:t>
            </a:r>
            <a:endParaRPr lang="en-US" sz="950"/>
          </a:p>
        </p:txBody>
      </p:sp>
      <p:sp>
        <p:nvSpPr>
          <p:cNvPr id="63" name="Text 60"/>
          <p:cNvSpPr/>
          <p:nvPr/>
        </p:nvSpPr>
        <p:spPr>
          <a:xfrm>
            <a:off x="7481380" y="27157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/>
          </a:p>
        </p:txBody>
      </p:sp>
      <p:sp>
        <p:nvSpPr>
          <p:cNvPr id="64" name="Shape 61"/>
          <p:cNvSpPr/>
          <p:nvPr/>
        </p:nvSpPr>
        <p:spPr>
          <a:xfrm>
            <a:off x="5497132" y="31729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5606860" y="31729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learning culture</a:t>
            </a:r>
            <a:endParaRPr lang="en-US" sz="950"/>
          </a:p>
        </p:txBody>
      </p:sp>
      <p:sp>
        <p:nvSpPr>
          <p:cNvPr id="66" name="Text 63"/>
          <p:cNvSpPr/>
          <p:nvPr/>
        </p:nvSpPr>
        <p:spPr>
          <a:xfrm>
            <a:off x="7481380" y="31729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/>
          </a:p>
        </p:txBody>
      </p:sp>
      <p:sp>
        <p:nvSpPr>
          <p:cNvPr id="67" name="Shape 64"/>
          <p:cNvSpPr/>
          <p:nvPr/>
        </p:nvSpPr>
        <p:spPr>
          <a:xfrm>
            <a:off x="5497132" y="36301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5606860" y="36301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&amp; accountability</a:t>
            </a:r>
            <a:endParaRPr lang="en-US" sz="950"/>
          </a:p>
        </p:txBody>
      </p:sp>
      <p:sp>
        <p:nvSpPr>
          <p:cNvPr id="69" name="Text 66"/>
          <p:cNvSpPr/>
          <p:nvPr/>
        </p:nvSpPr>
        <p:spPr>
          <a:xfrm>
            <a:off x="7481380" y="36301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/>
          </a:p>
        </p:txBody>
      </p:sp>
      <p:sp>
        <p:nvSpPr>
          <p:cNvPr id="70" name="Shape 67"/>
          <p:cNvSpPr/>
          <p:nvPr/>
        </p:nvSpPr>
        <p:spPr>
          <a:xfrm>
            <a:off x="5497132" y="4087368"/>
            <a:ext cx="2395728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5606860" y="408736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economics &amp; value</a:t>
            </a:r>
            <a:endParaRPr lang="en-US" sz="950"/>
          </a:p>
        </p:txBody>
      </p:sp>
      <p:sp>
        <p:nvSpPr>
          <p:cNvPr id="72" name="Text 69"/>
          <p:cNvSpPr/>
          <p:nvPr/>
        </p:nvSpPr>
        <p:spPr>
          <a:xfrm>
            <a:off x="7481380" y="40873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/>
          </a:p>
        </p:txBody>
      </p:sp>
      <p:sp>
        <p:nvSpPr>
          <p:cNvPr id="73" name="Text 70"/>
          <p:cNvSpPr/>
          <p:nvPr/>
        </p:nvSpPr>
        <p:spPr>
          <a:xfrm>
            <a:off x="5515420" y="459028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85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AI leverage factor into promotion?</a:t>
            </a:r>
            <a:endParaRPr lang="en-US" sz="850"/>
          </a:p>
        </p:txBody>
      </p:sp>
      <p:sp>
        <p:nvSpPr>
          <p:cNvPr id="74" name="Shape 71"/>
          <p:cNvSpPr/>
          <p:nvPr/>
        </p:nvSpPr>
        <p:spPr>
          <a:xfrm>
            <a:off x="8094028" y="1325880"/>
            <a:ext cx="3639312" cy="384048"/>
          </a:xfrm>
          <a:prstGeom prst="rect">
            <a:avLst/>
          </a:prstGeom>
          <a:solidFill>
            <a:srgbClr val="050519"/>
          </a:solidFill>
          <a:ln w="12700">
            <a:solidFill>
              <a:srgbClr val="0505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8203756" y="1325880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output</a:t>
            </a:r>
            <a:endParaRPr lang="en-US" sz="1100"/>
          </a:p>
        </p:txBody>
      </p:sp>
      <p:sp>
        <p:nvSpPr>
          <p:cNvPr id="76" name="Shape 73"/>
          <p:cNvSpPr/>
          <p:nvPr/>
        </p:nvSpPr>
        <p:spPr>
          <a:xfrm>
            <a:off x="8094028" y="1709928"/>
            <a:ext cx="3639312" cy="3776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8240332" y="180136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Financial Services</a:t>
            </a:r>
            <a:endParaRPr lang="en-US" sz="1200"/>
          </a:p>
        </p:txBody>
      </p:sp>
      <p:sp>
        <p:nvSpPr>
          <p:cNvPr id="78" name="Text 75"/>
          <p:cNvSpPr/>
          <p:nvPr/>
        </p:nvSpPr>
        <p:spPr>
          <a:xfrm>
            <a:off x="8240332" y="2039112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— not a real firm</a:t>
            </a:r>
            <a:endParaRPr lang="en-US" sz="850"/>
          </a:p>
        </p:txBody>
      </p:sp>
      <p:sp>
        <p:nvSpPr>
          <p:cNvPr id="79" name="Text 76"/>
          <p:cNvSpPr/>
          <p:nvPr/>
        </p:nvSpPr>
        <p:spPr>
          <a:xfrm>
            <a:off x="8240332" y="231343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950"/>
          </a:p>
        </p:txBody>
      </p:sp>
      <p:sp>
        <p:nvSpPr>
          <p:cNvPr id="80" name="Text 77"/>
          <p:cNvSpPr/>
          <p:nvPr/>
        </p:nvSpPr>
        <p:spPr>
          <a:xfrm>
            <a:off x="10773220" y="23134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42/100</a:t>
            </a:r>
            <a:endParaRPr lang="en-US" sz="950"/>
          </a:p>
        </p:txBody>
      </p:sp>
      <p:sp>
        <p:nvSpPr>
          <p:cNvPr id="81" name="Shape 78"/>
          <p:cNvSpPr/>
          <p:nvPr/>
        </p:nvSpPr>
        <p:spPr>
          <a:xfrm>
            <a:off x="8240332" y="2551176"/>
            <a:ext cx="3346704" cy="146304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8240332" y="2551176"/>
            <a:ext cx="1405616" cy="146304"/>
          </a:xfrm>
          <a:prstGeom prst="rect">
            <a:avLst/>
          </a:prstGeom>
          <a:solidFill>
            <a:srgbClr val="5856FF"/>
          </a:solidFill>
          <a:ln w="12700">
            <a:solidFill>
              <a:srgbClr val="585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9344744" y="2551176"/>
            <a:ext cx="0" cy="14630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1"/>
          <p:cNvSpPr/>
          <p:nvPr/>
        </p:nvSpPr>
        <p:spPr>
          <a:xfrm>
            <a:off x="10482624" y="2551176"/>
            <a:ext cx="0" cy="14630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8240332" y="2706624"/>
            <a:ext cx="11044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stakes</a:t>
            </a:r>
            <a:endParaRPr lang="en-US" sz="650"/>
          </a:p>
        </p:txBody>
      </p:sp>
      <p:sp>
        <p:nvSpPr>
          <p:cNvPr id="86" name="Text 83"/>
          <p:cNvSpPr/>
          <p:nvPr/>
        </p:nvSpPr>
        <p:spPr>
          <a:xfrm>
            <a:off x="9344745" y="2706624"/>
            <a:ext cx="113787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</a:t>
            </a:r>
            <a:endParaRPr lang="en-US" sz="650"/>
          </a:p>
        </p:txBody>
      </p:sp>
      <p:sp>
        <p:nvSpPr>
          <p:cNvPr id="87" name="Text 84"/>
          <p:cNvSpPr/>
          <p:nvPr/>
        </p:nvSpPr>
        <p:spPr>
          <a:xfrm>
            <a:off x="10482624" y="2706624"/>
            <a:ext cx="11044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</a:t>
            </a:r>
            <a:endParaRPr lang="en-US" sz="650"/>
          </a:p>
        </p:txBody>
      </p:sp>
      <p:sp>
        <p:nvSpPr>
          <p:cNvPr id="88" name="Text 85"/>
          <p:cNvSpPr/>
          <p:nvPr/>
        </p:nvSpPr>
        <p:spPr>
          <a:xfrm>
            <a:off x="8240332" y="291693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950"/>
          </a:p>
        </p:txBody>
      </p:sp>
      <p:sp>
        <p:nvSpPr>
          <p:cNvPr id="89" name="Text 86"/>
          <p:cNvSpPr/>
          <p:nvPr/>
        </p:nvSpPr>
        <p:spPr>
          <a:xfrm>
            <a:off x="10773220" y="29169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28/100</a:t>
            </a:r>
            <a:endParaRPr lang="en-US" sz="950"/>
          </a:p>
        </p:txBody>
      </p:sp>
      <p:sp>
        <p:nvSpPr>
          <p:cNvPr id="90" name="Shape 87"/>
          <p:cNvSpPr/>
          <p:nvPr/>
        </p:nvSpPr>
        <p:spPr>
          <a:xfrm>
            <a:off x="8240332" y="3154680"/>
            <a:ext cx="3346704" cy="146304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8"/>
          <p:cNvSpPr/>
          <p:nvPr/>
        </p:nvSpPr>
        <p:spPr>
          <a:xfrm>
            <a:off x="8240333" y="3154680"/>
            <a:ext cx="937077" cy="146304"/>
          </a:xfrm>
          <a:prstGeom prst="rect">
            <a:avLst/>
          </a:prstGeom>
          <a:solidFill>
            <a:srgbClr val="5856FF"/>
          </a:solidFill>
          <a:ln w="12700">
            <a:solidFill>
              <a:srgbClr val="585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9"/>
          <p:cNvSpPr/>
          <p:nvPr/>
        </p:nvSpPr>
        <p:spPr>
          <a:xfrm>
            <a:off x="9344744" y="3154680"/>
            <a:ext cx="0" cy="14630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0"/>
          <p:cNvSpPr/>
          <p:nvPr/>
        </p:nvSpPr>
        <p:spPr>
          <a:xfrm>
            <a:off x="10482624" y="3154680"/>
            <a:ext cx="0" cy="14630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8240332" y="352044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Capabilities</a:t>
            </a:r>
            <a:endParaRPr lang="en-US" sz="950"/>
          </a:p>
        </p:txBody>
      </p:sp>
      <p:sp>
        <p:nvSpPr>
          <p:cNvPr id="95" name="Text 92"/>
          <p:cNvSpPr/>
          <p:nvPr/>
        </p:nvSpPr>
        <p:spPr>
          <a:xfrm>
            <a:off x="10773220" y="35204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50" b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55/100</a:t>
            </a:r>
            <a:endParaRPr lang="en-US" sz="950"/>
          </a:p>
        </p:txBody>
      </p:sp>
      <p:sp>
        <p:nvSpPr>
          <p:cNvPr id="96" name="Shape 93"/>
          <p:cNvSpPr/>
          <p:nvPr/>
        </p:nvSpPr>
        <p:spPr>
          <a:xfrm>
            <a:off x="8240332" y="3758184"/>
            <a:ext cx="3346704" cy="146304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4"/>
          <p:cNvSpPr/>
          <p:nvPr/>
        </p:nvSpPr>
        <p:spPr>
          <a:xfrm>
            <a:off x="8240333" y="3758184"/>
            <a:ext cx="1840687" cy="146304"/>
          </a:xfrm>
          <a:prstGeom prst="rect">
            <a:avLst/>
          </a:prstGeom>
          <a:solidFill>
            <a:srgbClr val="5856FF"/>
          </a:solidFill>
          <a:ln w="12700">
            <a:solidFill>
              <a:srgbClr val="585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5"/>
          <p:cNvSpPr/>
          <p:nvPr/>
        </p:nvSpPr>
        <p:spPr>
          <a:xfrm>
            <a:off x="9344744" y="3758184"/>
            <a:ext cx="0" cy="14630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6"/>
          <p:cNvSpPr/>
          <p:nvPr/>
        </p:nvSpPr>
        <p:spPr>
          <a:xfrm>
            <a:off x="10482624" y="3758184"/>
            <a:ext cx="0" cy="14630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7"/>
          <p:cNvSpPr/>
          <p:nvPr/>
        </p:nvSpPr>
        <p:spPr>
          <a:xfrm>
            <a:off x="8240332" y="41605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50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SIGNALS</a:t>
            </a:r>
            <a:endParaRPr lang="en-US" sz="800"/>
          </a:p>
        </p:txBody>
      </p:sp>
      <p:sp>
        <p:nvSpPr>
          <p:cNvPr id="101" name="Text 98"/>
          <p:cNvSpPr/>
          <p:nvPr/>
        </p:nvSpPr>
        <p:spPr>
          <a:xfrm>
            <a:off x="8258620" y="436168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00A1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00"/>
          </a:p>
        </p:txBody>
      </p:sp>
      <p:sp>
        <p:nvSpPr>
          <p:cNvPr id="102" name="Text 99"/>
          <p:cNvSpPr/>
          <p:nvPr/>
        </p:nvSpPr>
        <p:spPr>
          <a:xfrm>
            <a:off x="8423212" y="4361688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specialized agents in production</a:t>
            </a:r>
            <a:endParaRPr lang="en-US" sz="870"/>
          </a:p>
        </p:txBody>
      </p:sp>
      <p:sp>
        <p:nvSpPr>
          <p:cNvPr id="103" name="Text 100"/>
          <p:cNvSpPr/>
          <p:nvPr/>
        </p:nvSpPr>
        <p:spPr>
          <a:xfrm>
            <a:off x="8258620" y="45628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D49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00"/>
          </a:p>
        </p:txBody>
      </p:sp>
      <p:sp>
        <p:nvSpPr>
          <p:cNvPr id="104" name="Text 101"/>
          <p:cNvSpPr/>
          <p:nvPr/>
        </p:nvSpPr>
        <p:spPr>
          <a:xfrm>
            <a:off x="8423212" y="4562856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 context store; per-team .md files</a:t>
            </a:r>
            <a:endParaRPr lang="en-US" sz="870"/>
          </a:p>
        </p:txBody>
      </p:sp>
      <p:sp>
        <p:nvSpPr>
          <p:cNvPr id="105" name="Text 102"/>
          <p:cNvSpPr/>
          <p:nvPr/>
        </p:nvSpPr>
        <p:spPr>
          <a:xfrm>
            <a:off x="8258620" y="476402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00"/>
          </a:p>
        </p:txBody>
      </p:sp>
      <p:sp>
        <p:nvSpPr>
          <p:cNvPr id="106" name="Text 103"/>
          <p:cNvSpPr/>
          <p:nvPr/>
        </p:nvSpPr>
        <p:spPr>
          <a:xfrm>
            <a:off x="8423212" y="4764024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telemetry on per-task economics</a:t>
            </a:r>
            <a:endParaRPr lang="en-US" sz="870"/>
          </a:p>
        </p:txBody>
      </p:sp>
      <p:sp>
        <p:nvSpPr>
          <p:cNvPr id="107" name="Shape 104"/>
          <p:cNvSpPr/>
          <p:nvPr/>
        </p:nvSpPr>
        <p:spPr>
          <a:xfrm>
            <a:off x="413068" y="5669280"/>
            <a:ext cx="11338560" cy="502920"/>
          </a:xfrm>
          <a:prstGeom prst="rect">
            <a:avLst/>
          </a:prstGeom>
          <a:solidFill>
            <a:srgbClr val="A2A2FF"/>
          </a:solidFill>
          <a:ln w="12700">
            <a:solidFill>
              <a:srgbClr val="A2A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5"/>
          <p:cNvSpPr/>
          <p:nvPr/>
        </p:nvSpPr>
        <p:spPr>
          <a:xfrm>
            <a:off x="550228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read-out — scores and signals are placeholders; maturity tiering and trait weighting are not yet finalized</a:t>
            </a:r>
            <a:endParaRPr lang="en-US" sz="10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C1C4296-1885-7F5E-8FF9-41AACED252ED}"/>
              </a:ext>
            </a:extLst>
          </p:cNvPr>
          <p:cNvSpPr/>
          <p:nvPr/>
        </p:nvSpPr>
        <p:spPr>
          <a:xfrm>
            <a:off x="1912996" y="786384"/>
            <a:ext cx="7204847" cy="374904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Example high-level scorecard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1463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Firm Traits  |  Infrastructure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10608628" y="146304"/>
            <a:ext cx="1325880" cy="292608"/>
          </a:xfrm>
          <a:prstGeom prst="rect">
            <a:avLst/>
          </a:prstGeom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08628" y="1463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10105708" y="502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0352596" y="502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research</a:t>
            </a:r>
            <a:endParaRPr lang="en-US" sz="1100"/>
          </a:p>
        </p:txBody>
      </p:sp>
      <p:pic>
        <p:nvPicPr>
          <p:cNvPr id="7" name="Image 0" descr="k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68" y="6437376"/>
            <a:ext cx="310896" cy="2606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24948" y="6473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614468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/>
          </a:p>
        </p:txBody>
      </p:sp>
      <p:sp>
        <p:nvSpPr>
          <p:cNvPr id="10" name="Shape 7"/>
          <p:cNvSpPr/>
          <p:nvPr/>
        </p:nvSpPr>
        <p:spPr>
          <a:xfrm>
            <a:off x="413068" y="1170432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3068" y="1170432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22796" y="1170432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environments</a:t>
            </a:r>
            <a:endParaRPr lang="en-US" sz="1050"/>
          </a:p>
        </p:txBody>
      </p:sp>
      <p:sp>
        <p:nvSpPr>
          <p:cNvPr id="13" name="Text 10"/>
          <p:cNvSpPr/>
          <p:nvPr/>
        </p:nvSpPr>
        <p:spPr>
          <a:xfrm>
            <a:off x="3683572" y="1170432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/>
          </a:p>
        </p:txBody>
      </p:sp>
      <p:sp>
        <p:nvSpPr>
          <p:cNvPr id="14" name="Text 11"/>
          <p:cNvSpPr/>
          <p:nvPr/>
        </p:nvSpPr>
        <p:spPr>
          <a:xfrm>
            <a:off x="577660" y="1572768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Sandboxed autonomous actions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Retries, checkpoints &amp; fail mode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Human gates for high-risk actions</a:t>
            </a:r>
            <a:endParaRPr lang="en-US" sz="1000"/>
          </a:p>
        </p:txBody>
      </p:sp>
      <p:sp>
        <p:nvSpPr>
          <p:cNvPr id="15" name="Shape 12"/>
          <p:cNvSpPr/>
          <p:nvPr/>
        </p:nvSpPr>
        <p:spPr>
          <a:xfrm>
            <a:off x="541084" y="3090672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9372" y="3136392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agents take autonomous actions within sandboxed environments?</a:t>
            </a:r>
            <a:endParaRPr lang="en-US" sz="1000"/>
          </a:p>
        </p:txBody>
      </p:sp>
      <p:sp>
        <p:nvSpPr>
          <p:cNvPr id="17" name="Shape 14"/>
          <p:cNvSpPr/>
          <p:nvPr/>
        </p:nvSpPr>
        <p:spPr>
          <a:xfrm>
            <a:off x="4268788" y="1170432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268788" y="1170432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378516" y="1170432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050"/>
          </a:p>
        </p:txBody>
      </p:sp>
      <p:sp>
        <p:nvSpPr>
          <p:cNvPr id="20" name="Text 17"/>
          <p:cNvSpPr/>
          <p:nvPr/>
        </p:nvSpPr>
        <p:spPr>
          <a:xfrm>
            <a:off x="7539292" y="1170432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/>
          </a:p>
        </p:txBody>
      </p:sp>
      <p:sp>
        <p:nvSpPr>
          <p:cNvPr id="21" name="Text 18"/>
          <p:cNvSpPr/>
          <p:nvPr/>
        </p:nvSpPr>
        <p:spPr>
          <a:xfrm>
            <a:off x="4433380" y="1572768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Models interchangeable per task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Specialization: governance vs. cost  </a:t>
            </a:r>
            <a:r>
              <a:rPr lang="en-US" sz="1000">
                <a:solidFill>
                  <a:srgbClr val="5856FF"/>
                </a:solidFill>
              </a:rPr>
              <a:t>◆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Build / fine-tune for proprietary edge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Protect models (extraction / jailbreak)  </a:t>
            </a:r>
            <a:r>
              <a:rPr lang="en-US" sz="1000">
                <a:solidFill>
                  <a:srgbClr val="5856FF"/>
                </a:solidFill>
              </a:rPr>
              <a:t>◆</a:t>
            </a:r>
            <a:endParaRPr lang="en-US" sz="1000"/>
          </a:p>
        </p:txBody>
      </p:sp>
      <p:sp>
        <p:nvSpPr>
          <p:cNvPr id="22" name="Shape 19"/>
          <p:cNvSpPr/>
          <p:nvPr/>
        </p:nvSpPr>
        <p:spPr>
          <a:xfrm>
            <a:off x="4396804" y="3090672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415092" y="3136392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build models only where they create proprietary advantage?</a:t>
            </a:r>
            <a:endParaRPr lang="en-US" sz="1000"/>
          </a:p>
        </p:txBody>
      </p:sp>
      <p:sp>
        <p:nvSpPr>
          <p:cNvPr id="24" name="Shape 21"/>
          <p:cNvSpPr/>
          <p:nvPr/>
        </p:nvSpPr>
        <p:spPr>
          <a:xfrm>
            <a:off x="8124508" y="1170432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124508" y="1170432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234236" y="1170432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connection</a:t>
            </a:r>
            <a:endParaRPr lang="en-US" sz="1050"/>
          </a:p>
        </p:txBody>
      </p:sp>
      <p:sp>
        <p:nvSpPr>
          <p:cNvPr id="27" name="Text 24"/>
          <p:cNvSpPr/>
          <p:nvPr/>
        </p:nvSpPr>
        <p:spPr>
          <a:xfrm>
            <a:off x="11395012" y="1170432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/>
          </a:p>
        </p:txBody>
      </p:sp>
      <p:sp>
        <p:nvSpPr>
          <p:cNvPr id="28" name="Text 25"/>
          <p:cNvSpPr/>
          <p:nvPr/>
        </p:nvSpPr>
        <p:spPr>
          <a:xfrm>
            <a:off x="8289100" y="1572768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Off-the-shelf or custom MCPs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Open APIs as procurement default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SOR integration via MCP (not warehouse)</a:t>
            </a:r>
            <a:endParaRPr lang="en-US" sz="1000"/>
          </a:p>
        </p:txBody>
      </p:sp>
      <p:sp>
        <p:nvSpPr>
          <p:cNvPr id="29" name="Shape 26"/>
          <p:cNvSpPr/>
          <p:nvPr/>
        </p:nvSpPr>
        <p:spPr>
          <a:xfrm>
            <a:off x="8252524" y="3090672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270812" y="3136392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agents integrate with systems of record (CRM, ERP)?</a:t>
            </a:r>
            <a:endParaRPr lang="en-US" sz="1000"/>
          </a:p>
        </p:txBody>
      </p:sp>
      <p:sp>
        <p:nvSpPr>
          <p:cNvPr id="31" name="Shape 28"/>
          <p:cNvSpPr/>
          <p:nvPr/>
        </p:nvSpPr>
        <p:spPr>
          <a:xfrm>
            <a:off x="413068" y="3712464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13068" y="3712464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22796" y="3712464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context substrate</a:t>
            </a:r>
            <a:endParaRPr lang="en-US" sz="1050"/>
          </a:p>
        </p:txBody>
      </p:sp>
      <p:sp>
        <p:nvSpPr>
          <p:cNvPr id="34" name="Text 31"/>
          <p:cNvSpPr/>
          <p:nvPr/>
        </p:nvSpPr>
        <p:spPr>
          <a:xfrm>
            <a:off x="3683572" y="3712464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/>
          </a:p>
        </p:txBody>
      </p:sp>
      <p:sp>
        <p:nvSpPr>
          <p:cNvPr id="35" name="Text 32"/>
          <p:cNvSpPr/>
          <p:nvPr/>
        </p:nvSpPr>
        <p:spPr>
          <a:xfrm>
            <a:off x="577660" y="4114800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Semantic / curation layer  </a:t>
            </a:r>
            <a:r>
              <a:rPr lang="en-US" sz="1000">
                <a:solidFill>
                  <a:srgbClr val="5856FF"/>
                </a:solidFill>
              </a:rPr>
              <a:t>◆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Per-agent context scoping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Stored data as on-demand context  </a:t>
            </a:r>
            <a:r>
              <a:rPr lang="en-US" sz="1000">
                <a:solidFill>
                  <a:srgbClr val="5856FF"/>
                </a:solidFill>
              </a:rPr>
              <a:t>◆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Shared, reused learnings store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Central layered “brain”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Recurring data maintenance flows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Cadence: data availability + latency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JIT / pointer / graph retrieval</a:t>
            </a:r>
            <a:endParaRPr lang="en-US" sz="1000"/>
          </a:p>
        </p:txBody>
      </p:sp>
      <p:sp>
        <p:nvSpPr>
          <p:cNvPr id="36" name="Shape 33"/>
          <p:cNvSpPr/>
          <p:nvPr/>
        </p:nvSpPr>
        <p:spPr>
          <a:xfrm>
            <a:off x="541084" y="5632704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59372" y="5678424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agents query a central, layered context store that humans own?</a:t>
            </a:r>
            <a:endParaRPr lang="en-US" sz="1000"/>
          </a:p>
        </p:txBody>
      </p:sp>
      <p:sp>
        <p:nvSpPr>
          <p:cNvPr id="38" name="Shape 35"/>
          <p:cNvSpPr/>
          <p:nvPr/>
        </p:nvSpPr>
        <p:spPr>
          <a:xfrm>
            <a:off x="4268788" y="3712464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268788" y="3712464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378516" y="3712464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/ telemetry infra</a:t>
            </a:r>
            <a:endParaRPr lang="en-US" sz="1050"/>
          </a:p>
        </p:txBody>
      </p:sp>
      <p:sp>
        <p:nvSpPr>
          <p:cNvPr id="41" name="Text 38"/>
          <p:cNvSpPr/>
          <p:nvPr/>
        </p:nvSpPr>
        <p:spPr>
          <a:xfrm>
            <a:off x="7539292" y="3712464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/>
          </a:p>
        </p:txBody>
      </p:sp>
      <p:sp>
        <p:nvSpPr>
          <p:cNvPr id="42" name="Text 39"/>
          <p:cNvSpPr/>
          <p:nvPr/>
        </p:nvSpPr>
        <p:spPr>
          <a:xfrm>
            <a:off x="4433380" y="4114800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Granular per-task unit economics  </a:t>
            </a:r>
            <a:r>
              <a:rPr lang="en-US" sz="1000">
                <a:solidFill>
                  <a:srgbClr val="5856FF"/>
                </a:solidFill>
              </a:rPr>
              <a:t>◆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Task-by-task model eval  </a:t>
            </a:r>
            <a:r>
              <a:rPr lang="en-US" sz="1000">
                <a:solidFill>
                  <a:srgbClr val="5856FF"/>
                </a:solidFill>
              </a:rPr>
              <a:t>◆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Quality-drift detection  </a:t>
            </a:r>
            <a:r>
              <a:rPr lang="en-US" sz="1000">
                <a:solidFill>
                  <a:srgbClr val="5856FF"/>
                </a:solidFill>
              </a:rPr>
              <a:t>◆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Evals determine autonomy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Continuous telemetry + triggered evals</a:t>
            </a:r>
            <a:endParaRPr lang="en-US" sz="1000"/>
          </a:p>
        </p:txBody>
      </p:sp>
      <p:sp>
        <p:nvSpPr>
          <p:cNvPr id="43" name="Shape 40"/>
          <p:cNvSpPr/>
          <p:nvPr/>
        </p:nvSpPr>
        <p:spPr>
          <a:xfrm>
            <a:off x="4396804" y="5632704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415092" y="5678424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telemetry detect agent quality drift with high confidence?</a:t>
            </a:r>
            <a:endParaRPr lang="en-US" sz="1000"/>
          </a:p>
        </p:txBody>
      </p:sp>
      <p:sp>
        <p:nvSpPr>
          <p:cNvPr id="45" name="Shape 42"/>
          <p:cNvSpPr/>
          <p:nvPr/>
        </p:nvSpPr>
        <p:spPr>
          <a:xfrm>
            <a:off x="8124508" y="3712464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8124508" y="3712464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8234236" y="3712464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050"/>
          </a:p>
        </p:txBody>
      </p:sp>
      <p:sp>
        <p:nvSpPr>
          <p:cNvPr id="48" name="Text 45"/>
          <p:cNvSpPr/>
          <p:nvPr/>
        </p:nvSpPr>
        <p:spPr>
          <a:xfrm>
            <a:off x="11395012" y="3712464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/>
          </a:p>
        </p:txBody>
      </p:sp>
      <p:sp>
        <p:nvSpPr>
          <p:cNvPr id="49" name="Text 46"/>
          <p:cNvSpPr/>
          <p:nvPr/>
        </p:nvSpPr>
        <p:spPr>
          <a:xfrm>
            <a:off x="8289100" y="4114800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Commodity unless proprietary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Continuous vs. on-demand to economics</a:t>
            </a:r>
            <a:endParaRPr lang="en-US" sz="1000"/>
          </a:p>
        </p:txBody>
      </p:sp>
      <p:sp>
        <p:nvSpPr>
          <p:cNvPr id="50" name="Shape 47"/>
          <p:cNvSpPr/>
          <p:nvPr/>
        </p:nvSpPr>
        <p:spPr>
          <a:xfrm>
            <a:off x="8252524" y="5632704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8270812" y="5678424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your organization treat compute?</a:t>
            </a:r>
            <a:endParaRPr lang="en-US" sz="10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AC1846-F65A-3367-5400-666B97EDE18D}"/>
              </a:ext>
            </a:extLst>
          </p:cNvPr>
          <p:cNvSpPr/>
          <p:nvPr/>
        </p:nvSpPr>
        <p:spPr>
          <a:xfrm>
            <a:off x="1912996" y="786384"/>
            <a:ext cx="7204847" cy="374904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Example pillar scorecard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1463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Firm Traits  |  Platform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10608628" y="146304"/>
            <a:ext cx="1325880" cy="292608"/>
          </a:xfrm>
          <a:prstGeom prst="rect">
            <a:avLst/>
          </a:prstGeom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08628" y="1463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10105708" y="502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0352596" y="502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research</a:t>
            </a:r>
            <a:endParaRPr lang="en-US" sz="1100"/>
          </a:p>
        </p:txBody>
      </p:sp>
      <p:pic>
        <p:nvPicPr>
          <p:cNvPr id="7" name="Image 0" descr="k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68" y="6437376"/>
            <a:ext cx="310896" cy="2606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24948" y="6473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614468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/>
          </a:p>
        </p:txBody>
      </p:sp>
      <p:sp>
        <p:nvSpPr>
          <p:cNvPr id="10" name="Shape 7"/>
          <p:cNvSpPr/>
          <p:nvPr/>
        </p:nvSpPr>
        <p:spPr>
          <a:xfrm>
            <a:off x="413068" y="1170432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3068" y="1170432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22796" y="1170432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management</a:t>
            </a:r>
            <a:endParaRPr lang="en-US" sz="1050"/>
          </a:p>
        </p:txBody>
      </p:sp>
      <p:sp>
        <p:nvSpPr>
          <p:cNvPr id="13" name="Text 10"/>
          <p:cNvSpPr/>
          <p:nvPr/>
        </p:nvSpPr>
        <p:spPr>
          <a:xfrm>
            <a:off x="3683572" y="1170432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/>
          </a:p>
        </p:txBody>
      </p:sp>
      <p:sp>
        <p:nvSpPr>
          <p:cNvPr id="14" name="Text 11"/>
          <p:cNvSpPr/>
          <p:nvPr/>
        </p:nvSpPr>
        <p:spPr>
          <a:xfrm>
            <a:off x="577660" y="1572768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Just-in-time, governed store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Scoped by agent / task / user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Human-led curation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Context close to the work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Custom MCPs for proprietary context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Context cleanup loops</a:t>
            </a:r>
            <a:endParaRPr lang="en-US" sz="1000"/>
          </a:p>
        </p:txBody>
      </p:sp>
      <p:sp>
        <p:nvSpPr>
          <p:cNvPr id="15" name="Shape 12"/>
          <p:cNvSpPr/>
          <p:nvPr/>
        </p:nvSpPr>
        <p:spPr>
          <a:xfrm>
            <a:off x="541084" y="3090672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9372" y="3136392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your AI have just-in-time context in a governed store?</a:t>
            </a:r>
            <a:endParaRPr lang="en-US" sz="1000"/>
          </a:p>
        </p:txBody>
      </p:sp>
      <p:sp>
        <p:nvSpPr>
          <p:cNvPr id="17" name="Shape 14"/>
          <p:cNvSpPr/>
          <p:nvPr/>
        </p:nvSpPr>
        <p:spPr>
          <a:xfrm>
            <a:off x="4268788" y="1170432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268788" y="1170432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378516" y="1170432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design</a:t>
            </a:r>
            <a:endParaRPr lang="en-US" sz="1050"/>
          </a:p>
        </p:txBody>
      </p:sp>
      <p:sp>
        <p:nvSpPr>
          <p:cNvPr id="20" name="Text 17"/>
          <p:cNvSpPr/>
          <p:nvPr/>
        </p:nvSpPr>
        <p:spPr>
          <a:xfrm>
            <a:off x="7539292" y="1170432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/>
          </a:p>
        </p:txBody>
      </p:sp>
      <p:sp>
        <p:nvSpPr>
          <p:cNvPr id="21" name="Text 18"/>
          <p:cNvSpPr/>
          <p:nvPr/>
        </p:nvSpPr>
        <p:spPr>
          <a:xfrm>
            <a:off x="4433380" y="1572768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Specialized agent portfolio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Narrow, scoped definitions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Agent registry (capability/owner/risk)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Sub-agent delegation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Distinct, least-privilege access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Identity &amp; access managed centrally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Isolated / sandboxed workspaces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Local + cloud execution</a:t>
            </a:r>
            <a:endParaRPr lang="en-US" sz="1000"/>
          </a:p>
        </p:txBody>
      </p:sp>
      <p:sp>
        <p:nvSpPr>
          <p:cNvPr id="22" name="Shape 19"/>
          <p:cNvSpPr/>
          <p:nvPr/>
        </p:nvSpPr>
        <p:spPr>
          <a:xfrm>
            <a:off x="4396804" y="3090672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415092" y="3136392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agent identity &amp; access managed centrally, not per agent?</a:t>
            </a:r>
            <a:endParaRPr lang="en-US" sz="1000"/>
          </a:p>
        </p:txBody>
      </p:sp>
      <p:sp>
        <p:nvSpPr>
          <p:cNvPr id="24" name="Shape 21"/>
          <p:cNvSpPr/>
          <p:nvPr/>
        </p:nvSpPr>
        <p:spPr>
          <a:xfrm>
            <a:off x="8124508" y="1170432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124508" y="1170432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234236" y="1170432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&amp; task design</a:t>
            </a:r>
            <a:endParaRPr lang="en-US" sz="1050"/>
          </a:p>
        </p:txBody>
      </p:sp>
      <p:sp>
        <p:nvSpPr>
          <p:cNvPr id="27" name="Text 24"/>
          <p:cNvSpPr/>
          <p:nvPr/>
        </p:nvSpPr>
        <p:spPr>
          <a:xfrm>
            <a:off x="11395012" y="1170432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/>
          </a:p>
        </p:txBody>
      </p:sp>
      <p:sp>
        <p:nvSpPr>
          <p:cNvPr id="28" name="Text 25"/>
          <p:cNvSpPr/>
          <p:nvPr/>
        </p:nvSpPr>
        <p:spPr>
          <a:xfrm>
            <a:off x="8289100" y="1572768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Workflows built around agents  </a:t>
            </a:r>
            <a:r>
              <a:rPr lang="en-US" sz="1000">
                <a:solidFill>
                  <a:srgbClr val="5856FF"/>
                </a:solidFill>
              </a:rPr>
              <a:t>◆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Bounded tasks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Explicit plans / spec files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Human + AI co-planning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Higher-reasoning models for planning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Acceptance criteria &amp; edge cases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Pre-execution review gates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Advisor / executor / reviewer split  </a:t>
            </a:r>
            <a:r>
              <a:rPr lang="en-US" sz="1000">
                <a:solidFill>
                  <a:srgbClr val="5856FF"/>
                </a:solidFill>
              </a:rPr>
              <a:t>◆</a:t>
            </a:r>
            <a:endParaRPr lang="en-US" sz="1000"/>
          </a:p>
        </p:txBody>
      </p:sp>
      <p:sp>
        <p:nvSpPr>
          <p:cNvPr id="29" name="Shape 26"/>
          <p:cNvSpPr/>
          <p:nvPr/>
        </p:nvSpPr>
        <p:spPr>
          <a:xfrm>
            <a:off x="8252524" y="3090672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270812" y="3136392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advising, executing &amp; reviewing distinct roles?</a:t>
            </a:r>
            <a:endParaRPr lang="en-US" sz="1000"/>
          </a:p>
        </p:txBody>
      </p:sp>
      <p:sp>
        <p:nvSpPr>
          <p:cNvPr id="31" name="Shape 28"/>
          <p:cNvSpPr/>
          <p:nvPr/>
        </p:nvSpPr>
        <p:spPr>
          <a:xfrm>
            <a:off x="413068" y="3712464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13068" y="3712464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22796" y="3712464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050"/>
          </a:p>
        </p:txBody>
      </p:sp>
      <p:sp>
        <p:nvSpPr>
          <p:cNvPr id="34" name="Text 31"/>
          <p:cNvSpPr/>
          <p:nvPr/>
        </p:nvSpPr>
        <p:spPr>
          <a:xfrm>
            <a:off x="3683572" y="3712464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/>
          </a:p>
        </p:txBody>
      </p:sp>
      <p:sp>
        <p:nvSpPr>
          <p:cNvPr id="35" name="Text 32"/>
          <p:cNvSpPr/>
          <p:nvPr/>
        </p:nvSpPr>
        <p:spPr>
          <a:xfrm>
            <a:off x="577660" y="4114800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Dynamic orchestrator / routing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Pre-wired deterministic sequences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Model routing / A-E-R tiering  </a:t>
            </a:r>
            <a:r>
              <a:rPr lang="en-US" sz="1000">
                <a:solidFill>
                  <a:srgbClr val="5856FF"/>
                </a:solidFill>
              </a:rPr>
              <a:t>◆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Event-triggered / scheduled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Agent-to-agent handoffs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Durable execution (resume / retries)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Model / vendor agnostic</a:t>
            </a:r>
            <a:endParaRPr lang="en-US" sz="1000"/>
          </a:p>
        </p:txBody>
      </p:sp>
      <p:sp>
        <p:nvSpPr>
          <p:cNvPr id="36" name="Shape 33"/>
          <p:cNvSpPr/>
          <p:nvPr/>
        </p:nvSpPr>
        <p:spPr>
          <a:xfrm>
            <a:off x="541084" y="5632704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59372" y="5678424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tiering to how models route and advise/execute/review?</a:t>
            </a:r>
            <a:endParaRPr lang="en-US" sz="1000"/>
          </a:p>
        </p:txBody>
      </p:sp>
      <p:sp>
        <p:nvSpPr>
          <p:cNvPr id="38" name="Shape 35"/>
          <p:cNvSpPr/>
          <p:nvPr/>
        </p:nvSpPr>
        <p:spPr>
          <a:xfrm>
            <a:off x="4268788" y="3712464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268788" y="3712464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378516" y="3712464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050"/>
          </a:p>
        </p:txBody>
      </p:sp>
      <p:sp>
        <p:nvSpPr>
          <p:cNvPr id="41" name="Text 38"/>
          <p:cNvSpPr/>
          <p:nvPr/>
        </p:nvSpPr>
        <p:spPr>
          <a:xfrm>
            <a:off x="7539292" y="3712464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/>
          </a:p>
        </p:txBody>
      </p:sp>
      <p:sp>
        <p:nvSpPr>
          <p:cNvPr id="42" name="Text 39"/>
          <p:cNvSpPr/>
          <p:nvPr/>
        </p:nvSpPr>
        <p:spPr>
          <a:xfrm>
            <a:off x="4433380" y="4114800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Multi-stage AI review before human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Human-in-the-loop gates / triage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Human-on-the-loop supervision  </a:t>
            </a:r>
            <a:r>
              <a:rPr lang="en-US" sz="1000">
                <a:solidFill>
                  <a:srgbClr val="5856FF"/>
                </a:solidFill>
              </a:rPr>
              <a:t>◆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Automated test / verification agents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Sampling / spot-checks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Ownership &amp; sign-offs per workflow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Audit trails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Revocation</a:t>
            </a:r>
            <a:endParaRPr lang="en-US" sz="1000"/>
          </a:p>
        </p:txBody>
      </p:sp>
      <p:sp>
        <p:nvSpPr>
          <p:cNvPr id="43" name="Shape 40"/>
          <p:cNvSpPr/>
          <p:nvPr/>
        </p:nvSpPr>
        <p:spPr>
          <a:xfrm>
            <a:off x="4396804" y="5632704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415092" y="5678424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layer of human-on-the-loop in AI supervision?</a:t>
            </a:r>
            <a:endParaRPr lang="en-US" sz="1000"/>
          </a:p>
        </p:txBody>
      </p:sp>
      <p:sp>
        <p:nvSpPr>
          <p:cNvPr id="45" name="Shape 42"/>
          <p:cNvSpPr/>
          <p:nvPr/>
        </p:nvSpPr>
        <p:spPr>
          <a:xfrm>
            <a:off x="8124508" y="3712464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8124508" y="3712464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8234236" y="3712464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systems</a:t>
            </a:r>
            <a:endParaRPr lang="en-US" sz="1050"/>
          </a:p>
        </p:txBody>
      </p:sp>
      <p:sp>
        <p:nvSpPr>
          <p:cNvPr id="48" name="Text 45"/>
          <p:cNvSpPr/>
          <p:nvPr/>
        </p:nvSpPr>
        <p:spPr>
          <a:xfrm>
            <a:off x="11395012" y="3712464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/>
          </a:p>
        </p:txBody>
      </p:sp>
      <p:sp>
        <p:nvSpPr>
          <p:cNvPr id="49" name="Text 46"/>
          <p:cNvSpPr/>
          <p:nvPr/>
        </p:nvSpPr>
        <p:spPr>
          <a:xfrm>
            <a:off x="8289100" y="4114800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Fixes → skills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Failures → guardrails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Postmortems → context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Workflow evals / golden datasets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Observability &amp; usage telemetry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Human-approved memory updates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Reusable skills / playbook library</a:t>
            </a:r>
            <a:endParaRPr lang="en-US" sz="1000"/>
          </a:p>
        </p:txBody>
      </p:sp>
      <p:sp>
        <p:nvSpPr>
          <p:cNvPr id="50" name="Shape 47"/>
          <p:cNvSpPr/>
          <p:nvPr/>
        </p:nvSpPr>
        <p:spPr>
          <a:xfrm>
            <a:off x="8252524" y="5632704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8270812" y="5678424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postmortems fed back into your AI context (not just stored)?</a:t>
            </a:r>
            <a:endParaRPr lang="en-US" sz="10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280DFCD-EA9C-9AC2-C3C5-14533E114150}"/>
              </a:ext>
            </a:extLst>
          </p:cNvPr>
          <p:cNvSpPr/>
          <p:nvPr/>
        </p:nvSpPr>
        <p:spPr>
          <a:xfrm>
            <a:off x="1912996" y="786384"/>
            <a:ext cx="7204847" cy="374904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Example pillar scorecard overview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1463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>
                <a:solidFill>
                  <a:srgbClr val="0505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Firm Traits  |  Operating Capabilities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10608628" y="146304"/>
            <a:ext cx="1325880" cy="292608"/>
          </a:xfrm>
          <a:prstGeom prst="rect">
            <a:avLst/>
          </a:prstGeom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08628" y="1463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</a:t>
            </a:r>
            <a:endParaRPr lang="en-US" sz="1000"/>
          </a:p>
        </p:txBody>
      </p:sp>
      <p:pic>
        <p:nvPicPr>
          <p:cNvPr id="5" name="Image 0" descr="ks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68" y="6437376"/>
            <a:ext cx="310896" cy="2606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24948" y="6473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850"/>
          </a:p>
        </p:txBody>
      </p:sp>
      <p:sp>
        <p:nvSpPr>
          <p:cNvPr id="7" name="Text 4"/>
          <p:cNvSpPr/>
          <p:nvPr/>
        </p:nvSpPr>
        <p:spPr>
          <a:xfrm>
            <a:off x="11614468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/>
          </a:p>
        </p:txBody>
      </p:sp>
      <p:sp>
        <p:nvSpPr>
          <p:cNvPr id="8" name="Shape 5"/>
          <p:cNvSpPr/>
          <p:nvPr/>
        </p:nvSpPr>
        <p:spPr>
          <a:xfrm>
            <a:off x="413068" y="1170432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13068" y="1170432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22796" y="1170432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structure &amp; composition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3683572" y="1170432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577660" y="1572768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Team-size shift with AI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Coordination layers compressing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Roles redesigned around AI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Functions merging (vs. silos)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AI champions driving adoption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AI steering / oversight layer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541084" y="3090672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59372" y="3136392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existing roles been actively redesigned around AI?</a:t>
            </a:r>
            <a:endParaRPr lang="en-US" sz="1000"/>
          </a:p>
        </p:txBody>
      </p:sp>
      <p:sp>
        <p:nvSpPr>
          <p:cNvPr id="15" name="Shape 12"/>
          <p:cNvSpPr/>
          <p:nvPr/>
        </p:nvSpPr>
        <p:spPr>
          <a:xfrm>
            <a:off x="4268788" y="1170432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68788" y="1170432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78516" y="1170432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readiness</a:t>
            </a:r>
            <a:endParaRPr lang="en-US" sz="1050"/>
          </a:p>
        </p:txBody>
      </p:sp>
      <p:sp>
        <p:nvSpPr>
          <p:cNvPr id="18" name="Text 15"/>
          <p:cNvSpPr/>
          <p:nvPr/>
        </p:nvSpPr>
        <p:spPr>
          <a:xfrm>
            <a:off x="7539292" y="1170432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/>
          </a:p>
        </p:txBody>
      </p:sp>
      <p:sp>
        <p:nvSpPr>
          <p:cNvPr id="19" name="Text 16"/>
          <p:cNvSpPr/>
          <p:nvPr/>
        </p:nvSpPr>
        <p:spPr>
          <a:xfrm>
            <a:off x="4433380" y="1572768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Live AI build / plan.md in interviews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AI fluency in hiring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Onboarding vs. reskilling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AI-literacy curriculum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New orchestration / governance roles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Roles classified by AI replaceability</a:t>
            </a:r>
            <a:endParaRPr lang="en-US" sz="1000"/>
          </a:p>
        </p:txBody>
      </p:sp>
      <p:sp>
        <p:nvSpPr>
          <p:cNvPr id="20" name="Shape 17"/>
          <p:cNvSpPr/>
          <p:nvPr/>
        </p:nvSpPr>
        <p:spPr>
          <a:xfrm>
            <a:off x="4396804" y="3090672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415092" y="3136392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interviews, do candidates live-build with AI or write a plan.md?</a:t>
            </a:r>
            <a:endParaRPr lang="en-US" sz="1000"/>
          </a:p>
        </p:txBody>
      </p:sp>
      <p:sp>
        <p:nvSpPr>
          <p:cNvPr id="22" name="Shape 19"/>
          <p:cNvSpPr/>
          <p:nvPr/>
        </p:nvSpPr>
        <p:spPr>
          <a:xfrm>
            <a:off x="8124508" y="1170432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24508" y="1170432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234236" y="1170432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management</a:t>
            </a:r>
            <a:endParaRPr lang="en-US" sz="1050"/>
          </a:p>
        </p:txBody>
      </p:sp>
      <p:sp>
        <p:nvSpPr>
          <p:cNvPr id="25" name="Text 22"/>
          <p:cNvSpPr/>
          <p:nvPr/>
        </p:nvSpPr>
        <p:spPr>
          <a:xfrm>
            <a:off x="11395012" y="1170432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/>
          </a:p>
        </p:txBody>
      </p:sp>
      <p:sp>
        <p:nvSpPr>
          <p:cNvPr id="26" name="Text 23"/>
          <p:cNvSpPr/>
          <p:nvPr/>
        </p:nvSpPr>
        <p:spPr>
          <a:xfrm>
            <a:off x="8289100" y="1572768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AI leverage as review dimension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AI use rewarded in promotion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Orchestration efficiency vs. token use</a:t>
            </a:r>
            <a:endParaRPr lang="en-US" sz="1000"/>
          </a:p>
        </p:txBody>
      </p:sp>
      <p:sp>
        <p:nvSpPr>
          <p:cNvPr id="27" name="Shape 24"/>
          <p:cNvSpPr/>
          <p:nvPr/>
        </p:nvSpPr>
        <p:spPr>
          <a:xfrm>
            <a:off x="8252524" y="3090672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270812" y="3136392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AI leverage an explicit dimension when reviewing employees?</a:t>
            </a:r>
            <a:endParaRPr lang="en-US" sz="1000"/>
          </a:p>
        </p:txBody>
      </p:sp>
      <p:sp>
        <p:nvSpPr>
          <p:cNvPr id="29" name="Shape 26"/>
          <p:cNvSpPr/>
          <p:nvPr/>
        </p:nvSpPr>
        <p:spPr>
          <a:xfrm>
            <a:off x="413068" y="3712464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13068" y="3712464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22796" y="3712464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learning culture</a:t>
            </a:r>
            <a:endParaRPr lang="en-US" sz="1050"/>
          </a:p>
        </p:txBody>
      </p:sp>
      <p:sp>
        <p:nvSpPr>
          <p:cNvPr id="32" name="Text 29"/>
          <p:cNvSpPr/>
          <p:nvPr/>
        </p:nvSpPr>
        <p:spPr>
          <a:xfrm>
            <a:off x="3683572" y="3712464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/>
          </a:p>
        </p:txBody>
      </p:sp>
      <p:sp>
        <p:nvSpPr>
          <p:cNvPr id="33" name="Text 30"/>
          <p:cNvSpPr/>
          <p:nvPr/>
        </p:nvSpPr>
        <p:spPr>
          <a:xfrm>
            <a:off x="577660" y="4114800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Failure tolerance &amp; sandboxing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Postmortems in a single repo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Diagnostic deliberation forums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Pruning invalidated knowledge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Encoding tribal knowledge</a:t>
            </a:r>
            <a:endParaRPr lang="en-US" sz="1000"/>
          </a:p>
        </p:txBody>
      </p:sp>
      <p:sp>
        <p:nvSpPr>
          <p:cNvPr id="34" name="Shape 31"/>
          <p:cNvSpPr/>
          <p:nvPr/>
        </p:nvSpPr>
        <p:spPr>
          <a:xfrm>
            <a:off x="541084" y="5632704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59372" y="5678424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hold diagnostic forums to review what went askew with AI?</a:t>
            </a:r>
            <a:endParaRPr lang="en-US" sz="1000"/>
          </a:p>
        </p:txBody>
      </p:sp>
      <p:sp>
        <p:nvSpPr>
          <p:cNvPr id="36" name="Shape 33"/>
          <p:cNvSpPr/>
          <p:nvPr/>
        </p:nvSpPr>
        <p:spPr>
          <a:xfrm>
            <a:off x="4268788" y="3712464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268788" y="3712464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378516" y="3712464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&amp; accountability</a:t>
            </a:r>
            <a:endParaRPr lang="en-US" sz="1050"/>
          </a:p>
        </p:txBody>
      </p:sp>
      <p:sp>
        <p:nvSpPr>
          <p:cNvPr id="39" name="Text 36"/>
          <p:cNvSpPr/>
          <p:nvPr/>
        </p:nvSpPr>
        <p:spPr>
          <a:xfrm>
            <a:off x="7539292" y="3712464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/>
          </a:p>
        </p:txBody>
      </p:sp>
      <p:sp>
        <p:nvSpPr>
          <p:cNvPr id="40" name="Text 37"/>
          <p:cNvSpPr/>
          <p:nvPr/>
        </p:nvSpPr>
        <p:spPr>
          <a:xfrm>
            <a:off x="4433380" y="4114800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Committer (not AI) owns output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Oversight pushed upward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Defined human-review junction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Higher bar for customer-facing AI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Rebuild vs. layer-on workflows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Reputation / trust limits AI scope</a:t>
            </a:r>
            <a:endParaRPr lang="en-US" sz="1000"/>
          </a:p>
        </p:txBody>
      </p:sp>
      <p:sp>
        <p:nvSpPr>
          <p:cNvPr id="41" name="Shape 38"/>
          <p:cNvSpPr/>
          <p:nvPr/>
        </p:nvSpPr>
        <p:spPr>
          <a:xfrm>
            <a:off x="4396804" y="5632704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415092" y="5678424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defined point where you use human review over more LLMs?</a:t>
            </a:r>
            <a:endParaRPr lang="en-US" sz="1000"/>
          </a:p>
        </p:txBody>
      </p:sp>
      <p:sp>
        <p:nvSpPr>
          <p:cNvPr id="43" name="Shape 40"/>
          <p:cNvSpPr/>
          <p:nvPr/>
        </p:nvSpPr>
        <p:spPr>
          <a:xfrm>
            <a:off x="8124508" y="3712464"/>
            <a:ext cx="36545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8124508" y="3712464"/>
            <a:ext cx="3654552" cy="310896"/>
          </a:xfrm>
          <a:prstGeom prst="rect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234236" y="3712464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economics &amp; value</a:t>
            </a:r>
            <a:endParaRPr lang="en-US" sz="1050"/>
          </a:p>
        </p:txBody>
      </p:sp>
      <p:sp>
        <p:nvSpPr>
          <p:cNvPr id="46" name="Text 43"/>
          <p:cNvSpPr/>
          <p:nvPr/>
        </p:nvSpPr>
        <p:spPr>
          <a:xfrm>
            <a:off x="11395012" y="3712464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/>
          </a:p>
        </p:txBody>
      </p:sp>
      <p:sp>
        <p:nvSpPr>
          <p:cNvPr id="47" name="Text 44"/>
          <p:cNvSpPr/>
          <p:nvPr/>
        </p:nvSpPr>
        <p:spPr>
          <a:xfrm>
            <a:off x="8289100" y="4114800"/>
            <a:ext cx="33436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AI in R&amp;D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AI in external services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AI in information processing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Outcome-based value vs. T&amp;M</a:t>
            </a:r>
            <a:endParaRPr lang="en-US" sz="1000"/>
          </a:p>
          <a:p>
            <a:pPr>
              <a:lnSpc>
                <a:spcPct val="98000"/>
              </a:lnSpc>
              <a:spcAft>
                <a:spcPts val="300"/>
              </a:spcAft>
            </a:pPr>
            <a:r>
              <a:rPr lang="en-US" sz="1000">
                <a:solidFill>
                  <a:srgbClr val="050519"/>
                </a:solidFill>
              </a:rPr>
              <a:t>•  Token-burn limits pre-value</a:t>
            </a:r>
            <a:endParaRPr lang="en-US" sz="1000"/>
          </a:p>
        </p:txBody>
      </p:sp>
      <p:sp>
        <p:nvSpPr>
          <p:cNvPr id="48" name="Shape 45"/>
          <p:cNvSpPr/>
          <p:nvPr/>
        </p:nvSpPr>
        <p:spPr>
          <a:xfrm>
            <a:off x="8252524" y="5632704"/>
            <a:ext cx="339852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8270812" y="5678424"/>
            <a:ext cx="338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i="1">
                <a:solidFill>
                  <a:srgbClr val="58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 </a:t>
            </a:r>
            <a:r>
              <a:rPr lang="en-US" sz="10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value determined by AI outcome-based models or T&amp;M?</a:t>
            </a:r>
            <a:endParaRPr lang="en-US" sz="10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DB63E07-4372-5213-169B-995D0BBD2F98}"/>
              </a:ext>
            </a:extLst>
          </p:cNvPr>
          <p:cNvSpPr/>
          <p:nvPr/>
        </p:nvSpPr>
        <p:spPr>
          <a:xfrm>
            <a:off x="1912996" y="786384"/>
            <a:ext cx="7204847" cy="374904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Example pillar scorecard overview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8D8A9-8EE7-A1DA-AF00-FCF21086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4AC1B5A-4466-C9A8-A787-0A76DE7CF27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96901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AC1B5A-4466-C9A8-A787-0A76DE7CF2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18D65FB-76EF-C6C3-5A24-72CFEB51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Frontier Firm Traits | Infrastructure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BA554-8E1D-9629-FF92-3C71D9600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142EF-EB95-D3F9-7EC6-1BEE6DC8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26350C-DE9A-BB03-6EDC-A33B766C6F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2993D-7658-96CE-5AF6-3831D951E9FB}"/>
              </a:ext>
            </a:extLst>
          </p:cNvPr>
          <p:cNvSpPr txBox="1"/>
          <p:nvPr/>
        </p:nvSpPr>
        <p:spPr>
          <a:xfrm>
            <a:off x="970671" y="-32355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894AA0-2BDB-B4C3-588D-98EFFC26AB31}"/>
              </a:ext>
            </a:extLst>
          </p:cNvPr>
          <p:cNvCxnSpPr>
            <a:cxnSpLocks/>
          </p:cNvCxnSpPr>
          <p:nvPr/>
        </p:nvCxnSpPr>
        <p:spPr>
          <a:xfrm>
            <a:off x="10947603" y="97794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49E5F63-6FDB-6D01-4983-4D4E105DBBED}"/>
              </a:ext>
            </a:extLst>
          </p:cNvPr>
          <p:cNvCxnSpPr>
            <a:cxnSpLocks/>
          </p:cNvCxnSpPr>
          <p:nvPr/>
        </p:nvCxnSpPr>
        <p:spPr>
          <a:xfrm>
            <a:off x="10947603" y="320532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C6323B2-A8ED-4C6C-001B-E85F325E876A}"/>
              </a:ext>
            </a:extLst>
          </p:cNvPr>
          <p:cNvSpPr txBox="1"/>
          <p:nvPr/>
        </p:nvSpPr>
        <p:spPr>
          <a:xfrm>
            <a:off x="10947603" y="97794"/>
            <a:ext cx="1125415" cy="2227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>
                <a:solidFill>
                  <a:srgbClr val="C00000"/>
                </a:solidFill>
              </a:rPr>
              <a:t>PRELIMINARY</a:t>
            </a:r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F6E32417-E18E-534B-2C5E-EB626351FF64}"/>
              </a:ext>
            </a:extLst>
          </p:cNvPr>
          <p:cNvSpPr/>
          <p:nvPr/>
        </p:nvSpPr>
        <p:spPr>
          <a:xfrm>
            <a:off x="10372228" y="602352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E5E5E5-D57A-3332-2D1A-6DC794EEDF90}"/>
              </a:ext>
            </a:extLst>
          </p:cNvPr>
          <p:cNvSpPr txBox="1"/>
          <p:nvPr/>
        </p:nvSpPr>
        <p:spPr>
          <a:xfrm>
            <a:off x="10649371" y="622805"/>
            <a:ext cx="2220966" cy="2956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i="1" spc="-20"/>
              <a:t>External research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5C90C7-134D-BB1F-5463-9AC6DCF5CE83}"/>
              </a:ext>
            </a:extLst>
          </p:cNvPr>
          <p:cNvSpPr txBox="1"/>
          <p:nvPr/>
        </p:nvSpPr>
        <p:spPr>
          <a:xfrm>
            <a:off x="9932276" y="-78827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638B213-B342-2054-F75B-4C9C2D8FBA2F}"/>
              </a:ext>
            </a:extLst>
          </p:cNvPr>
          <p:cNvSpPr/>
          <p:nvPr/>
        </p:nvSpPr>
        <p:spPr>
          <a:xfrm>
            <a:off x="4213862" y="488415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Stored data becomes on-demand agent context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6569E99-7874-4362-35ED-89C46DC64ABF}"/>
              </a:ext>
            </a:extLst>
          </p:cNvPr>
          <p:cNvSpPr/>
          <p:nvPr/>
        </p:nvSpPr>
        <p:spPr>
          <a:xfrm>
            <a:off x="343706" y="488415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Semantic / curation layer over lake + SaaS / SORs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4C85976-4B59-77D7-1636-F364E96A4361}"/>
              </a:ext>
            </a:extLst>
          </p:cNvPr>
          <p:cNvSpPr/>
          <p:nvPr/>
        </p:nvSpPr>
        <p:spPr>
          <a:xfrm>
            <a:off x="2243031" y="261083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Specialization is a security  &amp; ops governance choice, not just cost choice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B3B31DC-CD77-02DB-5679-6E39CA8F31AE}"/>
              </a:ext>
            </a:extLst>
          </p:cNvPr>
          <p:cNvSpPr/>
          <p:nvPr/>
        </p:nvSpPr>
        <p:spPr>
          <a:xfrm>
            <a:off x="4213862" y="261083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Build / fine tune models only for proprietary advantage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CA7DF41-71AC-0E02-2DE6-0BF2A0CE9BF2}"/>
              </a:ext>
            </a:extLst>
          </p:cNvPr>
          <p:cNvSpPr/>
          <p:nvPr/>
        </p:nvSpPr>
        <p:spPr>
          <a:xfrm>
            <a:off x="343706" y="261083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Models interchangeable at task level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411A15-9E92-A899-1999-A8CCD5ED1901}"/>
              </a:ext>
            </a:extLst>
          </p:cNvPr>
          <p:cNvSpPr txBox="1"/>
          <p:nvPr/>
        </p:nvSpPr>
        <p:spPr>
          <a:xfrm>
            <a:off x="325659" y="2195910"/>
            <a:ext cx="7539470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Models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A542E27-4BF6-9542-2550-2AF19AAEB163}"/>
              </a:ext>
            </a:extLst>
          </p:cNvPr>
          <p:cNvSpPr/>
          <p:nvPr/>
        </p:nvSpPr>
        <p:spPr>
          <a:xfrm>
            <a:off x="2243031" y="373509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Standard protocols and open APIs is procurement default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1CEA4BE-A2BC-DE6E-2697-898D1DC2F64C}"/>
              </a:ext>
            </a:extLst>
          </p:cNvPr>
          <p:cNvSpPr/>
          <p:nvPr/>
        </p:nvSpPr>
        <p:spPr>
          <a:xfrm>
            <a:off x="343706" y="3759111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Off the shelf or custom MCPs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924AE7-6802-4D83-0733-9C6AD6C48258}"/>
              </a:ext>
            </a:extLst>
          </p:cNvPr>
          <p:cNvSpPr txBox="1"/>
          <p:nvPr/>
        </p:nvSpPr>
        <p:spPr>
          <a:xfrm>
            <a:off x="325659" y="3320041"/>
            <a:ext cx="754109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Integration and connection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B1CA87A-0BE7-9A8C-F0C7-119E9E174A7B}"/>
              </a:ext>
            </a:extLst>
          </p:cNvPr>
          <p:cNvSpPr/>
          <p:nvPr/>
        </p:nvSpPr>
        <p:spPr>
          <a:xfrm>
            <a:off x="2243031" y="5594502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Frequent recurring maintenance flows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759BA46-FAAC-22BB-88CF-D3C61FA54EA5}"/>
              </a:ext>
            </a:extLst>
          </p:cNvPr>
          <p:cNvSpPr/>
          <p:nvPr/>
        </p:nvSpPr>
        <p:spPr>
          <a:xfrm>
            <a:off x="4213862" y="5594502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Workflows run at min of data availability &amp; ops latency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1A952B9-F40D-A403-9046-AD5330A7D9FD}"/>
              </a:ext>
            </a:extLst>
          </p:cNvPr>
          <p:cNvSpPr/>
          <p:nvPr/>
        </p:nvSpPr>
        <p:spPr>
          <a:xfrm>
            <a:off x="343706" y="5594502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Layered central brain that agents query and humans own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EAB7EFA-D1D9-D135-EF07-5FBCA4336F1A}"/>
              </a:ext>
            </a:extLst>
          </p:cNvPr>
          <p:cNvSpPr/>
          <p:nvPr/>
        </p:nvSpPr>
        <p:spPr>
          <a:xfrm>
            <a:off x="2243031" y="1394963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Double retries + checkpoints and fail mode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8117DC0-C230-D335-E1D9-2EF9E7FEEEE5}"/>
              </a:ext>
            </a:extLst>
          </p:cNvPr>
          <p:cNvSpPr/>
          <p:nvPr/>
        </p:nvSpPr>
        <p:spPr>
          <a:xfrm>
            <a:off x="4213862" y="1394963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Human gates in runtime for high-risk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2C9CD4A-0648-243E-DC43-D0954E43E2BA}"/>
              </a:ext>
            </a:extLst>
          </p:cNvPr>
          <p:cNvSpPr/>
          <p:nvPr/>
        </p:nvSpPr>
        <p:spPr>
          <a:xfrm>
            <a:off x="343706" y="1394963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Sandboxed autonomous actions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3D84C3-5EA1-9EB1-F147-3959AD68E4F1}"/>
              </a:ext>
            </a:extLst>
          </p:cNvPr>
          <p:cNvSpPr txBox="1"/>
          <p:nvPr/>
        </p:nvSpPr>
        <p:spPr>
          <a:xfrm>
            <a:off x="325659" y="991215"/>
            <a:ext cx="7549252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Execution environments (incl. agent substrate)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E0E3CE7F-669B-3287-3219-06F1111931B2}"/>
              </a:ext>
            </a:extLst>
          </p:cNvPr>
          <p:cNvSpPr/>
          <p:nvPr/>
        </p:nvSpPr>
        <p:spPr>
          <a:xfrm>
            <a:off x="10131868" y="1394963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Task by task model eval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EFDD04A0-D4F2-DAC9-58F2-467716474FDC}"/>
              </a:ext>
            </a:extLst>
          </p:cNvPr>
          <p:cNvSpPr/>
          <p:nvPr/>
        </p:nvSpPr>
        <p:spPr>
          <a:xfrm>
            <a:off x="10131868" y="2093353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Evals determine autonomy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F56DDF8-060E-1239-3644-ADED17E28DA2}"/>
              </a:ext>
            </a:extLst>
          </p:cNvPr>
          <p:cNvSpPr/>
          <p:nvPr/>
        </p:nvSpPr>
        <p:spPr>
          <a:xfrm>
            <a:off x="7976925" y="1394963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Telemetry that makes unit economics visible at granular level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C2CA53-9D8E-78E4-D6B4-2A191A7599CD}"/>
              </a:ext>
            </a:extLst>
          </p:cNvPr>
          <p:cNvSpPr txBox="1"/>
          <p:nvPr/>
        </p:nvSpPr>
        <p:spPr>
          <a:xfrm>
            <a:off x="7976925" y="992660"/>
            <a:ext cx="3929602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Eval / telemetry infra</a:t>
            </a: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3F0CD53C-FD75-F8F9-2DF9-9A83D00BB166}"/>
              </a:ext>
            </a:extLst>
          </p:cNvPr>
          <p:cNvSpPr/>
          <p:nvPr/>
        </p:nvSpPr>
        <p:spPr>
          <a:xfrm>
            <a:off x="2145175" y="2505679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A9A67BBA-3BA0-F241-4352-2DAD47D7D4F4}"/>
              </a:ext>
            </a:extLst>
          </p:cNvPr>
          <p:cNvSpPr/>
          <p:nvPr/>
        </p:nvSpPr>
        <p:spPr>
          <a:xfrm>
            <a:off x="4119203" y="4792648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9843C6-8505-2C60-793C-E5F6CCC6C5D9}"/>
              </a:ext>
            </a:extLst>
          </p:cNvPr>
          <p:cNvSpPr txBox="1"/>
          <p:nvPr/>
        </p:nvSpPr>
        <p:spPr>
          <a:xfrm>
            <a:off x="7976926" y="4472511"/>
            <a:ext cx="3929602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Compute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F6B36FE-D4F3-1484-93BA-731F5847AC6A}"/>
              </a:ext>
            </a:extLst>
          </p:cNvPr>
          <p:cNvSpPr/>
          <p:nvPr/>
        </p:nvSpPr>
        <p:spPr>
          <a:xfrm>
            <a:off x="7976925" y="488415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Compute as commodity unless training / owning proprietary models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B8741837-29E7-32BA-C4CC-8571EE07887D}"/>
              </a:ext>
            </a:extLst>
          </p:cNvPr>
          <p:cNvSpPr/>
          <p:nvPr/>
        </p:nvSpPr>
        <p:spPr>
          <a:xfrm>
            <a:off x="10131868" y="488415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Continuous vs on-demand compute model matched to workload economics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FE633229-D3F8-C51F-3586-DF2C45806490}"/>
              </a:ext>
            </a:extLst>
          </p:cNvPr>
          <p:cNvSpPr/>
          <p:nvPr/>
        </p:nvSpPr>
        <p:spPr>
          <a:xfrm>
            <a:off x="2243031" y="488415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Any data is general context, scoping generates per agent load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910F19-0AEE-23CA-8C7E-CEC64311BB3F}"/>
              </a:ext>
            </a:extLst>
          </p:cNvPr>
          <p:cNvSpPr txBox="1"/>
          <p:nvPr/>
        </p:nvSpPr>
        <p:spPr>
          <a:xfrm>
            <a:off x="325659" y="4472511"/>
            <a:ext cx="7505343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Data and context substrate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3F6C062-F2F6-BBF6-7CC6-49853D00233E}"/>
              </a:ext>
            </a:extLst>
          </p:cNvPr>
          <p:cNvSpPr/>
          <p:nvPr/>
        </p:nvSpPr>
        <p:spPr>
          <a:xfrm>
            <a:off x="6114577" y="488415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Learnings saved to shared store and reused per agent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76814AB-48D5-662B-9EC8-E859C568AF1E}"/>
              </a:ext>
            </a:extLst>
          </p:cNvPr>
          <p:cNvSpPr/>
          <p:nvPr/>
        </p:nvSpPr>
        <p:spPr>
          <a:xfrm>
            <a:off x="7976925" y="2093353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Telemetry is able to detect agent quality drift with high confidence levels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1D0BC38-9AAD-5C01-14B8-AE829B5F71B9}"/>
              </a:ext>
            </a:extLst>
          </p:cNvPr>
          <p:cNvSpPr/>
          <p:nvPr/>
        </p:nvSpPr>
        <p:spPr>
          <a:xfrm>
            <a:off x="6114577" y="261083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/>
              <a:t>Defending the model as proprietary IP against extraction, exfiltration, jailbreak</a:t>
            </a:r>
            <a:endParaRPr lang="en-US" sz="1100" spc="-20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01CEBCA7-B9C0-D132-B357-7A133F161840}"/>
              </a:ext>
            </a:extLst>
          </p:cNvPr>
          <p:cNvSpPr/>
          <p:nvPr/>
        </p:nvSpPr>
        <p:spPr>
          <a:xfrm>
            <a:off x="6001392" y="2505679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C59D6C6E-0048-811E-C1C9-E8A62A1A027E}"/>
              </a:ext>
            </a:extLst>
          </p:cNvPr>
          <p:cNvSpPr/>
          <p:nvPr/>
        </p:nvSpPr>
        <p:spPr>
          <a:xfrm>
            <a:off x="7874911" y="1285274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58" name="Diamond 57">
            <a:extLst>
              <a:ext uri="{FF2B5EF4-FFF2-40B4-BE49-F238E27FC236}">
                <a16:creationId xmlns:a16="http://schemas.microsoft.com/office/drawing/2014/main" id="{8C29C53F-9D27-7D84-CACF-659F68D784BA}"/>
              </a:ext>
            </a:extLst>
          </p:cNvPr>
          <p:cNvSpPr/>
          <p:nvPr/>
        </p:nvSpPr>
        <p:spPr>
          <a:xfrm>
            <a:off x="7874911" y="2004421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9FC61377-EAAC-CFB6-6D2F-EBEE8D90D740}"/>
              </a:ext>
            </a:extLst>
          </p:cNvPr>
          <p:cNvSpPr/>
          <p:nvPr/>
        </p:nvSpPr>
        <p:spPr>
          <a:xfrm>
            <a:off x="10018234" y="2004421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15A99C15-C11B-1DDE-B722-A98FE0A351AC}"/>
              </a:ext>
            </a:extLst>
          </p:cNvPr>
          <p:cNvSpPr/>
          <p:nvPr/>
        </p:nvSpPr>
        <p:spPr>
          <a:xfrm>
            <a:off x="244376" y="4792648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50" name="Rounded Rectangle 33">
            <a:extLst>
              <a:ext uri="{FF2B5EF4-FFF2-40B4-BE49-F238E27FC236}">
                <a16:creationId xmlns:a16="http://schemas.microsoft.com/office/drawing/2014/main" id="{EE4532F3-116A-BF4E-A38E-F117DA107634}"/>
              </a:ext>
            </a:extLst>
          </p:cNvPr>
          <p:cNvSpPr/>
          <p:nvPr/>
        </p:nvSpPr>
        <p:spPr>
          <a:xfrm>
            <a:off x="4213862" y="373509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Agents integrate with SORs via MCPs; warehouse is not the standard interface</a:t>
            </a:r>
          </a:p>
        </p:txBody>
      </p:sp>
      <p:sp>
        <p:nvSpPr>
          <p:cNvPr id="56" name="Rounded Rectangle 14">
            <a:extLst>
              <a:ext uri="{FF2B5EF4-FFF2-40B4-BE49-F238E27FC236}">
                <a16:creationId xmlns:a16="http://schemas.microsoft.com/office/drawing/2014/main" id="{850C8463-9126-8FDA-3C94-85DE10FB1ADA}"/>
              </a:ext>
            </a:extLst>
          </p:cNvPr>
          <p:cNvSpPr/>
          <p:nvPr/>
        </p:nvSpPr>
        <p:spPr>
          <a:xfrm>
            <a:off x="6114577" y="5594502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JIT, pointer, graph-based retrieval as default; RAG for doc-heavy cases only</a:t>
            </a:r>
          </a:p>
        </p:txBody>
      </p:sp>
      <p:sp>
        <p:nvSpPr>
          <p:cNvPr id="63" name="Rounded Rectangle 16">
            <a:extLst>
              <a:ext uri="{FF2B5EF4-FFF2-40B4-BE49-F238E27FC236}">
                <a16:creationId xmlns:a16="http://schemas.microsoft.com/office/drawing/2014/main" id="{22311CED-2CC0-9888-126E-CC46E22DA988}"/>
              </a:ext>
            </a:extLst>
          </p:cNvPr>
          <p:cNvSpPr/>
          <p:nvPr/>
        </p:nvSpPr>
        <p:spPr>
          <a:xfrm>
            <a:off x="7976925" y="2790364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Telemetry continuous, evals on schedule &amp; threshold triggers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6066A8-94B6-C164-4E6C-28A5E771AEAD}"/>
              </a:ext>
            </a:extLst>
          </p:cNvPr>
          <p:cNvSpPr/>
          <p:nvPr/>
        </p:nvSpPr>
        <p:spPr>
          <a:xfrm>
            <a:off x="1956038" y="1284868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6F27AB-FA29-8E9D-F2FE-AA32B0BE126F}"/>
              </a:ext>
            </a:extLst>
          </p:cNvPr>
          <p:cNvSpPr/>
          <p:nvPr/>
        </p:nvSpPr>
        <p:spPr>
          <a:xfrm>
            <a:off x="3871465" y="1284868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6642173-BDBA-F781-B842-DE0CA18083DC}"/>
              </a:ext>
            </a:extLst>
          </p:cNvPr>
          <p:cNvSpPr/>
          <p:nvPr/>
        </p:nvSpPr>
        <p:spPr>
          <a:xfrm>
            <a:off x="5853287" y="1284868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12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A7611A4-C3B0-C1DF-5618-4D9366307471}"/>
              </a:ext>
            </a:extLst>
          </p:cNvPr>
          <p:cNvSpPr/>
          <p:nvPr/>
        </p:nvSpPr>
        <p:spPr>
          <a:xfrm>
            <a:off x="1956038" y="2505273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5D956FE-DC85-25D9-587B-588496A51591}"/>
              </a:ext>
            </a:extLst>
          </p:cNvPr>
          <p:cNvSpPr/>
          <p:nvPr/>
        </p:nvSpPr>
        <p:spPr>
          <a:xfrm>
            <a:off x="3871465" y="2505273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4528B7-EF60-2E5F-DFA5-C88A95E0E151}"/>
              </a:ext>
            </a:extLst>
          </p:cNvPr>
          <p:cNvSpPr/>
          <p:nvPr/>
        </p:nvSpPr>
        <p:spPr>
          <a:xfrm>
            <a:off x="5853287" y="2505273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FF0E8AB-C830-E6B8-4331-8B4DB12EC924}"/>
              </a:ext>
            </a:extLst>
          </p:cNvPr>
          <p:cNvSpPr/>
          <p:nvPr/>
        </p:nvSpPr>
        <p:spPr>
          <a:xfrm>
            <a:off x="7741698" y="2505273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C249F44-9DBF-105F-2723-6B417F2E66DD}"/>
              </a:ext>
            </a:extLst>
          </p:cNvPr>
          <p:cNvSpPr/>
          <p:nvPr/>
        </p:nvSpPr>
        <p:spPr>
          <a:xfrm>
            <a:off x="1956038" y="3639559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9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D4A1B79-365F-49D0-B85F-1D0E70E298B3}"/>
              </a:ext>
            </a:extLst>
          </p:cNvPr>
          <p:cNvSpPr/>
          <p:nvPr/>
        </p:nvSpPr>
        <p:spPr>
          <a:xfrm>
            <a:off x="3871465" y="3639559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2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B54F596-D57E-C023-7A5B-1FD527A3108D}"/>
              </a:ext>
            </a:extLst>
          </p:cNvPr>
          <p:cNvSpPr/>
          <p:nvPr/>
        </p:nvSpPr>
        <p:spPr>
          <a:xfrm>
            <a:off x="5853287" y="3639559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7A9DED6-ABFD-7E8D-3EF6-2D8909FBE564}"/>
              </a:ext>
            </a:extLst>
          </p:cNvPr>
          <p:cNvSpPr/>
          <p:nvPr/>
        </p:nvSpPr>
        <p:spPr>
          <a:xfrm>
            <a:off x="1956038" y="4792242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3FB5888-EEAF-374E-3CD4-C20F92E3F6AF}"/>
              </a:ext>
            </a:extLst>
          </p:cNvPr>
          <p:cNvSpPr/>
          <p:nvPr/>
        </p:nvSpPr>
        <p:spPr>
          <a:xfrm>
            <a:off x="3871465" y="4792242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FE3DB5C-5D1B-8AF2-474D-131AD3E080DB}"/>
              </a:ext>
            </a:extLst>
          </p:cNvPr>
          <p:cNvSpPr/>
          <p:nvPr/>
        </p:nvSpPr>
        <p:spPr>
          <a:xfrm>
            <a:off x="5853287" y="4792242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85DAF78-6F9F-6166-4CF3-42F15F37B31B}"/>
              </a:ext>
            </a:extLst>
          </p:cNvPr>
          <p:cNvSpPr/>
          <p:nvPr/>
        </p:nvSpPr>
        <p:spPr>
          <a:xfrm>
            <a:off x="7741698" y="4792242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B766A10-1127-7797-18DF-0694270BB60A}"/>
              </a:ext>
            </a:extLst>
          </p:cNvPr>
          <p:cNvSpPr/>
          <p:nvPr/>
        </p:nvSpPr>
        <p:spPr>
          <a:xfrm>
            <a:off x="1956038" y="5503736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10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5215ED9-CEE9-484B-89A1-114A905A8DA1}"/>
              </a:ext>
            </a:extLst>
          </p:cNvPr>
          <p:cNvSpPr/>
          <p:nvPr/>
        </p:nvSpPr>
        <p:spPr>
          <a:xfrm>
            <a:off x="3871465" y="5503736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1D693C3-9754-96D6-4E96-FD3590A2FE56}"/>
              </a:ext>
            </a:extLst>
          </p:cNvPr>
          <p:cNvSpPr/>
          <p:nvPr/>
        </p:nvSpPr>
        <p:spPr>
          <a:xfrm>
            <a:off x="5853287" y="5503736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984C82F-6174-E56E-7C57-B3FBE2A5E4F3}"/>
              </a:ext>
            </a:extLst>
          </p:cNvPr>
          <p:cNvSpPr/>
          <p:nvPr/>
        </p:nvSpPr>
        <p:spPr>
          <a:xfrm>
            <a:off x="7741698" y="5503736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6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B647F79-82D4-98F6-AEFA-A6084AE2F83C}"/>
              </a:ext>
            </a:extLst>
          </p:cNvPr>
          <p:cNvSpPr/>
          <p:nvPr/>
        </p:nvSpPr>
        <p:spPr>
          <a:xfrm>
            <a:off x="9589060" y="1284868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1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48F714D-6034-FEC0-B361-B68EE1EF4E24}"/>
              </a:ext>
            </a:extLst>
          </p:cNvPr>
          <p:cNvSpPr/>
          <p:nvPr/>
        </p:nvSpPr>
        <p:spPr>
          <a:xfrm>
            <a:off x="11739267" y="1284868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80452C3-9369-E431-94B6-5F35FB83604E}"/>
              </a:ext>
            </a:extLst>
          </p:cNvPr>
          <p:cNvSpPr/>
          <p:nvPr/>
        </p:nvSpPr>
        <p:spPr>
          <a:xfrm>
            <a:off x="9589060" y="2004015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74F4B4D-03BF-BAA9-C4DF-41A551C787CE}"/>
              </a:ext>
            </a:extLst>
          </p:cNvPr>
          <p:cNvSpPr/>
          <p:nvPr/>
        </p:nvSpPr>
        <p:spPr>
          <a:xfrm>
            <a:off x="11739267" y="2004015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2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AE1D228-B2E3-A72C-E882-0A5BC9772B5E}"/>
              </a:ext>
            </a:extLst>
          </p:cNvPr>
          <p:cNvSpPr/>
          <p:nvPr/>
        </p:nvSpPr>
        <p:spPr>
          <a:xfrm>
            <a:off x="9589060" y="2699257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8F1FEF6-652C-CE4E-7322-732DB094A932}"/>
              </a:ext>
            </a:extLst>
          </p:cNvPr>
          <p:cNvSpPr/>
          <p:nvPr/>
        </p:nvSpPr>
        <p:spPr>
          <a:xfrm>
            <a:off x="9589060" y="4792242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9E57728-682D-F486-F5B8-BD639CFF8F9D}"/>
              </a:ext>
            </a:extLst>
          </p:cNvPr>
          <p:cNvSpPr/>
          <p:nvPr/>
        </p:nvSpPr>
        <p:spPr>
          <a:xfrm>
            <a:off x="11739267" y="4792242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0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B00AE67-BF12-5A9D-2B59-D61521E3BB20}"/>
              </a:ext>
            </a:extLst>
          </p:cNvPr>
          <p:cNvSpPr/>
          <p:nvPr/>
        </p:nvSpPr>
        <p:spPr>
          <a:xfrm>
            <a:off x="2353288" y="3508697"/>
            <a:ext cx="1630940" cy="653693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Am surprised this is so low… do startups just not procure?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101D3C3-853E-8571-2C98-38C4B3BD9570}"/>
              </a:ext>
            </a:extLst>
          </p:cNvPr>
          <p:cNvSpPr/>
          <p:nvPr/>
        </p:nvSpPr>
        <p:spPr>
          <a:xfrm>
            <a:off x="6443259" y="207604"/>
            <a:ext cx="2487350" cy="697886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Are we missing something about build vs buy decisions (and empowerment) either here or in the arch category?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1B3410A-EF30-42D5-B12E-6617B9AEC912}"/>
              </a:ext>
            </a:extLst>
          </p:cNvPr>
          <p:cNvSpPr/>
          <p:nvPr/>
        </p:nvSpPr>
        <p:spPr>
          <a:xfrm>
            <a:off x="9948969" y="5210033"/>
            <a:ext cx="2487350" cy="697886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If this is 0 where did it come from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07F17F0-5A20-843B-8952-68C2ACC9E382}"/>
              </a:ext>
            </a:extLst>
          </p:cNvPr>
          <p:cNvSpPr/>
          <p:nvPr/>
        </p:nvSpPr>
        <p:spPr>
          <a:xfrm>
            <a:off x="2894738" y="6122919"/>
            <a:ext cx="1378762" cy="466742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Of the brain, agents, or both?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FF6B421-25C6-8C8C-8675-04AF47691E89}"/>
              </a:ext>
            </a:extLst>
          </p:cNvPr>
          <p:cNvSpPr/>
          <p:nvPr/>
        </p:nvSpPr>
        <p:spPr>
          <a:xfrm>
            <a:off x="-1075038" y="6071477"/>
            <a:ext cx="2520355" cy="1049997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Surprised this </a:t>
            </a:r>
            <a:r>
              <a:rPr lang="en-US" sz="1200" spc="-20" err="1"/>
              <a:t>si</a:t>
            </a:r>
            <a:r>
              <a:rPr lang="en-US" sz="1200" spc="-20"/>
              <a:t> so high but maintenance behavior on other slides is so low… Also, does this grade / grow by department? (for scorecard purposes)</a:t>
            </a:r>
          </a:p>
        </p:txBody>
      </p:sp>
    </p:spTree>
    <p:extLst>
      <p:ext uri="{BB962C8B-B14F-4D97-AF65-F5344CB8AC3E}">
        <p14:creationId xmlns:p14="http://schemas.microsoft.com/office/powerpoint/2010/main" val="2404364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8B9E0-5082-0764-AB43-6715F6925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55BA0E-5129-5191-6EBC-8268F51CEB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519177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55BA0E-5129-5191-6EBC-8268F51CEB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EF241DC-5F98-80CB-1525-2BA73A446770}"/>
              </a:ext>
            </a:extLst>
          </p:cNvPr>
          <p:cNvSpPr/>
          <p:nvPr/>
        </p:nvSpPr>
        <p:spPr>
          <a:xfrm>
            <a:off x="246643" y="148437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Just-in-time context via governed store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E9ACF42-FE21-A1E6-82BE-A268D51835D4}"/>
              </a:ext>
            </a:extLst>
          </p:cNvPr>
          <p:cNvSpPr/>
          <p:nvPr/>
        </p:nvSpPr>
        <p:spPr>
          <a:xfrm>
            <a:off x="4152895" y="148437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Custom MCPs for proprietary context 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E8EFAE8-5E23-F4A0-32B4-621A6D71F8A9}"/>
              </a:ext>
            </a:extLst>
          </p:cNvPr>
          <p:cNvSpPr/>
          <p:nvPr/>
        </p:nvSpPr>
        <p:spPr>
          <a:xfrm>
            <a:off x="2199769" y="148437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Context access scoped for agent, task, or user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8EFE8-6BE6-AA75-BC09-644A8946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Frontier Firm Traits | Platform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EBF404-CF03-1262-6528-E1229E69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C109A-C738-E78B-19B1-76A5B284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DBF33F1-D823-2D86-B996-3C665200EE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A5351D-A2C2-04D9-7F00-09AE98EFAE11}"/>
              </a:ext>
            </a:extLst>
          </p:cNvPr>
          <p:cNvSpPr txBox="1"/>
          <p:nvPr/>
        </p:nvSpPr>
        <p:spPr>
          <a:xfrm>
            <a:off x="970671" y="-32355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26698F-6ACA-AA79-42E6-2EE835CBA88E}"/>
              </a:ext>
            </a:extLst>
          </p:cNvPr>
          <p:cNvSpPr txBox="1"/>
          <p:nvPr/>
        </p:nvSpPr>
        <p:spPr>
          <a:xfrm>
            <a:off x="246643" y="1024352"/>
            <a:ext cx="5680911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Context management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E8DC3A-E1CB-13A9-692C-CA0F91E02ABA}"/>
              </a:ext>
            </a:extLst>
          </p:cNvPr>
          <p:cNvSpPr txBox="1"/>
          <p:nvPr/>
        </p:nvSpPr>
        <p:spPr>
          <a:xfrm>
            <a:off x="282575" y="2821247"/>
            <a:ext cx="5680911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Agent design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F1E8562-ACEF-8A9F-71ED-D09EDFCF3888}"/>
              </a:ext>
            </a:extLst>
          </p:cNvPr>
          <p:cNvSpPr/>
          <p:nvPr/>
        </p:nvSpPr>
        <p:spPr>
          <a:xfrm>
            <a:off x="10079867" y="148437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Explicit task plan / spec file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DD9D9F8-1C67-20E5-AB91-B991785B00BC}"/>
              </a:ext>
            </a:extLst>
          </p:cNvPr>
          <p:cNvSpPr/>
          <p:nvPr/>
        </p:nvSpPr>
        <p:spPr>
          <a:xfrm>
            <a:off x="8126741" y="148437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Workflow consists of bounded tasks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FA84F1-A643-B305-4811-EC234B2A74B0}"/>
              </a:ext>
            </a:extLst>
          </p:cNvPr>
          <p:cNvSpPr txBox="1"/>
          <p:nvPr/>
        </p:nvSpPr>
        <p:spPr>
          <a:xfrm>
            <a:off x="6173615" y="1024352"/>
            <a:ext cx="5680911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Workflow &amp; task design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86C35E-6545-F2D1-8802-DD9EE13156C5}"/>
              </a:ext>
            </a:extLst>
          </p:cNvPr>
          <p:cNvSpPr txBox="1"/>
          <p:nvPr/>
        </p:nvSpPr>
        <p:spPr>
          <a:xfrm>
            <a:off x="282575" y="4618142"/>
            <a:ext cx="5680911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Risk management for AI execution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66A297-0031-CE16-F579-9B791B3176BC}"/>
              </a:ext>
            </a:extLst>
          </p:cNvPr>
          <p:cNvSpPr txBox="1"/>
          <p:nvPr/>
        </p:nvSpPr>
        <p:spPr>
          <a:xfrm>
            <a:off x="6173451" y="2821247"/>
            <a:ext cx="5680911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Orchestration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826DDE-9970-21F5-38EF-DBA9565EE1D1}"/>
              </a:ext>
            </a:extLst>
          </p:cNvPr>
          <p:cNvSpPr txBox="1"/>
          <p:nvPr/>
        </p:nvSpPr>
        <p:spPr>
          <a:xfrm>
            <a:off x="6173615" y="4618142"/>
            <a:ext cx="5680911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Learning systems</a:t>
            </a:r>
          </a:p>
        </p:txBody>
      </p:sp>
      <p:sp>
        <p:nvSpPr>
          <p:cNvPr id="44" name="Rounded Rectangle 23">
            <a:extLst>
              <a:ext uri="{FF2B5EF4-FFF2-40B4-BE49-F238E27FC236}">
                <a16:creationId xmlns:a16="http://schemas.microsoft.com/office/drawing/2014/main" id="{FD8532F8-DA3A-D45F-BE70-D51B4F25D744}"/>
              </a:ext>
            </a:extLst>
          </p:cNvPr>
          <p:cNvSpPr/>
          <p:nvPr/>
        </p:nvSpPr>
        <p:spPr>
          <a:xfrm>
            <a:off x="246643" y="191017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Human context curation</a:t>
            </a:r>
          </a:p>
        </p:txBody>
      </p:sp>
      <p:sp>
        <p:nvSpPr>
          <p:cNvPr id="45" name="Rounded Rectangle 37">
            <a:extLst>
              <a:ext uri="{FF2B5EF4-FFF2-40B4-BE49-F238E27FC236}">
                <a16:creationId xmlns:a16="http://schemas.microsoft.com/office/drawing/2014/main" id="{4FD6127D-23E6-F7F4-2E45-532A114721CC}"/>
              </a:ext>
            </a:extLst>
          </p:cNvPr>
          <p:cNvSpPr/>
          <p:nvPr/>
        </p:nvSpPr>
        <p:spPr>
          <a:xfrm>
            <a:off x="10079867" y="191017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Acceptance criteria / edge cases</a:t>
            </a:r>
          </a:p>
        </p:txBody>
      </p:sp>
      <p:sp>
        <p:nvSpPr>
          <p:cNvPr id="46" name="Rounded Rectangle 38">
            <a:extLst>
              <a:ext uri="{FF2B5EF4-FFF2-40B4-BE49-F238E27FC236}">
                <a16:creationId xmlns:a16="http://schemas.microsoft.com/office/drawing/2014/main" id="{887BD8CD-700E-07A0-E58D-6D02C809A494}"/>
              </a:ext>
            </a:extLst>
          </p:cNvPr>
          <p:cNvSpPr/>
          <p:nvPr/>
        </p:nvSpPr>
        <p:spPr>
          <a:xfrm>
            <a:off x="6173615" y="2365713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Review gates planned before execution</a:t>
            </a:r>
          </a:p>
        </p:txBody>
      </p:sp>
      <p:sp>
        <p:nvSpPr>
          <p:cNvPr id="47" name="Rounded Rectangle 39">
            <a:extLst>
              <a:ext uri="{FF2B5EF4-FFF2-40B4-BE49-F238E27FC236}">
                <a16:creationId xmlns:a16="http://schemas.microsoft.com/office/drawing/2014/main" id="{6A098ABE-A77F-24D4-F3C6-B4123CE3E111}"/>
              </a:ext>
            </a:extLst>
          </p:cNvPr>
          <p:cNvSpPr/>
          <p:nvPr/>
        </p:nvSpPr>
        <p:spPr>
          <a:xfrm>
            <a:off x="8126741" y="191017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High-reasoning model for planning</a:t>
            </a:r>
          </a:p>
        </p:txBody>
      </p:sp>
      <p:sp>
        <p:nvSpPr>
          <p:cNvPr id="48" name="Rounded Rectangle 37">
            <a:extLst>
              <a:ext uri="{FF2B5EF4-FFF2-40B4-BE49-F238E27FC236}">
                <a16:creationId xmlns:a16="http://schemas.microsoft.com/office/drawing/2014/main" id="{50F08D8E-2724-B660-AE9F-8BF9FCEA90EE}"/>
              </a:ext>
            </a:extLst>
          </p:cNvPr>
          <p:cNvSpPr/>
          <p:nvPr/>
        </p:nvSpPr>
        <p:spPr>
          <a:xfrm>
            <a:off x="4188827" y="3251540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Agent registry / cards: capability / owner / risk</a:t>
            </a:r>
            <a:endParaRPr lang="en-US" sz="1100" spc="-20"/>
          </a:p>
        </p:txBody>
      </p:sp>
      <p:sp>
        <p:nvSpPr>
          <p:cNvPr id="49" name="Rounded Rectangle 38">
            <a:extLst>
              <a:ext uri="{FF2B5EF4-FFF2-40B4-BE49-F238E27FC236}">
                <a16:creationId xmlns:a16="http://schemas.microsoft.com/office/drawing/2014/main" id="{865C5C52-F78F-722D-C1D7-325BABDCCD32}"/>
              </a:ext>
            </a:extLst>
          </p:cNvPr>
          <p:cNvSpPr/>
          <p:nvPr/>
        </p:nvSpPr>
        <p:spPr>
          <a:xfrm>
            <a:off x="282575" y="416260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Sandboxed / isolated workspaces</a:t>
            </a:r>
          </a:p>
        </p:txBody>
      </p:sp>
      <p:sp>
        <p:nvSpPr>
          <p:cNvPr id="50" name="Rounded Rectangle 39">
            <a:extLst>
              <a:ext uri="{FF2B5EF4-FFF2-40B4-BE49-F238E27FC236}">
                <a16:creationId xmlns:a16="http://schemas.microsoft.com/office/drawing/2014/main" id="{A5A12F18-DBF6-95EE-6FCE-3F75E8D8339F}"/>
              </a:ext>
            </a:extLst>
          </p:cNvPr>
          <p:cNvSpPr/>
          <p:nvPr/>
        </p:nvSpPr>
        <p:spPr>
          <a:xfrm>
            <a:off x="282575" y="3251540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Vertical / specialized agent portfolio</a:t>
            </a:r>
          </a:p>
        </p:txBody>
      </p:sp>
      <p:sp>
        <p:nvSpPr>
          <p:cNvPr id="51" name="Rounded Rectangle 37">
            <a:extLst>
              <a:ext uri="{FF2B5EF4-FFF2-40B4-BE49-F238E27FC236}">
                <a16:creationId xmlns:a16="http://schemas.microsoft.com/office/drawing/2014/main" id="{B65EED63-05CD-A05A-E07F-AC237987D219}"/>
              </a:ext>
            </a:extLst>
          </p:cNvPr>
          <p:cNvSpPr/>
          <p:nvPr/>
        </p:nvSpPr>
        <p:spPr>
          <a:xfrm>
            <a:off x="2235701" y="416260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Local + cloud execution paths</a:t>
            </a:r>
          </a:p>
        </p:txBody>
      </p:sp>
      <p:sp>
        <p:nvSpPr>
          <p:cNvPr id="52" name="Rounded Rectangle 38">
            <a:extLst>
              <a:ext uri="{FF2B5EF4-FFF2-40B4-BE49-F238E27FC236}">
                <a16:creationId xmlns:a16="http://schemas.microsoft.com/office/drawing/2014/main" id="{1DC1C3CF-DB6E-1AC6-16A6-7C17D3BA36C6}"/>
              </a:ext>
            </a:extLst>
          </p:cNvPr>
          <p:cNvSpPr/>
          <p:nvPr/>
        </p:nvSpPr>
        <p:spPr>
          <a:xfrm>
            <a:off x="2235701" y="3707074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Agent identity &amp; least-privilege permissions</a:t>
            </a:r>
          </a:p>
        </p:txBody>
      </p:sp>
      <p:sp>
        <p:nvSpPr>
          <p:cNvPr id="53" name="Rounded Rectangle 39">
            <a:extLst>
              <a:ext uri="{FF2B5EF4-FFF2-40B4-BE49-F238E27FC236}">
                <a16:creationId xmlns:a16="http://schemas.microsoft.com/office/drawing/2014/main" id="{AB64EA18-1C36-172B-C4F9-FFA6BA964EB2}"/>
              </a:ext>
            </a:extLst>
          </p:cNvPr>
          <p:cNvSpPr/>
          <p:nvPr/>
        </p:nvSpPr>
        <p:spPr>
          <a:xfrm>
            <a:off x="282575" y="3707074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Sub-agent delegation for bounded subtasks</a:t>
            </a:r>
          </a:p>
        </p:txBody>
      </p:sp>
      <p:sp>
        <p:nvSpPr>
          <p:cNvPr id="54" name="Rounded Rectangle 37">
            <a:extLst>
              <a:ext uri="{FF2B5EF4-FFF2-40B4-BE49-F238E27FC236}">
                <a16:creationId xmlns:a16="http://schemas.microsoft.com/office/drawing/2014/main" id="{1BD76469-9AE8-8965-9A4E-D93975370514}"/>
              </a:ext>
            </a:extLst>
          </p:cNvPr>
          <p:cNvSpPr/>
          <p:nvPr/>
        </p:nvSpPr>
        <p:spPr>
          <a:xfrm>
            <a:off x="8126741" y="3251540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Pre-wired sequences (deterministic)</a:t>
            </a:r>
          </a:p>
        </p:txBody>
      </p:sp>
      <p:sp>
        <p:nvSpPr>
          <p:cNvPr id="55" name="Rounded Rectangle 38">
            <a:extLst>
              <a:ext uri="{FF2B5EF4-FFF2-40B4-BE49-F238E27FC236}">
                <a16:creationId xmlns:a16="http://schemas.microsoft.com/office/drawing/2014/main" id="{3D4CF7EB-E32F-FAB5-5D13-93C1848F321F}"/>
              </a:ext>
            </a:extLst>
          </p:cNvPr>
          <p:cNvSpPr/>
          <p:nvPr/>
        </p:nvSpPr>
        <p:spPr>
          <a:xfrm>
            <a:off x="10079867" y="3251540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Model routing &amp; advise-execute-review tiering</a:t>
            </a:r>
          </a:p>
        </p:txBody>
      </p:sp>
      <p:sp>
        <p:nvSpPr>
          <p:cNvPr id="56" name="Rounded Rectangle 39">
            <a:extLst>
              <a:ext uri="{FF2B5EF4-FFF2-40B4-BE49-F238E27FC236}">
                <a16:creationId xmlns:a16="http://schemas.microsoft.com/office/drawing/2014/main" id="{A9DD872F-02B3-5485-A87F-965DB3661A8A}"/>
              </a:ext>
            </a:extLst>
          </p:cNvPr>
          <p:cNvSpPr/>
          <p:nvPr/>
        </p:nvSpPr>
        <p:spPr>
          <a:xfrm>
            <a:off x="6173615" y="3251540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Dynamic orchestrator / master-agent routing</a:t>
            </a:r>
          </a:p>
        </p:txBody>
      </p:sp>
      <p:sp>
        <p:nvSpPr>
          <p:cNvPr id="57" name="Rounded Rectangle 37">
            <a:extLst>
              <a:ext uri="{FF2B5EF4-FFF2-40B4-BE49-F238E27FC236}">
                <a16:creationId xmlns:a16="http://schemas.microsoft.com/office/drawing/2014/main" id="{BEA4FBCD-B365-239F-F454-B0541D4CAEC2}"/>
              </a:ext>
            </a:extLst>
          </p:cNvPr>
          <p:cNvSpPr/>
          <p:nvPr/>
        </p:nvSpPr>
        <p:spPr>
          <a:xfrm>
            <a:off x="8126741" y="3707074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Agent-to-agent handoffs / cross-review</a:t>
            </a:r>
          </a:p>
        </p:txBody>
      </p:sp>
      <p:sp>
        <p:nvSpPr>
          <p:cNvPr id="58" name="Rounded Rectangle 38">
            <a:extLst>
              <a:ext uri="{FF2B5EF4-FFF2-40B4-BE49-F238E27FC236}">
                <a16:creationId xmlns:a16="http://schemas.microsoft.com/office/drawing/2014/main" id="{9B847B6F-785A-B628-3F2F-E48E7ED26C15}"/>
              </a:ext>
            </a:extLst>
          </p:cNvPr>
          <p:cNvSpPr/>
          <p:nvPr/>
        </p:nvSpPr>
        <p:spPr>
          <a:xfrm>
            <a:off x="10079867" y="3707074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Durable execution (resume / retries)</a:t>
            </a:r>
          </a:p>
        </p:txBody>
      </p:sp>
      <p:sp>
        <p:nvSpPr>
          <p:cNvPr id="59" name="Rounded Rectangle 39">
            <a:extLst>
              <a:ext uri="{FF2B5EF4-FFF2-40B4-BE49-F238E27FC236}">
                <a16:creationId xmlns:a16="http://schemas.microsoft.com/office/drawing/2014/main" id="{F5173948-F4F8-749E-DBE6-317D9E539965}"/>
              </a:ext>
            </a:extLst>
          </p:cNvPr>
          <p:cNvSpPr/>
          <p:nvPr/>
        </p:nvSpPr>
        <p:spPr>
          <a:xfrm>
            <a:off x="6173615" y="3707074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Event triggered / scheduled</a:t>
            </a:r>
          </a:p>
        </p:txBody>
      </p:sp>
      <p:sp>
        <p:nvSpPr>
          <p:cNvPr id="60" name="Rounded Rectangle 37">
            <a:extLst>
              <a:ext uri="{FF2B5EF4-FFF2-40B4-BE49-F238E27FC236}">
                <a16:creationId xmlns:a16="http://schemas.microsoft.com/office/drawing/2014/main" id="{6215F7BA-1725-14EA-CC17-7892F1C38DA9}"/>
              </a:ext>
            </a:extLst>
          </p:cNvPr>
          <p:cNvSpPr/>
          <p:nvPr/>
        </p:nvSpPr>
        <p:spPr>
          <a:xfrm>
            <a:off x="2235701" y="504843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Humans-in-the-loop gates / escalation triage</a:t>
            </a:r>
          </a:p>
        </p:txBody>
      </p:sp>
      <p:sp>
        <p:nvSpPr>
          <p:cNvPr id="61" name="Rounded Rectangle 38">
            <a:extLst>
              <a:ext uri="{FF2B5EF4-FFF2-40B4-BE49-F238E27FC236}">
                <a16:creationId xmlns:a16="http://schemas.microsoft.com/office/drawing/2014/main" id="{CFB281C7-462A-6030-2784-7BCA9AE75C22}"/>
              </a:ext>
            </a:extLst>
          </p:cNvPr>
          <p:cNvSpPr/>
          <p:nvPr/>
        </p:nvSpPr>
        <p:spPr>
          <a:xfrm>
            <a:off x="4188827" y="550396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Ownership, execution, &amp; signoffs per workflow</a:t>
            </a:r>
          </a:p>
        </p:txBody>
      </p:sp>
      <p:sp>
        <p:nvSpPr>
          <p:cNvPr id="62" name="Rounded Rectangle 39">
            <a:extLst>
              <a:ext uri="{FF2B5EF4-FFF2-40B4-BE49-F238E27FC236}">
                <a16:creationId xmlns:a16="http://schemas.microsoft.com/office/drawing/2014/main" id="{ED762ABB-8A8E-ECD0-B87B-355E906DD66F}"/>
              </a:ext>
            </a:extLst>
          </p:cNvPr>
          <p:cNvSpPr/>
          <p:nvPr/>
        </p:nvSpPr>
        <p:spPr>
          <a:xfrm>
            <a:off x="282575" y="504843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Multi-stage AI review before human review</a:t>
            </a:r>
          </a:p>
        </p:txBody>
      </p:sp>
      <p:sp>
        <p:nvSpPr>
          <p:cNvPr id="63" name="Rounded Rectangle 37">
            <a:extLst>
              <a:ext uri="{FF2B5EF4-FFF2-40B4-BE49-F238E27FC236}">
                <a16:creationId xmlns:a16="http://schemas.microsoft.com/office/drawing/2014/main" id="{B203A9DD-54EF-DB31-9DC5-2190C86541B4}"/>
              </a:ext>
            </a:extLst>
          </p:cNvPr>
          <p:cNvSpPr/>
          <p:nvPr/>
        </p:nvSpPr>
        <p:spPr>
          <a:xfrm>
            <a:off x="2235701" y="550396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Sampling / spot-check agents</a:t>
            </a:r>
          </a:p>
        </p:txBody>
      </p:sp>
      <p:sp>
        <p:nvSpPr>
          <p:cNvPr id="65" name="Rounded Rectangle 39">
            <a:extLst>
              <a:ext uri="{FF2B5EF4-FFF2-40B4-BE49-F238E27FC236}">
                <a16:creationId xmlns:a16="http://schemas.microsoft.com/office/drawing/2014/main" id="{8999EEDA-F129-68FB-9B57-08F0EF788CDC}"/>
              </a:ext>
            </a:extLst>
          </p:cNvPr>
          <p:cNvSpPr/>
          <p:nvPr/>
        </p:nvSpPr>
        <p:spPr>
          <a:xfrm>
            <a:off x="282575" y="550396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Automated test / verification agents</a:t>
            </a:r>
          </a:p>
        </p:txBody>
      </p:sp>
      <p:sp>
        <p:nvSpPr>
          <p:cNvPr id="66" name="Rounded Rectangle 37">
            <a:extLst>
              <a:ext uri="{FF2B5EF4-FFF2-40B4-BE49-F238E27FC236}">
                <a16:creationId xmlns:a16="http://schemas.microsoft.com/office/drawing/2014/main" id="{E5A09A47-1CEF-3DEB-5C06-6F92CA84E1DD}"/>
              </a:ext>
            </a:extLst>
          </p:cNvPr>
          <p:cNvSpPr/>
          <p:nvPr/>
        </p:nvSpPr>
        <p:spPr>
          <a:xfrm>
            <a:off x="8126741" y="504843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Failures </a:t>
            </a:r>
            <a:r>
              <a:rPr lang="en-US" sz="1100" spc="-20">
                <a:sym typeface="Wingdings" panose="05000000000000000000" pitchFamily="2" charset="2"/>
              </a:rPr>
              <a:t> guardrails</a:t>
            </a:r>
            <a:endParaRPr lang="en-US" sz="1100" spc="-20"/>
          </a:p>
        </p:txBody>
      </p:sp>
      <p:sp>
        <p:nvSpPr>
          <p:cNvPr id="67" name="Rounded Rectangle 38">
            <a:extLst>
              <a:ext uri="{FF2B5EF4-FFF2-40B4-BE49-F238E27FC236}">
                <a16:creationId xmlns:a16="http://schemas.microsoft.com/office/drawing/2014/main" id="{B638B1E7-BFB8-0BF7-71A7-3B79A1501688}"/>
              </a:ext>
            </a:extLst>
          </p:cNvPr>
          <p:cNvSpPr/>
          <p:nvPr/>
        </p:nvSpPr>
        <p:spPr>
          <a:xfrm>
            <a:off x="10079867" y="504843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Postmortems </a:t>
            </a:r>
            <a:r>
              <a:rPr lang="en-US" sz="1100" spc="-20">
                <a:sym typeface="Wingdings" panose="05000000000000000000" pitchFamily="2" charset="2"/>
              </a:rPr>
              <a:t> context</a:t>
            </a:r>
            <a:endParaRPr lang="en-US" sz="1100" spc="-20"/>
          </a:p>
        </p:txBody>
      </p:sp>
      <p:sp>
        <p:nvSpPr>
          <p:cNvPr id="68" name="Rounded Rectangle 39">
            <a:extLst>
              <a:ext uri="{FF2B5EF4-FFF2-40B4-BE49-F238E27FC236}">
                <a16:creationId xmlns:a16="http://schemas.microsoft.com/office/drawing/2014/main" id="{A741A2F5-D14D-0C46-DD1E-3C182AA9389D}"/>
              </a:ext>
            </a:extLst>
          </p:cNvPr>
          <p:cNvSpPr/>
          <p:nvPr/>
        </p:nvSpPr>
        <p:spPr>
          <a:xfrm>
            <a:off x="6173615" y="504843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Fixes </a:t>
            </a:r>
            <a:r>
              <a:rPr lang="en-US" sz="1100" spc="-20">
                <a:sym typeface="Wingdings" panose="05000000000000000000" pitchFamily="2" charset="2"/>
              </a:rPr>
              <a:t> skills</a:t>
            </a:r>
            <a:endParaRPr lang="en-US" sz="1100" spc="-20"/>
          </a:p>
        </p:txBody>
      </p:sp>
      <p:sp>
        <p:nvSpPr>
          <p:cNvPr id="69" name="Rounded Rectangle 37">
            <a:extLst>
              <a:ext uri="{FF2B5EF4-FFF2-40B4-BE49-F238E27FC236}">
                <a16:creationId xmlns:a16="http://schemas.microsoft.com/office/drawing/2014/main" id="{2E293B3A-314E-92CD-6816-0CC243402071}"/>
              </a:ext>
            </a:extLst>
          </p:cNvPr>
          <p:cNvSpPr/>
          <p:nvPr/>
        </p:nvSpPr>
        <p:spPr>
          <a:xfrm>
            <a:off x="8126741" y="550396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Observability &amp; usage telemetry</a:t>
            </a:r>
          </a:p>
        </p:txBody>
      </p:sp>
      <p:sp>
        <p:nvSpPr>
          <p:cNvPr id="71" name="Rounded Rectangle 39">
            <a:extLst>
              <a:ext uri="{FF2B5EF4-FFF2-40B4-BE49-F238E27FC236}">
                <a16:creationId xmlns:a16="http://schemas.microsoft.com/office/drawing/2014/main" id="{0DA6953F-106F-70FC-148C-F024B026340C}"/>
              </a:ext>
            </a:extLst>
          </p:cNvPr>
          <p:cNvSpPr/>
          <p:nvPr/>
        </p:nvSpPr>
        <p:spPr>
          <a:xfrm>
            <a:off x="6173615" y="550396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Workflow evals / golden datasets</a:t>
            </a:r>
            <a:endParaRPr lang="en-US" sz="1100" spc="-20"/>
          </a:p>
        </p:txBody>
      </p:sp>
      <p:sp>
        <p:nvSpPr>
          <p:cNvPr id="74" name="Diamond 73">
            <a:extLst>
              <a:ext uri="{FF2B5EF4-FFF2-40B4-BE49-F238E27FC236}">
                <a16:creationId xmlns:a16="http://schemas.microsoft.com/office/drawing/2014/main" id="{CF2E1B22-BE48-F3EF-47EA-D3065C61E0B2}"/>
              </a:ext>
            </a:extLst>
          </p:cNvPr>
          <p:cNvSpPr/>
          <p:nvPr/>
        </p:nvSpPr>
        <p:spPr>
          <a:xfrm>
            <a:off x="10395674" y="625798"/>
            <a:ext cx="182880" cy="228600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6E109A5-722F-09D3-7927-D63DB21E9A72}"/>
              </a:ext>
            </a:extLst>
          </p:cNvPr>
          <p:cNvSpPr txBox="1"/>
          <p:nvPr/>
        </p:nvSpPr>
        <p:spPr>
          <a:xfrm>
            <a:off x="10649371" y="622805"/>
            <a:ext cx="2220966" cy="2956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i="1" spc="-20"/>
              <a:t>External research</a:t>
            </a:r>
          </a:p>
        </p:txBody>
      </p:sp>
      <p:sp>
        <p:nvSpPr>
          <p:cNvPr id="78" name="Rounded Rectangle 37">
            <a:extLst>
              <a:ext uri="{FF2B5EF4-FFF2-40B4-BE49-F238E27FC236}">
                <a16:creationId xmlns:a16="http://schemas.microsoft.com/office/drawing/2014/main" id="{AA5B3250-D43B-6AF4-23D4-40B3168B7C93}"/>
              </a:ext>
            </a:extLst>
          </p:cNvPr>
          <p:cNvSpPr/>
          <p:nvPr/>
        </p:nvSpPr>
        <p:spPr>
          <a:xfrm>
            <a:off x="2199769" y="191017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Context lives close to work</a:t>
            </a:r>
          </a:p>
        </p:txBody>
      </p:sp>
      <p:sp>
        <p:nvSpPr>
          <p:cNvPr id="79" name="Rounded Rectangle 38">
            <a:extLst>
              <a:ext uri="{FF2B5EF4-FFF2-40B4-BE49-F238E27FC236}">
                <a16:creationId xmlns:a16="http://schemas.microsoft.com/office/drawing/2014/main" id="{D69775AD-6C1B-917C-D201-8FD504ED4432}"/>
              </a:ext>
            </a:extLst>
          </p:cNvPr>
          <p:cNvSpPr/>
          <p:nvPr/>
        </p:nvSpPr>
        <p:spPr>
          <a:xfrm>
            <a:off x="4152895" y="191017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Context cleanup loops</a:t>
            </a:r>
          </a:p>
        </p:txBody>
      </p:sp>
      <p:sp>
        <p:nvSpPr>
          <p:cNvPr id="16" name="Rounded Rectangle 37">
            <a:extLst>
              <a:ext uri="{FF2B5EF4-FFF2-40B4-BE49-F238E27FC236}">
                <a16:creationId xmlns:a16="http://schemas.microsoft.com/office/drawing/2014/main" id="{1E816CB5-DE93-F018-EE6E-3CF0929E72F5}"/>
              </a:ext>
            </a:extLst>
          </p:cNvPr>
          <p:cNvSpPr/>
          <p:nvPr/>
        </p:nvSpPr>
        <p:spPr>
          <a:xfrm>
            <a:off x="4188827" y="504843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Human-on-the-loop supervision</a:t>
            </a:r>
          </a:p>
        </p:txBody>
      </p:sp>
      <p:sp>
        <p:nvSpPr>
          <p:cNvPr id="17" name="Rounded Rectangle 37">
            <a:extLst>
              <a:ext uri="{FF2B5EF4-FFF2-40B4-BE49-F238E27FC236}">
                <a16:creationId xmlns:a16="http://schemas.microsoft.com/office/drawing/2014/main" id="{3FACE1A6-ABF0-6996-53E9-D4525643CB26}"/>
              </a:ext>
            </a:extLst>
          </p:cNvPr>
          <p:cNvSpPr/>
          <p:nvPr/>
        </p:nvSpPr>
        <p:spPr>
          <a:xfrm>
            <a:off x="6173615" y="5959506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Reusable skills / playbook library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8A0BEC0-DADA-CC58-A577-D9DC926F1F91}"/>
              </a:ext>
            </a:extLst>
          </p:cNvPr>
          <p:cNvCxnSpPr>
            <a:cxnSpLocks/>
          </p:cNvCxnSpPr>
          <p:nvPr/>
        </p:nvCxnSpPr>
        <p:spPr>
          <a:xfrm>
            <a:off x="10947603" y="97794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5D4571-0C9F-8B19-211F-972FF730B765}"/>
              </a:ext>
            </a:extLst>
          </p:cNvPr>
          <p:cNvCxnSpPr>
            <a:cxnSpLocks/>
          </p:cNvCxnSpPr>
          <p:nvPr/>
        </p:nvCxnSpPr>
        <p:spPr>
          <a:xfrm>
            <a:off x="10947603" y="320532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376569B-A65B-BA78-9362-06D12551BFD1}"/>
              </a:ext>
            </a:extLst>
          </p:cNvPr>
          <p:cNvSpPr txBox="1"/>
          <p:nvPr/>
        </p:nvSpPr>
        <p:spPr>
          <a:xfrm>
            <a:off x="10947603" y="97794"/>
            <a:ext cx="1125415" cy="2227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>
                <a:solidFill>
                  <a:srgbClr val="C00000"/>
                </a:solidFill>
              </a:rPr>
              <a:t>PRELIMINARY</a:t>
            </a:r>
          </a:p>
        </p:txBody>
      </p:sp>
      <p:sp>
        <p:nvSpPr>
          <p:cNvPr id="27" name="Rounded Rectangle 37">
            <a:extLst>
              <a:ext uri="{FF2B5EF4-FFF2-40B4-BE49-F238E27FC236}">
                <a16:creationId xmlns:a16="http://schemas.microsoft.com/office/drawing/2014/main" id="{5B7B3422-BE07-D5E0-A40E-CFE7E2ACD64C}"/>
              </a:ext>
            </a:extLst>
          </p:cNvPr>
          <p:cNvSpPr/>
          <p:nvPr/>
        </p:nvSpPr>
        <p:spPr>
          <a:xfrm>
            <a:off x="8126741" y="2365713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Advisor-executor-reviewer split</a:t>
            </a:r>
          </a:p>
        </p:txBody>
      </p:sp>
      <p:sp>
        <p:nvSpPr>
          <p:cNvPr id="34" name="Rounded Rectangle 37">
            <a:extLst>
              <a:ext uri="{FF2B5EF4-FFF2-40B4-BE49-F238E27FC236}">
                <a16:creationId xmlns:a16="http://schemas.microsoft.com/office/drawing/2014/main" id="{5891B447-ED57-66DE-5831-F5D702FE6455}"/>
              </a:ext>
            </a:extLst>
          </p:cNvPr>
          <p:cNvSpPr/>
          <p:nvPr/>
        </p:nvSpPr>
        <p:spPr>
          <a:xfrm>
            <a:off x="6173615" y="145464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AI-native workflows (built around agents)</a:t>
            </a:r>
          </a:p>
        </p:txBody>
      </p:sp>
      <p:sp>
        <p:nvSpPr>
          <p:cNvPr id="64" name="Rounded Rectangle 39">
            <a:extLst>
              <a:ext uri="{FF2B5EF4-FFF2-40B4-BE49-F238E27FC236}">
                <a16:creationId xmlns:a16="http://schemas.microsoft.com/office/drawing/2014/main" id="{18A14FF0-A816-6654-BBE4-730FA7FF2CEE}"/>
              </a:ext>
            </a:extLst>
          </p:cNvPr>
          <p:cNvSpPr/>
          <p:nvPr/>
        </p:nvSpPr>
        <p:spPr>
          <a:xfrm>
            <a:off x="282574" y="5959506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Audit trails, ownership, &amp; revocation</a:t>
            </a:r>
          </a:p>
        </p:txBody>
      </p:sp>
      <p:sp>
        <p:nvSpPr>
          <p:cNvPr id="73" name="Rounded Rectangle 39">
            <a:extLst>
              <a:ext uri="{FF2B5EF4-FFF2-40B4-BE49-F238E27FC236}">
                <a16:creationId xmlns:a16="http://schemas.microsoft.com/office/drawing/2014/main" id="{161EA51B-A9F2-B45D-9642-9B1D5470CB96}"/>
              </a:ext>
            </a:extLst>
          </p:cNvPr>
          <p:cNvSpPr/>
          <p:nvPr/>
        </p:nvSpPr>
        <p:spPr>
          <a:xfrm>
            <a:off x="2235701" y="3251540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Narrow, scoped definition per agent</a:t>
            </a:r>
          </a:p>
        </p:txBody>
      </p:sp>
      <p:sp>
        <p:nvSpPr>
          <p:cNvPr id="80" name="Rounded Rectangle 37">
            <a:extLst>
              <a:ext uri="{FF2B5EF4-FFF2-40B4-BE49-F238E27FC236}">
                <a16:creationId xmlns:a16="http://schemas.microsoft.com/office/drawing/2014/main" id="{40386682-BABC-92E9-0E89-A3641275D581}"/>
              </a:ext>
            </a:extLst>
          </p:cNvPr>
          <p:cNvSpPr/>
          <p:nvPr/>
        </p:nvSpPr>
        <p:spPr>
          <a:xfrm>
            <a:off x="6173615" y="191017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Human + AI co-planning</a:t>
            </a:r>
          </a:p>
        </p:txBody>
      </p:sp>
      <p:sp>
        <p:nvSpPr>
          <p:cNvPr id="93" name="Rounded Rectangle 38">
            <a:extLst>
              <a:ext uri="{FF2B5EF4-FFF2-40B4-BE49-F238E27FC236}">
                <a16:creationId xmlns:a16="http://schemas.microsoft.com/office/drawing/2014/main" id="{5E2E21B9-FA56-7911-F9B2-7DA6438D02D8}"/>
              </a:ext>
            </a:extLst>
          </p:cNvPr>
          <p:cNvSpPr/>
          <p:nvPr/>
        </p:nvSpPr>
        <p:spPr>
          <a:xfrm>
            <a:off x="6173615" y="416260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Model / vendor agnostic</a:t>
            </a:r>
          </a:p>
        </p:txBody>
      </p:sp>
      <p:sp>
        <p:nvSpPr>
          <p:cNvPr id="94" name="Rounded Rectangle 38">
            <a:extLst>
              <a:ext uri="{FF2B5EF4-FFF2-40B4-BE49-F238E27FC236}">
                <a16:creationId xmlns:a16="http://schemas.microsoft.com/office/drawing/2014/main" id="{24307693-03BA-34D5-343F-49848561AAFE}"/>
              </a:ext>
            </a:extLst>
          </p:cNvPr>
          <p:cNvSpPr/>
          <p:nvPr/>
        </p:nvSpPr>
        <p:spPr>
          <a:xfrm>
            <a:off x="10079867" y="550396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Human-approved memory updates</a:t>
            </a: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500EF7E3-40C5-CD95-8EF4-736A4FEF7F89}"/>
              </a:ext>
            </a:extLst>
          </p:cNvPr>
          <p:cNvSpPr/>
          <p:nvPr/>
        </p:nvSpPr>
        <p:spPr>
          <a:xfrm>
            <a:off x="4097387" y="4979820"/>
            <a:ext cx="182880" cy="228600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43CB9117-624C-B2B5-BA6A-5AD078AD4914}"/>
              </a:ext>
            </a:extLst>
          </p:cNvPr>
          <p:cNvSpPr/>
          <p:nvPr/>
        </p:nvSpPr>
        <p:spPr>
          <a:xfrm>
            <a:off x="8039718" y="2265671"/>
            <a:ext cx="182880" cy="228600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2105D304-EC34-64CB-2B88-946D54136D0B}"/>
              </a:ext>
            </a:extLst>
          </p:cNvPr>
          <p:cNvSpPr/>
          <p:nvPr/>
        </p:nvSpPr>
        <p:spPr>
          <a:xfrm>
            <a:off x="6098636" y="1390734"/>
            <a:ext cx="182880" cy="228600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22" name="Rounded Rectangle 38">
            <a:extLst>
              <a:ext uri="{FF2B5EF4-FFF2-40B4-BE49-F238E27FC236}">
                <a16:creationId xmlns:a16="http://schemas.microsoft.com/office/drawing/2014/main" id="{DB64AD7F-711A-8553-8AE1-55AD80E0B5A0}"/>
              </a:ext>
            </a:extLst>
          </p:cNvPr>
          <p:cNvSpPr/>
          <p:nvPr/>
        </p:nvSpPr>
        <p:spPr>
          <a:xfrm>
            <a:off x="4188827" y="3707074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Agent identity &amp; access managed centrally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830AED-942C-04FC-2CCC-38E899A782A3}"/>
              </a:ext>
            </a:extLst>
          </p:cNvPr>
          <p:cNvSpPr/>
          <p:nvPr/>
        </p:nvSpPr>
        <p:spPr>
          <a:xfrm>
            <a:off x="1861301" y="1367874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B903CA-4FAB-6E0C-A9F2-30632EA3D498}"/>
              </a:ext>
            </a:extLst>
          </p:cNvPr>
          <p:cNvSpPr/>
          <p:nvPr/>
        </p:nvSpPr>
        <p:spPr>
          <a:xfrm>
            <a:off x="3833117" y="1367874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D0B0CA8-A25D-4C3F-F6E7-1D47D41D99A6}"/>
              </a:ext>
            </a:extLst>
          </p:cNvPr>
          <p:cNvSpPr/>
          <p:nvPr/>
        </p:nvSpPr>
        <p:spPr>
          <a:xfrm>
            <a:off x="5783920" y="1367874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E9C9D7-5DB3-BDA5-98C6-5BD1AF82EA24}"/>
              </a:ext>
            </a:extLst>
          </p:cNvPr>
          <p:cNvSpPr/>
          <p:nvPr/>
        </p:nvSpPr>
        <p:spPr>
          <a:xfrm>
            <a:off x="1861301" y="182177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572A35D-5DFC-F79D-634F-66F7D1BA61F2}"/>
              </a:ext>
            </a:extLst>
          </p:cNvPr>
          <p:cNvSpPr/>
          <p:nvPr/>
        </p:nvSpPr>
        <p:spPr>
          <a:xfrm>
            <a:off x="3833117" y="182177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E5C50C5-12C0-00EA-45C4-4480DD279F0E}"/>
              </a:ext>
            </a:extLst>
          </p:cNvPr>
          <p:cNvSpPr/>
          <p:nvPr/>
        </p:nvSpPr>
        <p:spPr>
          <a:xfrm>
            <a:off x="5783920" y="182177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D9F83DB-22C4-7975-DA64-FF21D95DF55F}"/>
              </a:ext>
            </a:extLst>
          </p:cNvPr>
          <p:cNvSpPr/>
          <p:nvPr/>
        </p:nvSpPr>
        <p:spPr>
          <a:xfrm>
            <a:off x="7801491" y="1367874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C2807EF-7E32-7446-3223-C0E2B9F039CD}"/>
              </a:ext>
            </a:extLst>
          </p:cNvPr>
          <p:cNvSpPr/>
          <p:nvPr/>
        </p:nvSpPr>
        <p:spPr>
          <a:xfrm>
            <a:off x="9731655" y="1367874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F1826DA-0AFE-4178-EA68-CED7345B9C39}"/>
              </a:ext>
            </a:extLst>
          </p:cNvPr>
          <p:cNvSpPr/>
          <p:nvPr/>
        </p:nvSpPr>
        <p:spPr>
          <a:xfrm>
            <a:off x="11666164" y="1367874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90F9192-B0F9-EBC2-B56D-036783067975}"/>
              </a:ext>
            </a:extLst>
          </p:cNvPr>
          <p:cNvSpPr/>
          <p:nvPr/>
        </p:nvSpPr>
        <p:spPr>
          <a:xfrm>
            <a:off x="7801491" y="182177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E729F5D-459B-AA54-43CE-6F38DA51D74B}"/>
              </a:ext>
            </a:extLst>
          </p:cNvPr>
          <p:cNvSpPr/>
          <p:nvPr/>
        </p:nvSpPr>
        <p:spPr>
          <a:xfrm>
            <a:off x="9731655" y="182177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7663744-D469-32D8-FB70-C9F87E127D59}"/>
              </a:ext>
            </a:extLst>
          </p:cNvPr>
          <p:cNvSpPr/>
          <p:nvPr/>
        </p:nvSpPr>
        <p:spPr>
          <a:xfrm>
            <a:off x="11666164" y="182177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0D67D86-9A15-C927-474E-6D990C9DE7CB}"/>
              </a:ext>
            </a:extLst>
          </p:cNvPr>
          <p:cNvSpPr/>
          <p:nvPr/>
        </p:nvSpPr>
        <p:spPr>
          <a:xfrm>
            <a:off x="7801491" y="2242811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48A6DC5-FAEE-2315-3313-F2A39AC46DA5}"/>
              </a:ext>
            </a:extLst>
          </p:cNvPr>
          <p:cNvSpPr/>
          <p:nvPr/>
        </p:nvSpPr>
        <p:spPr>
          <a:xfrm>
            <a:off x="9731655" y="2242811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4E616EC-CD1D-59E7-01EE-92C3EFF1114F}"/>
              </a:ext>
            </a:extLst>
          </p:cNvPr>
          <p:cNvSpPr/>
          <p:nvPr/>
        </p:nvSpPr>
        <p:spPr>
          <a:xfrm>
            <a:off x="1861301" y="3159937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10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645E162-60E4-DE8C-D895-532904126835}"/>
              </a:ext>
            </a:extLst>
          </p:cNvPr>
          <p:cNvSpPr/>
          <p:nvPr/>
        </p:nvSpPr>
        <p:spPr>
          <a:xfrm>
            <a:off x="3833117" y="3159937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6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B798C9B-1E0B-8470-EC76-D01D4ED95299}"/>
              </a:ext>
            </a:extLst>
          </p:cNvPr>
          <p:cNvSpPr/>
          <p:nvPr/>
        </p:nvSpPr>
        <p:spPr>
          <a:xfrm>
            <a:off x="5783920" y="3159937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6DDAF8C-E24E-F98B-143F-804B145A853C}"/>
              </a:ext>
            </a:extLst>
          </p:cNvPr>
          <p:cNvSpPr/>
          <p:nvPr/>
        </p:nvSpPr>
        <p:spPr>
          <a:xfrm>
            <a:off x="1861301" y="3603063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B3806DC-37C4-66D6-6645-2D36B871DEEE}"/>
              </a:ext>
            </a:extLst>
          </p:cNvPr>
          <p:cNvSpPr/>
          <p:nvPr/>
        </p:nvSpPr>
        <p:spPr>
          <a:xfrm>
            <a:off x="3833117" y="3603063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22F2A78-5CF8-CCCC-3B29-4111F083A7CC}"/>
              </a:ext>
            </a:extLst>
          </p:cNvPr>
          <p:cNvSpPr/>
          <p:nvPr/>
        </p:nvSpPr>
        <p:spPr>
          <a:xfrm>
            <a:off x="5783920" y="3603063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0F8F28D-01DC-C00E-FE95-48FF8FE45341}"/>
              </a:ext>
            </a:extLst>
          </p:cNvPr>
          <p:cNvSpPr/>
          <p:nvPr/>
        </p:nvSpPr>
        <p:spPr>
          <a:xfrm>
            <a:off x="1861301" y="4049934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8DDC021-3256-53E3-D87D-CDBD01986A6B}"/>
              </a:ext>
            </a:extLst>
          </p:cNvPr>
          <p:cNvSpPr/>
          <p:nvPr/>
        </p:nvSpPr>
        <p:spPr>
          <a:xfrm>
            <a:off x="3833117" y="4049934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440D13-2DCA-3A50-FC87-538FB0DE07E7}"/>
              </a:ext>
            </a:extLst>
          </p:cNvPr>
          <p:cNvSpPr/>
          <p:nvPr/>
        </p:nvSpPr>
        <p:spPr>
          <a:xfrm>
            <a:off x="7801491" y="3159937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8E2094F-CE1D-6A82-28D3-7531109C54FA}"/>
              </a:ext>
            </a:extLst>
          </p:cNvPr>
          <p:cNvSpPr/>
          <p:nvPr/>
        </p:nvSpPr>
        <p:spPr>
          <a:xfrm>
            <a:off x="9731655" y="3159937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7372406-68F6-AA1F-6A47-6F63FB74B9BD}"/>
              </a:ext>
            </a:extLst>
          </p:cNvPr>
          <p:cNvSpPr/>
          <p:nvPr/>
        </p:nvSpPr>
        <p:spPr>
          <a:xfrm>
            <a:off x="11666164" y="3159937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A369903A-9BF3-A49A-FA92-1F838B56CEAC}"/>
              </a:ext>
            </a:extLst>
          </p:cNvPr>
          <p:cNvSpPr/>
          <p:nvPr/>
        </p:nvSpPr>
        <p:spPr>
          <a:xfrm>
            <a:off x="7801491" y="3603063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79C7C88-D5AA-0FDB-5A0F-F6E81170702D}"/>
              </a:ext>
            </a:extLst>
          </p:cNvPr>
          <p:cNvSpPr/>
          <p:nvPr/>
        </p:nvSpPr>
        <p:spPr>
          <a:xfrm>
            <a:off x="9731655" y="3603063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83A48D4-6121-944D-4726-20BBA724FF50}"/>
              </a:ext>
            </a:extLst>
          </p:cNvPr>
          <p:cNvSpPr/>
          <p:nvPr/>
        </p:nvSpPr>
        <p:spPr>
          <a:xfrm>
            <a:off x="11666164" y="3603063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88295C7A-B80D-2C1B-2872-70C5EE4A8892}"/>
              </a:ext>
            </a:extLst>
          </p:cNvPr>
          <p:cNvSpPr/>
          <p:nvPr/>
        </p:nvSpPr>
        <p:spPr>
          <a:xfrm>
            <a:off x="7801491" y="4049934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78CAFC32-9CF2-2374-1C9A-4D2E05593CE4}"/>
              </a:ext>
            </a:extLst>
          </p:cNvPr>
          <p:cNvSpPr/>
          <p:nvPr/>
        </p:nvSpPr>
        <p:spPr>
          <a:xfrm>
            <a:off x="1861301" y="495696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40896DE-ADF1-2FF7-507A-B1C0D17E8676}"/>
              </a:ext>
            </a:extLst>
          </p:cNvPr>
          <p:cNvSpPr/>
          <p:nvPr/>
        </p:nvSpPr>
        <p:spPr>
          <a:xfrm>
            <a:off x="3833117" y="495696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12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2AAF209-C3E8-DC24-AC23-37CDA215EAFA}"/>
              </a:ext>
            </a:extLst>
          </p:cNvPr>
          <p:cNvSpPr/>
          <p:nvPr/>
        </p:nvSpPr>
        <p:spPr>
          <a:xfrm>
            <a:off x="5783920" y="495696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6A2A313-995B-0046-1BAF-71652D878272}"/>
              </a:ext>
            </a:extLst>
          </p:cNvPr>
          <p:cNvSpPr/>
          <p:nvPr/>
        </p:nvSpPr>
        <p:spPr>
          <a:xfrm>
            <a:off x="1861301" y="541177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A94E697-13A2-9740-414A-8D2C32CF5264}"/>
              </a:ext>
            </a:extLst>
          </p:cNvPr>
          <p:cNvSpPr/>
          <p:nvPr/>
        </p:nvSpPr>
        <p:spPr>
          <a:xfrm>
            <a:off x="3833117" y="541177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2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D29EF86-0134-9BF2-923C-8E60F7608392}"/>
              </a:ext>
            </a:extLst>
          </p:cNvPr>
          <p:cNvSpPr/>
          <p:nvPr/>
        </p:nvSpPr>
        <p:spPr>
          <a:xfrm>
            <a:off x="5783920" y="541177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BD409C8-B91A-8CE6-01CA-361783687A84}"/>
              </a:ext>
            </a:extLst>
          </p:cNvPr>
          <p:cNvSpPr/>
          <p:nvPr/>
        </p:nvSpPr>
        <p:spPr>
          <a:xfrm>
            <a:off x="1861301" y="5886972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6F8B0CC4-2E56-7AB0-CA4F-3F77B48DBA91}"/>
              </a:ext>
            </a:extLst>
          </p:cNvPr>
          <p:cNvSpPr/>
          <p:nvPr/>
        </p:nvSpPr>
        <p:spPr>
          <a:xfrm>
            <a:off x="7801491" y="495696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948BA2A-AB54-CBA2-8BBC-56BFE7BBA935}"/>
              </a:ext>
            </a:extLst>
          </p:cNvPr>
          <p:cNvSpPr/>
          <p:nvPr/>
        </p:nvSpPr>
        <p:spPr>
          <a:xfrm>
            <a:off x="9731655" y="495696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C09FB40-3F82-E5BD-9C7C-D8763ED285CC}"/>
              </a:ext>
            </a:extLst>
          </p:cNvPr>
          <p:cNvSpPr/>
          <p:nvPr/>
        </p:nvSpPr>
        <p:spPr>
          <a:xfrm>
            <a:off x="11666164" y="495696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097A2277-6DE1-890D-C051-4E979E9AF70F}"/>
              </a:ext>
            </a:extLst>
          </p:cNvPr>
          <p:cNvSpPr/>
          <p:nvPr/>
        </p:nvSpPr>
        <p:spPr>
          <a:xfrm>
            <a:off x="7801491" y="541177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74DB788A-B397-84DD-685E-0C63267546D3}"/>
              </a:ext>
            </a:extLst>
          </p:cNvPr>
          <p:cNvSpPr/>
          <p:nvPr/>
        </p:nvSpPr>
        <p:spPr>
          <a:xfrm>
            <a:off x="9731655" y="541177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6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813543D-695E-44DA-1CA1-3D9D4BECBA38}"/>
              </a:ext>
            </a:extLst>
          </p:cNvPr>
          <p:cNvSpPr/>
          <p:nvPr/>
        </p:nvSpPr>
        <p:spPr>
          <a:xfrm>
            <a:off x="11666164" y="541177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2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8EC31766-B81E-0DCA-3BD7-54F7BE566626}"/>
              </a:ext>
            </a:extLst>
          </p:cNvPr>
          <p:cNvSpPr/>
          <p:nvPr/>
        </p:nvSpPr>
        <p:spPr>
          <a:xfrm>
            <a:off x="7801491" y="5886972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D325254-14C4-6A33-0582-194065A419B4}"/>
              </a:ext>
            </a:extLst>
          </p:cNvPr>
          <p:cNvSpPr/>
          <p:nvPr/>
        </p:nvSpPr>
        <p:spPr>
          <a:xfrm>
            <a:off x="4132275" y="74754"/>
            <a:ext cx="3491844" cy="790219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My personal take is that platform is both overweight and has too much technical implication to include workflow design…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385580-E174-102B-612F-699980042E10}"/>
              </a:ext>
            </a:extLst>
          </p:cNvPr>
          <p:cNvSpPr/>
          <p:nvPr/>
        </p:nvSpPr>
        <p:spPr>
          <a:xfrm>
            <a:off x="4359551" y="4691573"/>
            <a:ext cx="1574045" cy="506333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Distinct from in the loop or typo?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49159-F03F-EF3D-51D0-511F027C7F4A}"/>
              </a:ext>
            </a:extLst>
          </p:cNvPr>
          <p:cNvSpPr/>
          <p:nvPr/>
        </p:nvSpPr>
        <p:spPr>
          <a:xfrm>
            <a:off x="8039718" y="5916560"/>
            <a:ext cx="1574045" cy="506333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Human usage or agent activity telemetry?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3CF89A0-5B0C-3C53-487B-3B21BFA7CCE4}"/>
              </a:ext>
            </a:extLst>
          </p:cNvPr>
          <p:cNvSpPr/>
          <p:nvPr/>
        </p:nvSpPr>
        <p:spPr>
          <a:xfrm>
            <a:off x="6339563" y="4526084"/>
            <a:ext cx="1608711" cy="763847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Is this binary or something we see more of with more advancement?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CC41170-6CDF-05EB-F192-0EC87144FEBF}"/>
              </a:ext>
            </a:extLst>
          </p:cNvPr>
          <p:cNvSpPr/>
          <p:nvPr/>
        </p:nvSpPr>
        <p:spPr>
          <a:xfrm>
            <a:off x="10210755" y="4528368"/>
            <a:ext cx="2047327" cy="763847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Do these orgs already have a postmortem tradition or is that new to them?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38CA372-6509-6D92-6339-097E1FB0D673}"/>
              </a:ext>
            </a:extLst>
          </p:cNvPr>
          <p:cNvSpPr/>
          <p:nvPr/>
        </p:nvSpPr>
        <p:spPr>
          <a:xfrm>
            <a:off x="6274518" y="5476279"/>
            <a:ext cx="1574045" cy="506333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As written these seem like distinct </a:t>
            </a:r>
            <a:r>
              <a:rPr lang="en-US" sz="1200" spc="-20" err="1"/>
              <a:t>thingsa</a:t>
            </a:r>
            <a:r>
              <a:rPr lang="en-US" sz="1200" spc="-2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66977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4D6AF-81AB-FB52-93E2-F6D3C699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38">
            <a:extLst>
              <a:ext uri="{FF2B5EF4-FFF2-40B4-BE49-F238E27FC236}">
                <a16:creationId xmlns:a16="http://schemas.microsoft.com/office/drawing/2014/main" id="{6B9A3661-FC04-15EA-4DAE-98F63296508F}"/>
              </a:ext>
            </a:extLst>
          </p:cNvPr>
          <p:cNvSpPr/>
          <p:nvPr/>
        </p:nvSpPr>
        <p:spPr>
          <a:xfrm>
            <a:off x="10036337" y="5561543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Limit token burn until definitive value realization</a:t>
            </a:r>
          </a:p>
        </p:txBody>
      </p:sp>
      <p:sp>
        <p:nvSpPr>
          <p:cNvPr id="20" name="Rounded Rectangle 38">
            <a:extLst>
              <a:ext uri="{FF2B5EF4-FFF2-40B4-BE49-F238E27FC236}">
                <a16:creationId xmlns:a16="http://schemas.microsoft.com/office/drawing/2014/main" id="{E2E3BBFF-5A94-86B4-5E88-1C06F0FF8E07}"/>
              </a:ext>
            </a:extLst>
          </p:cNvPr>
          <p:cNvSpPr/>
          <p:nvPr/>
        </p:nvSpPr>
        <p:spPr>
          <a:xfrm>
            <a:off x="10036337" y="35432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Defined junction of output review by human  vs multiple/other LLMs</a:t>
            </a:r>
          </a:p>
        </p:txBody>
      </p:sp>
      <p:sp>
        <p:nvSpPr>
          <p:cNvPr id="13" name="Rounded Rectangle 43">
            <a:extLst>
              <a:ext uri="{FF2B5EF4-FFF2-40B4-BE49-F238E27FC236}">
                <a16:creationId xmlns:a16="http://schemas.microsoft.com/office/drawing/2014/main" id="{022618D8-7BEC-9468-3085-DCA3F100E527}"/>
              </a:ext>
            </a:extLst>
          </p:cNvPr>
          <p:cNvSpPr/>
          <p:nvPr/>
        </p:nvSpPr>
        <p:spPr>
          <a:xfrm>
            <a:off x="8102024" y="3544536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Coordination chain and roles are one query, pushing oversight up</a:t>
            </a:r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2BF6350-067B-8F7B-6E6C-92E68B4DB78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73251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2BF6350-067B-8F7B-6E6C-92E68B4DB7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58899E3-83A0-258A-531F-24BC8AF51DAC}"/>
              </a:ext>
            </a:extLst>
          </p:cNvPr>
          <p:cNvSpPr/>
          <p:nvPr/>
        </p:nvSpPr>
        <p:spPr>
          <a:xfrm>
            <a:off x="2217817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Middle-management layer reduced as coordination shifts up</a:t>
            </a:r>
            <a:endParaRPr lang="en-US" sz="1100" b="1" spc="-2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FA3CE85-E2B2-4260-E825-164792037D7A}"/>
              </a:ext>
            </a:extLst>
          </p:cNvPr>
          <p:cNvSpPr/>
          <p:nvPr/>
        </p:nvSpPr>
        <p:spPr>
          <a:xfrm>
            <a:off x="4152895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Older functions merging and roles being redesigned</a:t>
            </a:r>
            <a:endParaRPr lang="en-US" sz="1100" b="1" spc="-2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DB011E0-1023-2B4B-4839-DA8A4713032A}"/>
              </a:ext>
            </a:extLst>
          </p:cNvPr>
          <p:cNvSpPr/>
          <p:nvPr/>
        </p:nvSpPr>
        <p:spPr>
          <a:xfrm>
            <a:off x="282739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Smaller team</a:t>
            </a:r>
            <a:br>
              <a:rPr lang="en-US" sz="1100" spc="-20"/>
            </a:br>
            <a:r>
              <a:rPr lang="en-US" sz="1100" spc="-20"/>
              <a:t>(“1 engineer builds”)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464E9-D2C0-7605-1051-0017F2F9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Frontier Firm Traits | Operating Capabilities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CF59D-6105-FB54-66D4-2EEC08C0B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75494-121D-4954-FFA8-B79413254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288D61-4A8A-2DAA-B11C-2F02D1CAA9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AF111F-ED3F-6EEA-0DB8-2839451F6E4F}"/>
              </a:ext>
            </a:extLst>
          </p:cNvPr>
          <p:cNvSpPr txBox="1"/>
          <p:nvPr/>
        </p:nvSpPr>
        <p:spPr>
          <a:xfrm>
            <a:off x="970671" y="-32355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14259A-B42F-D3C7-60C5-2AC0CF8CB271}"/>
              </a:ext>
            </a:extLst>
          </p:cNvPr>
          <p:cNvSpPr txBox="1"/>
          <p:nvPr/>
        </p:nvSpPr>
        <p:spPr>
          <a:xfrm>
            <a:off x="264691" y="947749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Organization structure &amp; composition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6CD759B-3433-0E0C-7E4A-A5E61611ABC9}"/>
              </a:ext>
            </a:extLst>
          </p:cNvPr>
          <p:cNvSpPr/>
          <p:nvPr/>
        </p:nvSpPr>
        <p:spPr>
          <a:xfrm>
            <a:off x="2217817" y="353926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AI fluency requirement for candidates and recruiters</a:t>
            </a:r>
            <a:endParaRPr lang="en-US" sz="1100" b="1" spc="-2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C350E3A-04B7-4FDA-0A56-AC044FDA45A3}"/>
              </a:ext>
            </a:extLst>
          </p:cNvPr>
          <p:cNvSpPr/>
          <p:nvPr/>
        </p:nvSpPr>
        <p:spPr>
          <a:xfrm>
            <a:off x="10014516" y="431007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AI changing roles without reputation risk or customer trust 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AEDAAAE-4F06-03C6-2EA0-7C593C89842B}"/>
              </a:ext>
            </a:extLst>
          </p:cNvPr>
          <p:cNvSpPr/>
          <p:nvPr/>
        </p:nvSpPr>
        <p:spPr>
          <a:xfrm>
            <a:off x="318835" y="353926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Interviews with live build of AI or plan.md </a:t>
            </a:r>
            <a:endParaRPr lang="en-US" sz="1100" b="1" spc="-2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21DFCC-F6AB-715B-1F6D-341837E52C35}"/>
              </a:ext>
            </a:extLst>
          </p:cNvPr>
          <p:cNvSpPr txBox="1"/>
          <p:nvPr/>
        </p:nvSpPr>
        <p:spPr>
          <a:xfrm>
            <a:off x="264691" y="3070036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Talent readiness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9DA4CC1-C755-1203-2E30-A8D05E0D82DE}"/>
              </a:ext>
            </a:extLst>
          </p:cNvPr>
          <p:cNvSpPr/>
          <p:nvPr/>
        </p:nvSpPr>
        <p:spPr>
          <a:xfrm>
            <a:off x="2217817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Promoted on AI leverage AND on helping others scale</a:t>
            </a:r>
            <a:endParaRPr lang="en-US" sz="1100" b="1" spc="-2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B5191D2-293C-66DC-78E0-A02248FFB6AA}"/>
              </a:ext>
            </a:extLst>
          </p:cNvPr>
          <p:cNvSpPr/>
          <p:nvPr/>
        </p:nvSpPr>
        <p:spPr>
          <a:xfrm>
            <a:off x="4188991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Token consumption is secondary to orchestration efficiency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745FF10-F789-C841-1505-C4024F0B8C78}"/>
              </a:ext>
            </a:extLst>
          </p:cNvPr>
          <p:cNvSpPr/>
          <p:nvPr/>
        </p:nvSpPr>
        <p:spPr>
          <a:xfrm>
            <a:off x="318835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AI leverage as explicit review dimension</a:t>
            </a:r>
            <a:endParaRPr lang="en-US" sz="1100" b="1" spc="-2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0C947E-ECD6-6159-1BB7-1B8E6BF7231C}"/>
              </a:ext>
            </a:extLst>
          </p:cNvPr>
          <p:cNvSpPr txBox="1"/>
          <p:nvPr/>
        </p:nvSpPr>
        <p:spPr>
          <a:xfrm>
            <a:off x="264691" y="5092320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Performance management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B69C0F4-E5A3-E35E-2CED-8A5C8D063D42}"/>
              </a:ext>
            </a:extLst>
          </p:cNvPr>
          <p:cNvSpPr/>
          <p:nvPr/>
        </p:nvSpPr>
        <p:spPr>
          <a:xfrm>
            <a:off x="10036337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Diagnostic deliberation forums</a:t>
            </a:r>
            <a:br>
              <a:rPr lang="en-US" sz="1100"/>
            </a:br>
            <a:r>
              <a:rPr lang="en-US" sz="1100"/>
              <a:t>(“AI doctor meeting”)</a:t>
            </a:r>
            <a:endParaRPr lang="en-US" sz="1100" b="1" spc="-2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A018FBB-5383-5AC3-96CB-23D5D6E8F6E8}"/>
              </a:ext>
            </a:extLst>
          </p:cNvPr>
          <p:cNvSpPr/>
          <p:nvPr/>
        </p:nvSpPr>
        <p:spPr>
          <a:xfrm>
            <a:off x="8102024" y="1424223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Project postmortems placed into a </a:t>
            </a:r>
            <a:r>
              <a:rPr lang="en-US" sz="1100" spc="-20" err="1"/>
              <a:t>monorepo</a:t>
            </a:r>
            <a:endParaRPr lang="en-US" sz="1100" spc="-20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B0C3AF9-B4A5-9CB1-EAC2-81D75856EE6D}"/>
              </a:ext>
            </a:extLst>
          </p:cNvPr>
          <p:cNvSpPr/>
          <p:nvPr/>
        </p:nvSpPr>
        <p:spPr>
          <a:xfrm>
            <a:off x="6184233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Failure tolerance and open sandboxing</a:t>
            </a:r>
            <a:endParaRPr lang="en-US" sz="1100" b="1" spc="-2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51D882-8A8B-E27E-D3B5-85EE1E3FD821}"/>
              </a:ext>
            </a:extLst>
          </p:cNvPr>
          <p:cNvSpPr txBox="1"/>
          <p:nvPr/>
        </p:nvSpPr>
        <p:spPr>
          <a:xfrm>
            <a:off x="6148900" y="944593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Review &amp; learning culture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5EEF091-D92F-4650-BE13-123FA18B0116}"/>
              </a:ext>
            </a:extLst>
          </p:cNvPr>
          <p:cNvSpPr/>
          <p:nvPr/>
        </p:nvSpPr>
        <p:spPr>
          <a:xfrm>
            <a:off x="6184233" y="353926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Committer owns AI output</a:t>
            </a:r>
            <a:endParaRPr lang="en-US" sz="1100" b="1" spc="-2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BEBD96-1BDF-8ABE-9AE1-BCEC9EE3114C}"/>
              </a:ext>
            </a:extLst>
          </p:cNvPr>
          <p:cNvSpPr txBox="1"/>
          <p:nvPr/>
        </p:nvSpPr>
        <p:spPr>
          <a:xfrm>
            <a:off x="6148898" y="3066880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Judgment &amp; accountability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C127799-14F6-C792-F0E5-92CF32723D69}"/>
              </a:ext>
            </a:extLst>
          </p:cNvPr>
          <p:cNvSpPr/>
          <p:nvPr/>
        </p:nvSpPr>
        <p:spPr>
          <a:xfrm>
            <a:off x="8102024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Value capture shifts from T&amp;M to outcome-based AI rate models</a:t>
            </a:r>
            <a:endParaRPr lang="en-US" sz="1100" b="1" spc="-20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A21CAC5E-5DED-0F83-1C27-AEF3036518CB}"/>
              </a:ext>
            </a:extLst>
          </p:cNvPr>
          <p:cNvSpPr/>
          <p:nvPr/>
        </p:nvSpPr>
        <p:spPr>
          <a:xfrm>
            <a:off x="6184233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AI sits in R&amp;D, service, and information layers within total portfolio</a:t>
            </a:r>
            <a:endParaRPr lang="en-US" sz="1100" spc="-2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42897A-342D-73BA-B227-1E629E1BBEFC}"/>
              </a:ext>
            </a:extLst>
          </p:cNvPr>
          <p:cNvSpPr txBox="1"/>
          <p:nvPr/>
        </p:nvSpPr>
        <p:spPr>
          <a:xfrm>
            <a:off x="6148898" y="5089164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AI economics &amp; value</a:t>
            </a:r>
          </a:p>
        </p:txBody>
      </p:sp>
      <p:sp>
        <p:nvSpPr>
          <p:cNvPr id="66" name="Rounded Rectangle 25">
            <a:extLst>
              <a:ext uri="{FF2B5EF4-FFF2-40B4-BE49-F238E27FC236}">
                <a16:creationId xmlns:a16="http://schemas.microsoft.com/office/drawing/2014/main" id="{DE8FEABE-A140-3E7D-D8B1-4104DE8CB63B}"/>
              </a:ext>
            </a:extLst>
          </p:cNvPr>
          <p:cNvSpPr/>
          <p:nvPr/>
        </p:nvSpPr>
        <p:spPr>
          <a:xfrm>
            <a:off x="4188990" y="218345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Focus on “no silos”</a:t>
            </a:r>
            <a:endParaRPr lang="en-US" sz="1100" b="1" spc="-20"/>
          </a:p>
        </p:txBody>
      </p:sp>
      <p:sp>
        <p:nvSpPr>
          <p:cNvPr id="67" name="Rounded Rectangle 25">
            <a:extLst>
              <a:ext uri="{FF2B5EF4-FFF2-40B4-BE49-F238E27FC236}">
                <a16:creationId xmlns:a16="http://schemas.microsoft.com/office/drawing/2014/main" id="{DA006DB7-70D5-D03E-C0C6-9CAD283A8FF3}"/>
              </a:ext>
            </a:extLst>
          </p:cNvPr>
          <p:cNvSpPr/>
          <p:nvPr/>
        </p:nvSpPr>
        <p:spPr>
          <a:xfrm>
            <a:off x="2217816" y="2181361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Creation of AI steering committees (risk, strategy, and/or cost)</a:t>
            </a: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2373E5DF-CBDE-E86E-48CC-37AA5E74582C}"/>
              </a:ext>
            </a:extLst>
          </p:cNvPr>
          <p:cNvSpPr/>
          <p:nvPr/>
        </p:nvSpPr>
        <p:spPr>
          <a:xfrm>
            <a:off x="10372228" y="602352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EE2F00-6AF5-293E-0FA2-AFB6F91C9CDC}"/>
              </a:ext>
            </a:extLst>
          </p:cNvPr>
          <p:cNvSpPr txBox="1"/>
          <p:nvPr/>
        </p:nvSpPr>
        <p:spPr>
          <a:xfrm>
            <a:off x="10649371" y="622805"/>
            <a:ext cx="2220966" cy="2956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i="1" spc="-20"/>
              <a:t>External research</a:t>
            </a:r>
          </a:p>
        </p:txBody>
      </p:sp>
      <p:sp>
        <p:nvSpPr>
          <p:cNvPr id="12" name="Rounded Rectangle 47">
            <a:extLst>
              <a:ext uri="{FF2B5EF4-FFF2-40B4-BE49-F238E27FC236}">
                <a16:creationId xmlns:a16="http://schemas.microsoft.com/office/drawing/2014/main" id="{784E361A-BD5D-6028-9BEC-7CDEBDC431B6}"/>
              </a:ext>
            </a:extLst>
          </p:cNvPr>
          <p:cNvSpPr/>
          <p:nvPr/>
        </p:nvSpPr>
        <p:spPr>
          <a:xfrm>
            <a:off x="6184234" y="43118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Higher quality threshold over internal for customer-facing AI</a:t>
            </a:r>
            <a:endParaRPr lang="en-US" sz="1100" b="1" spc="-20"/>
          </a:p>
        </p:txBody>
      </p:sp>
      <p:sp>
        <p:nvSpPr>
          <p:cNvPr id="70" name="Rounded Rectangle 47">
            <a:extLst>
              <a:ext uri="{FF2B5EF4-FFF2-40B4-BE49-F238E27FC236}">
                <a16:creationId xmlns:a16="http://schemas.microsoft.com/office/drawing/2014/main" id="{D9959F51-B25E-1C30-9B18-6BE24BBE3C57}"/>
              </a:ext>
            </a:extLst>
          </p:cNvPr>
          <p:cNvSpPr/>
          <p:nvPr/>
        </p:nvSpPr>
        <p:spPr>
          <a:xfrm>
            <a:off x="8102024" y="43118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Rebuilding workflows rather than AI taking over existing workflows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46DB763C-F712-CC9A-D537-4E7A0DA1CA94}"/>
              </a:ext>
            </a:extLst>
          </p:cNvPr>
          <p:cNvSpPr/>
          <p:nvPr/>
        </p:nvSpPr>
        <p:spPr>
          <a:xfrm>
            <a:off x="2103418" y="2052656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76" name="Rounded Rectangle 25">
            <a:extLst>
              <a:ext uri="{FF2B5EF4-FFF2-40B4-BE49-F238E27FC236}">
                <a16:creationId xmlns:a16="http://schemas.microsoft.com/office/drawing/2014/main" id="{A6E3D528-72B9-6474-EA6D-B3F5F35B79A2}"/>
              </a:ext>
            </a:extLst>
          </p:cNvPr>
          <p:cNvSpPr/>
          <p:nvPr/>
        </p:nvSpPr>
        <p:spPr>
          <a:xfrm>
            <a:off x="287700" y="218941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AI champions who push adoption</a:t>
            </a:r>
          </a:p>
        </p:txBody>
      </p:sp>
      <p:sp>
        <p:nvSpPr>
          <p:cNvPr id="77" name="Diamond 76">
            <a:extLst>
              <a:ext uri="{FF2B5EF4-FFF2-40B4-BE49-F238E27FC236}">
                <a16:creationId xmlns:a16="http://schemas.microsoft.com/office/drawing/2014/main" id="{0609CF5A-501D-FE8B-0EA6-67E5CB0AAFB2}"/>
              </a:ext>
            </a:extLst>
          </p:cNvPr>
          <p:cNvSpPr/>
          <p:nvPr/>
        </p:nvSpPr>
        <p:spPr>
          <a:xfrm>
            <a:off x="174066" y="2060705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16" name="Rounded Rectangle 37">
            <a:extLst>
              <a:ext uri="{FF2B5EF4-FFF2-40B4-BE49-F238E27FC236}">
                <a16:creationId xmlns:a16="http://schemas.microsoft.com/office/drawing/2014/main" id="{B0FB3A93-1F1A-C592-EE78-81C92F8F893F}"/>
              </a:ext>
            </a:extLst>
          </p:cNvPr>
          <p:cNvSpPr/>
          <p:nvPr/>
        </p:nvSpPr>
        <p:spPr>
          <a:xfrm>
            <a:off x="6184234" y="2189643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Remove older / invalidated designs for clean knowledge base</a:t>
            </a:r>
          </a:p>
        </p:txBody>
      </p:sp>
      <p:sp>
        <p:nvSpPr>
          <p:cNvPr id="79" name="Rounded Rectangle 37">
            <a:extLst>
              <a:ext uri="{FF2B5EF4-FFF2-40B4-BE49-F238E27FC236}">
                <a16:creationId xmlns:a16="http://schemas.microsoft.com/office/drawing/2014/main" id="{F1B035CD-9FBB-9CAC-63F6-E74BD4586551}"/>
              </a:ext>
            </a:extLst>
          </p:cNvPr>
          <p:cNvSpPr/>
          <p:nvPr/>
        </p:nvSpPr>
        <p:spPr>
          <a:xfrm>
            <a:off x="8102024" y="2191736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Review and codification of “tribal” knowledge</a:t>
            </a:r>
          </a:p>
        </p:txBody>
      </p:sp>
      <p:sp>
        <p:nvSpPr>
          <p:cNvPr id="80" name="Diamond 79">
            <a:extLst>
              <a:ext uri="{FF2B5EF4-FFF2-40B4-BE49-F238E27FC236}">
                <a16:creationId xmlns:a16="http://schemas.microsoft.com/office/drawing/2014/main" id="{FD3C36F1-E571-DA29-4665-78F85AAE2571}"/>
              </a:ext>
            </a:extLst>
          </p:cNvPr>
          <p:cNvSpPr/>
          <p:nvPr/>
        </p:nvSpPr>
        <p:spPr>
          <a:xfrm>
            <a:off x="7988390" y="2053044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73" name="Rounded Rectangle 27">
            <a:extLst>
              <a:ext uri="{FF2B5EF4-FFF2-40B4-BE49-F238E27FC236}">
                <a16:creationId xmlns:a16="http://schemas.microsoft.com/office/drawing/2014/main" id="{F33E9F4A-B56A-1BB5-7592-47DB155FE53F}"/>
              </a:ext>
            </a:extLst>
          </p:cNvPr>
          <p:cNvSpPr/>
          <p:nvPr/>
        </p:nvSpPr>
        <p:spPr>
          <a:xfrm>
            <a:off x="410933" y="43118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Classifying skills and roles by replaceability</a:t>
            </a:r>
            <a:endParaRPr lang="en-US" sz="1100" b="1" spc="-20"/>
          </a:p>
        </p:txBody>
      </p:sp>
      <p:sp>
        <p:nvSpPr>
          <p:cNvPr id="81" name="Rounded Rectangle 37">
            <a:extLst>
              <a:ext uri="{FF2B5EF4-FFF2-40B4-BE49-F238E27FC236}">
                <a16:creationId xmlns:a16="http://schemas.microsoft.com/office/drawing/2014/main" id="{01D0D477-0256-EB5A-840E-717810826FB4}"/>
              </a:ext>
            </a:extLst>
          </p:cNvPr>
          <p:cNvSpPr/>
          <p:nvPr/>
        </p:nvSpPr>
        <p:spPr>
          <a:xfrm>
            <a:off x="2309915" y="43118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Novel roles focused on orchestration and governance</a:t>
            </a:r>
          </a:p>
        </p:txBody>
      </p:sp>
      <p:sp>
        <p:nvSpPr>
          <p:cNvPr id="71" name="Diamond 70">
            <a:extLst>
              <a:ext uri="{FF2B5EF4-FFF2-40B4-BE49-F238E27FC236}">
                <a16:creationId xmlns:a16="http://schemas.microsoft.com/office/drawing/2014/main" id="{AB94F650-D7E6-A675-3FE8-B131D016DA32}"/>
              </a:ext>
            </a:extLst>
          </p:cNvPr>
          <p:cNvSpPr/>
          <p:nvPr/>
        </p:nvSpPr>
        <p:spPr>
          <a:xfrm>
            <a:off x="7996494" y="4180172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74" name="Diamond 73">
            <a:extLst>
              <a:ext uri="{FF2B5EF4-FFF2-40B4-BE49-F238E27FC236}">
                <a16:creationId xmlns:a16="http://schemas.microsoft.com/office/drawing/2014/main" id="{ADA10151-4FD4-A8EF-05AF-01E2B9F338F0}"/>
              </a:ext>
            </a:extLst>
          </p:cNvPr>
          <p:cNvSpPr/>
          <p:nvPr/>
        </p:nvSpPr>
        <p:spPr>
          <a:xfrm>
            <a:off x="318835" y="4183149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85" name="Diamond 84">
            <a:extLst>
              <a:ext uri="{FF2B5EF4-FFF2-40B4-BE49-F238E27FC236}">
                <a16:creationId xmlns:a16="http://schemas.microsoft.com/office/drawing/2014/main" id="{B1BE8CDB-A226-D1E9-99AF-EE7D7B328D27}"/>
              </a:ext>
            </a:extLst>
          </p:cNvPr>
          <p:cNvSpPr/>
          <p:nvPr/>
        </p:nvSpPr>
        <p:spPr>
          <a:xfrm>
            <a:off x="2196281" y="4173181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8219E8-6928-4AB4-52F5-2141D4C9FAD1}"/>
              </a:ext>
            </a:extLst>
          </p:cNvPr>
          <p:cNvCxnSpPr>
            <a:cxnSpLocks/>
          </p:cNvCxnSpPr>
          <p:nvPr/>
        </p:nvCxnSpPr>
        <p:spPr>
          <a:xfrm>
            <a:off x="10947603" y="97794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FF6D976-EA8D-E48F-3E28-262CDCD06546}"/>
              </a:ext>
            </a:extLst>
          </p:cNvPr>
          <p:cNvCxnSpPr>
            <a:cxnSpLocks/>
          </p:cNvCxnSpPr>
          <p:nvPr/>
        </p:nvCxnSpPr>
        <p:spPr>
          <a:xfrm>
            <a:off x="10947603" y="320532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5A9BD24-B762-8DE2-AB82-C2198D569188}"/>
              </a:ext>
            </a:extLst>
          </p:cNvPr>
          <p:cNvSpPr txBox="1"/>
          <p:nvPr/>
        </p:nvSpPr>
        <p:spPr>
          <a:xfrm>
            <a:off x="10947603" y="97794"/>
            <a:ext cx="1125415" cy="2227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>
                <a:solidFill>
                  <a:srgbClr val="C00000"/>
                </a:solidFill>
              </a:rPr>
              <a:t>PRELIMINARY</a:t>
            </a: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A7B04C21-8347-A4F6-CB71-966857A46EB3}"/>
              </a:ext>
            </a:extLst>
          </p:cNvPr>
          <p:cNvSpPr/>
          <p:nvPr/>
        </p:nvSpPr>
        <p:spPr>
          <a:xfrm>
            <a:off x="4188989" y="3541288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Curriculums per function to increase AI literacy for reskilling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400F2EA-8932-1486-2FD2-BCBC9DBE12BD}"/>
              </a:ext>
            </a:extLst>
          </p:cNvPr>
          <p:cNvSpPr/>
          <p:nvPr/>
        </p:nvSpPr>
        <p:spPr>
          <a:xfrm>
            <a:off x="1782147" y="1339655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8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CCDE83F-42BA-6D69-0508-751927C168AB}"/>
              </a:ext>
            </a:extLst>
          </p:cNvPr>
          <p:cNvSpPr/>
          <p:nvPr/>
        </p:nvSpPr>
        <p:spPr>
          <a:xfrm>
            <a:off x="3718205" y="1339655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2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C4696DC-629C-539C-504A-C9569AC020CC}"/>
              </a:ext>
            </a:extLst>
          </p:cNvPr>
          <p:cNvSpPr/>
          <p:nvPr/>
        </p:nvSpPr>
        <p:spPr>
          <a:xfrm>
            <a:off x="5658601" y="1339655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8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55B8B1D-7D29-23B6-79A2-A9FC3C4076F2}"/>
              </a:ext>
            </a:extLst>
          </p:cNvPr>
          <p:cNvSpPr/>
          <p:nvPr/>
        </p:nvSpPr>
        <p:spPr>
          <a:xfrm>
            <a:off x="1822866" y="2074469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9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BC1188C-7B4E-5B00-DA47-3325A80E923D}"/>
              </a:ext>
            </a:extLst>
          </p:cNvPr>
          <p:cNvSpPr/>
          <p:nvPr/>
        </p:nvSpPr>
        <p:spPr>
          <a:xfrm>
            <a:off x="3762248" y="2074469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CDE30C8-BDBA-F5DC-4692-757A8E15416F}"/>
              </a:ext>
            </a:extLst>
          </p:cNvPr>
          <p:cNvSpPr/>
          <p:nvPr/>
        </p:nvSpPr>
        <p:spPr>
          <a:xfrm>
            <a:off x="5733422" y="2074469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6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1D696B6-23AE-4B92-D5C1-DC4D839615E7}"/>
              </a:ext>
            </a:extLst>
          </p:cNvPr>
          <p:cNvSpPr/>
          <p:nvPr/>
        </p:nvSpPr>
        <p:spPr>
          <a:xfrm>
            <a:off x="1841774" y="3433222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6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F8D1D21-D858-FD2A-70AE-1083FAB7389D}"/>
              </a:ext>
            </a:extLst>
          </p:cNvPr>
          <p:cNvSpPr/>
          <p:nvPr/>
        </p:nvSpPr>
        <p:spPr>
          <a:xfrm>
            <a:off x="3795089" y="3433222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202D223-F2B0-5098-E76C-062EA85A75B7}"/>
              </a:ext>
            </a:extLst>
          </p:cNvPr>
          <p:cNvSpPr/>
          <p:nvPr/>
        </p:nvSpPr>
        <p:spPr>
          <a:xfrm>
            <a:off x="1907234" y="4209127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92A3120-208E-EF66-988B-8E7713BCB136}"/>
              </a:ext>
            </a:extLst>
          </p:cNvPr>
          <p:cNvSpPr/>
          <p:nvPr/>
        </p:nvSpPr>
        <p:spPr>
          <a:xfrm>
            <a:off x="11543021" y="4209127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ED58E9D-CF1D-6A89-479E-B37D055EF120}"/>
              </a:ext>
            </a:extLst>
          </p:cNvPr>
          <p:cNvSpPr/>
          <p:nvPr/>
        </p:nvSpPr>
        <p:spPr>
          <a:xfrm>
            <a:off x="5752779" y="3433222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6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D94EDC6-2B0A-663E-A124-BF4D08FBFFA3}"/>
              </a:ext>
            </a:extLst>
          </p:cNvPr>
          <p:cNvSpPr/>
          <p:nvPr/>
        </p:nvSpPr>
        <p:spPr>
          <a:xfrm>
            <a:off x="3822215" y="4209127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9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464F5DD-BCFB-BD92-5D9E-89ACC74B21CE}"/>
              </a:ext>
            </a:extLst>
          </p:cNvPr>
          <p:cNvSpPr/>
          <p:nvPr/>
        </p:nvSpPr>
        <p:spPr>
          <a:xfrm>
            <a:off x="1897811" y="5446211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696D76A-BC06-759C-14BE-C36E06E7909C}"/>
              </a:ext>
            </a:extLst>
          </p:cNvPr>
          <p:cNvSpPr/>
          <p:nvPr/>
        </p:nvSpPr>
        <p:spPr>
          <a:xfrm>
            <a:off x="3795088" y="5446211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E349C2D-0C60-5CAB-7629-D857FD432D2A}"/>
              </a:ext>
            </a:extLst>
          </p:cNvPr>
          <p:cNvSpPr/>
          <p:nvPr/>
        </p:nvSpPr>
        <p:spPr>
          <a:xfrm>
            <a:off x="5733422" y="5446211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91F5771-AFF3-99CA-17F8-3CA1E70D3E10}"/>
              </a:ext>
            </a:extLst>
          </p:cNvPr>
          <p:cNvSpPr/>
          <p:nvPr/>
        </p:nvSpPr>
        <p:spPr>
          <a:xfrm>
            <a:off x="7732485" y="1339655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C5C52B6-02B0-8CBD-5C4A-278B895DB98A}"/>
              </a:ext>
            </a:extLst>
          </p:cNvPr>
          <p:cNvSpPr/>
          <p:nvPr/>
        </p:nvSpPr>
        <p:spPr>
          <a:xfrm>
            <a:off x="7704596" y="2074469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E282F0D-DDAB-43F0-A7C9-FA607DC01943}"/>
              </a:ext>
            </a:extLst>
          </p:cNvPr>
          <p:cNvSpPr/>
          <p:nvPr/>
        </p:nvSpPr>
        <p:spPr>
          <a:xfrm>
            <a:off x="9676594" y="1339655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6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B3C7417-8E04-2779-4270-54F3C6D660FE}"/>
              </a:ext>
            </a:extLst>
          </p:cNvPr>
          <p:cNvSpPr/>
          <p:nvPr/>
        </p:nvSpPr>
        <p:spPr>
          <a:xfrm>
            <a:off x="9742771" y="2074469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90881BFF-593D-073F-2E99-D814D88083CE}"/>
              </a:ext>
            </a:extLst>
          </p:cNvPr>
          <p:cNvSpPr/>
          <p:nvPr/>
        </p:nvSpPr>
        <p:spPr>
          <a:xfrm>
            <a:off x="11620703" y="1339655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79A5FC3-E141-A44D-BE22-2F8298B3D121}"/>
              </a:ext>
            </a:extLst>
          </p:cNvPr>
          <p:cNvSpPr/>
          <p:nvPr/>
        </p:nvSpPr>
        <p:spPr>
          <a:xfrm>
            <a:off x="7681678" y="3433222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8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C2E136E-A128-99B2-8361-0842214DBE70}"/>
              </a:ext>
            </a:extLst>
          </p:cNvPr>
          <p:cNvSpPr/>
          <p:nvPr/>
        </p:nvSpPr>
        <p:spPr>
          <a:xfrm>
            <a:off x="9631467" y="3433222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7B64705-B593-2377-B7FD-A550FC30886C}"/>
              </a:ext>
            </a:extLst>
          </p:cNvPr>
          <p:cNvSpPr/>
          <p:nvPr/>
        </p:nvSpPr>
        <p:spPr>
          <a:xfrm>
            <a:off x="11532344" y="3433222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764968D-5C27-CFB3-71C1-FC84B15E532F}"/>
              </a:ext>
            </a:extLst>
          </p:cNvPr>
          <p:cNvSpPr/>
          <p:nvPr/>
        </p:nvSpPr>
        <p:spPr>
          <a:xfrm>
            <a:off x="7584409" y="4209127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060D368-020A-B651-4C45-80D918E25C8D}"/>
              </a:ext>
            </a:extLst>
          </p:cNvPr>
          <p:cNvSpPr/>
          <p:nvPr/>
        </p:nvSpPr>
        <p:spPr>
          <a:xfrm>
            <a:off x="9631466" y="4209127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F748CF8-EECA-E4C8-852A-6F9B9CDBCEB9}"/>
              </a:ext>
            </a:extLst>
          </p:cNvPr>
          <p:cNvSpPr/>
          <p:nvPr/>
        </p:nvSpPr>
        <p:spPr>
          <a:xfrm>
            <a:off x="7732484" y="5446211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5A4A93C-D64F-EB3E-A045-40541F7454C3}"/>
              </a:ext>
            </a:extLst>
          </p:cNvPr>
          <p:cNvSpPr/>
          <p:nvPr/>
        </p:nvSpPr>
        <p:spPr>
          <a:xfrm>
            <a:off x="9631465" y="5446211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1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CA662B8-4AE6-1521-EDB6-2C6A1C1D6C6A}"/>
              </a:ext>
            </a:extLst>
          </p:cNvPr>
          <p:cNvSpPr/>
          <p:nvPr/>
        </p:nvSpPr>
        <p:spPr>
          <a:xfrm>
            <a:off x="11578639" y="5446211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A084B453-410F-6E75-8537-43574390A8BE}"/>
              </a:ext>
            </a:extLst>
          </p:cNvPr>
          <p:cNvSpPr/>
          <p:nvPr/>
        </p:nvSpPr>
        <p:spPr>
          <a:xfrm>
            <a:off x="11081517" y="4607616"/>
            <a:ext cx="2220966" cy="561630"/>
          </a:xfrm>
          <a:prstGeom prst="roundRect">
            <a:avLst/>
          </a:prstGeom>
          <a:solidFill>
            <a:schemeClr val="accent5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I think this should be reframed for this or maybe org structure. Thoughts? -MC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6BD83C-560B-EEA5-30D7-9D0D60A9B196}"/>
              </a:ext>
            </a:extLst>
          </p:cNvPr>
          <p:cNvSpPr/>
          <p:nvPr/>
        </p:nvSpPr>
        <p:spPr>
          <a:xfrm>
            <a:off x="11608399" y="4886300"/>
            <a:ext cx="2523875" cy="970442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Not sure what for org structure means – but I’m not sure how we </a:t>
            </a:r>
            <a:r>
              <a:rPr lang="en-US" sz="1200" spc="-20" err="1"/>
              <a:t>aska</a:t>
            </a:r>
            <a:r>
              <a:rPr lang="en-US" sz="1200" spc="-20"/>
              <a:t> yes/no q about it on the scorecard…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730728-3C6E-57D4-D379-C6A098DB38AA}"/>
              </a:ext>
            </a:extLst>
          </p:cNvPr>
          <p:cNvSpPr/>
          <p:nvPr/>
        </p:nvSpPr>
        <p:spPr>
          <a:xfrm>
            <a:off x="5404174" y="-509087"/>
            <a:ext cx="3273424" cy="1033745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One thing we should have at </a:t>
            </a:r>
            <a:r>
              <a:rPr lang="en-US" sz="1200" spc="-20" err="1"/>
              <a:t>hink</a:t>
            </a:r>
            <a:r>
              <a:rPr lang="en-US" sz="1200" spc="-20"/>
              <a:t> about – even in brainstorming – is what the outcomes </a:t>
            </a:r>
            <a:r>
              <a:rPr lang="en-US" sz="1200" i="1" spc="-20"/>
              <a:t>should</a:t>
            </a:r>
            <a:r>
              <a:rPr lang="en-US" sz="1200" spc="-20"/>
              <a:t> be and how they measure them – i.e. are they releasing more, are they getting better customer feedback, </a:t>
            </a:r>
            <a:r>
              <a:rPr lang="en-US" sz="1200" spc="-20" err="1"/>
              <a:t>etc</a:t>
            </a:r>
            <a:r>
              <a:rPr lang="en-US" sz="1200" spc="-20"/>
              <a:t>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217491-0C2E-E316-144D-E6568FAA177A}"/>
              </a:ext>
            </a:extLst>
          </p:cNvPr>
          <p:cNvSpPr/>
          <p:nvPr/>
        </p:nvSpPr>
        <p:spPr>
          <a:xfrm>
            <a:off x="8559104" y="2373978"/>
            <a:ext cx="1574045" cy="506333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Interesting… How do they do this?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EBD35C-30E0-2EBC-B855-E6C2B2FDAC06}"/>
              </a:ext>
            </a:extLst>
          </p:cNvPr>
          <p:cNvSpPr/>
          <p:nvPr/>
        </p:nvSpPr>
        <p:spPr>
          <a:xfrm>
            <a:off x="2455774" y="803666"/>
            <a:ext cx="1956522" cy="916857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Feels like an outcome – we’ve been able to, not that this is required for advanced behavior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1AFEB5-0C97-5F9C-161C-448784027D57}"/>
              </a:ext>
            </a:extLst>
          </p:cNvPr>
          <p:cNvSpPr/>
          <p:nvPr/>
        </p:nvSpPr>
        <p:spPr>
          <a:xfrm>
            <a:off x="9002325" y="-322626"/>
            <a:ext cx="2792594" cy="668221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Are we missing something for non-SW enterprises about how they get non-technical SME input / review / </a:t>
            </a:r>
            <a:r>
              <a:rPr lang="en-US" sz="1200" spc="-20" err="1"/>
              <a:t>etc</a:t>
            </a:r>
            <a:r>
              <a:rPr lang="en-US" sz="1200" spc="-20"/>
              <a:t>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5CE66B-4BAD-7D0D-6B5F-E11089946B89}"/>
              </a:ext>
            </a:extLst>
          </p:cNvPr>
          <p:cNvSpPr/>
          <p:nvPr/>
        </p:nvSpPr>
        <p:spPr>
          <a:xfrm>
            <a:off x="6419741" y="5753286"/>
            <a:ext cx="1321979" cy="769405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spc="-20"/>
              <a:t>Clearly still need to update / split this </a:t>
            </a:r>
            <a:r>
              <a:rPr lang="en-US" sz="1200" spc="-20">
                <a:sym typeface="Wingdings" pitchFamily="2" charset="2"/>
              </a:rPr>
              <a:t></a:t>
            </a:r>
            <a:endParaRPr lang="en-US" sz="1200" spc="-20"/>
          </a:p>
        </p:txBody>
      </p:sp>
    </p:spTree>
    <p:extLst>
      <p:ext uri="{BB962C8B-B14F-4D97-AF65-F5344CB8AC3E}">
        <p14:creationId xmlns:p14="http://schemas.microsoft.com/office/powerpoint/2010/main" val="1048471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8217E-5495-E799-BBFA-E900ED0D1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38">
            <a:extLst>
              <a:ext uri="{FF2B5EF4-FFF2-40B4-BE49-F238E27FC236}">
                <a16:creationId xmlns:a16="http://schemas.microsoft.com/office/drawing/2014/main" id="{C952C5A0-D70D-227E-5446-42CC97418BD3}"/>
              </a:ext>
            </a:extLst>
          </p:cNvPr>
          <p:cNvSpPr/>
          <p:nvPr/>
        </p:nvSpPr>
        <p:spPr>
          <a:xfrm>
            <a:off x="10036337" y="5561543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Limit token burn until definitive value realization</a:t>
            </a:r>
          </a:p>
        </p:txBody>
      </p:sp>
      <p:sp>
        <p:nvSpPr>
          <p:cNvPr id="20" name="Rounded Rectangle 38">
            <a:extLst>
              <a:ext uri="{FF2B5EF4-FFF2-40B4-BE49-F238E27FC236}">
                <a16:creationId xmlns:a16="http://schemas.microsoft.com/office/drawing/2014/main" id="{E04D498A-D881-A400-EF2B-7BA4B056638F}"/>
              </a:ext>
            </a:extLst>
          </p:cNvPr>
          <p:cNvSpPr/>
          <p:nvPr/>
        </p:nvSpPr>
        <p:spPr>
          <a:xfrm>
            <a:off x="10036337" y="35432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Defined junction of output review by human  vs multiple/other LLMs</a:t>
            </a:r>
          </a:p>
        </p:txBody>
      </p:sp>
      <p:sp>
        <p:nvSpPr>
          <p:cNvPr id="13" name="Rounded Rectangle 43">
            <a:extLst>
              <a:ext uri="{FF2B5EF4-FFF2-40B4-BE49-F238E27FC236}">
                <a16:creationId xmlns:a16="http://schemas.microsoft.com/office/drawing/2014/main" id="{DEF55E27-CB59-B3FD-6AD7-247B8F1448E9}"/>
              </a:ext>
            </a:extLst>
          </p:cNvPr>
          <p:cNvSpPr/>
          <p:nvPr/>
        </p:nvSpPr>
        <p:spPr>
          <a:xfrm>
            <a:off x="8102024" y="3544536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Coordination chain and roles are one query, pushing oversight up</a:t>
            </a:r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7B57D3C-1C23-509A-E155-A1419F6792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B57D3C-1C23-509A-E155-A1419F679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3972B16-C1B9-E924-005C-82E349C77D83}"/>
              </a:ext>
            </a:extLst>
          </p:cNvPr>
          <p:cNvSpPr/>
          <p:nvPr/>
        </p:nvSpPr>
        <p:spPr>
          <a:xfrm>
            <a:off x="2217817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Middle-management layer reduced as coordination shifts up</a:t>
            </a:r>
            <a:endParaRPr lang="en-US" sz="1100" b="1" spc="-2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791B2D9-F41D-7431-9EB8-368631D96A62}"/>
              </a:ext>
            </a:extLst>
          </p:cNvPr>
          <p:cNvSpPr/>
          <p:nvPr/>
        </p:nvSpPr>
        <p:spPr>
          <a:xfrm>
            <a:off x="4152895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Older functions merging and roles being redesigned</a:t>
            </a:r>
            <a:endParaRPr lang="en-US" sz="1100" b="1" spc="-2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7E031F3-A515-8300-1265-F6BD6981EAEC}"/>
              </a:ext>
            </a:extLst>
          </p:cNvPr>
          <p:cNvSpPr/>
          <p:nvPr/>
        </p:nvSpPr>
        <p:spPr>
          <a:xfrm>
            <a:off x="282739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Smaller team</a:t>
            </a:r>
            <a:br>
              <a:rPr lang="en-US" sz="1100" spc="-20"/>
            </a:br>
            <a:r>
              <a:rPr lang="en-US" sz="1100" spc="-20"/>
              <a:t>(“1 engineer builds”)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17E2D1-65EC-F320-C691-E6A69321C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Frontier Firm Traits | Operating Capabilities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B05F9-BAA4-2E09-286D-A64C01D2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7D5EB-BDED-628C-716E-17F1B482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7D3F09-24CB-2C29-8424-CFDF5B6ABA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0EB3F3-0334-617C-D07A-82B84F696857}"/>
              </a:ext>
            </a:extLst>
          </p:cNvPr>
          <p:cNvSpPr txBox="1"/>
          <p:nvPr/>
        </p:nvSpPr>
        <p:spPr>
          <a:xfrm>
            <a:off x="970671" y="-32355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1DAD22-8EFC-F92E-5510-A848A1F4F63B}"/>
              </a:ext>
            </a:extLst>
          </p:cNvPr>
          <p:cNvSpPr txBox="1"/>
          <p:nvPr/>
        </p:nvSpPr>
        <p:spPr>
          <a:xfrm>
            <a:off x="264691" y="947749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Organization structure &amp; composition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61FD0FC-DF70-49D1-D040-2613BB7B9C6C}"/>
              </a:ext>
            </a:extLst>
          </p:cNvPr>
          <p:cNvSpPr/>
          <p:nvPr/>
        </p:nvSpPr>
        <p:spPr>
          <a:xfrm>
            <a:off x="2217817" y="353926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AI fluency requirement for candidates and recruiters</a:t>
            </a:r>
            <a:endParaRPr lang="en-US" sz="1100" b="1" spc="-2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7342F59-E0A4-442B-D930-A27F25D242C3}"/>
              </a:ext>
            </a:extLst>
          </p:cNvPr>
          <p:cNvSpPr/>
          <p:nvPr/>
        </p:nvSpPr>
        <p:spPr>
          <a:xfrm>
            <a:off x="10014516" y="431007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AI changing roles without reputation risk or customer trust 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1F6B49B-5FE5-61F6-AFAE-C27A99AAED8F}"/>
              </a:ext>
            </a:extLst>
          </p:cNvPr>
          <p:cNvSpPr/>
          <p:nvPr/>
        </p:nvSpPr>
        <p:spPr>
          <a:xfrm>
            <a:off x="318835" y="353926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Interviews with live build of AI or plan.md </a:t>
            </a:r>
            <a:endParaRPr lang="en-US" sz="1100" b="1" spc="-2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A2C76D-1798-D7A7-9E33-861D4C08D936}"/>
              </a:ext>
            </a:extLst>
          </p:cNvPr>
          <p:cNvSpPr txBox="1"/>
          <p:nvPr/>
        </p:nvSpPr>
        <p:spPr>
          <a:xfrm>
            <a:off x="264691" y="3070036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Talent readiness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8963A5D-47FA-543A-4C56-A94D4032F615}"/>
              </a:ext>
            </a:extLst>
          </p:cNvPr>
          <p:cNvSpPr/>
          <p:nvPr/>
        </p:nvSpPr>
        <p:spPr>
          <a:xfrm>
            <a:off x="2217817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Promoted on AI leverage AND on helping others scale</a:t>
            </a:r>
            <a:endParaRPr lang="en-US" sz="1100" b="1" spc="-2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51C8895-9705-E5A3-B126-F2CE4ADE0E45}"/>
              </a:ext>
            </a:extLst>
          </p:cNvPr>
          <p:cNvSpPr/>
          <p:nvPr/>
        </p:nvSpPr>
        <p:spPr>
          <a:xfrm>
            <a:off x="4188991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Token consumption is secondary to orchestration efficiency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C65C8A1-E716-C897-9B2C-A65D2150AF46}"/>
              </a:ext>
            </a:extLst>
          </p:cNvPr>
          <p:cNvSpPr/>
          <p:nvPr/>
        </p:nvSpPr>
        <p:spPr>
          <a:xfrm>
            <a:off x="318835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AI leverage as explicit review dimension</a:t>
            </a:r>
            <a:endParaRPr lang="en-US" sz="1100" b="1" spc="-2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1A465E-38E8-C406-D80B-D6C1680DC948}"/>
              </a:ext>
            </a:extLst>
          </p:cNvPr>
          <p:cNvSpPr txBox="1"/>
          <p:nvPr/>
        </p:nvSpPr>
        <p:spPr>
          <a:xfrm>
            <a:off x="264691" y="5092320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Performance management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97E69B4-550F-0B9B-1D08-AA7EA47E6467}"/>
              </a:ext>
            </a:extLst>
          </p:cNvPr>
          <p:cNvSpPr/>
          <p:nvPr/>
        </p:nvSpPr>
        <p:spPr>
          <a:xfrm>
            <a:off x="10036337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Diagnostic deliberation forums</a:t>
            </a:r>
            <a:br>
              <a:rPr lang="en-US" sz="1100"/>
            </a:br>
            <a:r>
              <a:rPr lang="en-US" sz="1100"/>
              <a:t>(“AI doctor meeting”)</a:t>
            </a:r>
            <a:endParaRPr lang="en-US" sz="1100" b="1" spc="-2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3C8859A-565D-5316-98B8-6DCA380965AF}"/>
              </a:ext>
            </a:extLst>
          </p:cNvPr>
          <p:cNvSpPr/>
          <p:nvPr/>
        </p:nvSpPr>
        <p:spPr>
          <a:xfrm>
            <a:off x="8102024" y="1424223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Project postmortems placed into a </a:t>
            </a:r>
            <a:r>
              <a:rPr lang="en-US" sz="1100" spc="-20" err="1"/>
              <a:t>monorepo</a:t>
            </a:r>
            <a:endParaRPr lang="en-US" sz="1100" spc="-20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CFA468F-D4C2-CA75-5BD5-91FFC36C830F}"/>
              </a:ext>
            </a:extLst>
          </p:cNvPr>
          <p:cNvSpPr/>
          <p:nvPr/>
        </p:nvSpPr>
        <p:spPr>
          <a:xfrm>
            <a:off x="6184233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Failure tolerance and open sandboxing</a:t>
            </a:r>
            <a:endParaRPr lang="en-US" sz="1100" b="1" spc="-2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964991-69DC-4606-1D03-0AEADF199DB0}"/>
              </a:ext>
            </a:extLst>
          </p:cNvPr>
          <p:cNvSpPr txBox="1"/>
          <p:nvPr/>
        </p:nvSpPr>
        <p:spPr>
          <a:xfrm>
            <a:off x="6148900" y="944593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Review &amp; learning culture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727198D-36C0-A967-B1C6-267F8CE178FE}"/>
              </a:ext>
            </a:extLst>
          </p:cNvPr>
          <p:cNvSpPr/>
          <p:nvPr/>
        </p:nvSpPr>
        <p:spPr>
          <a:xfrm>
            <a:off x="6184233" y="353926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Committer owns AI output</a:t>
            </a:r>
            <a:endParaRPr lang="en-US" sz="1100" b="1" spc="-2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3CBCDA-0E0E-E19D-9726-7F610CBCF4EF}"/>
              </a:ext>
            </a:extLst>
          </p:cNvPr>
          <p:cNvSpPr txBox="1"/>
          <p:nvPr/>
        </p:nvSpPr>
        <p:spPr>
          <a:xfrm>
            <a:off x="6148898" y="3066880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Judgment &amp; accountability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28E1996-9823-A22A-8E4B-F00F2E9B6DD7}"/>
              </a:ext>
            </a:extLst>
          </p:cNvPr>
          <p:cNvSpPr/>
          <p:nvPr/>
        </p:nvSpPr>
        <p:spPr>
          <a:xfrm>
            <a:off x="8102024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Value capture shifts from T&amp;M to outcome-based AI rate models</a:t>
            </a:r>
            <a:endParaRPr lang="en-US" sz="1100" b="1" spc="-20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22A16CB-3E47-E485-88F2-46BAC9984D37}"/>
              </a:ext>
            </a:extLst>
          </p:cNvPr>
          <p:cNvSpPr/>
          <p:nvPr/>
        </p:nvSpPr>
        <p:spPr>
          <a:xfrm>
            <a:off x="6184233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AI sits in R&amp;D, service, and information layers within total portfolio</a:t>
            </a:r>
            <a:endParaRPr lang="en-US" sz="1100" spc="-2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CEA896-D3C7-9A69-5393-FC17BD3278AC}"/>
              </a:ext>
            </a:extLst>
          </p:cNvPr>
          <p:cNvSpPr txBox="1"/>
          <p:nvPr/>
        </p:nvSpPr>
        <p:spPr>
          <a:xfrm>
            <a:off x="6148898" y="5089164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AI economics &amp; value</a:t>
            </a:r>
          </a:p>
        </p:txBody>
      </p:sp>
      <p:sp>
        <p:nvSpPr>
          <p:cNvPr id="66" name="Rounded Rectangle 25">
            <a:extLst>
              <a:ext uri="{FF2B5EF4-FFF2-40B4-BE49-F238E27FC236}">
                <a16:creationId xmlns:a16="http://schemas.microsoft.com/office/drawing/2014/main" id="{0DFE0B26-05AD-464C-846F-E2E1ADA1E54E}"/>
              </a:ext>
            </a:extLst>
          </p:cNvPr>
          <p:cNvSpPr/>
          <p:nvPr/>
        </p:nvSpPr>
        <p:spPr>
          <a:xfrm>
            <a:off x="4188990" y="218345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Focus on “no silos”</a:t>
            </a:r>
            <a:endParaRPr lang="en-US" sz="1100" b="1" spc="-20"/>
          </a:p>
        </p:txBody>
      </p:sp>
      <p:sp>
        <p:nvSpPr>
          <p:cNvPr id="67" name="Rounded Rectangle 25">
            <a:extLst>
              <a:ext uri="{FF2B5EF4-FFF2-40B4-BE49-F238E27FC236}">
                <a16:creationId xmlns:a16="http://schemas.microsoft.com/office/drawing/2014/main" id="{33C34538-1F4C-6927-0D64-80B3CD60B795}"/>
              </a:ext>
            </a:extLst>
          </p:cNvPr>
          <p:cNvSpPr/>
          <p:nvPr/>
        </p:nvSpPr>
        <p:spPr>
          <a:xfrm>
            <a:off x="2217816" y="2181361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Creation of AI steering committees (risk, strategy, and/or cost)</a:t>
            </a: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2D6A8E99-74BA-A61D-4566-A6DD2009990E}"/>
              </a:ext>
            </a:extLst>
          </p:cNvPr>
          <p:cNvSpPr/>
          <p:nvPr/>
        </p:nvSpPr>
        <p:spPr>
          <a:xfrm>
            <a:off x="10372228" y="602352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B6DE2F6-84F1-F7CD-D0F4-0D22F1C1E0A1}"/>
              </a:ext>
            </a:extLst>
          </p:cNvPr>
          <p:cNvSpPr txBox="1"/>
          <p:nvPr/>
        </p:nvSpPr>
        <p:spPr>
          <a:xfrm>
            <a:off x="10649371" y="622805"/>
            <a:ext cx="2220966" cy="2956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i="1" spc="-20"/>
              <a:t>External research</a:t>
            </a:r>
          </a:p>
        </p:txBody>
      </p:sp>
      <p:sp>
        <p:nvSpPr>
          <p:cNvPr id="12" name="Rounded Rectangle 47">
            <a:extLst>
              <a:ext uri="{FF2B5EF4-FFF2-40B4-BE49-F238E27FC236}">
                <a16:creationId xmlns:a16="http://schemas.microsoft.com/office/drawing/2014/main" id="{9A66D3D9-D8F9-E6B6-DB4C-6D5D19E27D6A}"/>
              </a:ext>
            </a:extLst>
          </p:cNvPr>
          <p:cNvSpPr/>
          <p:nvPr/>
        </p:nvSpPr>
        <p:spPr>
          <a:xfrm>
            <a:off x="6184234" y="43118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Higher quality threshold over internal for customer-facing AI</a:t>
            </a:r>
            <a:endParaRPr lang="en-US" sz="1100" b="1" spc="-20"/>
          </a:p>
        </p:txBody>
      </p:sp>
      <p:sp>
        <p:nvSpPr>
          <p:cNvPr id="70" name="Rounded Rectangle 47">
            <a:extLst>
              <a:ext uri="{FF2B5EF4-FFF2-40B4-BE49-F238E27FC236}">
                <a16:creationId xmlns:a16="http://schemas.microsoft.com/office/drawing/2014/main" id="{88D33C1B-C4CA-0419-E034-6E2B732961E9}"/>
              </a:ext>
            </a:extLst>
          </p:cNvPr>
          <p:cNvSpPr/>
          <p:nvPr/>
        </p:nvSpPr>
        <p:spPr>
          <a:xfrm>
            <a:off x="8102024" y="43118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Rebuilding workflows rather than AI taking over existing workflows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CFA4BC6D-4569-9254-C19F-23D37936D5C3}"/>
              </a:ext>
            </a:extLst>
          </p:cNvPr>
          <p:cNvSpPr/>
          <p:nvPr/>
        </p:nvSpPr>
        <p:spPr>
          <a:xfrm>
            <a:off x="2103418" y="2052656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76" name="Rounded Rectangle 25">
            <a:extLst>
              <a:ext uri="{FF2B5EF4-FFF2-40B4-BE49-F238E27FC236}">
                <a16:creationId xmlns:a16="http://schemas.microsoft.com/office/drawing/2014/main" id="{2F35CB73-FFBF-DD45-6E4F-93FA7016DD3D}"/>
              </a:ext>
            </a:extLst>
          </p:cNvPr>
          <p:cNvSpPr/>
          <p:nvPr/>
        </p:nvSpPr>
        <p:spPr>
          <a:xfrm>
            <a:off x="287700" y="218941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AI champions who push adoption</a:t>
            </a:r>
          </a:p>
        </p:txBody>
      </p:sp>
      <p:sp>
        <p:nvSpPr>
          <p:cNvPr id="77" name="Diamond 76">
            <a:extLst>
              <a:ext uri="{FF2B5EF4-FFF2-40B4-BE49-F238E27FC236}">
                <a16:creationId xmlns:a16="http://schemas.microsoft.com/office/drawing/2014/main" id="{AB430267-0BEF-0DCA-5C12-0264B1F01BDD}"/>
              </a:ext>
            </a:extLst>
          </p:cNvPr>
          <p:cNvSpPr/>
          <p:nvPr/>
        </p:nvSpPr>
        <p:spPr>
          <a:xfrm>
            <a:off x="174066" y="2060705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16" name="Rounded Rectangle 37">
            <a:extLst>
              <a:ext uri="{FF2B5EF4-FFF2-40B4-BE49-F238E27FC236}">
                <a16:creationId xmlns:a16="http://schemas.microsoft.com/office/drawing/2014/main" id="{A1D6325D-2B79-8A5E-8B53-214B6604039E}"/>
              </a:ext>
            </a:extLst>
          </p:cNvPr>
          <p:cNvSpPr/>
          <p:nvPr/>
        </p:nvSpPr>
        <p:spPr>
          <a:xfrm>
            <a:off x="6184234" y="2189643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Remove older / invalidated designs for clean knowledge base</a:t>
            </a:r>
          </a:p>
        </p:txBody>
      </p:sp>
      <p:sp>
        <p:nvSpPr>
          <p:cNvPr id="79" name="Rounded Rectangle 37">
            <a:extLst>
              <a:ext uri="{FF2B5EF4-FFF2-40B4-BE49-F238E27FC236}">
                <a16:creationId xmlns:a16="http://schemas.microsoft.com/office/drawing/2014/main" id="{2DED861D-5FB6-F1D4-6782-B93D75254CF5}"/>
              </a:ext>
            </a:extLst>
          </p:cNvPr>
          <p:cNvSpPr/>
          <p:nvPr/>
        </p:nvSpPr>
        <p:spPr>
          <a:xfrm>
            <a:off x="8102024" y="2191736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Review and codification of “tribal” knowledge</a:t>
            </a:r>
          </a:p>
        </p:txBody>
      </p:sp>
      <p:sp>
        <p:nvSpPr>
          <p:cNvPr id="80" name="Diamond 79">
            <a:extLst>
              <a:ext uri="{FF2B5EF4-FFF2-40B4-BE49-F238E27FC236}">
                <a16:creationId xmlns:a16="http://schemas.microsoft.com/office/drawing/2014/main" id="{01C679B5-DBA6-CF8B-689A-8C590EFC9AF6}"/>
              </a:ext>
            </a:extLst>
          </p:cNvPr>
          <p:cNvSpPr/>
          <p:nvPr/>
        </p:nvSpPr>
        <p:spPr>
          <a:xfrm>
            <a:off x="7988390" y="2053044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73" name="Rounded Rectangle 27">
            <a:extLst>
              <a:ext uri="{FF2B5EF4-FFF2-40B4-BE49-F238E27FC236}">
                <a16:creationId xmlns:a16="http://schemas.microsoft.com/office/drawing/2014/main" id="{DF7F6E64-1756-2F9C-7273-9FBDC2EB0EC2}"/>
              </a:ext>
            </a:extLst>
          </p:cNvPr>
          <p:cNvSpPr/>
          <p:nvPr/>
        </p:nvSpPr>
        <p:spPr>
          <a:xfrm>
            <a:off x="410933" y="43118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Classifying skills and roles by replaceability</a:t>
            </a:r>
            <a:endParaRPr lang="en-US" sz="1100" b="1" spc="-20"/>
          </a:p>
        </p:txBody>
      </p:sp>
      <p:sp>
        <p:nvSpPr>
          <p:cNvPr id="81" name="Rounded Rectangle 37">
            <a:extLst>
              <a:ext uri="{FF2B5EF4-FFF2-40B4-BE49-F238E27FC236}">
                <a16:creationId xmlns:a16="http://schemas.microsoft.com/office/drawing/2014/main" id="{219FD844-CC8D-84F1-9F75-86EA9F873564}"/>
              </a:ext>
            </a:extLst>
          </p:cNvPr>
          <p:cNvSpPr/>
          <p:nvPr/>
        </p:nvSpPr>
        <p:spPr>
          <a:xfrm>
            <a:off x="2309915" y="43118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Novel roles focused on orchestration and governance</a:t>
            </a:r>
          </a:p>
        </p:txBody>
      </p:sp>
      <p:sp>
        <p:nvSpPr>
          <p:cNvPr id="71" name="Diamond 70">
            <a:extLst>
              <a:ext uri="{FF2B5EF4-FFF2-40B4-BE49-F238E27FC236}">
                <a16:creationId xmlns:a16="http://schemas.microsoft.com/office/drawing/2014/main" id="{1D777AA6-3B4C-BF11-AF06-C9327A9F0C93}"/>
              </a:ext>
            </a:extLst>
          </p:cNvPr>
          <p:cNvSpPr/>
          <p:nvPr/>
        </p:nvSpPr>
        <p:spPr>
          <a:xfrm>
            <a:off x="7996494" y="4180172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74" name="Diamond 73">
            <a:extLst>
              <a:ext uri="{FF2B5EF4-FFF2-40B4-BE49-F238E27FC236}">
                <a16:creationId xmlns:a16="http://schemas.microsoft.com/office/drawing/2014/main" id="{E9A44261-4484-3357-9D10-A459E76AFF8F}"/>
              </a:ext>
            </a:extLst>
          </p:cNvPr>
          <p:cNvSpPr/>
          <p:nvPr/>
        </p:nvSpPr>
        <p:spPr>
          <a:xfrm>
            <a:off x="318835" y="4183149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85" name="Diamond 84">
            <a:extLst>
              <a:ext uri="{FF2B5EF4-FFF2-40B4-BE49-F238E27FC236}">
                <a16:creationId xmlns:a16="http://schemas.microsoft.com/office/drawing/2014/main" id="{F7AE692A-8F19-F657-8788-84799AF384BF}"/>
              </a:ext>
            </a:extLst>
          </p:cNvPr>
          <p:cNvSpPr/>
          <p:nvPr/>
        </p:nvSpPr>
        <p:spPr>
          <a:xfrm>
            <a:off x="2196281" y="4173181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05CA21-C1C9-FA1B-BA6D-13252EEE60A7}"/>
              </a:ext>
            </a:extLst>
          </p:cNvPr>
          <p:cNvCxnSpPr>
            <a:cxnSpLocks/>
          </p:cNvCxnSpPr>
          <p:nvPr/>
        </p:nvCxnSpPr>
        <p:spPr>
          <a:xfrm>
            <a:off x="10947603" y="97794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534EED1-3713-E58B-6425-2877EA4E8835}"/>
              </a:ext>
            </a:extLst>
          </p:cNvPr>
          <p:cNvCxnSpPr>
            <a:cxnSpLocks/>
          </p:cNvCxnSpPr>
          <p:nvPr/>
        </p:nvCxnSpPr>
        <p:spPr>
          <a:xfrm>
            <a:off x="10947603" y="320532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2E0BEE0-A62D-5CC6-D8AF-F74EB8926D60}"/>
              </a:ext>
            </a:extLst>
          </p:cNvPr>
          <p:cNvSpPr txBox="1"/>
          <p:nvPr/>
        </p:nvSpPr>
        <p:spPr>
          <a:xfrm>
            <a:off x="10947603" y="97794"/>
            <a:ext cx="1125415" cy="2227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>
                <a:solidFill>
                  <a:srgbClr val="C00000"/>
                </a:solidFill>
              </a:rPr>
              <a:t>PRELIMINARY</a:t>
            </a: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0410CC0C-8145-2A97-93F8-DDE661F3AA6B}"/>
              </a:ext>
            </a:extLst>
          </p:cNvPr>
          <p:cNvSpPr/>
          <p:nvPr/>
        </p:nvSpPr>
        <p:spPr>
          <a:xfrm>
            <a:off x="4188989" y="3541288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Curriculums per function to increase AI literacy for reskilling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C72EBA6-CF89-41AC-5780-8C970452BE22}"/>
              </a:ext>
            </a:extLst>
          </p:cNvPr>
          <p:cNvSpPr/>
          <p:nvPr/>
        </p:nvSpPr>
        <p:spPr>
          <a:xfrm>
            <a:off x="1782147" y="1339655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8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E5891A5-9A3B-8E74-68A9-B5C2C7112605}"/>
              </a:ext>
            </a:extLst>
          </p:cNvPr>
          <p:cNvSpPr/>
          <p:nvPr/>
        </p:nvSpPr>
        <p:spPr>
          <a:xfrm>
            <a:off x="3718205" y="1339655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2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0808AAF-1EDA-96B3-AFD3-7B4747B0CF39}"/>
              </a:ext>
            </a:extLst>
          </p:cNvPr>
          <p:cNvSpPr/>
          <p:nvPr/>
        </p:nvSpPr>
        <p:spPr>
          <a:xfrm>
            <a:off x="5658601" y="1339655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8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B895BD8-8E1B-82B5-8155-7EAD45C737CC}"/>
              </a:ext>
            </a:extLst>
          </p:cNvPr>
          <p:cNvSpPr/>
          <p:nvPr/>
        </p:nvSpPr>
        <p:spPr>
          <a:xfrm>
            <a:off x="1822866" y="2074469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9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A492618-1BE7-A34D-442A-079A530990AC}"/>
              </a:ext>
            </a:extLst>
          </p:cNvPr>
          <p:cNvSpPr/>
          <p:nvPr/>
        </p:nvSpPr>
        <p:spPr>
          <a:xfrm>
            <a:off x="3762248" y="2074469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271D396-C1B4-BF93-02F0-C99EFD404E61}"/>
              </a:ext>
            </a:extLst>
          </p:cNvPr>
          <p:cNvSpPr/>
          <p:nvPr/>
        </p:nvSpPr>
        <p:spPr>
          <a:xfrm>
            <a:off x="5733422" y="2074469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6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6B2EAE0-6B43-BD97-A6BF-7843A30133A4}"/>
              </a:ext>
            </a:extLst>
          </p:cNvPr>
          <p:cNvSpPr/>
          <p:nvPr/>
        </p:nvSpPr>
        <p:spPr>
          <a:xfrm>
            <a:off x="1841774" y="3433222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6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D65DE9A-7742-E37B-BF07-A720C68D45F5}"/>
              </a:ext>
            </a:extLst>
          </p:cNvPr>
          <p:cNvSpPr/>
          <p:nvPr/>
        </p:nvSpPr>
        <p:spPr>
          <a:xfrm>
            <a:off x="3795089" y="3433222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EFC5408-5400-2E37-530F-9D87662E8439}"/>
              </a:ext>
            </a:extLst>
          </p:cNvPr>
          <p:cNvSpPr/>
          <p:nvPr/>
        </p:nvSpPr>
        <p:spPr>
          <a:xfrm>
            <a:off x="1907234" y="4209127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C5B8336-CF78-4A20-9184-91B7CFAEB4BB}"/>
              </a:ext>
            </a:extLst>
          </p:cNvPr>
          <p:cNvSpPr/>
          <p:nvPr/>
        </p:nvSpPr>
        <p:spPr>
          <a:xfrm>
            <a:off x="11543021" y="4209127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36C555A-FAB9-AC39-6973-13E32944D7F7}"/>
              </a:ext>
            </a:extLst>
          </p:cNvPr>
          <p:cNvSpPr/>
          <p:nvPr/>
        </p:nvSpPr>
        <p:spPr>
          <a:xfrm>
            <a:off x="5752779" y="3433222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6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65505D6-47D1-0669-AEAC-190E40398CA8}"/>
              </a:ext>
            </a:extLst>
          </p:cNvPr>
          <p:cNvSpPr/>
          <p:nvPr/>
        </p:nvSpPr>
        <p:spPr>
          <a:xfrm>
            <a:off x="3822215" y="4209127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9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77C1241-5BC5-5452-2DBF-C29DC3FF42A8}"/>
              </a:ext>
            </a:extLst>
          </p:cNvPr>
          <p:cNvSpPr/>
          <p:nvPr/>
        </p:nvSpPr>
        <p:spPr>
          <a:xfrm>
            <a:off x="1897811" y="5446211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08DF343-7B0D-6201-C604-0F9F1E0F6206}"/>
              </a:ext>
            </a:extLst>
          </p:cNvPr>
          <p:cNvSpPr/>
          <p:nvPr/>
        </p:nvSpPr>
        <p:spPr>
          <a:xfrm>
            <a:off x="3795088" y="5446211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AD91F3A-AB73-5C8D-F905-A9DD096248AA}"/>
              </a:ext>
            </a:extLst>
          </p:cNvPr>
          <p:cNvSpPr/>
          <p:nvPr/>
        </p:nvSpPr>
        <p:spPr>
          <a:xfrm>
            <a:off x="5733422" y="5446211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F75663B-E3A6-607C-BD6A-0102406E2439}"/>
              </a:ext>
            </a:extLst>
          </p:cNvPr>
          <p:cNvSpPr/>
          <p:nvPr/>
        </p:nvSpPr>
        <p:spPr>
          <a:xfrm>
            <a:off x="7732485" y="1339655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57DFF54-0349-86CA-D387-AD1DB4EC610E}"/>
              </a:ext>
            </a:extLst>
          </p:cNvPr>
          <p:cNvSpPr/>
          <p:nvPr/>
        </p:nvSpPr>
        <p:spPr>
          <a:xfrm>
            <a:off x="7704596" y="2074469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8425296-07C5-FBE2-78DD-08E71F6F03F0}"/>
              </a:ext>
            </a:extLst>
          </p:cNvPr>
          <p:cNvSpPr/>
          <p:nvPr/>
        </p:nvSpPr>
        <p:spPr>
          <a:xfrm>
            <a:off x="9676594" y="1339655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6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A5C33A5-5F96-438D-10C4-097AEAF8E415}"/>
              </a:ext>
            </a:extLst>
          </p:cNvPr>
          <p:cNvSpPr/>
          <p:nvPr/>
        </p:nvSpPr>
        <p:spPr>
          <a:xfrm>
            <a:off x="9742771" y="2074469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FF770E7-15CF-86D8-B1BF-196E1E70CD99}"/>
              </a:ext>
            </a:extLst>
          </p:cNvPr>
          <p:cNvSpPr/>
          <p:nvPr/>
        </p:nvSpPr>
        <p:spPr>
          <a:xfrm>
            <a:off x="11620703" y="1339655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27AF87A-158C-B763-D48F-71FE4BFA49EA}"/>
              </a:ext>
            </a:extLst>
          </p:cNvPr>
          <p:cNvSpPr/>
          <p:nvPr/>
        </p:nvSpPr>
        <p:spPr>
          <a:xfrm>
            <a:off x="7681678" y="3433222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8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8DCB3ED-1993-3C86-7FF9-481C7F0D93A1}"/>
              </a:ext>
            </a:extLst>
          </p:cNvPr>
          <p:cNvSpPr/>
          <p:nvPr/>
        </p:nvSpPr>
        <p:spPr>
          <a:xfrm>
            <a:off x="9631467" y="3433222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FF586A5-24B1-0347-C2C7-2FFE03331CE2}"/>
              </a:ext>
            </a:extLst>
          </p:cNvPr>
          <p:cNvSpPr/>
          <p:nvPr/>
        </p:nvSpPr>
        <p:spPr>
          <a:xfrm>
            <a:off x="11532344" y="3433222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84034CF5-D3BF-64D1-8AD0-7B164C435ED6}"/>
              </a:ext>
            </a:extLst>
          </p:cNvPr>
          <p:cNvSpPr/>
          <p:nvPr/>
        </p:nvSpPr>
        <p:spPr>
          <a:xfrm>
            <a:off x="7584409" y="4209127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619220B-9C38-86F5-DBDB-D718BF449354}"/>
              </a:ext>
            </a:extLst>
          </p:cNvPr>
          <p:cNvSpPr/>
          <p:nvPr/>
        </p:nvSpPr>
        <p:spPr>
          <a:xfrm>
            <a:off x="9631466" y="4209127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7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A8DF9FD-754B-1023-67FB-0AE41F52EEBA}"/>
              </a:ext>
            </a:extLst>
          </p:cNvPr>
          <p:cNvSpPr/>
          <p:nvPr/>
        </p:nvSpPr>
        <p:spPr>
          <a:xfrm>
            <a:off x="7732484" y="5446211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3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1EB5ACA-008D-AF31-11F9-8670B02F840E}"/>
              </a:ext>
            </a:extLst>
          </p:cNvPr>
          <p:cNvSpPr/>
          <p:nvPr/>
        </p:nvSpPr>
        <p:spPr>
          <a:xfrm>
            <a:off x="9631465" y="5446211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1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C4B4922-A747-53C3-5E08-2D006BEBA59F}"/>
              </a:ext>
            </a:extLst>
          </p:cNvPr>
          <p:cNvSpPr/>
          <p:nvPr/>
        </p:nvSpPr>
        <p:spPr>
          <a:xfrm>
            <a:off x="11578639" y="5446211"/>
            <a:ext cx="340519" cy="340519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69829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ED855-58A8-60B6-3C51-90AA59B8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258D503-9E0F-0FE9-185C-7DC9D45D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Scorecard Draft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7BA126-E537-CC2D-4B52-99005262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55169C-BDB9-3B19-FA19-FB234B80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1B8C967-7E37-9644-DB94-17E11AB705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92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5281-417F-8B7A-AD64-2C9FA940F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41A14F6-04FD-251F-88E9-D0382C679B5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1A14F6-04FD-251F-88E9-D0382C679B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113BD01-55E9-4C8B-55CF-70034CAF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Appendix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5483EB-8F4A-0702-0834-D1C4EBC83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0C435-E5E8-2AC8-7B41-DA247BDB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264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6DAB7-E57B-6545-7CD3-FF982B603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FDEE632-3CBA-9AE7-AB3F-EA2C15F3414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7772400" imgH="10058400" progId="TCLayout.ActiveDocument.1">
                  <p:embed/>
                </p:oleObj>
              </mc:Choice>
              <mc:Fallback>
                <p:oleObj name="think-cell Slide" r:id="rId27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DEE632-3CBA-9AE7-AB3F-EA2C15F341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3589955-EE4E-1E2F-CB12-56AAEDC7F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11679936" cy="618849"/>
          </a:xfrm>
        </p:spPr>
        <p:txBody>
          <a:bodyPr vert="horz" rIns="0"/>
          <a:lstStyle/>
          <a:p>
            <a:r>
              <a:rPr lang="en-US"/>
              <a:t>Scorecard-building interview progress update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50FCA-FEDB-0CEE-220A-085126026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89375-FF9B-7C7F-FB32-A9DAE315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698C3-C6B3-4E05-DA50-4A1D4254CA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287162-5483-1C37-2D8E-A05EB9D6DFE9}"/>
              </a:ext>
            </a:extLst>
          </p:cNvPr>
          <p:cNvCxnSpPr>
            <a:cxnSpLocks/>
          </p:cNvCxnSpPr>
          <p:nvPr/>
        </p:nvCxnSpPr>
        <p:spPr>
          <a:xfrm>
            <a:off x="520117" y="1803457"/>
            <a:ext cx="5033395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B88AB6A-DC2B-9B42-4494-F675BAEF786A}"/>
              </a:ext>
            </a:extLst>
          </p:cNvPr>
          <p:cNvSpPr txBox="1"/>
          <p:nvPr/>
        </p:nvSpPr>
        <p:spPr>
          <a:xfrm>
            <a:off x="520117" y="1476287"/>
            <a:ext cx="5033395" cy="327170"/>
          </a:xfrm>
          <a:prstGeom prst="rect">
            <a:avLst/>
          </a:prstGeom>
          <a:noFill/>
        </p:spPr>
        <p:txBody>
          <a:bodyPr wrap="square" lIns="0" tIns="0" rIns="0" bIns="45720" rtlCol="0" anchor="b">
            <a:noAutofit/>
          </a:bodyPr>
          <a:lstStyle/>
          <a:p>
            <a:pPr algn="ctr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>
                <a:solidFill>
                  <a:schemeClr val="accent6"/>
                </a:solidFill>
              </a:rPr>
              <a:t>Scorecard-Building Interview Progress</a:t>
            </a:r>
          </a:p>
        </p:txBody>
      </p:sp>
      <p:graphicFrame>
        <p:nvGraphicFramePr>
          <p:cNvPr id="85" name="Chart 84">
            <a:extLst>
              <a:ext uri="{FF2B5EF4-FFF2-40B4-BE49-F238E27FC236}">
                <a16:creationId xmlns:a16="http://schemas.microsoft.com/office/drawing/2014/main" id="{1C6ED32E-D5BF-64BB-C4DD-72C8EBB16B71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7727950" y="3378200"/>
          <a:ext cx="3736975" cy="1141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sp>
        <p:nvSpPr>
          <p:cNvPr id="106" name="Text Placeholder 2">
            <a:extLst>
              <a:ext uri="{FF2B5EF4-FFF2-40B4-BE49-F238E27FC236}">
                <a16:creationId xmlns:a16="http://schemas.microsoft.com/office/drawing/2014/main" id="{C2A90D86-6EB8-CA58-5A44-39029E1CD6B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059738" y="4303713"/>
            <a:ext cx="3937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FD85BED-39B7-46B0-BCB2-DD80FB8779D0}" type="datetime'0''''''''''''''''''''-''''''''''''''''''1''''0''''0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0-100</a:t>
            </a:fld>
            <a:endParaRPr lang="en-US"/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4B2B6C31-DED2-DB3F-EC66-1DCF9D8F6D3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8902700" y="4303713"/>
            <a:ext cx="49371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7895810-50C6-4FDE-A0F5-A00415A81ACD}" type="datetime'''''''''''1''0''''''''''''''''''''''''''''''''0''''-1K''''''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100-1K</a:t>
            </a:fld>
            <a:endParaRPr lang="en-US"/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9688B3AE-B678-031C-C94F-3B4F9D258877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9786938" y="4303713"/>
            <a:ext cx="51276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8624BB8-4E1B-4959-9995-4D72CCC970B7}" type="datetime'1''''''K''''''''''''''''''''''''-1''''''''0''''''''''''''K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1K-10K</a:t>
            </a:fld>
            <a:endParaRPr lang="en-US"/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00601B8B-8CEB-EAF2-7E00-630575DFC5B2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0752138" y="4303713"/>
            <a:ext cx="36671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E1AE9B6-7268-4976-8232-8DD9EDCD33D6}" type="datetime'''''''''''1''''''''''''0''''''''''''''''''''''''K''''''+''''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10K+</a:t>
            </a:fld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43966D7-4C1B-AF73-F120-9BF22A84496D}"/>
              </a:ext>
            </a:extLst>
          </p:cNvPr>
          <p:cNvSpPr/>
          <p:nvPr/>
        </p:nvSpPr>
        <p:spPr>
          <a:xfrm>
            <a:off x="6608763" y="3517900"/>
            <a:ext cx="945073" cy="982662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b="1" spc="-20">
                <a:solidFill>
                  <a:schemeClr val="bg1"/>
                </a:solidFill>
              </a:rPr>
              <a:t>Org Size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673D92A-BB68-8481-F5DA-B6ADD5DF92BB}"/>
              </a:ext>
            </a:extLst>
          </p:cNvPr>
          <p:cNvSpPr/>
          <p:nvPr/>
        </p:nvSpPr>
        <p:spPr>
          <a:xfrm>
            <a:off x="6608763" y="2222500"/>
            <a:ext cx="945073" cy="982662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b="1" spc="-20">
                <a:solidFill>
                  <a:schemeClr val="bg1"/>
                </a:solidFill>
              </a:rPr>
              <a:t>Industry</a:t>
            </a:r>
          </a:p>
        </p:txBody>
      </p:sp>
      <p:graphicFrame>
        <p:nvGraphicFramePr>
          <p:cNvPr id="77" name="Chart 76">
            <a:extLst>
              <a:ext uri="{FF2B5EF4-FFF2-40B4-BE49-F238E27FC236}">
                <a16:creationId xmlns:a16="http://schemas.microsoft.com/office/drawing/2014/main" id="{D8A8C401-6447-79CB-2166-A184A92B62D1}"/>
              </a:ext>
            </a:extLst>
          </p:cNvPr>
          <p:cNvGraphicFramePr/>
          <p:nvPr>
            <p:custDataLst>
              <p:tags r:id="rId7"/>
            </p:custDataLst>
          </p:nvPr>
        </p:nvGraphicFramePr>
        <p:xfrm>
          <a:off x="7727950" y="2057400"/>
          <a:ext cx="3962400" cy="906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049222D-FA25-6F23-8477-604D715EE457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837488" y="2747963"/>
            <a:ext cx="7048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0D41172-7607-410D-9C3B-5B9262AEC46C}" type="datetime'''''''''''''''''''''''''''''B2B S''a''''''''''a''''''S''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B2B SaaS</a:t>
            </a:fld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45F03D8-E45A-895B-CE00-4205DB826D55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656638" y="2747963"/>
            <a:ext cx="585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B2B6992-FDC0-4A56-B7BD-A3E29F6696DC}" type="datetime'''''''''''''''''P''''''ro''f.'''' ''''''Ser''''v''''i''ce''s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Prof. Services</a:t>
            </a:fld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8678867-2E4E-8AB7-AECE-A19ED912E546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509125" y="2747963"/>
            <a:ext cx="40163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678D21E-2FCA-4B48-9CB5-F72F9DD403DF}" type="datetime'''''''''C''l''''ou''''''''''d''''''''''''''''''''''''''''''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Cloud</a:t>
            </a:fld>
            <a:endParaRPr lang="en-US"/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2C63ECBB-7BEA-C16D-C427-61A4623D2FC6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17138" y="2747963"/>
            <a:ext cx="703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4FABD3A-E788-4B6C-BF7C-6EAE1C046EE9}" type="datetime'''C''o''''''n''s''''u''''''''''''m''''''''er'' ''''A''''pp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Consumer App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8489FFC-1F6B-F60D-8A3D-9E3F5B4D68D9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11018838" y="2747963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75097EA-C4EB-4779-BAA7-4C919468A5E5}" type="datetime'''''''''S''''''''''''''o''''''''c''ia''''''''l Me''''''dia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Social Media</a:t>
            </a:fld>
            <a:endParaRPr lang="en-US"/>
          </a:p>
        </p:txBody>
      </p:sp>
      <p:graphicFrame>
        <p:nvGraphicFramePr>
          <p:cNvPr id="67" name="Chart 66">
            <a:extLst>
              <a:ext uri="{FF2B5EF4-FFF2-40B4-BE49-F238E27FC236}">
                <a16:creationId xmlns:a16="http://schemas.microsoft.com/office/drawing/2014/main" id="{19BD2EBA-12B7-ED11-AE72-7A8EB98FDA10}"/>
              </a:ext>
            </a:extLst>
          </p:cNvPr>
          <p:cNvGraphicFramePr/>
          <p:nvPr>
            <p:custDataLst>
              <p:tags r:id="rId13"/>
            </p:custDataLst>
          </p:nvPr>
        </p:nvGraphicFramePr>
        <p:xfrm>
          <a:off x="639763" y="1868488"/>
          <a:ext cx="4486275" cy="3578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90A255B3-C966-F1A1-83E9-F5662D366E99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571501" y="5230813"/>
            <a:ext cx="30321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3987BE4-8C35-4976-9023-9AE75C8A0BC6}" type="datetime'''''''''5''''''''/13'''">
              <a:rPr lang="en-US" altLang="en-US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5/13</a:t>
            </a:fld>
            <a:endParaRPr lang="en-US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282B2C46-6D16-7953-1934-CA9189832CC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427163" y="5230813"/>
            <a:ext cx="30321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36AF531-4638-4831-A987-562820107F96}" type="datetime'''''''''''5/''''''''''''''''''''''''''''''20'''">
              <a:rPr lang="en-US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5/20</a:t>
            </a:fld>
            <a:endParaRPr lang="en-US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52DBE5BA-8485-A795-078A-7213E501AF7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2281238" y="5230813"/>
            <a:ext cx="30321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B7F24AB-3DFC-42A5-84AC-4350FE806EBE}" type="datetime'''''5''''''''''''''''''''''/2''''''7'''''''''''''''''''''''''">
              <a:rPr lang="en-US" altLang="en-US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5/27</a:t>
            </a:fld>
            <a:endParaRPr lang="en-US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2815553F-F9EC-F8E1-1149-ABDFE36F4D7C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3178175" y="5230813"/>
            <a:ext cx="22066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B56007A-B0AE-416E-BA70-4C7946071CD4}" type="datetime'''''''''''''''''''6''''''''''''''''''''''/''''3'''''''''''''''">
              <a:rPr lang="en-US" altLang="en-US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6/3</a:t>
            </a:fld>
            <a:endParaRPr lang="en-US"/>
          </a:p>
        </p:txBody>
      </p:sp>
      <p:sp>
        <p:nvSpPr>
          <p:cNvPr id="93" name="Text Placeholder 2">
            <a:extLst>
              <a:ext uri="{FF2B5EF4-FFF2-40B4-BE49-F238E27FC236}">
                <a16:creationId xmlns:a16="http://schemas.microsoft.com/office/drawing/2014/main" id="{44D9E67C-FE2B-F725-F788-81D81AF22D84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3990975" y="5230813"/>
            <a:ext cx="30321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41C1300-6E14-46F5-AED1-16D015D1B756}" type="datetime'''''''''''''''''''6''''''''''''''''''''/1''0'''''''''">
              <a:rPr lang="en-US" altLang="en-US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6/10</a:t>
            </a:fld>
            <a:endParaRPr lang="en-US"/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0F7DA5D3-AB39-1332-994C-C47920222A8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4846638" y="5230813"/>
            <a:ext cx="30321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21AA72F-F737-40BA-A7A5-08320FD6094D}" type="datetime'6''''''''''''''/''''''''''''''''''1''7'''''''''''''''''''">
              <a:rPr lang="en-US" altLang="en-US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6/17</a:t>
            </a:fld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90AA42DE-976F-266A-BF81-B2ECA0D2BAC7}"/>
              </a:ext>
            </a:extLst>
          </p:cNvPr>
          <p:cNvSpPr/>
          <p:nvPr/>
        </p:nvSpPr>
        <p:spPr>
          <a:xfrm>
            <a:off x="336208" y="4198055"/>
            <a:ext cx="1071291" cy="335176"/>
          </a:xfrm>
          <a:prstGeom prst="rect">
            <a:avLst/>
          </a:prstGeom>
          <a:noFill/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b="1" spc="-20">
                <a:solidFill>
                  <a:srgbClr val="00A162"/>
                </a:solidFill>
              </a:rPr>
              <a:t>Complete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A6F4C0F-D893-FBF6-7C2D-C6C8E81EE29E}"/>
              </a:ext>
            </a:extLst>
          </p:cNvPr>
          <p:cNvSpPr/>
          <p:nvPr/>
        </p:nvSpPr>
        <p:spPr>
          <a:xfrm>
            <a:off x="2752860" y="3501077"/>
            <a:ext cx="1071291" cy="335176"/>
          </a:xfrm>
          <a:prstGeom prst="rect">
            <a:avLst/>
          </a:prstGeom>
          <a:noFill/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b="1" spc="-20">
                <a:solidFill>
                  <a:schemeClr val="accent2">
                    <a:lumMod val="50000"/>
                  </a:schemeClr>
                </a:solidFill>
              </a:rPr>
              <a:t>Scheduled</a:t>
            </a:r>
            <a:endParaRPr lang="en-US" sz="1000" b="1" spc="-2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DCD20DBA-4A1D-2B3C-6F04-7C78FB85B9C2}"/>
              </a:ext>
            </a:extLst>
          </p:cNvPr>
          <p:cNvSpPr/>
          <p:nvPr/>
        </p:nvSpPr>
        <p:spPr>
          <a:xfrm>
            <a:off x="4821588" y="2138334"/>
            <a:ext cx="1071291" cy="335176"/>
          </a:xfrm>
          <a:prstGeom prst="rect">
            <a:avLst/>
          </a:prstGeom>
          <a:noFill/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b="1" spc="-20"/>
              <a:t>Target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8A8864A8-3DD9-85B1-452B-26839FEFE7C6}"/>
              </a:ext>
            </a:extLst>
          </p:cNvPr>
          <p:cNvCxnSpPr>
            <a:cxnSpLocks/>
          </p:cNvCxnSpPr>
          <p:nvPr/>
        </p:nvCxnSpPr>
        <p:spPr>
          <a:xfrm>
            <a:off x="6500302" y="1803457"/>
            <a:ext cx="5033395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B5BD582D-42F4-880C-9145-5F3E5D9804CE}"/>
              </a:ext>
            </a:extLst>
          </p:cNvPr>
          <p:cNvSpPr txBox="1"/>
          <p:nvPr/>
        </p:nvSpPr>
        <p:spPr>
          <a:xfrm>
            <a:off x="6500302" y="1476287"/>
            <a:ext cx="5033395" cy="327170"/>
          </a:xfrm>
          <a:prstGeom prst="rect">
            <a:avLst/>
          </a:prstGeom>
          <a:noFill/>
        </p:spPr>
        <p:txBody>
          <a:bodyPr wrap="square" lIns="0" tIns="0" rIns="0" bIns="45720" rtlCol="0" anchor="b">
            <a:noAutofit/>
          </a:bodyPr>
          <a:lstStyle/>
          <a:p>
            <a:pPr algn="ctr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>
                <a:solidFill>
                  <a:schemeClr val="accent6"/>
                </a:solidFill>
              </a:rPr>
              <a:t>Interview Profiles</a:t>
            </a:r>
          </a:p>
        </p:txBody>
      </p:sp>
      <p:graphicFrame>
        <p:nvGraphicFramePr>
          <p:cNvPr id="56" name="Chart 55">
            <a:extLst>
              <a:ext uri="{FF2B5EF4-FFF2-40B4-BE49-F238E27FC236}">
                <a16:creationId xmlns:a16="http://schemas.microsoft.com/office/drawing/2014/main" id="{7FB74CD6-684C-662F-E7A3-F8EDC1E384D8}"/>
              </a:ext>
            </a:extLst>
          </p:cNvPr>
          <p:cNvGraphicFramePr/>
          <p:nvPr>
            <p:custDataLst>
              <p:tags r:id="rId20"/>
            </p:custDataLst>
          </p:nvPr>
        </p:nvGraphicFramePr>
        <p:xfrm>
          <a:off x="7800975" y="4646613"/>
          <a:ext cx="3736975" cy="912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2"/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291F9D4-94B2-3C00-5B9A-2A6B4539BFA3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7837488" y="5343525"/>
            <a:ext cx="806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A02AE65-D848-46FA-AA3F-5F16F662A68C}" type="datetime'Eng''i''''n''e''''''''''''e''''''''''r''i''n''''''''''''g''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Engineering</a:t>
            </a:fld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D6E1BA4-E705-F24B-092F-921E6A6E05B9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8691563" y="5343525"/>
            <a:ext cx="5270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643A25A-B019-4DB3-9D98-43B4E1F0B618}" type="datetime'''P''''''''r''''''''''''o''d''''''u''''''''''c''t''''''''''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Product</a:t>
            </a:fld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86F54CE-4717-5A98-CCA7-EC12A34C6E67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auto">
          <a:xfrm>
            <a:off x="9398000" y="5343525"/>
            <a:ext cx="542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E6D7EF3-D8FE-4DC1-AE8B-FEBF85C232CC}" type="datetime'''''''''D''''a''''''''t''''''a'''' ''''''Sci''e''''n''c''''e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Data Science</a:t>
            </a:fld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1752D48-E418-EA1C-5D3E-B6F00E24229D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auto">
          <a:xfrm>
            <a:off x="10196513" y="5343525"/>
            <a:ext cx="37623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75DDAE2-3625-46EE-8539-71278D75F9AA}" type="datetime'L''''e''g''''''a''''''''''''''''l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Legal</a:t>
            </a:fld>
            <a:endParaRPr lang="en-US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61568F4-3C8E-E987-041D-75F79053C883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10814050" y="5343525"/>
            <a:ext cx="568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C4958C2-15A0-463C-8D87-38B2E1AB8988}" type="datetime'''C''''''''''EO ''''/'''''''' F''''ou''n''''''d''e''''r'''''''">
              <a:rPr lang="en-US" altLang="en-US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CEO / Founder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9831AE-FF9A-DCB2-F9F3-39585AC0D467}"/>
              </a:ext>
            </a:extLst>
          </p:cNvPr>
          <p:cNvSpPr/>
          <p:nvPr/>
        </p:nvSpPr>
        <p:spPr>
          <a:xfrm>
            <a:off x="6608763" y="4806950"/>
            <a:ext cx="945073" cy="982662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b="1" spc="-20">
                <a:solidFill>
                  <a:schemeClr val="bg1"/>
                </a:solidFill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398628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635CC-C95D-EB55-8862-7D4D1A58F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2BC71D-ABF4-583A-E03D-1A12F5B63BBB}"/>
              </a:ext>
            </a:extLst>
          </p:cNvPr>
          <p:cNvSpPr/>
          <p:nvPr/>
        </p:nvSpPr>
        <p:spPr bwMode="auto">
          <a:xfrm>
            <a:off x="1149017" y="411371"/>
            <a:ext cx="9841830" cy="6246603"/>
          </a:xfrm>
          <a:prstGeom prst="roundRect">
            <a:avLst>
              <a:gd name="adj" fmla="val 5786"/>
            </a:avLst>
          </a:prstGeom>
          <a:solidFill>
            <a:schemeClr val="bg1">
              <a:lumMod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9C13712-30AB-72A7-714F-ABAF2716AE5F}"/>
              </a:ext>
            </a:extLst>
          </p:cNvPr>
          <p:cNvSpPr/>
          <p:nvPr/>
        </p:nvSpPr>
        <p:spPr bwMode="auto">
          <a:xfrm>
            <a:off x="1416509" y="542372"/>
            <a:ext cx="9143342" cy="4489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B6BF9AEC-598E-D06B-C3EE-382246E4A84F}"/>
              </a:ext>
            </a:extLst>
          </p:cNvPr>
          <p:cNvSpPr/>
          <p:nvPr/>
        </p:nvSpPr>
        <p:spPr bwMode="auto">
          <a:xfrm>
            <a:off x="4517585" y="1091355"/>
            <a:ext cx="2941190" cy="5115265"/>
          </a:xfrm>
          <a:prstGeom prst="roundRect">
            <a:avLst>
              <a:gd name="adj" fmla="val 1497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5CFD8ACC-6842-6F2C-2B48-D02584D9C658}"/>
              </a:ext>
            </a:extLst>
          </p:cNvPr>
          <p:cNvSpPr/>
          <p:nvPr/>
        </p:nvSpPr>
        <p:spPr bwMode="auto">
          <a:xfrm>
            <a:off x="4801935" y="1287201"/>
            <a:ext cx="2393576" cy="1365755"/>
          </a:xfrm>
          <a:prstGeom prst="roundRect">
            <a:avLst>
              <a:gd name="adj" fmla="val 28523"/>
            </a:avLst>
          </a:prstGeom>
          <a:gradFill>
            <a:gsLst>
              <a:gs pos="100000">
                <a:srgbClr val="0070C0"/>
              </a:gs>
              <a:gs pos="46000">
                <a:srgbClr val="7B51CA"/>
              </a:gs>
              <a:gs pos="1000">
                <a:srgbClr val="D1449F"/>
              </a:gs>
            </a:gsLst>
            <a:lin ang="5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Platform</a:t>
            </a:r>
          </a:p>
        </p:txBody>
      </p: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FCC12AC7-C32D-3088-6F20-FFB630C905E1}"/>
              </a:ext>
            </a:extLst>
          </p:cNvPr>
          <p:cNvSpPr/>
          <p:nvPr/>
        </p:nvSpPr>
        <p:spPr bwMode="auto">
          <a:xfrm>
            <a:off x="4801936" y="5391150"/>
            <a:ext cx="2393574" cy="18580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2D2D2">
                    <a:lumMod val="25000"/>
                  </a:srgbClr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Short-term</a:t>
            </a:r>
          </a:p>
        </p:txBody>
      </p: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53C3BCE8-7886-4FD8-6F57-560CDCAA1FC7}"/>
              </a:ext>
            </a:extLst>
          </p:cNvPr>
          <p:cNvSpPr/>
          <p:nvPr/>
        </p:nvSpPr>
        <p:spPr bwMode="auto">
          <a:xfrm>
            <a:off x="4801936" y="5631444"/>
            <a:ext cx="2393574" cy="18580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2D2D2">
                    <a:lumMod val="25000"/>
                  </a:srgbClr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Medium-term</a:t>
            </a:r>
          </a:p>
        </p:txBody>
      </p:sp>
      <p:sp>
        <p:nvSpPr>
          <p:cNvPr id="244" name="Rectangle: Rounded Corners 243">
            <a:extLst>
              <a:ext uri="{FF2B5EF4-FFF2-40B4-BE49-F238E27FC236}">
                <a16:creationId xmlns:a16="http://schemas.microsoft.com/office/drawing/2014/main" id="{439967E7-961A-91A6-5AE9-40F2C6775122}"/>
              </a:ext>
            </a:extLst>
          </p:cNvPr>
          <p:cNvSpPr/>
          <p:nvPr/>
        </p:nvSpPr>
        <p:spPr bwMode="auto">
          <a:xfrm>
            <a:off x="4801936" y="5871738"/>
            <a:ext cx="2393574" cy="18580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2D2D2">
                    <a:lumMod val="25000"/>
                  </a:srgbClr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Long-term</a:t>
            </a:r>
          </a:p>
        </p:txBody>
      </p:sp>
      <p:pic>
        <p:nvPicPr>
          <p:cNvPr id="256" name="Image 6" descr="preencoded.png">
            <a:extLst>
              <a:ext uri="{FF2B5EF4-FFF2-40B4-BE49-F238E27FC236}">
                <a16:creationId xmlns:a16="http://schemas.microsoft.com/office/drawing/2014/main" id="{C4886DB9-A47A-B914-06D9-21BE40C34E4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5714049" y="2097150"/>
            <a:ext cx="383959" cy="383959"/>
          </a:xfrm>
          <a:prstGeom prst="rect">
            <a:avLst/>
          </a:prstGeom>
        </p:spPr>
      </p:pic>
      <p:sp>
        <p:nvSpPr>
          <p:cNvPr id="262" name="Rectangle: Rounded Corners 261">
            <a:extLst>
              <a:ext uri="{FF2B5EF4-FFF2-40B4-BE49-F238E27FC236}">
                <a16:creationId xmlns:a16="http://schemas.microsoft.com/office/drawing/2014/main" id="{D85DE392-C7DA-D81B-0588-49D3582E3410}"/>
              </a:ext>
            </a:extLst>
          </p:cNvPr>
          <p:cNvSpPr/>
          <p:nvPr/>
        </p:nvSpPr>
        <p:spPr bwMode="auto">
          <a:xfrm>
            <a:off x="1416509" y="1091355"/>
            <a:ext cx="2941190" cy="5115265"/>
          </a:xfrm>
          <a:prstGeom prst="roundRect">
            <a:avLst>
              <a:gd name="adj" fmla="val 1497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C28F347B-370B-4533-8825-694A41D81397}"/>
              </a:ext>
            </a:extLst>
          </p:cNvPr>
          <p:cNvSpPr/>
          <p:nvPr/>
        </p:nvSpPr>
        <p:spPr bwMode="auto">
          <a:xfrm>
            <a:off x="1703652" y="1287201"/>
            <a:ext cx="2393576" cy="1365755"/>
          </a:xfrm>
          <a:prstGeom prst="roundRect">
            <a:avLst>
              <a:gd name="adj" fmla="val 30615"/>
            </a:avLst>
          </a:prstGeom>
          <a:gradFill>
            <a:gsLst>
              <a:gs pos="100000">
                <a:srgbClr val="0070C0"/>
              </a:gs>
              <a:gs pos="46000">
                <a:srgbClr val="7B51CA"/>
              </a:gs>
              <a:gs pos="1000">
                <a:srgbClr val="D1449F"/>
              </a:gs>
            </a:gsLst>
            <a:lin ang="5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Infrastructure &amp; Models</a:t>
            </a:r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D0C91457-2111-49B2-D18B-E66AC7111F11}"/>
              </a:ext>
            </a:extLst>
          </p:cNvPr>
          <p:cNvSpPr/>
          <p:nvPr/>
        </p:nvSpPr>
        <p:spPr bwMode="auto">
          <a:xfrm>
            <a:off x="1632149" y="2771147"/>
            <a:ext cx="2454440" cy="201173"/>
          </a:xfrm>
          <a:prstGeom prst="roundRect">
            <a:avLst>
              <a:gd name="adj" fmla="val 50000"/>
            </a:avLst>
          </a:prstGeom>
          <a:solidFill>
            <a:schemeClr val="accent6">
              <a:lumMod val="2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Core Truths</a:t>
            </a:r>
          </a:p>
        </p:txBody>
      </p:sp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00B46EAE-472B-C65B-56E5-E879E688A0CE}"/>
              </a:ext>
            </a:extLst>
          </p:cNvPr>
          <p:cNvSpPr/>
          <p:nvPr/>
        </p:nvSpPr>
        <p:spPr bwMode="auto">
          <a:xfrm>
            <a:off x="1632149" y="4066659"/>
            <a:ext cx="2454440" cy="201173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Dynamic Practices</a:t>
            </a:r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5A445D3A-FA5A-009B-B624-766A9F4F2BD8}"/>
              </a:ext>
            </a:extLst>
          </p:cNvPr>
          <p:cNvSpPr/>
          <p:nvPr/>
        </p:nvSpPr>
        <p:spPr bwMode="auto">
          <a:xfrm>
            <a:off x="1703653" y="5391150"/>
            <a:ext cx="2393574" cy="18580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2D2D2">
                    <a:lumMod val="25000"/>
                  </a:srgbClr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Short-term</a:t>
            </a: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6DF93025-0CFC-40CF-EA98-E3D6AE089EEB}"/>
              </a:ext>
            </a:extLst>
          </p:cNvPr>
          <p:cNvSpPr/>
          <p:nvPr/>
        </p:nvSpPr>
        <p:spPr bwMode="auto">
          <a:xfrm>
            <a:off x="1703653" y="5631444"/>
            <a:ext cx="2393574" cy="18580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2D2D2">
                    <a:lumMod val="25000"/>
                  </a:srgbClr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Medium-term</a:t>
            </a: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46991379-BF98-26AA-6ADA-08D3142FAC38}"/>
              </a:ext>
            </a:extLst>
          </p:cNvPr>
          <p:cNvSpPr/>
          <p:nvPr/>
        </p:nvSpPr>
        <p:spPr bwMode="auto">
          <a:xfrm>
            <a:off x="1703653" y="5871738"/>
            <a:ext cx="2393574" cy="18580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2D2D2">
                    <a:lumMod val="25000"/>
                  </a:srgbClr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Long-term</a:t>
            </a:r>
          </a:p>
        </p:txBody>
      </p:sp>
      <p:pic>
        <p:nvPicPr>
          <p:cNvPr id="258" name="Image 3" descr="preencoded.png">
            <a:extLst>
              <a:ext uri="{FF2B5EF4-FFF2-40B4-BE49-F238E27FC236}">
                <a16:creationId xmlns:a16="http://schemas.microsoft.com/office/drawing/2014/main" id="{D43F6144-9D68-719F-3D4A-8AE4068CF077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2667389" y="2127399"/>
            <a:ext cx="323461" cy="323461"/>
          </a:xfrm>
          <a:prstGeom prst="rect">
            <a:avLst/>
          </a:prstGeom>
        </p:spPr>
      </p:pic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41EF49B0-60A7-A300-3C60-D6BF52D35093}"/>
              </a:ext>
            </a:extLst>
          </p:cNvPr>
          <p:cNvSpPr/>
          <p:nvPr/>
        </p:nvSpPr>
        <p:spPr bwMode="auto">
          <a:xfrm>
            <a:off x="7618661" y="1091355"/>
            <a:ext cx="2941190" cy="5115265"/>
          </a:xfrm>
          <a:prstGeom prst="roundRect">
            <a:avLst>
              <a:gd name="adj" fmla="val 1497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42BBBA33-066A-DA44-1EC6-E87302DC3E64}"/>
              </a:ext>
            </a:extLst>
          </p:cNvPr>
          <p:cNvSpPr/>
          <p:nvPr/>
        </p:nvSpPr>
        <p:spPr bwMode="auto">
          <a:xfrm>
            <a:off x="7892468" y="1287201"/>
            <a:ext cx="2393576" cy="1365755"/>
          </a:xfrm>
          <a:prstGeom prst="roundRect">
            <a:avLst>
              <a:gd name="adj" fmla="val 27826"/>
            </a:avLst>
          </a:prstGeom>
          <a:gradFill>
            <a:gsLst>
              <a:gs pos="100000">
                <a:srgbClr val="0070C0"/>
              </a:gs>
              <a:gs pos="46000">
                <a:srgbClr val="7B51CA"/>
              </a:gs>
              <a:gs pos="1000">
                <a:srgbClr val="D1449F"/>
              </a:gs>
            </a:gsLst>
            <a:lin ang="5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Operating Environment</a:t>
            </a:r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47BFFE27-DE65-EEC9-1CD9-88A6CBD75A46}"/>
              </a:ext>
            </a:extLst>
          </p:cNvPr>
          <p:cNvSpPr/>
          <p:nvPr/>
        </p:nvSpPr>
        <p:spPr bwMode="auto">
          <a:xfrm>
            <a:off x="7892469" y="5391150"/>
            <a:ext cx="2393574" cy="18580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2D2D2">
                    <a:lumMod val="25000"/>
                  </a:srgbClr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Short-term</a:t>
            </a:r>
          </a:p>
        </p:txBody>
      </p:sp>
      <p:sp>
        <p:nvSpPr>
          <p:cNvPr id="252" name="Rectangle: Rounded Corners 251">
            <a:extLst>
              <a:ext uri="{FF2B5EF4-FFF2-40B4-BE49-F238E27FC236}">
                <a16:creationId xmlns:a16="http://schemas.microsoft.com/office/drawing/2014/main" id="{70D37E6E-892A-7A6D-E08A-B5158446F278}"/>
              </a:ext>
            </a:extLst>
          </p:cNvPr>
          <p:cNvSpPr/>
          <p:nvPr/>
        </p:nvSpPr>
        <p:spPr bwMode="auto">
          <a:xfrm>
            <a:off x="7892469" y="5631444"/>
            <a:ext cx="2393574" cy="18580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2D2D2">
                    <a:lumMod val="25000"/>
                  </a:srgbClr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Medium-term</a:t>
            </a:r>
          </a:p>
        </p:txBody>
      </p:sp>
      <p:sp>
        <p:nvSpPr>
          <p:cNvPr id="254" name="Rectangle: Rounded Corners 253">
            <a:extLst>
              <a:ext uri="{FF2B5EF4-FFF2-40B4-BE49-F238E27FC236}">
                <a16:creationId xmlns:a16="http://schemas.microsoft.com/office/drawing/2014/main" id="{0B5E5D4F-408B-C067-3108-1BFCDE5CEC31}"/>
              </a:ext>
            </a:extLst>
          </p:cNvPr>
          <p:cNvSpPr/>
          <p:nvPr/>
        </p:nvSpPr>
        <p:spPr bwMode="auto">
          <a:xfrm>
            <a:off x="7892469" y="5871738"/>
            <a:ext cx="2393574" cy="18580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2D2D2">
                    <a:lumMod val="25000"/>
                  </a:srgbClr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Long-term</a:t>
            </a:r>
          </a:p>
        </p:txBody>
      </p:sp>
      <p:pic>
        <p:nvPicPr>
          <p:cNvPr id="260" name="Image 3" descr="Management with solid fill">
            <a:extLst>
              <a:ext uri="{FF2B5EF4-FFF2-40B4-BE49-F238E27FC236}">
                <a16:creationId xmlns:a16="http://schemas.microsoft.com/office/drawing/2014/main" id="{9287E0BB-AA98-16A4-5EA8-641169D251BC}"/>
              </a:ext>
            </a:extLst>
          </p:cNvPr>
          <p:cNvPicPr>
            <a:picLocks noChangeAspect="1"/>
          </p:cNvPicPr>
          <p:nvPr/>
        </p:nvPicPr>
        <p:blipFill>
          <a:blip>
            <a:biLevel thresh="2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821208" y="2055263"/>
            <a:ext cx="467732" cy="467732"/>
          </a:xfrm>
          <a:prstGeom prst="rect">
            <a:avLst/>
          </a:prstGeom>
        </p:spPr>
      </p:pic>
      <p:sp>
        <p:nvSpPr>
          <p:cNvPr id="9" name="Right Bracket 8">
            <a:extLst>
              <a:ext uri="{FF2B5EF4-FFF2-40B4-BE49-F238E27FC236}">
                <a16:creationId xmlns:a16="http://schemas.microsoft.com/office/drawing/2014/main" id="{B442535A-BBA9-2E61-9311-7F6CB8D39D94}"/>
              </a:ext>
            </a:extLst>
          </p:cNvPr>
          <p:cNvSpPr/>
          <p:nvPr/>
        </p:nvSpPr>
        <p:spPr>
          <a:xfrm rot="16200000">
            <a:off x="6016931" y="-3421964"/>
            <a:ext cx="86999" cy="8451228"/>
          </a:xfrm>
          <a:prstGeom prst="rightBracket">
            <a:avLst/>
          </a:prstGeom>
          <a:ln>
            <a:solidFill>
              <a:schemeClr val="tx1">
                <a:lumMod val="5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0A158D-4640-8773-5B91-6DB909F10D02}"/>
              </a:ext>
            </a:extLst>
          </p:cNvPr>
          <p:cNvSpPr txBox="1"/>
          <p:nvPr/>
        </p:nvSpPr>
        <p:spPr>
          <a:xfrm>
            <a:off x="4593513" y="578468"/>
            <a:ext cx="272973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100000">
                      <a:srgbClr val="0070C0"/>
                    </a:gs>
                    <a:gs pos="46000">
                      <a:srgbClr val="7B51CA"/>
                    </a:gs>
                    <a:gs pos="1000">
                      <a:srgbClr val="D1449F"/>
                    </a:gs>
                  </a:gsLst>
                  <a:lin ang="0" scaled="0"/>
                </a:gra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Operating Model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4A55395-4F10-0A28-58FD-D074CF068C0A}"/>
              </a:ext>
            </a:extLst>
          </p:cNvPr>
          <p:cNvSpPr/>
          <p:nvPr/>
        </p:nvSpPr>
        <p:spPr bwMode="auto">
          <a:xfrm>
            <a:off x="1703652" y="6315497"/>
            <a:ext cx="8582391" cy="233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Token Economics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17368-F72D-9B94-BAE6-CC401BC3E9A0}"/>
              </a:ext>
            </a:extLst>
          </p:cNvPr>
          <p:cNvSpPr txBox="1"/>
          <p:nvPr/>
        </p:nvSpPr>
        <p:spPr>
          <a:xfrm>
            <a:off x="1642788" y="2771147"/>
            <a:ext cx="2454439" cy="1181728"/>
          </a:xfrm>
          <a:prstGeom prst="roundRect">
            <a:avLst/>
          </a:prstGeom>
          <a:noFill/>
          <a:ln>
            <a:solidFill>
              <a:srgbClr val="353535"/>
            </a:solidFill>
          </a:ln>
        </p:spPr>
        <p:txBody>
          <a:bodyPr wrap="square" lIns="0" tIns="0" rIns="0" bIns="0">
            <a:noAutofit/>
          </a:bodyPr>
          <a:lstStyle/>
          <a:p>
            <a:endParaRPr lang="en-US" sz="1050">
              <a:solidFill>
                <a:schemeClr val="accent6">
                  <a:lumMod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Full AI-enablement system: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Loops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Execution environments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&amp; security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F749E0-791D-63EE-A70F-AD13E776B57A}"/>
              </a:ext>
            </a:extLst>
          </p:cNvPr>
          <p:cNvSpPr txBox="1"/>
          <p:nvPr/>
        </p:nvSpPr>
        <p:spPr>
          <a:xfrm>
            <a:off x="1632150" y="4086327"/>
            <a:ext cx="2454439" cy="1160604"/>
          </a:xfrm>
          <a:prstGeom prst="roundRect">
            <a:avLst/>
          </a:prstGeom>
          <a:noFill/>
          <a:ln>
            <a:solidFill>
              <a:srgbClr val="696969"/>
            </a:solidFill>
          </a:ln>
        </p:spPr>
        <p:txBody>
          <a:bodyPr wrap="square" lIns="0" tIns="0" rIns="0" bIns="0">
            <a:noAutofit/>
          </a:bodyPr>
          <a:lstStyle/>
          <a:p>
            <a:endParaRPr lang="en-US" sz="1050">
              <a:solidFill>
                <a:schemeClr val="accent6">
                  <a:lumMod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Agent sandboxes / isolated workspaces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Cost, latency, and observability for agentic workloads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4187E19-21BC-E0F5-269B-F0F7C6389DF0}"/>
              </a:ext>
            </a:extLst>
          </p:cNvPr>
          <p:cNvSpPr/>
          <p:nvPr/>
        </p:nvSpPr>
        <p:spPr bwMode="auto">
          <a:xfrm>
            <a:off x="4762721" y="2771147"/>
            <a:ext cx="2454440" cy="201173"/>
          </a:xfrm>
          <a:prstGeom prst="roundRect">
            <a:avLst>
              <a:gd name="adj" fmla="val 50000"/>
            </a:avLst>
          </a:prstGeom>
          <a:solidFill>
            <a:schemeClr val="accent6">
              <a:lumMod val="2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Core Truths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C3D92A2-A7BE-050A-1853-889751728816}"/>
              </a:ext>
            </a:extLst>
          </p:cNvPr>
          <p:cNvSpPr/>
          <p:nvPr/>
        </p:nvSpPr>
        <p:spPr bwMode="auto">
          <a:xfrm>
            <a:off x="4762721" y="4066659"/>
            <a:ext cx="2454440" cy="201173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Dynamic Practices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D64F09-5B20-D1C3-14EC-22230D4D3D9D}"/>
              </a:ext>
            </a:extLst>
          </p:cNvPr>
          <p:cNvSpPr txBox="1"/>
          <p:nvPr/>
        </p:nvSpPr>
        <p:spPr>
          <a:xfrm>
            <a:off x="4773360" y="2771147"/>
            <a:ext cx="2454439" cy="1181728"/>
          </a:xfrm>
          <a:prstGeom prst="roundRect">
            <a:avLst/>
          </a:prstGeom>
          <a:noFill/>
          <a:ln>
            <a:solidFill>
              <a:srgbClr val="353535"/>
            </a:solidFill>
          </a:ln>
        </p:spPr>
        <p:txBody>
          <a:bodyPr wrap="square" lIns="0" tIns="0" rIns="0" bIns="0">
            <a:noAutofit/>
          </a:bodyPr>
          <a:lstStyle/>
          <a:p>
            <a:endParaRPr lang="en-US" sz="1050">
              <a:solidFill>
                <a:schemeClr val="accent6">
                  <a:lumMod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Capabilities and intelligence operationalized and scaled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Output validation, monitoring, &amp; iteration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Context, tools, &amp; planning shape model performance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DA4B46-F2A4-7C54-96AF-6CEEACADCCC2}"/>
              </a:ext>
            </a:extLst>
          </p:cNvPr>
          <p:cNvSpPr txBox="1"/>
          <p:nvPr/>
        </p:nvSpPr>
        <p:spPr>
          <a:xfrm>
            <a:off x="4762722" y="4086327"/>
            <a:ext cx="2454439" cy="1160604"/>
          </a:xfrm>
          <a:prstGeom prst="roundRect">
            <a:avLst/>
          </a:prstGeom>
          <a:noFill/>
          <a:ln>
            <a:solidFill>
              <a:srgbClr val="696969"/>
            </a:solidFill>
          </a:ln>
        </p:spPr>
        <p:txBody>
          <a:bodyPr wrap="square" lIns="0" tIns="0" rIns="0" bIns="0">
            <a:noAutofit/>
          </a:bodyPr>
          <a:lstStyle/>
          <a:p>
            <a:endParaRPr lang="en-US" sz="1050">
              <a:solidFill>
                <a:schemeClr val="accent6">
                  <a:lumMod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Multi-agent orchestration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MCP, API, and connector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Reusable skills, memory, &amp; context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Feedback loops improve workflows between runs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D5BD876-5992-A4E2-BB48-57E13AD0B185}"/>
              </a:ext>
            </a:extLst>
          </p:cNvPr>
          <p:cNvSpPr/>
          <p:nvPr/>
        </p:nvSpPr>
        <p:spPr bwMode="auto">
          <a:xfrm>
            <a:off x="7849540" y="2771147"/>
            <a:ext cx="2454440" cy="201173"/>
          </a:xfrm>
          <a:prstGeom prst="roundRect">
            <a:avLst>
              <a:gd name="adj" fmla="val 50000"/>
            </a:avLst>
          </a:prstGeom>
          <a:solidFill>
            <a:schemeClr val="accent6">
              <a:lumMod val="2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Core Truths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C4EA5BB-CFA6-DB08-98B0-2E8E13DE51F0}"/>
              </a:ext>
            </a:extLst>
          </p:cNvPr>
          <p:cNvSpPr/>
          <p:nvPr/>
        </p:nvSpPr>
        <p:spPr bwMode="auto">
          <a:xfrm>
            <a:off x="7849540" y="4066659"/>
            <a:ext cx="2454440" cy="201173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Dynamic Practices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BA3CA4-7B74-7DBF-FF03-753C521D59DA}"/>
              </a:ext>
            </a:extLst>
          </p:cNvPr>
          <p:cNvSpPr txBox="1"/>
          <p:nvPr/>
        </p:nvSpPr>
        <p:spPr>
          <a:xfrm>
            <a:off x="7860179" y="2771147"/>
            <a:ext cx="2454439" cy="1181728"/>
          </a:xfrm>
          <a:prstGeom prst="roundRect">
            <a:avLst/>
          </a:prstGeom>
          <a:noFill/>
          <a:ln>
            <a:solidFill>
              <a:srgbClr val="353535"/>
            </a:solidFill>
          </a:ln>
        </p:spPr>
        <p:txBody>
          <a:bodyPr wrap="square" lIns="0" tIns="0" rIns="0" bIns="0">
            <a:noAutofit/>
          </a:bodyPr>
          <a:lstStyle/>
          <a:p>
            <a:endParaRPr lang="en-US" sz="1050">
              <a:solidFill>
                <a:schemeClr val="accent6">
                  <a:lumMod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Organizational design shapes how AI capabilities are deployed &amp; governed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Workflow &amp; governance redesign happen together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Token economics allocates capacity between people and AI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8E8A92-AE6B-837F-D5D2-C3A2911A3C62}"/>
              </a:ext>
            </a:extLst>
          </p:cNvPr>
          <p:cNvSpPr txBox="1"/>
          <p:nvPr/>
        </p:nvSpPr>
        <p:spPr>
          <a:xfrm>
            <a:off x="7849541" y="4086327"/>
            <a:ext cx="2454439" cy="1160604"/>
          </a:xfrm>
          <a:prstGeom prst="roundRect">
            <a:avLst/>
          </a:prstGeom>
          <a:noFill/>
          <a:ln>
            <a:solidFill>
              <a:srgbClr val="696969"/>
            </a:solidFill>
          </a:ln>
        </p:spPr>
        <p:txBody>
          <a:bodyPr wrap="square" lIns="0" tIns="0" rIns="0" bIns="0">
            <a:noAutofit/>
          </a:bodyPr>
          <a:lstStyle/>
          <a:p>
            <a:endParaRPr lang="en-US" sz="1050">
              <a:solidFill>
                <a:schemeClr val="accent6">
                  <a:lumMod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Human-agent teaming and role redesign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 shifting toward instruction, review, &amp; orchestration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Token economics: people capacity + AI consumption</a:t>
            </a:r>
          </a:p>
        </p:txBody>
      </p:sp>
    </p:spTree>
    <p:extLst>
      <p:ext uri="{BB962C8B-B14F-4D97-AF65-F5344CB8AC3E}">
        <p14:creationId xmlns:p14="http://schemas.microsoft.com/office/powerpoint/2010/main" val="4151594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DE35-2389-7210-6880-6967FB1BB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58D5EF5-1199-6C76-09C7-DCAD698E54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8D5EF5-1199-6C76-09C7-DCAD698E54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305467CB-8F1F-1B53-62B8-65D7E62C5822}"/>
              </a:ext>
            </a:extLst>
          </p:cNvPr>
          <p:cNvSpPr/>
          <p:nvPr/>
        </p:nvSpPr>
        <p:spPr>
          <a:xfrm>
            <a:off x="1476463" y="805343"/>
            <a:ext cx="9781563" cy="563298"/>
          </a:xfrm>
          <a:prstGeom prst="rect">
            <a:avLst/>
          </a:prstGeom>
          <a:solidFill>
            <a:schemeClr val="accent6">
              <a:alpha val="32000"/>
            </a:schemeClr>
          </a:solidFill>
          <a:ln w="12700">
            <a:noFill/>
          </a:ln>
        </p:spPr>
        <p:txBody>
          <a:bodyPr wrap="square" lIns="144000" tIns="0" rIns="144000" bIns="0" rtlCol="0" anchor="t">
            <a:noAutofit/>
          </a:bodyPr>
          <a:lstStyle/>
          <a:p>
            <a:pPr algn="ctr"/>
            <a:r>
              <a:rPr lang="en-US" sz="1200" b="1" i="1" spc="-20">
                <a:solidFill>
                  <a:schemeClr val="accent6"/>
                </a:solidFill>
              </a:rPr>
              <a:t>Frontier Firm Operating Model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1AA295-4D94-3453-1E7B-B4A053C6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Initial IDIs surface early observations across the operating model pillars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145B52-C143-2BE8-AF33-3FACC9E9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DA3E3-C7AB-0AC4-5A7F-CC38D74A1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209EAB-3C72-A49F-7194-09EDB613E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BD155D78-BFFA-0C11-9504-432E897FBBDF}"/>
              </a:ext>
            </a:extLst>
          </p:cNvPr>
          <p:cNvSpPr/>
          <p:nvPr/>
        </p:nvSpPr>
        <p:spPr>
          <a:xfrm>
            <a:off x="1547377" y="1027596"/>
            <a:ext cx="3120795" cy="288962"/>
          </a:xfrm>
          <a:prstGeom prst="round2DiagRect">
            <a:avLst/>
          </a:prstGeom>
          <a:solidFill>
            <a:schemeClr val="accent6">
              <a:lumMod val="75000"/>
              <a:lumOff val="25000"/>
            </a:schemeClr>
          </a:solidFill>
          <a:ln w="12700">
            <a:solidFill>
              <a:schemeClr val="accent6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Infrastructure</a:t>
            </a:r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F0FB19F2-A9BF-5325-C24C-BD96522A1CBC}"/>
              </a:ext>
            </a:extLst>
          </p:cNvPr>
          <p:cNvSpPr/>
          <p:nvPr/>
        </p:nvSpPr>
        <p:spPr>
          <a:xfrm>
            <a:off x="4787549" y="1027596"/>
            <a:ext cx="3120795" cy="288962"/>
          </a:xfrm>
          <a:prstGeom prst="round2DiagRect">
            <a:avLst/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>
                <a:solidFill>
                  <a:schemeClr val="bg1"/>
                </a:solidFill>
              </a:rPr>
              <a:t>Platform</a:t>
            </a:r>
          </a:p>
        </p:txBody>
      </p:sp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587FE74B-1884-7B7B-47CC-D05592BB1C68}"/>
              </a:ext>
            </a:extLst>
          </p:cNvPr>
          <p:cNvSpPr/>
          <p:nvPr/>
        </p:nvSpPr>
        <p:spPr>
          <a:xfrm>
            <a:off x="8062217" y="1027596"/>
            <a:ext cx="3120795" cy="288962"/>
          </a:xfrm>
          <a:prstGeom prst="round2Diag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accent6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>
                <a:solidFill>
                  <a:schemeClr val="bg1"/>
                </a:solidFill>
              </a:rPr>
              <a:t>Operating Environment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242840-8833-0F30-3E28-81421B29AC86}"/>
              </a:ext>
            </a:extLst>
          </p:cNvPr>
          <p:cNvSpPr txBox="1"/>
          <p:nvPr/>
        </p:nvSpPr>
        <p:spPr>
          <a:xfrm>
            <a:off x="4787549" y="1368641"/>
            <a:ext cx="3120795" cy="11933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i="1">
                <a:solidFill>
                  <a:schemeClr val="accent2"/>
                </a:solidFill>
              </a:rPr>
              <a:t>(n=3)</a:t>
            </a:r>
            <a:r>
              <a:rPr lang="en-US" sz="1200"/>
              <a:t> </a:t>
            </a:r>
            <a:r>
              <a:rPr lang="en-US" sz="1200" spc="-20"/>
              <a:t>Multi-model orchestrated workflows with models chosen per-agent / per-task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i="1">
                <a:solidFill>
                  <a:schemeClr val="accent2"/>
                </a:solidFill>
              </a:rPr>
              <a:t>(n=3)</a:t>
            </a:r>
            <a:r>
              <a:rPr lang="en-US" sz="1200"/>
              <a:t> The context layer is the only infrastructure component that appears consistently as a deliberate design decision.</a:t>
            </a:r>
            <a:endParaRPr lang="en-US" sz="1200" spc="-2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i="1">
                <a:solidFill>
                  <a:schemeClr val="accent2"/>
                </a:solidFill>
              </a:rPr>
              <a:t>(n=4)</a:t>
            </a:r>
            <a:r>
              <a:rPr lang="en-US" sz="1200"/>
              <a:t> </a:t>
            </a:r>
            <a:r>
              <a:rPr lang="en-US" sz="1200" spc="-20"/>
              <a:t>Governance is applied through multi-stage, risk-tiered review systems rather than blanket human oversight and approval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i="1">
                <a:solidFill>
                  <a:schemeClr val="accent2"/>
                </a:solidFill>
              </a:rPr>
              <a:t>(n=4) </a:t>
            </a:r>
            <a:r>
              <a:rPr lang="en-US" sz="1200" spc="-20"/>
              <a:t>Per-fix or per-experiment feedback closes the learning loop today, mostly human-controlled.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C365E-08B6-CEC7-5B04-D8BE488D3688}"/>
              </a:ext>
            </a:extLst>
          </p:cNvPr>
          <p:cNvSpPr txBox="1"/>
          <p:nvPr/>
        </p:nvSpPr>
        <p:spPr>
          <a:xfrm>
            <a:off x="4787549" y="4346672"/>
            <a:ext cx="3120795" cy="7725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spc="-20"/>
              <a:t>How do you streamline multi-step workflow model evaluation?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spc="-20"/>
              <a:t>How do you build a closed loop learning system that adds true signals?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EF1201-A5F7-5145-5B9F-A1A771F9E6A5}"/>
              </a:ext>
            </a:extLst>
          </p:cNvPr>
          <p:cNvSpPr txBox="1"/>
          <p:nvPr/>
        </p:nvSpPr>
        <p:spPr>
          <a:xfrm>
            <a:off x="8062217" y="1368641"/>
            <a:ext cx="3120795" cy="11933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i="1">
                <a:solidFill>
                  <a:schemeClr val="accent2"/>
                </a:solidFill>
              </a:rPr>
              <a:t>(n=13)</a:t>
            </a:r>
            <a:r>
              <a:rPr lang="en-US" sz="1200"/>
              <a:t> AI is making existing workflows more efficient, not creating new ones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i="1">
                <a:solidFill>
                  <a:schemeClr val="accent2"/>
                </a:solidFill>
              </a:rPr>
              <a:t>(n=10)</a:t>
            </a:r>
            <a:r>
              <a:rPr lang="en-US" sz="1200"/>
              <a:t> Workflow transformation and role collapse is concentrated in software engineering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i="1">
                <a:solidFill>
                  <a:schemeClr val="accent2"/>
                </a:solidFill>
              </a:rPr>
              <a:t>(n=4)</a:t>
            </a:r>
            <a:r>
              <a:rPr lang="en-US" sz="1200"/>
              <a:t> AI value is measured through productivity proxies rather than formal value attribution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i="1">
                <a:solidFill>
                  <a:schemeClr val="accent2"/>
                </a:solidFill>
              </a:rPr>
              <a:t>(n=4)</a:t>
            </a:r>
            <a:r>
              <a:rPr lang="en-US" sz="1200"/>
              <a:t> Hiring shifts from functional excellence toward AI-native execution ability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i="1">
                <a:solidFill>
                  <a:schemeClr val="accent2"/>
                </a:solidFill>
              </a:rPr>
              <a:t>(n=3) </a:t>
            </a:r>
            <a:r>
              <a:rPr lang="en-US" sz="1200"/>
              <a:t>Token management through person-level access tier or task-level model selection – but not both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 spc="-2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21F9E5-76A3-1C83-61F9-4353A2461CCB}"/>
              </a:ext>
            </a:extLst>
          </p:cNvPr>
          <p:cNvSpPr txBox="1"/>
          <p:nvPr/>
        </p:nvSpPr>
        <p:spPr>
          <a:xfrm>
            <a:off x="8062217" y="4346672"/>
            <a:ext cx="3120795" cy="7725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spc="-20"/>
              <a:t>How do you reliably measure AI contribution to business outcomes versus activity metrics? 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 spc="-2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1CF5B8-AD3C-CC62-4CDF-B178422A9E76}"/>
              </a:ext>
            </a:extLst>
          </p:cNvPr>
          <p:cNvSpPr/>
          <p:nvPr/>
        </p:nvSpPr>
        <p:spPr>
          <a:xfrm>
            <a:off x="443257" y="1368641"/>
            <a:ext cx="928018" cy="2917512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>
                <a:solidFill>
                  <a:schemeClr val="bg1"/>
                </a:solidFill>
              </a:rPr>
              <a:t>Initial observations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3B5291-53A9-7775-E5F2-D4DA4FAE5FBA}"/>
              </a:ext>
            </a:extLst>
          </p:cNvPr>
          <p:cNvSpPr/>
          <p:nvPr/>
        </p:nvSpPr>
        <p:spPr>
          <a:xfrm>
            <a:off x="443257" y="4349131"/>
            <a:ext cx="928018" cy="880566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1" spc="-20">
                <a:solidFill>
                  <a:schemeClr val="bg1"/>
                </a:solidFill>
              </a:rPr>
              <a:t>Recurring questions / variant designs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53E36C-8ACF-11E6-8936-73DD355FBECD}"/>
              </a:ext>
            </a:extLst>
          </p:cNvPr>
          <p:cNvSpPr txBox="1"/>
          <p:nvPr/>
        </p:nvSpPr>
        <p:spPr>
          <a:xfrm>
            <a:off x="1547377" y="1368641"/>
            <a:ext cx="3120795" cy="11933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i="1">
                <a:solidFill>
                  <a:schemeClr val="accent2"/>
                </a:solidFill>
              </a:rPr>
              <a:t>(n=3) </a:t>
            </a:r>
            <a:r>
              <a:rPr lang="en-US" sz="1200"/>
              <a:t>Models need to be fully interchangeable infrastructure components</a:t>
            </a:r>
            <a:endParaRPr lang="en-US" sz="1200" b="1" i="1">
              <a:solidFill>
                <a:schemeClr val="accent2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i="1">
                <a:solidFill>
                  <a:schemeClr val="accent2"/>
                </a:solidFill>
              </a:rPr>
              <a:t>(n=2)</a:t>
            </a:r>
            <a:r>
              <a:rPr lang="en-US" sz="1200"/>
              <a:t> Durable execution and retry orchestration is an emerging infrastructure requirement that at least one firm has solved deliberately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101E5B-C31F-59B6-6DF9-E75BF48C7C60}"/>
              </a:ext>
            </a:extLst>
          </p:cNvPr>
          <p:cNvSpPr txBox="1"/>
          <p:nvPr/>
        </p:nvSpPr>
        <p:spPr>
          <a:xfrm>
            <a:off x="1547377" y="4346672"/>
            <a:ext cx="3120795" cy="7725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spc="-20"/>
              <a:t>How do you build systematic infrastructure / telemetry to manage agent failure?</a:t>
            </a:r>
          </a:p>
          <a:p>
            <a:pPr algn="l">
              <a:spcBef>
                <a:spcPts val="600"/>
              </a:spcBef>
            </a:pPr>
            <a:endParaRPr lang="en-US" sz="1200" spc="-2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EE0BB4-8B7C-E270-F659-D090752087E5}"/>
              </a:ext>
            </a:extLst>
          </p:cNvPr>
          <p:cNvSpPr/>
          <p:nvPr/>
        </p:nvSpPr>
        <p:spPr>
          <a:xfrm>
            <a:off x="443257" y="5309453"/>
            <a:ext cx="928018" cy="9866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1" spc="-20"/>
              <a:t>Yet to be mentioned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C00D54-F8E6-C2B8-1E53-820FB2EBFC67}"/>
              </a:ext>
            </a:extLst>
          </p:cNvPr>
          <p:cNvSpPr txBox="1"/>
          <p:nvPr/>
        </p:nvSpPr>
        <p:spPr>
          <a:xfrm>
            <a:off x="4787549" y="5309453"/>
            <a:ext cx="3120795" cy="4616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1200" spc="-20"/>
            </a:lvl1pPr>
          </a:lstStyle>
          <a:p>
            <a:pPr>
              <a:spcBef>
                <a:spcPts val="600"/>
              </a:spcBef>
            </a:pPr>
            <a:r>
              <a:rPr lang="en-US"/>
              <a:t>Codification of tribal knowledge into agent context</a:t>
            </a:r>
          </a:p>
          <a:p>
            <a:pPr>
              <a:spcBef>
                <a:spcPts val="600"/>
              </a:spcBef>
            </a:pPr>
            <a:r>
              <a:rPr lang="en-US"/>
              <a:t>Orchestration model sophistications</a:t>
            </a:r>
          </a:p>
          <a:p>
            <a:pPr>
              <a:spcBef>
                <a:spcPts val="600"/>
              </a:spcBef>
            </a:pPr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1DA9F2-FB62-113D-D7C3-17CFCEABF28E}"/>
              </a:ext>
            </a:extLst>
          </p:cNvPr>
          <p:cNvSpPr txBox="1"/>
          <p:nvPr/>
        </p:nvSpPr>
        <p:spPr>
          <a:xfrm>
            <a:off x="8062217" y="5309453"/>
            <a:ext cx="3120795" cy="4616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1200" spc="-20"/>
            </a:lvl1pPr>
          </a:lstStyle>
          <a:p>
            <a:pPr>
              <a:spcBef>
                <a:spcPts val="600"/>
              </a:spcBef>
            </a:pPr>
            <a:r>
              <a:rPr lang="en-US"/>
              <a:t>Functions transforming beyond software engineering</a:t>
            </a:r>
          </a:p>
          <a:p>
            <a:pPr>
              <a:spcBef>
                <a:spcPts val="600"/>
              </a:spcBef>
            </a:pPr>
            <a:r>
              <a:rPr lang="en-US"/>
              <a:t>Assumptions about token cost versus human labor cost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342E01-0357-26FA-69B0-FD33EBFFF4F6}"/>
              </a:ext>
            </a:extLst>
          </p:cNvPr>
          <p:cNvSpPr txBox="1"/>
          <p:nvPr/>
        </p:nvSpPr>
        <p:spPr>
          <a:xfrm>
            <a:off x="1695946" y="5309453"/>
            <a:ext cx="3120795" cy="4616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1200" spc="-20"/>
            </a:lvl1pPr>
          </a:lstStyle>
          <a:p>
            <a:pPr>
              <a:spcBef>
                <a:spcPts val="600"/>
              </a:spcBef>
            </a:pPr>
            <a:r>
              <a:rPr lang="en-US"/>
              <a:t>Preferences for true self-hosting vs AI infrastructure platforms</a:t>
            </a:r>
          </a:p>
          <a:p>
            <a:pPr>
              <a:spcBef>
                <a:spcPts val="600"/>
              </a:spcBef>
            </a:pPr>
            <a:r>
              <a:rPr lang="en-US" err="1"/>
              <a:t>Permissioning</a:t>
            </a:r>
            <a:r>
              <a:rPr lang="en-US"/>
              <a:t> and access restrictions</a:t>
            </a:r>
          </a:p>
          <a:p>
            <a:pPr>
              <a:spcBef>
                <a:spcPts val="600"/>
              </a:spcBef>
            </a:pPr>
            <a:r>
              <a:rPr lang="en-US"/>
              <a:t>Managing persistent state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2C4980-1E05-2099-A9BD-5278D9F73133}"/>
              </a:ext>
            </a:extLst>
          </p:cNvPr>
          <p:cNvSpPr txBox="1"/>
          <p:nvPr/>
        </p:nvSpPr>
        <p:spPr>
          <a:xfrm>
            <a:off x="2613804" y="55245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E62A34-77F8-48ED-3323-F2F23ECFA47F}"/>
              </a:ext>
            </a:extLst>
          </p:cNvPr>
          <p:cNvGrpSpPr/>
          <p:nvPr/>
        </p:nvGrpSpPr>
        <p:grpSpPr>
          <a:xfrm>
            <a:off x="10135158" y="6440556"/>
            <a:ext cx="1125415" cy="222738"/>
            <a:chOff x="10819335" y="102314"/>
            <a:chExt cx="1125415" cy="22273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839CDA6-6F34-D7E8-0C58-E5DBD7834A20}"/>
                </a:ext>
              </a:extLst>
            </p:cNvPr>
            <p:cNvCxnSpPr>
              <a:cxnSpLocks/>
            </p:cNvCxnSpPr>
            <p:nvPr/>
          </p:nvCxnSpPr>
          <p:spPr>
            <a:xfrm>
              <a:off x="10819335" y="102314"/>
              <a:ext cx="1125415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99C277-4167-D44A-EC8A-8BD27D9164AD}"/>
                </a:ext>
              </a:extLst>
            </p:cNvPr>
            <p:cNvCxnSpPr>
              <a:cxnSpLocks/>
            </p:cNvCxnSpPr>
            <p:nvPr/>
          </p:nvCxnSpPr>
          <p:spPr>
            <a:xfrm>
              <a:off x="10819335" y="325052"/>
              <a:ext cx="1125415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5B528E-9084-021D-E231-51E09CDE5CB6}"/>
                </a:ext>
              </a:extLst>
            </p:cNvPr>
            <p:cNvSpPr txBox="1"/>
            <p:nvPr/>
          </p:nvSpPr>
          <p:spPr>
            <a:xfrm>
              <a:off x="10819335" y="102314"/>
              <a:ext cx="1125415" cy="2227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800"/>
                </a:spcBef>
              </a:pPr>
              <a:r>
                <a:rPr lang="en-US" sz="1200" b="1" spc="-20">
                  <a:solidFill>
                    <a:srgbClr val="C00000"/>
                  </a:solidFill>
                </a:rPr>
                <a:t>PRELIMINARY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7348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0C130-6BD5-F23A-112A-A8477456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2CD821D-F194-3BFD-69EC-BDF9FA38ECF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CD821D-F194-3BFD-69EC-BDF9FA38EC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6971226-9127-7692-7922-F60E869E5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11679936" cy="835587"/>
          </a:xfrm>
        </p:spPr>
        <p:txBody>
          <a:bodyPr vert="horz" rIns="0"/>
          <a:lstStyle/>
          <a:p>
            <a:r>
              <a:rPr lang="en-US"/>
              <a:t>Early signals suggest AI may be collapsing traditional software roles into more AI-enabled, end-to-end product ownership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C781E6-E643-81C1-9867-74B3FA47A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4B033-F8C8-3F67-D991-748EDD81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4946AF-555D-70A1-396E-3F324907BF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sz="800"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5BDECB-FC67-235D-2351-AA9F90C294F8}"/>
              </a:ext>
            </a:extLst>
          </p:cNvPr>
          <p:cNvGrpSpPr/>
          <p:nvPr/>
        </p:nvGrpSpPr>
        <p:grpSpPr>
          <a:xfrm>
            <a:off x="10135158" y="6440556"/>
            <a:ext cx="1125415" cy="222738"/>
            <a:chOff x="10819335" y="102314"/>
            <a:chExt cx="1125415" cy="222738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B3081C8-75DE-1FDD-9B17-4FB60CC1A60F}"/>
                </a:ext>
              </a:extLst>
            </p:cNvPr>
            <p:cNvCxnSpPr>
              <a:cxnSpLocks/>
            </p:cNvCxnSpPr>
            <p:nvPr/>
          </p:nvCxnSpPr>
          <p:spPr>
            <a:xfrm>
              <a:off x="10819335" y="102314"/>
              <a:ext cx="1125415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264873F-CADE-E63E-FAE2-C121CC1CD4F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9335" y="325052"/>
              <a:ext cx="1125415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781F68-D08A-A35E-9842-9226C4CBBEAC}"/>
                </a:ext>
              </a:extLst>
            </p:cNvPr>
            <p:cNvSpPr txBox="1"/>
            <p:nvPr/>
          </p:nvSpPr>
          <p:spPr>
            <a:xfrm>
              <a:off x="10819335" y="102314"/>
              <a:ext cx="1125415" cy="2227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800"/>
                </a:spcBef>
              </a:pPr>
              <a:r>
                <a:rPr lang="en-US" sz="1200" b="1" spc="-20">
                  <a:solidFill>
                    <a:srgbClr val="C00000"/>
                  </a:solidFill>
                </a:rPr>
                <a:t>PRELIMINARY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B5F5B08-6883-882C-8F18-D1B45B91541D}"/>
              </a:ext>
            </a:extLst>
          </p:cNvPr>
          <p:cNvSpPr/>
          <p:nvPr/>
        </p:nvSpPr>
        <p:spPr>
          <a:xfrm>
            <a:off x="741750" y="5834465"/>
            <a:ext cx="6227890" cy="409074"/>
          </a:xfrm>
          <a:prstGeom prst="rect">
            <a:avLst/>
          </a:prstGeom>
          <a:noFill/>
          <a:ln w="12700">
            <a:solidFill>
              <a:schemeClr val="accent3"/>
            </a:solidFill>
            <a:prstDash val="dash"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pic>
        <p:nvPicPr>
          <p:cNvPr id="12" name="Graphic 11" descr="Artificial Intelligence with solid fill">
            <a:extLst>
              <a:ext uri="{FF2B5EF4-FFF2-40B4-BE49-F238E27FC236}">
                <a16:creationId xmlns:a16="http://schemas.microsoft.com/office/drawing/2014/main" id="{4CAC7032-9011-F1C0-5570-A535A65FC1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9243" y="4517986"/>
            <a:ext cx="313896" cy="313896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B644B70-0C03-C2AC-CE3A-8422D24748D4}"/>
              </a:ext>
            </a:extLst>
          </p:cNvPr>
          <p:cNvSpPr/>
          <p:nvPr/>
        </p:nvSpPr>
        <p:spPr>
          <a:xfrm>
            <a:off x="741750" y="1506454"/>
            <a:ext cx="1204557" cy="2027027"/>
          </a:xfrm>
          <a:prstGeom prst="round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spc="-20">
                <a:solidFill>
                  <a:schemeClr val="accent3">
                    <a:lumMod val="60000"/>
                    <a:lumOff val="40000"/>
                  </a:schemeClr>
                </a:solidFill>
              </a:rPr>
              <a:t>PM</a:t>
            </a:r>
          </a:p>
          <a:p>
            <a:pPr algn="ctr"/>
            <a:r>
              <a:rPr lang="en-US" sz="1200" i="1" spc="-20"/>
              <a:t>Writes PRD, prioritizes backlog, briefs engineering</a:t>
            </a:r>
          </a:p>
          <a:p>
            <a:pPr algn="ctr"/>
            <a:endParaRPr lang="en-US" sz="1200" b="1" spc="-20"/>
          </a:p>
        </p:txBody>
      </p:sp>
      <p:pic>
        <p:nvPicPr>
          <p:cNvPr id="14" name="Graphic 13" descr="Teacher with solid fill">
            <a:extLst>
              <a:ext uri="{FF2B5EF4-FFF2-40B4-BE49-F238E27FC236}">
                <a16:creationId xmlns:a16="http://schemas.microsoft.com/office/drawing/2014/main" id="{5D890C34-28F3-B626-47D9-402EF46E80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67978" y="1653522"/>
            <a:ext cx="352101" cy="35862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C5197D-F9FC-9527-626E-13363D82E79A}"/>
              </a:ext>
            </a:extLst>
          </p:cNvPr>
          <p:cNvSpPr/>
          <p:nvPr/>
        </p:nvSpPr>
        <p:spPr>
          <a:xfrm>
            <a:off x="2012036" y="1506454"/>
            <a:ext cx="1204557" cy="2027027"/>
          </a:xfrm>
          <a:prstGeom prst="round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spc="-20">
                <a:solidFill>
                  <a:schemeClr val="accent3">
                    <a:lumMod val="60000"/>
                    <a:lumOff val="40000"/>
                  </a:schemeClr>
                </a:solidFill>
              </a:rPr>
              <a:t>Data Scientist</a:t>
            </a:r>
          </a:p>
          <a:p>
            <a:pPr algn="ctr"/>
            <a:r>
              <a:rPr lang="en-US" sz="1200" i="1" spc="-20"/>
              <a:t>Builds models and pipelines</a:t>
            </a:r>
            <a:br>
              <a:rPr lang="en-US" sz="1200" i="1" spc="-20"/>
            </a:br>
            <a:br>
              <a:rPr lang="en-US" sz="1200" i="1" spc="-20"/>
            </a:br>
            <a:endParaRPr lang="en-US" sz="1200" i="1" spc="-20"/>
          </a:p>
          <a:p>
            <a:pPr algn="ctr"/>
            <a:endParaRPr lang="en-US" sz="1200" b="1" spc="-20"/>
          </a:p>
        </p:txBody>
      </p:sp>
      <p:pic>
        <p:nvPicPr>
          <p:cNvPr id="16" name="Graphic 15" descr="Server with solid fill">
            <a:extLst>
              <a:ext uri="{FF2B5EF4-FFF2-40B4-BE49-F238E27FC236}">
                <a16:creationId xmlns:a16="http://schemas.microsoft.com/office/drawing/2014/main" id="{6D0D3826-C36E-5CA5-C9A7-C6865073D4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2435003" y="1653522"/>
            <a:ext cx="358623" cy="358623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F5FF66A-9542-E048-DF1C-B93F1E3C808D}"/>
              </a:ext>
            </a:extLst>
          </p:cNvPr>
          <p:cNvSpPr/>
          <p:nvPr/>
        </p:nvSpPr>
        <p:spPr>
          <a:xfrm>
            <a:off x="741750" y="1179446"/>
            <a:ext cx="6227890" cy="2743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b="1" spc="-20"/>
              <a:t>Software production task allocation pre-AI (Schematic)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1751674-267E-4658-BFAF-3204D3FF1C9C}"/>
              </a:ext>
            </a:extLst>
          </p:cNvPr>
          <p:cNvSpPr/>
          <p:nvPr/>
        </p:nvSpPr>
        <p:spPr>
          <a:xfrm>
            <a:off x="4552608" y="1506454"/>
            <a:ext cx="1204557" cy="2027027"/>
          </a:xfrm>
          <a:prstGeom prst="round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spc="-20">
                <a:solidFill>
                  <a:schemeClr val="accent3">
                    <a:lumMod val="60000"/>
                    <a:lumOff val="40000"/>
                  </a:schemeClr>
                </a:solidFill>
              </a:rPr>
              <a:t>SWE</a:t>
            </a:r>
          </a:p>
          <a:p>
            <a:pPr algn="ctr"/>
            <a:r>
              <a:rPr lang="en-US" sz="1200" i="1" spc="-20"/>
              <a:t>Implements specs into production code</a:t>
            </a:r>
            <a:br>
              <a:rPr lang="en-US" sz="1200" i="1" spc="-20"/>
            </a:br>
            <a:r>
              <a:rPr lang="en-US" sz="1200" i="1" spc="-20"/>
              <a:t> </a:t>
            </a:r>
          </a:p>
          <a:p>
            <a:pPr algn="ctr"/>
            <a:endParaRPr lang="en-US" sz="1200" b="1" spc="-20"/>
          </a:p>
        </p:txBody>
      </p:sp>
      <p:pic>
        <p:nvPicPr>
          <p:cNvPr id="19" name="Graphic 18" descr="Programmer male with solid fill">
            <a:extLst>
              <a:ext uri="{FF2B5EF4-FFF2-40B4-BE49-F238E27FC236}">
                <a16:creationId xmlns:a16="http://schemas.microsoft.com/office/drawing/2014/main" id="{1668900D-32F6-7FB4-C5A5-F7AEBD176E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78836" y="1653522"/>
            <a:ext cx="352101" cy="358623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DC7FFA7-2A3C-8D88-4495-66B4DAC4DF81}"/>
              </a:ext>
            </a:extLst>
          </p:cNvPr>
          <p:cNvSpPr/>
          <p:nvPr/>
        </p:nvSpPr>
        <p:spPr>
          <a:xfrm>
            <a:off x="5822894" y="1506454"/>
            <a:ext cx="1204557" cy="2027027"/>
          </a:xfrm>
          <a:prstGeom prst="round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spc="-20">
                <a:solidFill>
                  <a:schemeClr val="accent3">
                    <a:lumMod val="60000"/>
                    <a:lumOff val="40000"/>
                  </a:schemeClr>
                </a:solidFill>
              </a:rPr>
              <a:t>Test Engineer</a:t>
            </a:r>
          </a:p>
          <a:p>
            <a:pPr algn="ctr"/>
            <a:r>
              <a:rPr lang="en-US" sz="1200" i="1" spc="-20"/>
              <a:t>Writes and runs test plans before release</a:t>
            </a:r>
            <a:br>
              <a:rPr lang="en-US" sz="1200" i="1" spc="-20"/>
            </a:br>
            <a:endParaRPr lang="en-US" sz="1200" i="1" spc="-20"/>
          </a:p>
          <a:p>
            <a:pPr algn="ctr"/>
            <a:endParaRPr lang="en-US" sz="1200" b="1" spc="-20"/>
          </a:p>
        </p:txBody>
      </p:sp>
      <p:pic>
        <p:nvPicPr>
          <p:cNvPr id="21" name="Graphic 20" descr="Scientist male with solid fill">
            <a:extLst>
              <a:ext uri="{FF2B5EF4-FFF2-40B4-BE49-F238E27FC236}">
                <a16:creationId xmlns:a16="http://schemas.microsoft.com/office/drawing/2014/main" id="{C07BF34D-3684-9132-C350-168EE17122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249122" y="1653522"/>
            <a:ext cx="352101" cy="358623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85E89D2-356D-0791-5990-A452ED956198}"/>
              </a:ext>
            </a:extLst>
          </p:cNvPr>
          <p:cNvSpPr/>
          <p:nvPr/>
        </p:nvSpPr>
        <p:spPr>
          <a:xfrm>
            <a:off x="3282322" y="1506454"/>
            <a:ext cx="1204557" cy="2027027"/>
          </a:xfrm>
          <a:prstGeom prst="round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spc="-20">
                <a:solidFill>
                  <a:schemeClr val="accent3">
                    <a:lumMod val="60000"/>
                    <a:lumOff val="40000"/>
                  </a:schemeClr>
                </a:solidFill>
              </a:rPr>
              <a:t>UX / Designer</a:t>
            </a:r>
          </a:p>
          <a:p>
            <a:pPr algn="ctr"/>
            <a:r>
              <a:rPr lang="en-US" sz="1200" i="1" spc="-20"/>
              <a:t>Researched users, produced mocks, reviews UI</a:t>
            </a:r>
          </a:p>
          <a:p>
            <a:pPr algn="ctr"/>
            <a:endParaRPr lang="en-US" sz="1200" b="1" spc="-20"/>
          </a:p>
        </p:txBody>
      </p:sp>
      <p:pic>
        <p:nvPicPr>
          <p:cNvPr id="23" name="Graphic 22" descr="Artist male with solid fill">
            <a:extLst>
              <a:ext uri="{FF2B5EF4-FFF2-40B4-BE49-F238E27FC236}">
                <a16:creationId xmlns:a16="http://schemas.microsoft.com/office/drawing/2014/main" id="{1D3FE2C6-B511-7A5A-406C-5F105BDFD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708550" y="1653522"/>
            <a:ext cx="352101" cy="358623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9970B5E-9BC8-4314-3257-2DBC7824DF6A}"/>
              </a:ext>
            </a:extLst>
          </p:cNvPr>
          <p:cNvSpPr/>
          <p:nvPr/>
        </p:nvSpPr>
        <p:spPr>
          <a:xfrm>
            <a:off x="741750" y="4443063"/>
            <a:ext cx="6227890" cy="1009303"/>
          </a:xfrm>
          <a:prstGeom prst="round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1200" b="1" spc="-20">
                <a:solidFill>
                  <a:schemeClr val="accent3">
                    <a:lumMod val="75000"/>
                  </a:schemeClr>
                </a:solidFill>
              </a:rPr>
              <a:t>SWE + AI Agent</a:t>
            </a:r>
          </a:p>
          <a:p>
            <a:pPr algn="ctr"/>
            <a:r>
              <a:rPr lang="en-US" sz="1200"/>
              <a:t>Orchestrates an AI agent through the full lifecycle of drafting the PRD, pulling design-system context, building models and pipelines, generating and running tests, and shipping</a:t>
            </a:r>
            <a:endParaRPr lang="en-US" sz="1200" spc="-20"/>
          </a:p>
        </p:txBody>
      </p:sp>
      <p:pic>
        <p:nvPicPr>
          <p:cNvPr id="25" name="Graphic 24" descr="Teacher with solid fill">
            <a:extLst>
              <a:ext uri="{FF2B5EF4-FFF2-40B4-BE49-F238E27FC236}">
                <a16:creationId xmlns:a16="http://schemas.microsoft.com/office/drawing/2014/main" id="{D6F0C536-2DB4-90F0-CBD0-C0B33F43A3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705396" y="5883161"/>
            <a:ext cx="352101" cy="35862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4550270-A258-6214-A662-E62B2A579820}"/>
              </a:ext>
            </a:extLst>
          </p:cNvPr>
          <p:cNvSpPr/>
          <p:nvPr/>
        </p:nvSpPr>
        <p:spPr>
          <a:xfrm>
            <a:off x="741750" y="4100230"/>
            <a:ext cx="6227890" cy="274320"/>
          </a:xfrm>
          <a:prstGeom prst="roundRect">
            <a:avLst/>
          </a:prstGeom>
          <a:solidFill>
            <a:schemeClr val="accent3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b="1" spc="-20">
                <a:solidFill>
                  <a:schemeClr val="bg1"/>
                </a:solidFill>
              </a:rPr>
              <a:t>Software production task allocation post-AI (Schematic)</a:t>
            </a:r>
          </a:p>
        </p:txBody>
      </p:sp>
      <p:pic>
        <p:nvPicPr>
          <p:cNvPr id="27" name="Graphic 26" descr="Programmer male with solid fill">
            <a:extLst>
              <a:ext uri="{FF2B5EF4-FFF2-40B4-BE49-F238E27FC236}">
                <a16:creationId xmlns:a16="http://schemas.microsoft.com/office/drawing/2014/main" id="{3F31CBAD-D698-39ED-DD88-AF5F25AD38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35838" y="4531013"/>
            <a:ext cx="282608" cy="287843"/>
          </a:xfrm>
          <a:prstGeom prst="rect">
            <a:avLst/>
          </a:prstGeom>
        </p:spPr>
      </p:pic>
      <p:pic>
        <p:nvPicPr>
          <p:cNvPr id="28" name="Graphic 27" descr="Scientist male with solid fill">
            <a:extLst>
              <a:ext uri="{FF2B5EF4-FFF2-40B4-BE49-F238E27FC236}">
                <a16:creationId xmlns:a16="http://schemas.microsoft.com/office/drawing/2014/main" id="{24D039CB-2104-BB9D-58EE-9C534D2E2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5659159" y="5883161"/>
            <a:ext cx="352101" cy="358623"/>
          </a:xfrm>
          <a:prstGeom prst="rect">
            <a:avLst/>
          </a:prstGeom>
        </p:spPr>
      </p:pic>
      <p:pic>
        <p:nvPicPr>
          <p:cNvPr id="29" name="Graphic 28" descr="Artist male with solid fill">
            <a:extLst>
              <a:ext uri="{FF2B5EF4-FFF2-40B4-BE49-F238E27FC236}">
                <a16:creationId xmlns:a16="http://schemas.microsoft.com/office/drawing/2014/main" id="{F0D0A5CD-3BA2-213F-52A3-E0FABCC68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4343412" y="5883161"/>
            <a:ext cx="352101" cy="358623"/>
          </a:xfrm>
          <a:prstGeom prst="rect">
            <a:avLst/>
          </a:prstGeom>
        </p:spPr>
      </p:pic>
      <p:pic>
        <p:nvPicPr>
          <p:cNvPr id="30" name="Graphic 29" descr="Server with solid fill">
            <a:extLst>
              <a:ext uri="{FF2B5EF4-FFF2-40B4-BE49-F238E27FC236}">
                <a16:creationId xmlns:a16="http://schemas.microsoft.com/office/drawing/2014/main" id="{A16AF14B-6409-2C7E-73CA-A370FAD5B7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3021143" y="5883161"/>
            <a:ext cx="358623" cy="358623"/>
          </a:xfrm>
          <a:prstGeom prst="rect">
            <a:avLst/>
          </a:prstGeom>
        </p:spPr>
      </p:pic>
      <p:sp>
        <p:nvSpPr>
          <p:cNvPr id="31" name="Trapezoid 30">
            <a:extLst>
              <a:ext uri="{FF2B5EF4-FFF2-40B4-BE49-F238E27FC236}">
                <a16:creationId xmlns:a16="http://schemas.microsoft.com/office/drawing/2014/main" id="{2286EEA4-FED0-40F0-D328-DB35FCBEC58C}"/>
              </a:ext>
            </a:extLst>
          </p:cNvPr>
          <p:cNvSpPr/>
          <p:nvPr/>
        </p:nvSpPr>
        <p:spPr>
          <a:xfrm>
            <a:off x="741750" y="5520879"/>
            <a:ext cx="6227890" cy="245072"/>
          </a:xfrm>
          <a:prstGeom prst="trapezoid">
            <a:avLst>
              <a:gd name="adj" fmla="val 83913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Advisory and Guardrail checks + Context ownership</a:t>
            </a:r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9F6BA3FD-6919-2C6A-5A2F-34D27CC0644F}"/>
              </a:ext>
            </a:extLst>
          </p:cNvPr>
          <p:cNvSpPr/>
          <p:nvPr/>
        </p:nvSpPr>
        <p:spPr>
          <a:xfrm flipV="1">
            <a:off x="2931944" y="3726835"/>
            <a:ext cx="2150195" cy="180041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E7DD067-323C-F889-7326-76443097CA04}"/>
              </a:ext>
            </a:extLst>
          </p:cNvPr>
          <p:cNvSpPr/>
          <p:nvPr/>
        </p:nvSpPr>
        <p:spPr>
          <a:xfrm>
            <a:off x="7415419" y="4517985"/>
            <a:ext cx="4482289" cy="1564253"/>
          </a:xfrm>
          <a:prstGeom prst="roundRect">
            <a:avLst>
              <a:gd name="adj" fmla="val 7743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r>
              <a:rPr lang="en-US" sz="1200" spc="-20"/>
              <a:t>Further IDI exploration areas: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spc="-20"/>
              <a:t>Factors driving role convergence in SWE organizations vs other functions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spc="-20"/>
              <a:t>Limited prevalence of these patterns outside SWE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spc="-20"/>
              <a:t>Implications for compensation, workforce, and performance frameworks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5FDF9277-85FB-EE81-464B-487BFB0F8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5419" y="2592679"/>
            <a:ext cx="410161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“The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highlight>
                  <a:srgbClr val="DEDEFF"/>
                </a:highlight>
                <a:cs typeface="Arial" panose="020B0604020202020204" pitchFamily="34" charset="0"/>
              </a:rPr>
              <a:t>few people that we are hiring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have a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highlight>
                  <a:srgbClr val="DEDEFF"/>
                </a:highlight>
                <a:cs typeface="Arial" panose="020B0604020202020204" pitchFamily="34" charset="0"/>
              </a:rPr>
              <a:t>great 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highlight>
                  <a:srgbClr val="DEDEFF"/>
                </a:highlight>
                <a:cs typeface="Arial" panose="020B0604020202020204" pitchFamily="34" charset="0"/>
              </a:rPr>
              <a:t>product sense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because we </a:t>
            </a:r>
            <a:r>
              <a:rPr lang="en-US" altLang="en-US" sz="1200" i="1">
                <a:solidFill>
                  <a:srgbClr val="242424"/>
                </a:solidFill>
                <a:cs typeface="Arial" panose="020B0604020202020204" pitchFamily="34" charset="0"/>
              </a:rPr>
              <a:t>now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have 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highlight>
                  <a:srgbClr val="DEDEFF"/>
                </a:highlight>
                <a:cs typeface="Arial" panose="020B0604020202020204" pitchFamily="34" charset="0"/>
              </a:rPr>
              <a:t>Engineers 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highlight>
                  <a:srgbClr val="DEDEFF"/>
                </a:highlight>
                <a:cs typeface="Arial" panose="020B0604020202020204" pitchFamily="34" charset="0"/>
              </a:rPr>
              <a:t>making products end-to-end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in getting to production.</a:t>
            </a:r>
            <a:r>
              <a:rPr lang="en-US" altLang="en-US" sz="1200" i="1">
                <a:solidFill>
                  <a:srgbClr val="242424"/>
                </a:solidFill>
                <a:cs typeface="Arial" panose="020B0604020202020204" pitchFamily="34" charset="0"/>
              </a:rPr>
              <a:t> </a:t>
            </a:r>
            <a:br>
              <a:rPr lang="en-US" altLang="en-US" sz="1200" i="1">
                <a:solidFill>
                  <a:srgbClr val="242424"/>
                </a:solidFill>
                <a:cs typeface="Arial" panose="020B0604020202020204" pitchFamily="34" charset="0"/>
              </a:rPr>
            </a:br>
            <a:r>
              <a:rPr lang="en-US" altLang="en-US" sz="1200" i="1">
                <a:solidFill>
                  <a:srgbClr val="242424"/>
                </a:solidFill>
                <a:cs typeface="Arial" panose="020B0604020202020204" pitchFamily="34" charset="0"/>
              </a:rPr>
              <a:t>That i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cs typeface="Arial" panose="020B0604020202020204" pitchFamily="34" charset="0"/>
              </a:rPr>
              <a:t>s reflected in the job descriptions”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1" u="none" strike="noStrike" cap="none" normalizeH="0" baseline="0">
              <a:ln>
                <a:noFill/>
              </a:ln>
              <a:solidFill>
                <a:srgbClr val="242424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- Head of Engineering, B2B SaaS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F4BE8CD-3BDB-E2F7-B3B5-6A52FDB95DE0}"/>
              </a:ext>
            </a:extLst>
          </p:cNvPr>
          <p:cNvCxnSpPr/>
          <p:nvPr/>
        </p:nvCxnSpPr>
        <p:spPr>
          <a:xfrm>
            <a:off x="7177635" y="1195666"/>
            <a:ext cx="0" cy="506233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4803EB3-8125-EB4F-7082-4B6921678E93}"/>
              </a:ext>
            </a:extLst>
          </p:cNvPr>
          <p:cNvSpPr txBox="1"/>
          <p:nvPr/>
        </p:nvSpPr>
        <p:spPr>
          <a:xfrm>
            <a:off x="7415419" y="1894166"/>
            <a:ext cx="4101595" cy="3107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>
                <a:solidFill>
                  <a:schemeClr val="accent3"/>
                </a:solidFill>
              </a:rPr>
              <a:t>The expanded engineering scope is reflected in hiring criteria and role descriptions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0105CE-1DB5-8AEB-3387-EA4D685F4532}"/>
              </a:ext>
            </a:extLst>
          </p:cNvPr>
          <p:cNvSpPr txBox="1"/>
          <p:nvPr/>
        </p:nvSpPr>
        <p:spPr>
          <a:xfrm>
            <a:off x="0" y="8850"/>
            <a:ext cx="2692045" cy="153888"/>
          </a:xfrm>
          <a:prstGeom prst="rect">
            <a:avLst/>
          </a:prstGeom>
          <a:solidFill>
            <a:schemeClr val="accent3"/>
          </a:solidFill>
        </p:spPr>
        <p:txBody>
          <a:bodyPr wrap="square" lIns="9144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1200" b="1">
                <a:solidFill>
                  <a:schemeClr val="accent3"/>
                </a:solidFill>
              </a:defRPr>
            </a:lvl1pPr>
          </a:lstStyle>
          <a:p>
            <a:pPr algn="l"/>
            <a:r>
              <a:rPr lang="en-US" sz="1000">
                <a:solidFill>
                  <a:schemeClr val="bg1"/>
                </a:solidFill>
              </a:rPr>
              <a:t>Human-agent teams and accountabilities</a:t>
            </a:r>
          </a:p>
        </p:txBody>
      </p:sp>
    </p:spTree>
    <p:extLst>
      <p:ext uri="{BB962C8B-B14F-4D97-AF65-F5344CB8AC3E}">
        <p14:creationId xmlns:p14="http://schemas.microsoft.com/office/powerpoint/2010/main" val="2026154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A8BB-BFFA-8A77-6504-260F9214D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06D4A41-36F7-B503-B1C8-65ACE4EE6B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6D4A41-36F7-B503-B1C8-65ACE4EE6B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9E2B703-5C2F-4B01-AA9B-FE7FECE23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Through several iterations of trial and failure, one firm has developed a multi-guardrail process to allow non-engineers to push code into production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E96F82-63E6-CD0F-9623-F3141D06D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6918" y="6473899"/>
            <a:ext cx="2520355" cy="171589"/>
          </a:xfrm>
        </p:spPr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CEFDF-6914-49AC-2641-EC809DF0D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B4586A-20F2-B666-2019-C4284893ED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44">
            <a:extLst>
              <a:ext uri="{FF2B5EF4-FFF2-40B4-BE49-F238E27FC236}">
                <a16:creationId xmlns:a16="http://schemas.microsoft.com/office/drawing/2014/main" id="{99D9AC1C-C5AD-3525-EBDA-9B24586C63D2}"/>
              </a:ext>
            </a:extLst>
          </p:cNvPr>
          <p:cNvSpPr/>
          <p:nvPr/>
        </p:nvSpPr>
        <p:spPr>
          <a:xfrm>
            <a:off x="2380790" y="1825753"/>
            <a:ext cx="1678593" cy="95242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7608"/>
            </a:schemeClr>
          </a:solidFill>
          <a:ln>
            <a:noFill/>
          </a:ln>
        </p:spPr>
        <p:txBody>
          <a:bodyPr wrap="square" lIns="0" rIns="0" rtlCol="0" anchor="b"/>
          <a:lstStyle/>
          <a:p>
            <a:pPr marL="0" indent="0" algn="ctr">
              <a:buNone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Use case and edge case definition</a:t>
            </a:r>
          </a:p>
        </p:txBody>
      </p:sp>
      <p:sp>
        <p:nvSpPr>
          <p:cNvPr id="40" name="Text 44">
            <a:extLst>
              <a:ext uri="{FF2B5EF4-FFF2-40B4-BE49-F238E27FC236}">
                <a16:creationId xmlns:a16="http://schemas.microsoft.com/office/drawing/2014/main" id="{E2B0C4EE-EFD1-4C68-94B6-474E6A063E84}"/>
              </a:ext>
            </a:extLst>
          </p:cNvPr>
          <p:cNvSpPr/>
          <p:nvPr/>
        </p:nvSpPr>
        <p:spPr>
          <a:xfrm>
            <a:off x="2380790" y="3775436"/>
            <a:ext cx="1678593" cy="95242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7608"/>
            </a:schemeClr>
          </a:solidFill>
          <a:ln>
            <a:noFill/>
          </a:ln>
        </p:spPr>
        <p:txBody>
          <a:bodyPr wrap="square" lIns="0" rIns="0" rtlCol="0" anchor="b"/>
          <a:lstStyle/>
          <a:p>
            <a:pPr marL="0" indent="0" algn="ctr">
              <a:buNone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Claude writes the code</a:t>
            </a:r>
          </a:p>
        </p:txBody>
      </p:sp>
      <p:pic>
        <p:nvPicPr>
          <p:cNvPr id="51" name="Graphic 50" descr="Office worker female with solid fill">
            <a:extLst>
              <a:ext uri="{FF2B5EF4-FFF2-40B4-BE49-F238E27FC236}">
                <a16:creationId xmlns:a16="http://schemas.microsoft.com/office/drawing/2014/main" id="{03B5D26F-260C-8290-9BCE-C9B8E80B96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37206" y="1956382"/>
            <a:ext cx="365760" cy="365760"/>
          </a:xfrm>
          <a:prstGeom prst="rect">
            <a:avLst/>
          </a:prstGeom>
        </p:spPr>
      </p:pic>
      <p:pic>
        <p:nvPicPr>
          <p:cNvPr id="58" name="Graphic 57" descr="Artificial Intelligence with solid fill">
            <a:extLst>
              <a:ext uri="{FF2B5EF4-FFF2-40B4-BE49-F238E27FC236}">
                <a16:creationId xmlns:a16="http://schemas.microsoft.com/office/drawing/2014/main" id="{122C21A3-715B-16F6-267F-8A58DA3EFB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37206" y="3855823"/>
            <a:ext cx="365760" cy="365760"/>
          </a:xfrm>
          <a:prstGeom prst="rect">
            <a:avLst/>
          </a:prstGeom>
        </p:spPr>
      </p:pic>
      <p:sp>
        <p:nvSpPr>
          <p:cNvPr id="38" name="Text 44">
            <a:extLst>
              <a:ext uri="{FF2B5EF4-FFF2-40B4-BE49-F238E27FC236}">
                <a16:creationId xmlns:a16="http://schemas.microsoft.com/office/drawing/2014/main" id="{6338C187-5C89-B10F-43DD-ACF9FAE995CC}"/>
              </a:ext>
            </a:extLst>
          </p:cNvPr>
          <p:cNvSpPr/>
          <p:nvPr/>
        </p:nvSpPr>
        <p:spPr>
          <a:xfrm>
            <a:off x="9705097" y="1832362"/>
            <a:ext cx="1678593" cy="952428"/>
          </a:xfrm>
          <a:prstGeom prst="roundRect">
            <a:avLst/>
          </a:prstGeom>
          <a:solidFill>
            <a:schemeClr val="accent4">
              <a:lumMod val="75000"/>
              <a:alpha val="87608"/>
            </a:schemeClr>
          </a:solidFill>
          <a:ln w="38100">
            <a:solidFill>
              <a:schemeClr val="accent6"/>
            </a:solidFill>
            <a:prstDash val="dash"/>
          </a:ln>
        </p:spPr>
        <p:txBody>
          <a:bodyPr wrap="square" lIns="0" rIns="0" rtlCol="0" anchor="b"/>
          <a:lstStyle/>
          <a:p>
            <a:pPr marL="0" indent="0" algn="ctr">
              <a:buNone/>
            </a:pPr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</a:t>
            </a:r>
            <a:r>
              <a:rPr lang="en-US" sz="10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</a:t>
            </a:r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reviews plan in Notion</a:t>
            </a:r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FC8E71BB-AB2D-E28D-01A7-FACEB51829E5}"/>
              </a:ext>
            </a:extLst>
          </p:cNvPr>
          <p:cNvSpPr/>
          <p:nvPr/>
        </p:nvSpPr>
        <p:spPr>
          <a:xfrm>
            <a:off x="9705097" y="3775436"/>
            <a:ext cx="1678593" cy="952428"/>
          </a:xfrm>
          <a:prstGeom prst="roundRect">
            <a:avLst/>
          </a:prstGeom>
          <a:solidFill>
            <a:schemeClr val="accent4">
              <a:lumMod val="75000"/>
              <a:alpha val="87608"/>
            </a:schemeClr>
          </a:solidFill>
          <a:ln>
            <a:noFill/>
          </a:ln>
        </p:spPr>
        <p:txBody>
          <a:bodyPr wrap="square" lIns="0" rIns="0" rtlCol="0" anchor="b"/>
          <a:lstStyle/>
          <a:p>
            <a:pPr marL="0" indent="0" algn="ctr">
              <a:buNone/>
            </a:pPr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PR review</a:t>
            </a:r>
          </a:p>
        </p:txBody>
      </p:sp>
      <p:pic>
        <p:nvPicPr>
          <p:cNvPr id="60" name="Graphic 59" descr="Programmer male with solid fill">
            <a:extLst>
              <a:ext uri="{FF2B5EF4-FFF2-40B4-BE49-F238E27FC236}">
                <a16:creationId xmlns:a16="http://schemas.microsoft.com/office/drawing/2014/main" id="{BED998B5-D45F-34B8-DF12-DBBFB71467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61513" y="3855823"/>
            <a:ext cx="365760" cy="365760"/>
          </a:xfrm>
          <a:prstGeom prst="rect">
            <a:avLst/>
          </a:prstGeom>
        </p:spPr>
      </p:pic>
      <p:pic>
        <p:nvPicPr>
          <p:cNvPr id="62" name="Graphic 61" descr="Programmer male with solid fill">
            <a:extLst>
              <a:ext uri="{FF2B5EF4-FFF2-40B4-BE49-F238E27FC236}">
                <a16:creationId xmlns:a16="http://schemas.microsoft.com/office/drawing/2014/main" id="{0D7B42E2-9158-2D97-377A-EF3276109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61513" y="1962991"/>
            <a:ext cx="365760" cy="365760"/>
          </a:xfrm>
          <a:prstGeom prst="rect">
            <a:avLst/>
          </a:prstGeom>
        </p:spPr>
      </p:pic>
      <p:sp>
        <p:nvSpPr>
          <p:cNvPr id="31" name="Text 44">
            <a:extLst>
              <a:ext uri="{FF2B5EF4-FFF2-40B4-BE49-F238E27FC236}">
                <a16:creationId xmlns:a16="http://schemas.microsoft.com/office/drawing/2014/main" id="{D75E8A07-CB19-967F-8C5D-2096F2E98049}"/>
              </a:ext>
            </a:extLst>
          </p:cNvPr>
          <p:cNvSpPr/>
          <p:nvPr/>
        </p:nvSpPr>
        <p:spPr>
          <a:xfrm>
            <a:off x="549713" y="1825753"/>
            <a:ext cx="1678593" cy="95242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7608"/>
            </a:schemeClr>
          </a:solidFill>
          <a:ln>
            <a:noFill/>
          </a:ln>
        </p:spPr>
        <p:txBody>
          <a:bodyPr wrap="square" lIns="0" rIns="0" rtlCol="0" anchor="b"/>
          <a:lstStyle/>
          <a:p>
            <a:pPr marL="0" indent="0" algn="ctr">
              <a:buNone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IC identifies feature need</a:t>
            </a:r>
          </a:p>
        </p:txBody>
      </p:sp>
      <p:sp>
        <p:nvSpPr>
          <p:cNvPr id="39" name="Text 44">
            <a:extLst>
              <a:ext uri="{FF2B5EF4-FFF2-40B4-BE49-F238E27FC236}">
                <a16:creationId xmlns:a16="http://schemas.microsoft.com/office/drawing/2014/main" id="{FCF8BED7-A547-4C54-1E02-5DC27BBB4117}"/>
              </a:ext>
            </a:extLst>
          </p:cNvPr>
          <p:cNvSpPr/>
          <p:nvPr/>
        </p:nvSpPr>
        <p:spPr>
          <a:xfrm>
            <a:off x="549713" y="3775436"/>
            <a:ext cx="1678593" cy="95242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7608"/>
            </a:schemeClr>
          </a:solidFill>
          <a:ln>
            <a:noFill/>
          </a:ln>
        </p:spPr>
        <p:txBody>
          <a:bodyPr wrap="square" lIns="0" rIns="0" rtlCol="0" anchor="b"/>
          <a:lstStyle/>
          <a:p>
            <a:pPr algn="ctr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IC iterates with the code owners</a:t>
            </a:r>
          </a:p>
        </p:txBody>
      </p:sp>
      <p:pic>
        <p:nvPicPr>
          <p:cNvPr id="50" name="Graphic 49" descr="Office worker female with solid fill">
            <a:extLst>
              <a:ext uri="{FF2B5EF4-FFF2-40B4-BE49-F238E27FC236}">
                <a16:creationId xmlns:a16="http://schemas.microsoft.com/office/drawing/2014/main" id="{97FEA7E5-82CE-F640-9747-525EB2878D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129" y="1956382"/>
            <a:ext cx="365760" cy="365760"/>
          </a:xfrm>
          <a:prstGeom prst="rect">
            <a:avLst/>
          </a:prstGeom>
        </p:spPr>
      </p:pic>
      <p:pic>
        <p:nvPicPr>
          <p:cNvPr id="63" name="Graphic 62" descr="Programmer male with solid fill">
            <a:extLst>
              <a:ext uri="{FF2B5EF4-FFF2-40B4-BE49-F238E27FC236}">
                <a16:creationId xmlns:a16="http://schemas.microsoft.com/office/drawing/2014/main" id="{58E3A4F9-5112-9BE2-E29A-59ADAB8FD6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75813" y="3855823"/>
            <a:ext cx="365760" cy="365760"/>
          </a:xfrm>
          <a:prstGeom prst="rect">
            <a:avLst/>
          </a:prstGeom>
        </p:spPr>
      </p:pic>
      <p:pic>
        <p:nvPicPr>
          <p:cNvPr id="64" name="Graphic 63" descr="Office worker female with solid fill">
            <a:extLst>
              <a:ext uri="{FF2B5EF4-FFF2-40B4-BE49-F238E27FC236}">
                <a16:creationId xmlns:a16="http://schemas.microsoft.com/office/drawing/2014/main" id="{B5E5B178-83C0-6FAF-FAEB-DF6DDEB3F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3081" y="3855823"/>
            <a:ext cx="365760" cy="365760"/>
          </a:xfrm>
          <a:prstGeom prst="rect">
            <a:avLst/>
          </a:prstGeom>
        </p:spPr>
      </p:pic>
      <p:sp>
        <p:nvSpPr>
          <p:cNvPr id="34" name="Text 44">
            <a:extLst>
              <a:ext uri="{FF2B5EF4-FFF2-40B4-BE49-F238E27FC236}">
                <a16:creationId xmlns:a16="http://schemas.microsoft.com/office/drawing/2014/main" id="{E62A0BEC-8020-E6A9-3F68-D4B10CAC09E2}"/>
              </a:ext>
            </a:extLst>
          </p:cNvPr>
          <p:cNvSpPr/>
          <p:nvPr/>
        </p:nvSpPr>
        <p:spPr>
          <a:xfrm>
            <a:off x="4211867" y="1825753"/>
            <a:ext cx="1678593" cy="952428"/>
          </a:xfrm>
          <a:prstGeom prst="roundRect">
            <a:avLst/>
          </a:prstGeom>
          <a:solidFill>
            <a:schemeClr val="accent4">
              <a:lumMod val="75000"/>
              <a:alpha val="87608"/>
            </a:schemeClr>
          </a:solidFill>
          <a:ln>
            <a:noFill/>
          </a:ln>
        </p:spPr>
        <p:txBody>
          <a:bodyPr wrap="square" lIns="0" rIns="0" rtlCol="0" anchor="b"/>
          <a:lstStyle/>
          <a:p>
            <a:pPr marL="0" indent="0" algn="ctr">
              <a:buNone/>
            </a:pPr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 from PM and designer</a:t>
            </a:r>
          </a:p>
        </p:txBody>
      </p:sp>
      <p:sp>
        <p:nvSpPr>
          <p:cNvPr id="41" name="Text 44">
            <a:extLst>
              <a:ext uri="{FF2B5EF4-FFF2-40B4-BE49-F238E27FC236}">
                <a16:creationId xmlns:a16="http://schemas.microsoft.com/office/drawing/2014/main" id="{87FBEFFD-548D-6C68-488C-5F7D22A1F9B5}"/>
              </a:ext>
            </a:extLst>
          </p:cNvPr>
          <p:cNvSpPr/>
          <p:nvPr/>
        </p:nvSpPr>
        <p:spPr>
          <a:xfrm>
            <a:off x="4211867" y="3775436"/>
            <a:ext cx="1678593" cy="952428"/>
          </a:xfrm>
          <a:prstGeom prst="roundRect">
            <a:avLst/>
          </a:prstGeom>
          <a:solidFill>
            <a:schemeClr val="accent4">
              <a:lumMod val="75000"/>
              <a:alpha val="87608"/>
            </a:schemeClr>
          </a:solidFill>
          <a:ln>
            <a:noFill/>
          </a:ln>
        </p:spPr>
        <p:txBody>
          <a:bodyPr wrap="square" lIns="0" rIns="0" rtlCol="0" anchor="b"/>
          <a:lstStyle/>
          <a:p>
            <a:pPr marL="0" indent="0" algn="ctr">
              <a:buNone/>
            </a:pPr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CI tests in </a:t>
            </a:r>
            <a:r>
              <a:rPr lang="en-US" sz="10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 every PR</a:t>
            </a:r>
          </a:p>
        </p:txBody>
      </p:sp>
      <p:pic>
        <p:nvPicPr>
          <p:cNvPr id="61" name="Graphic 60" descr="Office worker female with solid fill">
            <a:extLst>
              <a:ext uri="{FF2B5EF4-FFF2-40B4-BE49-F238E27FC236}">
                <a16:creationId xmlns:a16="http://schemas.microsoft.com/office/drawing/2014/main" id="{11493D85-9F05-C471-F324-0382B3F03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9166" y="1967038"/>
            <a:ext cx="365760" cy="365760"/>
          </a:xfrm>
          <a:prstGeom prst="rect">
            <a:avLst/>
          </a:prstGeom>
        </p:spPr>
      </p:pic>
      <p:pic>
        <p:nvPicPr>
          <p:cNvPr id="65" name="Graphic 64" descr="Artificial Intelligence with solid fill">
            <a:extLst>
              <a:ext uri="{FF2B5EF4-FFF2-40B4-BE49-F238E27FC236}">
                <a16:creationId xmlns:a16="http://schemas.microsoft.com/office/drawing/2014/main" id="{FC563CB0-6B6B-6544-1F7D-2AA54F0F22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68283" y="3855823"/>
            <a:ext cx="365760" cy="365760"/>
          </a:xfrm>
          <a:prstGeom prst="rect">
            <a:avLst/>
          </a:prstGeom>
        </p:spPr>
      </p:pic>
      <p:sp>
        <p:nvSpPr>
          <p:cNvPr id="36" name="Text 44">
            <a:extLst>
              <a:ext uri="{FF2B5EF4-FFF2-40B4-BE49-F238E27FC236}">
                <a16:creationId xmlns:a16="http://schemas.microsoft.com/office/drawing/2014/main" id="{5C47BDB3-D454-D960-0068-982F3CDE6BA7}"/>
              </a:ext>
            </a:extLst>
          </p:cNvPr>
          <p:cNvSpPr/>
          <p:nvPr/>
        </p:nvSpPr>
        <p:spPr>
          <a:xfrm>
            <a:off x="6042944" y="1825753"/>
            <a:ext cx="1678593" cy="95242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7608"/>
            </a:schemeClr>
          </a:solidFill>
          <a:ln>
            <a:noFill/>
          </a:ln>
        </p:spPr>
        <p:txBody>
          <a:bodyPr wrap="square" lIns="0" rIns="0" rtlCol="0" anchor="b"/>
          <a:lstStyle/>
          <a:p>
            <a:pPr marL="0" indent="0" algn="ctr">
              <a:buNone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Claude writes technical design doc</a:t>
            </a:r>
          </a:p>
        </p:txBody>
      </p:sp>
      <p:sp>
        <p:nvSpPr>
          <p:cNvPr id="42" name="Text 44">
            <a:extLst>
              <a:ext uri="{FF2B5EF4-FFF2-40B4-BE49-F238E27FC236}">
                <a16:creationId xmlns:a16="http://schemas.microsoft.com/office/drawing/2014/main" id="{D9A3D6B6-2E38-087D-420D-FD924D31650E}"/>
              </a:ext>
            </a:extLst>
          </p:cNvPr>
          <p:cNvSpPr/>
          <p:nvPr/>
        </p:nvSpPr>
        <p:spPr>
          <a:xfrm>
            <a:off x="6042944" y="3775436"/>
            <a:ext cx="1678593" cy="952428"/>
          </a:xfrm>
          <a:prstGeom prst="roundRect">
            <a:avLst/>
          </a:prstGeom>
          <a:solidFill>
            <a:schemeClr val="accent4">
              <a:lumMod val="75000"/>
              <a:alpha val="87608"/>
            </a:schemeClr>
          </a:solidFill>
          <a:ln>
            <a:noFill/>
          </a:ln>
        </p:spPr>
        <p:txBody>
          <a:bodyPr wrap="square" lIns="0" rIns="0" rtlCol="0" anchor="b"/>
          <a:lstStyle/>
          <a:p>
            <a:pPr marL="0" indent="0" algn="ctr">
              <a:buNone/>
            </a:pPr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review on PR leaves comments</a:t>
            </a:r>
          </a:p>
        </p:txBody>
      </p:sp>
      <p:pic>
        <p:nvPicPr>
          <p:cNvPr id="56" name="Graphic 55" descr="Artificial Intelligence with solid fill">
            <a:extLst>
              <a:ext uri="{FF2B5EF4-FFF2-40B4-BE49-F238E27FC236}">
                <a16:creationId xmlns:a16="http://schemas.microsoft.com/office/drawing/2014/main" id="{289FCACA-F9FF-8902-21B2-EBD229F16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99360" y="1956382"/>
            <a:ext cx="365760" cy="365760"/>
          </a:xfrm>
          <a:prstGeom prst="rect">
            <a:avLst/>
          </a:prstGeom>
        </p:spPr>
      </p:pic>
      <p:pic>
        <p:nvPicPr>
          <p:cNvPr id="66" name="Graphic 65" descr="Artificial Intelligence with solid fill">
            <a:extLst>
              <a:ext uri="{FF2B5EF4-FFF2-40B4-BE49-F238E27FC236}">
                <a16:creationId xmlns:a16="http://schemas.microsoft.com/office/drawing/2014/main" id="{ACF4194F-F658-84D5-1AA6-BBCFE2236D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27303" y="3855823"/>
            <a:ext cx="365760" cy="365760"/>
          </a:xfrm>
          <a:prstGeom prst="rect">
            <a:avLst/>
          </a:prstGeom>
        </p:spPr>
      </p:pic>
      <p:sp>
        <p:nvSpPr>
          <p:cNvPr id="37" name="Text 44">
            <a:extLst>
              <a:ext uri="{FF2B5EF4-FFF2-40B4-BE49-F238E27FC236}">
                <a16:creationId xmlns:a16="http://schemas.microsoft.com/office/drawing/2014/main" id="{6ACE9805-DD7D-234B-7B35-CF7BC3703673}"/>
              </a:ext>
            </a:extLst>
          </p:cNvPr>
          <p:cNvSpPr/>
          <p:nvPr/>
        </p:nvSpPr>
        <p:spPr>
          <a:xfrm>
            <a:off x="7874021" y="1825753"/>
            <a:ext cx="1678593" cy="952428"/>
          </a:xfrm>
          <a:prstGeom prst="roundRect">
            <a:avLst/>
          </a:prstGeom>
          <a:solidFill>
            <a:schemeClr val="accent4">
              <a:lumMod val="75000"/>
              <a:alpha val="87608"/>
            </a:schemeClr>
          </a:solidFill>
          <a:ln w="38100">
            <a:solidFill>
              <a:schemeClr val="accent6"/>
            </a:solidFill>
            <a:prstDash val="dash"/>
          </a:ln>
        </p:spPr>
        <p:txBody>
          <a:bodyPr wrap="square" lIns="0" rIns="0" rtlCol="0" anchor="b"/>
          <a:lstStyle/>
          <a:p>
            <a:pPr marL="0" indent="0" algn="ctr">
              <a:buNone/>
            </a:pPr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LLM reviews the plan</a:t>
            </a:r>
          </a:p>
        </p:txBody>
      </p:sp>
      <p:sp>
        <p:nvSpPr>
          <p:cNvPr id="43" name="Text 44">
            <a:extLst>
              <a:ext uri="{FF2B5EF4-FFF2-40B4-BE49-F238E27FC236}">
                <a16:creationId xmlns:a16="http://schemas.microsoft.com/office/drawing/2014/main" id="{8DE0B10B-6C41-2EA5-8F86-0D3079C196B3}"/>
              </a:ext>
            </a:extLst>
          </p:cNvPr>
          <p:cNvSpPr/>
          <p:nvPr/>
        </p:nvSpPr>
        <p:spPr>
          <a:xfrm>
            <a:off x="7874021" y="3775436"/>
            <a:ext cx="1678593" cy="95242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7608"/>
            </a:schemeClr>
          </a:solidFill>
          <a:ln>
            <a:noFill/>
          </a:ln>
        </p:spPr>
        <p:txBody>
          <a:bodyPr wrap="square" lIns="0" rIns="0" rtlCol="0" anchor="b"/>
          <a:lstStyle/>
          <a:p>
            <a:pPr marL="0" indent="0" algn="ctr">
              <a:buNone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IC corrects code until there are no comments</a:t>
            </a:r>
          </a:p>
        </p:txBody>
      </p:sp>
      <p:pic>
        <p:nvPicPr>
          <p:cNvPr id="57" name="Graphic 56" descr="Artificial Intelligence with solid fill">
            <a:extLst>
              <a:ext uri="{FF2B5EF4-FFF2-40B4-BE49-F238E27FC236}">
                <a16:creationId xmlns:a16="http://schemas.microsoft.com/office/drawing/2014/main" id="{B72EEEBB-B1E5-F700-4AF2-0A16C2C0F6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0437" y="1956382"/>
            <a:ext cx="365760" cy="365760"/>
          </a:xfrm>
          <a:prstGeom prst="rect">
            <a:avLst/>
          </a:prstGeom>
        </p:spPr>
      </p:pic>
      <p:pic>
        <p:nvPicPr>
          <p:cNvPr id="67" name="Graphic 66" descr="Office worker female with solid fill">
            <a:extLst>
              <a:ext uri="{FF2B5EF4-FFF2-40B4-BE49-F238E27FC236}">
                <a16:creationId xmlns:a16="http://schemas.microsoft.com/office/drawing/2014/main" id="{94CFD8B1-359A-E98B-3494-14FE159E64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30437" y="3855823"/>
            <a:ext cx="365760" cy="365760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9BDC3F5-ECD7-E17B-4B44-38C7D81FEC54}"/>
              </a:ext>
            </a:extLst>
          </p:cNvPr>
          <p:cNvCxnSpPr>
            <a:cxnSpLocks/>
          </p:cNvCxnSpPr>
          <p:nvPr/>
        </p:nvCxnSpPr>
        <p:spPr>
          <a:xfrm>
            <a:off x="2228306" y="2369101"/>
            <a:ext cx="152484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FD4D2C6-D8FC-467E-2C5F-9E04B1EA0FC7}"/>
              </a:ext>
            </a:extLst>
          </p:cNvPr>
          <p:cNvCxnSpPr>
            <a:cxnSpLocks/>
          </p:cNvCxnSpPr>
          <p:nvPr/>
        </p:nvCxnSpPr>
        <p:spPr>
          <a:xfrm>
            <a:off x="4059383" y="2369101"/>
            <a:ext cx="152484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9B7D728-BEC7-6A2C-DF95-4B0BD65610C7}"/>
              </a:ext>
            </a:extLst>
          </p:cNvPr>
          <p:cNvCxnSpPr>
            <a:cxnSpLocks/>
          </p:cNvCxnSpPr>
          <p:nvPr/>
        </p:nvCxnSpPr>
        <p:spPr>
          <a:xfrm>
            <a:off x="5890460" y="2369101"/>
            <a:ext cx="152484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B0A62BB-2208-62D0-8A39-691DC6B997C2}"/>
              </a:ext>
            </a:extLst>
          </p:cNvPr>
          <p:cNvCxnSpPr>
            <a:cxnSpLocks/>
          </p:cNvCxnSpPr>
          <p:nvPr/>
        </p:nvCxnSpPr>
        <p:spPr>
          <a:xfrm>
            <a:off x="7721537" y="2369101"/>
            <a:ext cx="152484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B005EEF-5199-3CD4-D7E5-8F670CF892C5}"/>
              </a:ext>
            </a:extLst>
          </p:cNvPr>
          <p:cNvCxnSpPr>
            <a:cxnSpLocks/>
          </p:cNvCxnSpPr>
          <p:nvPr/>
        </p:nvCxnSpPr>
        <p:spPr>
          <a:xfrm>
            <a:off x="9552613" y="2369101"/>
            <a:ext cx="152484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631F0F9-5B90-63DE-7A03-65D99BF003CC}"/>
              </a:ext>
            </a:extLst>
          </p:cNvPr>
          <p:cNvCxnSpPr>
            <a:cxnSpLocks/>
          </p:cNvCxnSpPr>
          <p:nvPr/>
        </p:nvCxnSpPr>
        <p:spPr>
          <a:xfrm>
            <a:off x="2228306" y="4309575"/>
            <a:ext cx="152484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93C3C26-2A7E-B333-CCD1-A0308DEEE283}"/>
              </a:ext>
            </a:extLst>
          </p:cNvPr>
          <p:cNvCxnSpPr>
            <a:cxnSpLocks/>
          </p:cNvCxnSpPr>
          <p:nvPr/>
        </p:nvCxnSpPr>
        <p:spPr>
          <a:xfrm>
            <a:off x="4059383" y="4309575"/>
            <a:ext cx="152484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D0A6373-A7AD-285E-3113-803A1607E375}"/>
              </a:ext>
            </a:extLst>
          </p:cNvPr>
          <p:cNvCxnSpPr>
            <a:cxnSpLocks/>
          </p:cNvCxnSpPr>
          <p:nvPr/>
        </p:nvCxnSpPr>
        <p:spPr>
          <a:xfrm>
            <a:off x="5890460" y="4309575"/>
            <a:ext cx="152484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CBCB4D4-DD3C-45F5-9E44-6146E84AC776}"/>
              </a:ext>
            </a:extLst>
          </p:cNvPr>
          <p:cNvCxnSpPr>
            <a:cxnSpLocks/>
          </p:cNvCxnSpPr>
          <p:nvPr/>
        </p:nvCxnSpPr>
        <p:spPr>
          <a:xfrm>
            <a:off x="7721537" y="4309575"/>
            <a:ext cx="152484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F375609-5096-CD48-2AEA-70710444C42C}"/>
              </a:ext>
            </a:extLst>
          </p:cNvPr>
          <p:cNvCxnSpPr>
            <a:cxnSpLocks/>
          </p:cNvCxnSpPr>
          <p:nvPr/>
        </p:nvCxnSpPr>
        <p:spPr>
          <a:xfrm>
            <a:off x="9552613" y="4309575"/>
            <a:ext cx="152484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96B77E6F-259B-AB3F-C9A3-234F4C68FFC9}"/>
              </a:ext>
            </a:extLst>
          </p:cNvPr>
          <p:cNvSpPr/>
          <p:nvPr/>
        </p:nvSpPr>
        <p:spPr>
          <a:xfrm>
            <a:off x="549713" y="1259808"/>
            <a:ext cx="351195" cy="232229"/>
          </a:xfrm>
          <a:prstGeom prst="roundRect">
            <a:avLst/>
          </a:prstGeom>
          <a:solidFill>
            <a:srgbClr val="33886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AABD6859-6AC6-9993-1D4E-2DB08E0487D3}"/>
              </a:ext>
            </a:extLst>
          </p:cNvPr>
          <p:cNvSpPr/>
          <p:nvPr/>
        </p:nvSpPr>
        <p:spPr>
          <a:xfrm>
            <a:off x="1657236" y="1259808"/>
            <a:ext cx="351195" cy="23222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7608"/>
            </a:schemeClr>
          </a:solidFill>
          <a:ln>
            <a:solidFill>
              <a:schemeClr val="accent2"/>
            </a:solidFill>
          </a:ln>
        </p:spPr>
        <p:txBody>
          <a:bodyPr wrap="square" lIns="0" rIns="0" rtlCol="0" anchor="b"/>
          <a:lstStyle/>
          <a:p>
            <a:pPr algn="ctr"/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8033394-A60B-09F9-8C22-71FAEEA8F234}"/>
              </a:ext>
            </a:extLst>
          </p:cNvPr>
          <p:cNvSpPr txBox="1"/>
          <p:nvPr/>
        </p:nvSpPr>
        <p:spPr>
          <a:xfrm>
            <a:off x="900908" y="1267065"/>
            <a:ext cx="1007721" cy="232229"/>
          </a:xfrm>
          <a:prstGeom prst="rect">
            <a:avLst/>
          </a:prstGeom>
          <a:noFill/>
        </p:spPr>
        <p:txBody>
          <a:bodyPr wrap="square" lIns="9144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000" spc="-20"/>
              <a:t>Guardrail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113F5EF-8811-CF99-1402-A31714307941}"/>
              </a:ext>
            </a:extLst>
          </p:cNvPr>
          <p:cNvSpPr txBox="1"/>
          <p:nvPr/>
        </p:nvSpPr>
        <p:spPr>
          <a:xfrm>
            <a:off x="2008431" y="1267064"/>
            <a:ext cx="1007721" cy="232229"/>
          </a:xfrm>
          <a:prstGeom prst="rect">
            <a:avLst/>
          </a:prstGeom>
          <a:noFill/>
        </p:spPr>
        <p:txBody>
          <a:bodyPr wrap="square" lIns="9144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000" spc="-20"/>
              <a:t>Process step</a:t>
            </a:r>
          </a:p>
        </p:txBody>
      </p:sp>
      <p:sp>
        <p:nvSpPr>
          <p:cNvPr id="92" name="Rectangular Callout 91">
            <a:extLst>
              <a:ext uri="{FF2B5EF4-FFF2-40B4-BE49-F238E27FC236}">
                <a16:creationId xmlns:a16="http://schemas.microsoft.com/office/drawing/2014/main" id="{FC43A3CC-2882-0554-5C04-4B2E47ED3CA7}"/>
              </a:ext>
            </a:extLst>
          </p:cNvPr>
          <p:cNvSpPr/>
          <p:nvPr/>
        </p:nvSpPr>
        <p:spPr>
          <a:xfrm>
            <a:off x="3835567" y="2929389"/>
            <a:ext cx="3233581" cy="636100"/>
          </a:xfrm>
          <a:prstGeom prst="wedgeRectCallout">
            <a:avLst>
              <a:gd name="adj1" fmla="val -17695"/>
              <a:gd name="adj2" fmla="val -63900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000"/>
              <a:t>Early AI-written PRs delivered poor UX only considering the happy path, ignoring edge cases.</a:t>
            </a:r>
            <a:br>
              <a:rPr lang="en-US" sz="1000"/>
            </a:br>
            <a:r>
              <a:rPr lang="en-US" sz="1000" b="1" spc="-20">
                <a:sym typeface="Wingdings" pitchFamily="2" charset="2"/>
              </a:rPr>
              <a:t></a:t>
            </a:r>
            <a:r>
              <a:rPr lang="en-US" sz="1000"/>
              <a:t> A review committee </a:t>
            </a:r>
            <a:r>
              <a:rPr lang="en-US" sz="1000" b="1"/>
              <a:t>closes the AI's UX-thinking gap</a:t>
            </a:r>
            <a:r>
              <a:rPr lang="en-US" sz="1000"/>
              <a:t>.</a:t>
            </a:r>
            <a:endParaRPr lang="en-US" sz="1000" b="1" spc="-20"/>
          </a:p>
        </p:txBody>
      </p:sp>
      <p:sp>
        <p:nvSpPr>
          <p:cNvPr id="93" name="Rectangular Callout 92">
            <a:extLst>
              <a:ext uri="{FF2B5EF4-FFF2-40B4-BE49-F238E27FC236}">
                <a16:creationId xmlns:a16="http://schemas.microsoft.com/office/drawing/2014/main" id="{9D5B369A-805A-8E4F-5D73-D4AE0281FB1A}"/>
              </a:ext>
            </a:extLst>
          </p:cNvPr>
          <p:cNvSpPr/>
          <p:nvPr/>
        </p:nvSpPr>
        <p:spPr>
          <a:xfrm>
            <a:off x="8056141" y="2929389"/>
            <a:ext cx="3229552" cy="637951"/>
          </a:xfrm>
          <a:prstGeom prst="wedgeRectCallout">
            <a:avLst>
              <a:gd name="adj1" fmla="val 24953"/>
              <a:gd name="adj2" fmla="val -63900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000"/>
              <a:t>Complex code changes introduce risks that non-engineers can't reliably judge.</a:t>
            </a:r>
          </a:p>
          <a:p>
            <a:pPr algn="ctr"/>
            <a:r>
              <a:rPr lang="en-US" sz="1000"/>
              <a:t> </a:t>
            </a:r>
            <a:r>
              <a:rPr lang="en-US" sz="1000" b="1" spc="-20">
                <a:sym typeface="Wingdings" pitchFamily="2" charset="2"/>
              </a:rPr>
              <a:t> </a:t>
            </a:r>
            <a:r>
              <a:rPr lang="en-US" sz="1000" b="1"/>
              <a:t>Code owners </a:t>
            </a:r>
            <a:r>
              <a:rPr lang="en-US" sz="1000"/>
              <a:t>with the </a:t>
            </a:r>
            <a:r>
              <a:rPr lang="en-US" sz="1000" b="1"/>
              <a:t>architectural expertise </a:t>
            </a:r>
            <a:r>
              <a:rPr lang="en-US" sz="1000"/>
              <a:t>review the plan before execution.</a:t>
            </a:r>
            <a:endParaRPr lang="en-US" sz="1000" b="1" spc="-20"/>
          </a:p>
        </p:txBody>
      </p:sp>
      <p:sp>
        <p:nvSpPr>
          <p:cNvPr id="94" name="Rectangular Callout 93">
            <a:extLst>
              <a:ext uri="{FF2B5EF4-FFF2-40B4-BE49-F238E27FC236}">
                <a16:creationId xmlns:a16="http://schemas.microsoft.com/office/drawing/2014/main" id="{054FA067-92A2-AA9E-A928-4AE1FB1BD30D}"/>
              </a:ext>
            </a:extLst>
          </p:cNvPr>
          <p:cNvSpPr/>
          <p:nvPr/>
        </p:nvSpPr>
        <p:spPr>
          <a:xfrm>
            <a:off x="3835568" y="4895924"/>
            <a:ext cx="3229552" cy="637951"/>
          </a:xfrm>
          <a:prstGeom prst="wedgeRectCallout">
            <a:avLst>
              <a:gd name="adj1" fmla="val -17695"/>
              <a:gd name="adj2" fmla="val -63900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000"/>
              <a:t>Agents occasionally drifted from the TDD path and went their own way. </a:t>
            </a:r>
          </a:p>
          <a:p>
            <a:pPr algn="ctr"/>
            <a:r>
              <a:rPr lang="en-US" sz="1000"/>
              <a:t> </a:t>
            </a:r>
            <a:r>
              <a:rPr lang="en-US" sz="1000" b="1" spc="-20">
                <a:sym typeface="Wingdings" pitchFamily="2" charset="2"/>
              </a:rPr>
              <a:t> </a:t>
            </a:r>
            <a:r>
              <a:rPr lang="en-US" sz="1000"/>
              <a:t>A gate enforces </a:t>
            </a:r>
            <a:r>
              <a:rPr lang="en-US" sz="1000" b="1"/>
              <a:t>standard linting </a:t>
            </a:r>
            <a:r>
              <a:rPr lang="en-US" sz="1000"/>
              <a:t>plus </a:t>
            </a:r>
            <a:r>
              <a:rPr lang="en-US" sz="1000" b="1"/>
              <a:t>targeted tests for known AI-code failure </a:t>
            </a:r>
            <a:r>
              <a:rPr lang="en-US" sz="1000"/>
              <a:t>modes.</a:t>
            </a:r>
            <a:endParaRPr lang="en-US" sz="1000" b="1" spc="-20"/>
          </a:p>
        </p:txBody>
      </p:sp>
      <p:sp>
        <p:nvSpPr>
          <p:cNvPr id="95" name="Rectangular Callout 94">
            <a:extLst>
              <a:ext uri="{FF2B5EF4-FFF2-40B4-BE49-F238E27FC236}">
                <a16:creationId xmlns:a16="http://schemas.microsoft.com/office/drawing/2014/main" id="{D9DFA8C5-540F-7975-647F-5545E88A79FA}"/>
              </a:ext>
            </a:extLst>
          </p:cNvPr>
          <p:cNvSpPr/>
          <p:nvPr/>
        </p:nvSpPr>
        <p:spPr>
          <a:xfrm>
            <a:off x="8056141" y="4895924"/>
            <a:ext cx="3229552" cy="637951"/>
          </a:xfrm>
          <a:prstGeom prst="wedgeRectCallout">
            <a:avLst>
              <a:gd name="adj1" fmla="val 21628"/>
              <a:gd name="adj2" fmla="val -63900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000"/>
              <a:t>The traditional SDLC stage gate, preserved as a final human check.</a:t>
            </a:r>
          </a:p>
          <a:p>
            <a:pPr algn="ctr"/>
            <a:r>
              <a:rPr lang="en-US" sz="1000" b="1" spc="-20">
                <a:sym typeface="Wingdings" pitchFamily="2" charset="2"/>
              </a:rPr>
              <a:t> </a:t>
            </a:r>
            <a:r>
              <a:rPr lang="en-US" sz="1000"/>
              <a:t>Runs </a:t>
            </a:r>
            <a:r>
              <a:rPr lang="en-US" sz="1000" b="1"/>
              <a:t>only after multiple AI review cycles </a:t>
            </a:r>
            <a:r>
              <a:rPr lang="en-US" sz="1000"/>
              <a:t>have already filtered out bad code</a:t>
            </a:r>
            <a:r>
              <a:rPr lang="en-US" sz="1000" i="1"/>
              <a:t>.</a:t>
            </a:r>
            <a:endParaRPr lang="en-US" sz="10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B8D4CCE-28C4-57B7-32EE-E4D309F3ABF6}"/>
              </a:ext>
            </a:extLst>
          </p:cNvPr>
          <p:cNvSpPr txBox="1"/>
          <p:nvPr/>
        </p:nvSpPr>
        <p:spPr>
          <a:xfrm>
            <a:off x="7932057" y="1613843"/>
            <a:ext cx="3592286" cy="184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000" b="1" i="1" spc="-20">
                <a:solidFill>
                  <a:schemeClr val="accent6"/>
                </a:solidFill>
              </a:rPr>
              <a:t>Risk-tiered execution (for code applying database changes)</a:t>
            </a:r>
          </a:p>
        </p:txBody>
      </p:sp>
      <p:pic>
        <p:nvPicPr>
          <p:cNvPr id="9" name="Graphic 8" descr="Office worker female with solid fill">
            <a:extLst>
              <a:ext uri="{FF2B5EF4-FFF2-40B4-BE49-F238E27FC236}">
                <a16:creationId xmlns:a16="http://schemas.microsoft.com/office/drawing/2014/main" id="{9DDCDCF4-910E-F217-D8B7-9FF06AE0C3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3218" y="1222326"/>
            <a:ext cx="274320" cy="2743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678659-715A-76CD-4351-B60EB236206A}"/>
              </a:ext>
            </a:extLst>
          </p:cNvPr>
          <p:cNvSpPr txBox="1"/>
          <p:nvPr/>
        </p:nvSpPr>
        <p:spPr>
          <a:xfrm>
            <a:off x="3115954" y="1267064"/>
            <a:ext cx="1007721" cy="232229"/>
          </a:xfrm>
          <a:prstGeom prst="rect">
            <a:avLst/>
          </a:prstGeom>
          <a:noFill/>
        </p:spPr>
        <p:txBody>
          <a:bodyPr wrap="square" lIns="9144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000" spc="-20"/>
              <a:t>IC execution</a:t>
            </a:r>
          </a:p>
        </p:txBody>
      </p:sp>
      <p:pic>
        <p:nvPicPr>
          <p:cNvPr id="11" name="Graphic 10" descr="Artificial Intelligence with solid fill">
            <a:extLst>
              <a:ext uri="{FF2B5EF4-FFF2-40B4-BE49-F238E27FC236}">
                <a16:creationId xmlns:a16="http://schemas.microsoft.com/office/drawing/2014/main" id="{E573E43B-DFBD-A37E-9A6C-2221628647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1924" y="1220547"/>
            <a:ext cx="274320" cy="2743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CA87E8-D346-5895-CB0A-1EC07A42A90E}"/>
              </a:ext>
            </a:extLst>
          </p:cNvPr>
          <p:cNvSpPr txBox="1"/>
          <p:nvPr/>
        </p:nvSpPr>
        <p:spPr>
          <a:xfrm>
            <a:off x="4158842" y="1267064"/>
            <a:ext cx="1007721" cy="232229"/>
          </a:xfrm>
          <a:prstGeom prst="rect">
            <a:avLst/>
          </a:prstGeom>
          <a:noFill/>
        </p:spPr>
        <p:txBody>
          <a:bodyPr wrap="square" lIns="9144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000" spc="-20"/>
              <a:t>AI execution</a:t>
            </a:r>
          </a:p>
        </p:txBody>
      </p:sp>
      <p:pic>
        <p:nvPicPr>
          <p:cNvPr id="13" name="Graphic 12" descr="Programmer male with solid fill">
            <a:extLst>
              <a:ext uri="{FF2B5EF4-FFF2-40B4-BE49-F238E27FC236}">
                <a16:creationId xmlns:a16="http://schemas.microsoft.com/office/drawing/2014/main" id="{153AF1BB-F5B3-563B-632A-541FC2ABA4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34941" y="1189704"/>
            <a:ext cx="263244" cy="2632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E3856F-D79E-DAD6-AE6D-405101B0EE46}"/>
              </a:ext>
            </a:extLst>
          </p:cNvPr>
          <p:cNvSpPr txBox="1"/>
          <p:nvPr/>
        </p:nvSpPr>
        <p:spPr>
          <a:xfrm>
            <a:off x="5251014" y="1267064"/>
            <a:ext cx="1007721" cy="232229"/>
          </a:xfrm>
          <a:prstGeom prst="rect">
            <a:avLst/>
          </a:prstGeom>
          <a:noFill/>
        </p:spPr>
        <p:txBody>
          <a:bodyPr wrap="square" lIns="9144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000" spc="-20"/>
              <a:t>Eng execution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FFD30B-3A61-5180-A152-389998CAF676}"/>
              </a:ext>
            </a:extLst>
          </p:cNvPr>
          <p:cNvSpPr txBox="1"/>
          <p:nvPr/>
        </p:nvSpPr>
        <p:spPr>
          <a:xfrm>
            <a:off x="2753833" y="549703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DDA68B-17B4-493E-0C27-ABDD938D9DDD}"/>
              </a:ext>
            </a:extLst>
          </p:cNvPr>
          <p:cNvSpPr/>
          <p:nvPr/>
        </p:nvSpPr>
        <p:spPr>
          <a:xfrm>
            <a:off x="1618180" y="5656081"/>
            <a:ext cx="9765510" cy="74980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365760" tIns="0" rIns="144000" bIns="0" numCol="2" spcCol="274320" rtlCol="0" anchor="ctr">
            <a:noAutofit/>
          </a:bodyPr>
          <a:lstStyle/>
          <a:p>
            <a:pPr marL="228600" indent="-228600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000" b="1"/>
              <a:t>Explore how guardrail processes with multiple stages are structured</a:t>
            </a:r>
          </a:p>
          <a:p>
            <a:pPr marL="228600" indent="-228600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000" b="1"/>
              <a:t>Examine whether guardrails are positioned earlier in the workflow, not solely at the final stage</a:t>
            </a:r>
          </a:p>
          <a:p>
            <a:pPr marL="228600" indent="-228600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000" b="1"/>
              <a:t>Examine whether guardrails are built into the process from the outset or added afterward</a:t>
            </a:r>
          </a:p>
          <a:p>
            <a:pPr marL="228600" indent="-228600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000" b="1"/>
              <a:t>Ask about the balance between human and AI guardrails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986EC46C-2047-470E-54EA-C90E1DF68FBF}"/>
              </a:ext>
            </a:extLst>
          </p:cNvPr>
          <p:cNvSpPr/>
          <p:nvPr/>
        </p:nvSpPr>
        <p:spPr>
          <a:xfrm>
            <a:off x="549713" y="5656081"/>
            <a:ext cx="1291860" cy="749808"/>
          </a:xfrm>
          <a:prstGeom prst="homePlate">
            <a:avLst>
              <a:gd name="adj" fmla="val 25414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>
                <a:solidFill>
                  <a:schemeClr val="bg1"/>
                </a:solidFill>
              </a:rPr>
              <a:t>Implications for scorecard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AC63C6-A5CB-49F9-9CC6-CD37D117480E}"/>
              </a:ext>
            </a:extLst>
          </p:cNvPr>
          <p:cNvSpPr txBox="1"/>
          <p:nvPr/>
        </p:nvSpPr>
        <p:spPr>
          <a:xfrm>
            <a:off x="0" y="8850"/>
            <a:ext cx="2321893" cy="153888"/>
          </a:xfrm>
          <a:prstGeom prst="rect">
            <a:avLst/>
          </a:prstGeom>
          <a:solidFill>
            <a:schemeClr val="accent3"/>
          </a:solidFill>
        </p:spPr>
        <p:txBody>
          <a:bodyPr wrap="square" lIns="9144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1200" b="1">
                <a:solidFill>
                  <a:schemeClr val="accent3"/>
                </a:solidFill>
              </a:defRPr>
            </a:lvl1pPr>
          </a:lstStyle>
          <a:p>
            <a:pPr algn="l"/>
            <a:r>
              <a:rPr lang="en-US" sz="1000">
                <a:solidFill>
                  <a:schemeClr val="bg1"/>
                </a:solidFill>
              </a:rPr>
              <a:t>Process and Orchestration</a:t>
            </a:r>
          </a:p>
        </p:txBody>
      </p:sp>
      <p:pic>
        <p:nvPicPr>
          <p:cNvPr id="19" name="Graphic 18" descr="Teacher with solid fill">
            <a:extLst>
              <a:ext uri="{FF2B5EF4-FFF2-40B4-BE49-F238E27FC236}">
                <a16:creationId xmlns:a16="http://schemas.microsoft.com/office/drawing/2014/main" id="{A18B6E2A-A920-9A52-0969-A108A2EFA5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221968" y="1226236"/>
            <a:ext cx="269331" cy="274320"/>
          </a:xfrm>
          <a:prstGeom prst="rect">
            <a:avLst/>
          </a:prstGeom>
        </p:spPr>
      </p:pic>
      <p:pic>
        <p:nvPicPr>
          <p:cNvPr id="20" name="Graphic 19" descr="Artist male with solid fill">
            <a:extLst>
              <a:ext uri="{FF2B5EF4-FFF2-40B4-BE49-F238E27FC236}">
                <a16:creationId xmlns:a16="http://schemas.microsoft.com/office/drawing/2014/main" id="{A1456498-BFF2-DABC-93EE-226361D85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7400907" y="1232554"/>
            <a:ext cx="269331" cy="27432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29DBAAF-3F10-38BD-7CFD-456D2026BE6E}"/>
              </a:ext>
            </a:extLst>
          </p:cNvPr>
          <p:cNvSpPr txBox="1"/>
          <p:nvPr/>
        </p:nvSpPr>
        <p:spPr>
          <a:xfrm>
            <a:off x="6452873" y="1267064"/>
            <a:ext cx="1268664" cy="232229"/>
          </a:xfrm>
          <a:prstGeom prst="rect">
            <a:avLst/>
          </a:prstGeom>
          <a:noFill/>
        </p:spPr>
        <p:txBody>
          <a:bodyPr wrap="square" lIns="9144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000" spc="-20"/>
              <a:t>PM execution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0EAD93-DEBD-4E78-4A93-68BA01582880}"/>
              </a:ext>
            </a:extLst>
          </p:cNvPr>
          <p:cNvSpPr txBox="1"/>
          <p:nvPr/>
        </p:nvSpPr>
        <p:spPr>
          <a:xfrm>
            <a:off x="7678901" y="1259408"/>
            <a:ext cx="1184808" cy="232229"/>
          </a:xfrm>
          <a:prstGeom prst="rect">
            <a:avLst/>
          </a:prstGeom>
          <a:noFill/>
        </p:spPr>
        <p:txBody>
          <a:bodyPr wrap="square" lIns="9144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000" spc="-20"/>
              <a:t>Designer execution</a:t>
            </a:r>
          </a:p>
        </p:txBody>
      </p:sp>
      <p:pic>
        <p:nvPicPr>
          <p:cNvPr id="25" name="Graphic 24" descr="Teacher with solid fill">
            <a:extLst>
              <a:ext uri="{FF2B5EF4-FFF2-40B4-BE49-F238E27FC236}">
                <a16:creationId xmlns:a16="http://schemas.microsoft.com/office/drawing/2014/main" id="{52DB8415-908D-6BB9-C900-AF92EDF817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814562" y="1967038"/>
            <a:ext cx="359108" cy="365760"/>
          </a:xfrm>
          <a:prstGeom prst="rect">
            <a:avLst/>
          </a:prstGeom>
        </p:spPr>
      </p:pic>
      <p:pic>
        <p:nvPicPr>
          <p:cNvPr id="26" name="Graphic 25" descr="Artist male with solid fill">
            <a:extLst>
              <a:ext uri="{FF2B5EF4-FFF2-40B4-BE49-F238E27FC236}">
                <a16:creationId xmlns:a16="http://schemas.microsoft.com/office/drawing/2014/main" id="{FB2BA815-CD38-6675-CE4A-4E069B98A1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5305444" y="1967038"/>
            <a:ext cx="359108" cy="365760"/>
          </a:xfrm>
          <a:prstGeom prst="rect">
            <a:avLst/>
          </a:prstGeom>
        </p:spPr>
      </p:pic>
      <p:cxnSp>
        <p:nvCxnSpPr>
          <p:cNvPr id="27" name="Elbow Connector 86">
            <a:extLst>
              <a:ext uri="{FF2B5EF4-FFF2-40B4-BE49-F238E27FC236}">
                <a16:creationId xmlns:a16="http://schemas.microsoft.com/office/drawing/2014/main" id="{BFB290CA-BA10-07E3-A878-AFAEC645647B}"/>
              </a:ext>
            </a:extLst>
          </p:cNvPr>
          <p:cNvCxnSpPr>
            <a:cxnSpLocks/>
          </p:cNvCxnSpPr>
          <p:nvPr/>
        </p:nvCxnSpPr>
        <p:spPr>
          <a:xfrm flipH="1">
            <a:off x="549713" y="2308576"/>
            <a:ext cx="10833977" cy="1943074"/>
          </a:xfrm>
          <a:prstGeom prst="bentConnector5">
            <a:avLst>
              <a:gd name="adj1" fmla="val -2110"/>
              <a:gd name="adj2" fmla="val 70016"/>
              <a:gd name="adj3" fmla="val 10211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20FD38-2FC9-8200-5128-F3014F6FD076}"/>
              </a:ext>
            </a:extLst>
          </p:cNvPr>
          <p:cNvGrpSpPr/>
          <p:nvPr/>
        </p:nvGrpSpPr>
        <p:grpSpPr>
          <a:xfrm>
            <a:off x="10135158" y="6440556"/>
            <a:ext cx="1125415" cy="222738"/>
            <a:chOff x="10819335" y="102314"/>
            <a:chExt cx="1125415" cy="22273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F05FBE6-04D5-9FFF-32E1-C64551ED00E7}"/>
                </a:ext>
              </a:extLst>
            </p:cNvPr>
            <p:cNvCxnSpPr>
              <a:cxnSpLocks/>
            </p:cNvCxnSpPr>
            <p:nvPr/>
          </p:nvCxnSpPr>
          <p:spPr>
            <a:xfrm>
              <a:off x="10819335" y="102314"/>
              <a:ext cx="1125415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6660B3A-AC8D-8FB3-187F-3F47A595602C}"/>
                </a:ext>
              </a:extLst>
            </p:cNvPr>
            <p:cNvCxnSpPr>
              <a:cxnSpLocks/>
            </p:cNvCxnSpPr>
            <p:nvPr/>
          </p:nvCxnSpPr>
          <p:spPr>
            <a:xfrm>
              <a:off x="10819335" y="325052"/>
              <a:ext cx="1125415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EEEDF6-CF72-9036-BFC1-9783920219B3}"/>
                </a:ext>
              </a:extLst>
            </p:cNvPr>
            <p:cNvSpPr txBox="1"/>
            <p:nvPr/>
          </p:nvSpPr>
          <p:spPr>
            <a:xfrm>
              <a:off x="10819335" y="102314"/>
              <a:ext cx="1125415" cy="2227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800"/>
                </a:spcBef>
              </a:pPr>
              <a:r>
                <a:rPr lang="en-US" sz="1200" b="1" spc="-20">
                  <a:solidFill>
                    <a:srgbClr val="C00000"/>
                  </a:solidFill>
                </a:rPr>
                <a:t>PRELIMINARY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7597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92DA5-282C-E4CF-9A40-58BB5830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72CF5FC-2005-CEB6-A0BC-A6064DA8EA2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2CF5FC-2005-CEB6-A0BC-A6064DA8EA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67F1FD26-196D-4A9F-745E-15C2DA4F08C9}"/>
              </a:ext>
            </a:extLst>
          </p:cNvPr>
          <p:cNvSpPr/>
          <p:nvPr/>
        </p:nvSpPr>
        <p:spPr>
          <a:xfrm>
            <a:off x="1531668" y="2185188"/>
            <a:ext cx="1600466" cy="667497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/>
            <a:r>
              <a:rPr lang="en-US" sz="1100" spc="-20"/>
              <a:t>Per-agent context scoping, each agent only pulls the slice of data the task requires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E8E39BB-2382-1743-FBAC-B168E39E5D34}"/>
              </a:ext>
            </a:extLst>
          </p:cNvPr>
          <p:cNvSpPr/>
          <p:nvPr/>
        </p:nvSpPr>
        <p:spPr>
          <a:xfrm>
            <a:off x="566849" y="1362827"/>
            <a:ext cx="9129655" cy="48701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</a:ln>
        </p:spPr>
        <p:txBody>
          <a:bodyPr wrap="square" lIns="365760" tIns="0" rIns="144000" bIns="0" rtlCol="0" anchor="ctr">
            <a:noAutofit/>
          </a:bodyPr>
          <a:lstStyle/>
          <a:p>
            <a:r>
              <a:rPr lang="en-US" sz="1100" b="1" spc="-20">
                <a:solidFill>
                  <a:schemeClr val="accent3"/>
                </a:solidFill>
              </a:rPr>
              <a:t>Common goal:</a:t>
            </a:r>
          </a:p>
          <a:p>
            <a:r>
              <a:rPr lang="en-US" sz="1100" b="1" spc="-20"/>
              <a:t>Provide the right context at the moment it's needed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B7B0D-BE3F-5774-9A8E-46DBF280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11679936" cy="618849"/>
          </a:xfrm>
        </p:spPr>
        <p:txBody>
          <a:bodyPr vert="horz" rIns="0"/>
          <a:lstStyle/>
          <a:p>
            <a:r>
              <a:rPr lang="en-US"/>
              <a:t>AI-forward firms still manually curate context collections for agents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E3E00-3D16-393D-5C63-BF2A5280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84FFF-EF3F-00B1-A1F5-EAC86CBD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1CC44-BFE8-2851-B3A1-53151396D1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E0B8E12-D487-DBC3-A583-741E9DB8C00F}"/>
              </a:ext>
            </a:extLst>
          </p:cNvPr>
          <p:cNvGrpSpPr/>
          <p:nvPr/>
        </p:nvGrpSpPr>
        <p:grpSpPr>
          <a:xfrm>
            <a:off x="256032" y="1283432"/>
            <a:ext cx="611215" cy="618849"/>
            <a:chOff x="457199" y="1427017"/>
            <a:chExt cx="822960" cy="822961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83270A4-132A-C3CD-CB66-A5B5645871D7}"/>
                </a:ext>
              </a:extLst>
            </p:cNvPr>
            <p:cNvSpPr/>
            <p:nvPr/>
          </p:nvSpPr>
          <p:spPr>
            <a:xfrm>
              <a:off x="457199" y="1427018"/>
              <a:ext cx="822960" cy="822960"/>
            </a:xfrm>
            <a:prstGeom prst="ellipse">
              <a:avLst/>
            </a:prstGeom>
            <a:solidFill>
              <a:schemeClr val="accent3"/>
            </a:solidFill>
            <a:ln w="12700">
              <a:noFill/>
            </a:ln>
          </p:spPr>
          <p:txBody>
            <a:bodyPr wrap="square" lIns="144000" tIns="0" rIns="144000" bIns="0" rtlCol="0" anchor="ctr">
              <a:noAutofit/>
            </a:bodyPr>
            <a:lstStyle/>
            <a:p>
              <a:pPr algn="ctr"/>
              <a:endParaRPr lang="en-US" sz="1100" b="1" spc="-20"/>
            </a:p>
          </p:txBody>
        </p:sp>
        <p:pic>
          <p:nvPicPr>
            <p:cNvPr id="17" name="Graphic 16" descr="Target with solid fill">
              <a:extLst>
                <a:ext uri="{FF2B5EF4-FFF2-40B4-BE49-F238E27FC236}">
                  <a16:creationId xmlns:a16="http://schemas.microsoft.com/office/drawing/2014/main" id="{69EC5D75-FC1E-A2E5-3A14-8DA8221523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7199" y="1427017"/>
              <a:ext cx="822960" cy="822960"/>
            </a:xfrm>
            <a:prstGeom prst="rect">
              <a:avLst/>
            </a:prstGeom>
          </p:spPr>
        </p:pic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C0F5FF9-740F-FD22-8EA6-98E2383EC0A5}"/>
              </a:ext>
            </a:extLst>
          </p:cNvPr>
          <p:cNvSpPr txBox="1">
            <a:spLocks/>
          </p:cNvSpPr>
          <p:nvPr/>
        </p:nvSpPr>
        <p:spPr>
          <a:xfrm>
            <a:off x="10137661" y="2176680"/>
            <a:ext cx="1798307" cy="3154911"/>
          </a:xfrm>
          <a:prstGeom prst="rect">
            <a:avLst/>
          </a:prstGeom>
        </p:spPr>
        <p:txBody>
          <a:bodyPr anchor="ctr"/>
          <a:lstStyle>
            <a:lvl1pPr marL="108000" indent="-108000" algn="l" defTabSz="914400" rtl="0" eaLnBrk="1" latinLnBrk="0" hangingPunct="1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3000" indent="-135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en-GB" sz="1100" b="1">
                <a:solidFill>
                  <a:schemeClr val="accent6"/>
                </a:solidFill>
              </a:rPr>
              <a:t>Questions to be confirmed</a:t>
            </a:r>
          </a:p>
          <a:p>
            <a:pPr>
              <a:spcAft>
                <a:spcPts val="600"/>
              </a:spcAft>
            </a:pPr>
            <a:r>
              <a:rPr lang="en-GB" sz="1100"/>
              <a:t>Why is knowledge curated in this way?</a:t>
            </a:r>
          </a:p>
          <a:p>
            <a:pPr>
              <a:spcAft>
                <a:spcPts val="600"/>
              </a:spcAft>
            </a:pPr>
            <a:r>
              <a:rPr lang="en-GB" sz="1100"/>
              <a:t>What are explicit and implicit rules and guardrails around updating the context?</a:t>
            </a:r>
          </a:p>
          <a:p>
            <a:pPr>
              <a:spcAft>
                <a:spcPts val="600"/>
              </a:spcAft>
            </a:pPr>
            <a:r>
              <a:rPr lang="en-GB" sz="1100"/>
              <a:t>What are the different maturity stages of context curation?</a:t>
            </a:r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44C5FFF6-81CE-EE7A-11B2-7EFE8FE1EFBF}"/>
              </a:ext>
            </a:extLst>
          </p:cNvPr>
          <p:cNvSpPr/>
          <p:nvPr/>
        </p:nvSpPr>
        <p:spPr>
          <a:xfrm flipV="1">
            <a:off x="3384062" y="5613979"/>
            <a:ext cx="2545969" cy="19971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35" name="Round Diagonal Corner Rectangle 34">
            <a:extLst>
              <a:ext uri="{FF2B5EF4-FFF2-40B4-BE49-F238E27FC236}">
                <a16:creationId xmlns:a16="http://schemas.microsoft.com/office/drawing/2014/main" id="{1D1B30F8-572C-3470-3B7C-FD05DFD708B7}"/>
              </a:ext>
            </a:extLst>
          </p:cNvPr>
          <p:cNvSpPr/>
          <p:nvPr/>
        </p:nvSpPr>
        <p:spPr>
          <a:xfrm>
            <a:off x="256032" y="5912386"/>
            <a:ext cx="9417294" cy="311898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>
                <a:solidFill>
                  <a:schemeClr val="bg1"/>
                </a:solidFill>
              </a:rPr>
              <a:t>While choosing different methods to organize, context for agents is still curated and updated by humans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58F622-82E3-10E5-7277-43DCF85D0F9D}"/>
              </a:ext>
            </a:extLst>
          </p:cNvPr>
          <p:cNvSpPr txBox="1"/>
          <p:nvPr/>
        </p:nvSpPr>
        <p:spPr>
          <a:xfrm>
            <a:off x="3186953" y="2178757"/>
            <a:ext cx="65095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i="1"/>
              <a:t>”The agent </a:t>
            </a:r>
            <a:r>
              <a:rPr lang="en-US" sz="1100" b="1" i="1">
                <a:highlight>
                  <a:srgbClr val="DEDDFF"/>
                </a:highlight>
              </a:rPr>
              <a:t>could look at Notion</a:t>
            </a:r>
            <a:r>
              <a:rPr lang="en-US" sz="1100" i="1"/>
              <a:t>, which is our knowledge repository, it </a:t>
            </a:r>
            <a:r>
              <a:rPr lang="en-US" sz="1100" b="1" i="1">
                <a:highlight>
                  <a:srgbClr val="DEDDFF"/>
                </a:highlight>
              </a:rPr>
              <a:t>could look at Slack </a:t>
            </a:r>
            <a:r>
              <a:rPr lang="en-US" sz="1100" i="1"/>
              <a:t>threads for more context and it </a:t>
            </a:r>
            <a:r>
              <a:rPr lang="en-US" sz="1100" b="1" i="1">
                <a:highlight>
                  <a:srgbClr val="DEDDFF"/>
                </a:highlight>
              </a:rPr>
              <a:t>could look at the PRD files</a:t>
            </a:r>
            <a:r>
              <a:rPr lang="en-US" sz="1100" i="1"/>
              <a:t>.” “</a:t>
            </a:r>
            <a:r>
              <a:rPr lang="en-US" sz="1100" b="1" i="1">
                <a:highlight>
                  <a:srgbClr val="DEDDFF"/>
                </a:highlight>
              </a:rPr>
              <a:t>But the agents are scoped. You don't want to overload the context window.</a:t>
            </a:r>
            <a:r>
              <a:rPr lang="en-US" sz="1100" i="1"/>
              <a:t>”</a:t>
            </a:r>
          </a:p>
          <a:p>
            <a:pPr algn="r">
              <a:buNone/>
            </a:pPr>
            <a:r>
              <a:rPr lang="en-US" sz="1100"/>
              <a:t>- Senior Director Engineering, Professional Services</a:t>
            </a:r>
          </a:p>
        </p:txBody>
      </p:sp>
      <p:sp>
        <p:nvSpPr>
          <p:cNvPr id="37" name="Pentagon 36">
            <a:extLst>
              <a:ext uri="{FF2B5EF4-FFF2-40B4-BE49-F238E27FC236}">
                <a16:creationId xmlns:a16="http://schemas.microsoft.com/office/drawing/2014/main" id="{A683DCB3-33E6-5B6C-E47F-BF21FED8C7B9}"/>
              </a:ext>
            </a:extLst>
          </p:cNvPr>
          <p:cNvSpPr/>
          <p:nvPr/>
        </p:nvSpPr>
        <p:spPr>
          <a:xfrm>
            <a:off x="256032" y="2184443"/>
            <a:ext cx="770086" cy="66898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No dedicated agent files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45FD2F-81D5-75E6-CB88-085F2DCDA308}"/>
              </a:ext>
            </a:extLst>
          </p:cNvPr>
          <p:cNvSpPr txBox="1"/>
          <p:nvPr/>
        </p:nvSpPr>
        <p:spPr>
          <a:xfrm>
            <a:off x="3186953" y="2967635"/>
            <a:ext cx="650955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/>
              <a:t>"We have </a:t>
            </a:r>
            <a:r>
              <a:rPr lang="en-US" sz="1100" b="1" i="1">
                <a:highlight>
                  <a:srgbClr val="DEDDFF"/>
                </a:highlight>
              </a:rPr>
              <a:t>context in markdown in the </a:t>
            </a:r>
            <a:r>
              <a:rPr lang="en-US" sz="1100" b="1" i="1" err="1">
                <a:highlight>
                  <a:srgbClr val="DEDDFF"/>
                </a:highlight>
              </a:rPr>
              <a:t>monorepo</a:t>
            </a:r>
            <a:r>
              <a:rPr lang="en-US" sz="1100" i="1"/>
              <a:t>. One of the advantages of the </a:t>
            </a:r>
            <a:r>
              <a:rPr lang="en-US" sz="1100" i="1" err="1"/>
              <a:t>monorepo</a:t>
            </a:r>
            <a:r>
              <a:rPr lang="en-US" sz="1100" i="1"/>
              <a:t> is that we have a bunch of services and we have Bazel managing the whole </a:t>
            </a:r>
            <a:r>
              <a:rPr lang="en-US" sz="1100" i="1" err="1"/>
              <a:t>monorepo</a:t>
            </a:r>
            <a:r>
              <a:rPr lang="en-US" sz="1100" i="1"/>
              <a:t>… </a:t>
            </a:r>
            <a:r>
              <a:rPr lang="en-US" sz="1100" b="1" i="1">
                <a:highlight>
                  <a:srgbClr val="DEDDFF"/>
                </a:highlight>
              </a:rPr>
              <a:t>we have a CLAUDE.md that's pointing to an AGENTS.md</a:t>
            </a:r>
            <a:r>
              <a:rPr lang="en-US" sz="1100" i="1"/>
              <a:t>. We standardize around it and it has a </a:t>
            </a:r>
            <a:r>
              <a:rPr lang="en-US" sz="1100" b="1" i="1">
                <a:highlight>
                  <a:srgbClr val="DEDDFF"/>
                </a:highlight>
              </a:rPr>
              <a:t>big list of pointers to all sorts of information for different situations</a:t>
            </a:r>
            <a:r>
              <a:rPr lang="en-US" sz="1100" i="1"/>
              <a:t>. We try not to like overload context and enumerate scenarios.”</a:t>
            </a:r>
          </a:p>
          <a:p>
            <a:pPr algn="r"/>
            <a:r>
              <a:rPr lang="en-US" sz="1100" i="1"/>
              <a:t>- </a:t>
            </a:r>
            <a:r>
              <a:rPr lang="en-US" sz="1100"/>
              <a:t>VP of AI Engineering, B2B SaaS </a:t>
            </a:r>
          </a:p>
        </p:txBody>
      </p:sp>
      <p:sp>
        <p:nvSpPr>
          <p:cNvPr id="38" name="Pentagon 37">
            <a:extLst>
              <a:ext uri="{FF2B5EF4-FFF2-40B4-BE49-F238E27FC236}">
                <a16:creationId xmlns:a16="http://schemas.microsoft.com/office/drawing/2014/main" id="{94394785-E457-CE6D-E92B-0E368DCA71EE}"/>
              </a:ext>
            </a:extLst>
          </p:cNvPr>
          <p:cNvSpPr/>
          <p:nvPr/>
        </p:nvSpPr>
        <p:spPr>
          <a:xfrm>
            <a:off x="256032" y="2963973"/>
            <a:ext cx="770086" cy="104588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 err="1"/>
              <a:t>Monorepo</a:t>
            </a:r>
            <a:endParaRPr lang="en-US" sz="1100" b="1" spc="-20"/>
          </a:p>
          <a:p>
            <a:pPr algn="ctr"/>
            <a:r>
              <a:rPr lang="en-US" sz="1100" b="1" spc="-20"/>
              <a:t>markdown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91A46C-6EAA-C593-C2C4-A8948AF112CB}"/>
              </a:ext>
            </a:extLst>
          </p:cNvPr>
          <p:cNvSpPr txBox="1"/>
          <p:nvPr/>
        </p:nvSpPr>
        <p:spPr>
          <a:xfrm>
            <a:off x="3186953" y="4126846"/>
            <a:ext cx="650955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i="1"/>
            </a:lvl1pPr>
          </a:lstStyle>
          <a:p>
            <a:r>
              <a:rPr lang="en-US" sz="1100"/>
              <a:t>“Instead of a markdown, we set up a </a:t>
            </a:r>
            <a:r>
              <a:rPr lang="en-US" sz="1100" b="1">
                <a:highlight>
                  <a:srgbClr val="DEDDFF"/>
                </a:highlight>
              </a:rPr>
              <a:t>Notion doc which acts as like a router document</a:t>
            </a:r>
            <a:r>
              <a:rPr lang="en-US" sz="1100"/>
              <a:t>. We have a skill and all it does is anytime somebody tells you something, Claude, I want you to reference this Notion doc.” </a:t>
            </a:r>
          </a:p>
          <a:p>
            <a:r>
              <a:rPr lang="en-US" sz="1100"/>
              <a:t>"</a:t>
            </a:r>
            <a:r>
              <a:rPr lang="en-US" sz="1100" b="1">
                <a:highlight>
                  <a:srgbClr val="DEDDFF"/>
                </a:highlight>
              </a:rPr>
              <a:t>Each leader can decide what goes in, what doesn't go in, can refine [their] own sections off [the Notion], which are like the utmost relevant to them.</a:t>
            </a:r>
            <a:r>
              <a:rPr lang="en-US" sz="1100"/>
              <a:t>”</a:t>
            </a:r>
          </a:p>
          <a:p>
            <a:r>
              <a:rPr lang="en-US" sz="1100"/>
              <a:t>“So on a daily basis another skill asks if I want to update the docs with new calls.”</a:t>
            </a:r>
          </a:p>
          <a:p>
            <a:r>
              <a:rPr lang="en-US" sz="1100"/>
              <a:t>"Now the only job of a designer is to maintain the MD file in the front-end repo.”</a:t>
            </a:r>
          </a:p>
          <a:p>
            <a:pPr algn="r"/>
            <a:r>
              <a:rPr lang="en-US" sz="1100" i="0"/>
              <a:t>- Chief Product Officer, B2B SaaS</a:t>
            </a:r>
          </a:p>
        </p:txBody>
      </p:sp>
      <p:sp>
        <p:nvSpPr>
          <p:cNvPr id="39" name="Pentagon 38">
            <a:extLst>
              <a:ext uri="{FF2B5EF4-FFF2-40B4-BE49-F238E27FC236}">
                <a16:creationId xmlns:a16="http://schemas.microsoft.com/office/drawing/2014/main" id="{195EAF88-92BA-4E45-B986-A6C0BF4E3195}"/>
              </a:ext>
            </a:extLst>
          </p:cNvPr>
          <p:cNvSpPr/>
          <p:nvPr/>
        </p:nvSpPr>
        <p:spPr>
          <a:xfrm>
            <a:off x="256032" y="4111752"/>
            <a:ext cx="770081" cy="143219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/>
              <a:t>Notion “brain”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59290-2FBB-253C-E9D8-70BDB6AAD654}"/>
              </a:ext>
            </a:extLst>
          </p:cNvPr>
          <p:cNvSpPr txBox="1"/>
          <p:nvPr/>
        </p:nvSpPr>
        <p:spPr>
          <a:xfrm>
            <a:off x="7825740" y="58369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AA6FAB-8C5A-F0E5-3A98-D3DB2E0FEF5D}"/>
              </a:ext>
            </a:extLst>
          </p:cNvPr>
          <p:cNvCxnSpPr>
            <a:cxnSpLocks/>
          </p:cNvCxnSpPr>
          <p:nvPr/>
        </p:nvCxnSpPr>
        <p:spPr>
          <a:xfrm>
            <a:off x="9914341" y="1704257"/>
            <a:ext cx="0" cy="429768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295CE33-D82D-893A-08AF-77A7B9951D7A}"/>
              </a:ext>
            </a:extLst>
          </p:cNvPr>
          <p:cNvSpPr>
            <a:spLocks noChangeAspect="1"/>
          </p:cNvSpPr>
          <p:nvPr/>
        </p:nvSpPr>
        <p:spPr>
          <a:xfrm>
            <a:off x="9725471" y="3625112"/>
            <a:ext cx="365760" cy="365760"/>
          </a:xfrm>
          <a:prstGeom prst="ellipse">
            <a:avLst/>
          </a:prstGeom>
          <a:solidFill>
            <a:schemeClr val="accent6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b="1" spc="-20">
              <a:solidFill>
                <a:schemeClr val="bg1"/>
              </a:solidFill>
            </a:endParaRPr>
          </a:p>
        </p:txBody>
      </p:sp>
      <p:pic>
        <p:nvPicPr>
          <p:cNvPr id="12" name="Graphic 11" descr="Caret Right with solid fill">
            <a:extLst>
              <a:ext uri="{FF2B5EF4-FFF2-40B4-BE49-F238E27FC236}">
                <a16:creationId xmlns:a16="http://schemas.microsoft.com/office/drawing/2014/main" id="{A4B596C1-6A5F-7332-DFAE-2844F86B71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02293" y="3579392"/>
            <a:ext cx="457200" cy="457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170DC6-6D98-6DC7-F17C-2779163463FB}"/>
              </a:ext>
            </a:extLst>
          </p:cNvPr>
          <p:cNvSpPr txBox="1"/>
          <p:nvPr/>
        </p:nvSpPr>
        <p:spPr>
          <a:xfrm>
            <a:off x="0" y="8850"/>
            <a:ext cx="2321893" cy="153888"/>
          </a:xfrm>
          <a:prstGeom prst="rect">
            <a:avLst/>
          </a:prstGeom>
          <a:solidFill>
            <a:schemeClr val="accent3"/>
          </a:solidFill>
        </p:spPr>
        <p:txBody>
          <a:bodyPr wrap="square" lIns="9144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1200" b="1">
                <a:solidFill>
                  <a:schemeClr val="accent3"/>
                </a:solidFill>
              </a:defRPr>
            </a:lvl1pPr>
          </a:lstStyle>
          <a:p>
            <a:pPr algn="l"/>
            <a:r>
              <a:rPr lang="en-US" sz="1000">
                <a:solidFill>
                  <a:schemeClr val="bg1"/>
                </a:solidFill>
              </a:rPr>
              <a:t>Intelligence Infrastructure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E6BEBB-6E85-890E-3615-3BF3551847F9}"/>
              </a:ext>
            </a:extLst>
          </p:cNvPr>
          <p:cNvSpPr/>
          <p:nvPr/>
        </p:nvSpPr>
        <p:spPr>
          <a:xfrm>
            <a:off x="1531668" y="2966649"/>
            <a:ext cx="1600466" cy="1040528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/>
            <a:r>
              <a:rPr lang="en-US" sz="1100" spc="-20"/>
              <a:t>The </a:t>
            </a:r>
            <a:r>
              <a:rPr lang="en-US" sz="1100" spc="-20" err="1"/>
              <a:t>monorepo</a:t>
            </a:r>
            <a:r>
              <a:rPr lang="en-US" sz="1100" spc="-20"/>
              <a:t> is the context layer, markdown pointers route agents to the right material, replacing a RAG pipeline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E23E83-2A30-A82C-36F4-ECC3D022F05C}"/>
              </a:ext>
            </a:extLst>
          </p:cNvPr>
          <p:cNvSpPr/>
          <p:nvPr/>
        </p:nvSpPr>
        <p:spPr>
          <a:xfrm>
            <a:off x="1531668" y="4111752"/>
            <a:ext cx="1600466" cy="1432198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/>
            <a:r>
              <a:rPr lang="en-US" sz="1100"/>
              <a:t>Notion serves as a router; leaders maintain their own sub-sections; the doc is refreshed daily by an automated skill.</a:t>
            </a:r>
            <a:endParaRPr lang="en-US" sz="1100" b="1" spc="-2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8450E17-BB18-A555-90D0-E063C0DACB64}"/>
              </a:ext>
            </a:extLst>
          </p:cNvPr>
          <p:cNvSpPr>
            <a:spLocks noChangeAspect="1"/>
          </p:cNvSpPr>
          <p:nvPr/>
        </p:nvSpPr>
        <p:spPr>
          <a:xfrm>
            <a:off x="1115496" y="2364622"/>
            <a:ext cx="308628" cy="308628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b="1" spc="-20">
              <a:solidFill>
                <a:schemeClr val="bg1"/>
              </a:solidFill>
            </a:endParaRPr>
          </a:p>
        </p:txBody>
      </p:sp>
      <p:pic>
        <p:nvPicPr>
          <p:cNvPr id="23" name="Graphic 22" descr="Caret Right with solid fill">
            <a:extLst>
              <a:ext uri="{FF2B5EF4-FFF2-40B4-BE49-F238E27FC236}">
                <a16:creationId xmlns:a16="http://schemas.microsoft.com/office/drawing/2014/main" id="{05637EA4-FAF4-DDF0-5FF0-7D57EEB5AF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2318" y="2326044"/>
            <a:ext cx="385785" cy="38578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E0B3CA78-9261-57E8-FE02-D9FBEDFE5CED}"/>
              </a:ext>
            </a:extLst>
          </p:cNvPr>
          <p:cNvSpPr>
            <a:spLocks noChangeAspect="1"/>
          </p:cNvSpPr>
          <p:nvPr/>
        </p:nvSpPr>
        <p:spPr>
          <a:xfrm>
            <a:off x="1113213" y="3332599"/>
            <a:ext cx="308628" cy="308628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b="1" spc="-20">
              <a:solidFill>
                <a:schemeClr val="bg1"/>
              </a:solidFill>
            </a:endParaRPr>
          </a:p>
        </p:txBody>
      </p:sp>
      <p:pic>
        <p:nvPicPr>
          <p:cNvPr id="32" name="Graphic 31" descr="Caret Right with solid fill">
            <a:extLst>
              <a:ext uri="{FF2B5EF4-FFF2-40B4-BE49-F238E27FC236}">
                <a16:creationId xmlns:a16="http://schemas.microsoft.com/office/drawing/2014/main" id="{6FB95B64-043B-D241-AD0D-F7DCE8B05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035" y="3294021"/>
            <a:ext cx="385785" cy="385785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B0F34C4F-4652-2768-D20F-2B4D62FA5E1F}"/>
              </a:ext>
            </a:extLst>
          </p:cNvPr>
          <p:cNvSpPr>
            <a:spLocks noChangeAspect="1"/>
          </p:cNvSpPr>
          <p:nvPr/>
        </p:nvSpPr>
        <p:spPr>
          <a:xfrm>
            <a:off x="1111733" y="4673537"/>
            <a:ext cx="308628" cy="308628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b="1" spc="-20">
              <a:solidFill>
                <a:schemeClr val="bg1"/>
              </a:solidFill>
            </a:endParaRPr>
          </a:p>
        </p:txBody>
      </p:sp>
      <p:pic>
        <p:nvPicPr>
          <p:cNvPr id="36" name="Graphic 35" descr="Caret Right with solid fill">
            <a:extLst>
              <a:ext uri="{FF2B5EF4-FFF2-40B4-BE49-F238E27FC236}">
                <a16:creationId xmlns:a16="http://schemas.microsoft.com/office/drawing/2014/main" id="{C4A25438-8E10-5A01-4B4E-05B6AEABD2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8555" y="4634959"/>
            <a:ext cx="385785" cy="38578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38273B6-055B-AC3E-7AC1-59725A933836}"/>
              </a:ext>
            </a:extLst>
          </p:cNvPr>
          <p:cNvGrpSpPr/>
          <p:nvPr/>
        </p:nvGrpSpPr>
        <p:grpSpPr>
          <a:xfrm>
            <a:off x="10135158" y="6440556"/>
            <a:ext cx="1125415" cy="222738"/>
            <a:chOff x="10819335" y="102314"/>
            <a:chExt cx="1125415" cy="22273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26227CF-C774-6885-CCAD-6D82BDD0CA3F}"/>
                </a:ext>
              </a:extLst>
            </p:cNvPr>
            <p:cNvCxnSpPr>
              <a:cxnSpLocks/>
            </p:cNvCxnSpPr>
            <p:nvPr/>
          </p:nvCxnSpPr>
          <p:spPr>
            <a:xfrm>
              <a:off x="10819335" y="102314"/>
              <a:ext cx="1125415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949CF22-91CE-BD98-22BB-78D66B474A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19335" y="325052"/>
              <a:ext cx="1125415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035362-4415-398A-5239-479D42152036}"/>
                </a:ext>
              </a:extLst>
            </p:cNvPr>
            <p:cNvSpPr txBox="1"/>
            <p:nvPr/>
          </p:nvSpPr>
          <p:spPr>
            <a:xfrm>
              <a:off x="10819335" y="102314"/>
              <a:ext cx="1125415" cy="2227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800"/>
                </a:spcBef>
              </a:pPr>
              <a:r>
                <a:rPr lang="en-US" sz="1200" b="1" spc="-20">
                  <a:solidFill>
                    <a:srgbClr val="C00000"/>
                  </a:solidFill>
                </a:rPr>
                <a:t>PRELIMINARY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3321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866B0-E8DB-D1BF-5922-9E708789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DAC2A68-81E1-E481-29C0-EA69C40CA54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AC2A68-81E1-E481-29C0-EA69C40CA5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6A7059C-2E76-CB54-FBE8-3801132AD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Appendix: Check-in 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E037BD-4000-1828-DF2B-5100D0FE1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BC0BC-B144-8173-A7B5-9345E4E2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229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DC98-4FA9-912B-A093-04CE7216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5C2881D-CD77-6E72-16DA-05439E5D3B8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C2881D-CD77-6E72-16DA-05439E5D3B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FA62F6F-2A04-FDE6-7252-D0503CA9C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Frontier firms buy a commoditized foundational layer, then build custom AI infrastructure around it where proprietary context creates value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8D4CA-9024-5D9C-3221-1A38770B0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90F21-5DA9-F0D2-02AF-5C0FA4DB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70A00A-4CC7-8441-F33A-FE5ED89A5D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EA3337-2F39-F394-6FF1-E73FDE2F44BC}"/>
              </a:ext>
            </a:extLst>
          </p:cNvPr>
          <p:cNvSpPr/>
          <p:nvPr/>
        </p:nvSpPr>
        <p:spPr>
          <a:xfrm>
            <a:off x="1244698" y="5614180"/>
            <a:ext cx="9702605" cy="447253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b="1" spc="-20">
                <a:solidFill>
                  <a:schemeClr val="bg1"/>
                </a:solidFill>
              </a:rPr>
              <a:t>Foundational models are a depreciating asset while proprietary context in semantic layers compounds in value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DDB18C-004A-8956-8647-0ABB17500DF3}"/>
              </a:ext>
            </a:extLst>
          </p:cNvPr>
          <p:cNvSpPr txBox="1"/>
          <p:nvPr/>
        </p:nvSpPr>
        <p:spPr>
          <a:xfrm>
            <a:off x="1545021" y="7173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D7EEA4-2090-3E88-70A9-8076CA8B4EFE}"/>
              </a:ext>
            </a:extLst>
          </p:cNvPr>
          <p:cNvSpPr/>
          <p:nvPr/>
        </p:nvSpPr>
        <p:spPr>
          <a:xfrm>
            <a:off x="778979" y="1527640"/>
            <a:ext cx="1575581" cy="173032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noFill/>
          </a:ln>
        </p:spPr>
        <p:txBody>
          <a:bodyPr wrap="square" lIns="144000" tIns="0" rIns="144000" bIns="182880" rtlCol="0" anchor="b">
            <a:noAutofit/>
          </a:bodyPr>
          <a:lstStyle/>
          <a:p>
            <a:pPr algn="ctr"/>
            <a:r>
              <a:rPr lang="en-US" sz="1100" b="1" spc="-20">
                <a:solidFill>
                  <a:schemeClr val="bg1"/>
                </a:solidFill>
              </a:rPr>
              <a:t>Buy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32157E3-FE74-37E9-5054-9A807286A5DE}"/>
              </a:ext>
            </a:extLst>
          </p:cNvPr>
          <p:cNvSpPr>
            <a:spLocks noChangeAspect="1"/>
          </p:cNvSpPr>
          <p:nvPr/>
        </p:nvSpPr>
        <p:spPr>
          <a:xfrm>
            <a:off x="1246729" y="1799245"/>
            <a:ext cx="640080" cy="640080"/>
          </a:xfrm>
          <a:prstGeom prst="ellipse">
            <a:avLst/>
          </a:pr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pic>
        <p:nvPicPr>
          <p:cNvPr id="28" name="Graphic 27" descr="Shopping cart with solid fill">
            <a:extLst>
              <a:ext uri="{FF2B5EF4-FFF2-40B4-BE49-F238E27FC236}">
                <a16:creationId xmlns:a16="http://schemas.microsoft.com/office/drawing/2014/main" id="{50B1EBCD-1994-D2F0-0C18-BA2FC52FF4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5269" y="1908885"/>
            <a:ext cx="462999" cy="462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2680AE-3AF2-C50B-C64E-3FD6AF1D3FD5}"/>
              </a:ext>
            </a:extLst>
          </p:cNvPr>
          <p:cNvCxnSpPr/>
          <p:nvPr/>
        </p:nvCxnSpPr>
        <p:spPr>
          <a:xfrm>
            <a:off x="778980" y="3427914"/>
            <a:ext cx="1063404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">
            <a:extLst>
              <a:ext uri="{FF2B5EF4-FFF2-40B4-BE49-F238E27FC236}">
                <a16:creationId xmlns:a16="http://schemas.microsoft.com/office/drawing/2014/main" id="{881C7F5F-6C17-7836-5C6B-AE79DC3E4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2620" y="1530200"/>
            <a:ext cx="8712289" cy="1779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14000"/>
              </a:lnSpc>
              <a:spcAft>
                <a:spcPts val="600"/>
              </a:spcAft>
            </a:pPr>
            <a:r>
              <a:rPr lang="en-US" sz="1200" i="1"/>
              <a:t>We </a:t>
            </a:r>
            <a:r>
              <a:rPr lang="en-US" sz="1200" b="1" i="1">
                <a:highlight>
                  <a:srgbClr val="98FFD7"/>
                </a:highlight>
              </a:rPr>
              <a:t>buy for commodities</a:t>
            </a:r>
            <a:r>
              <a:rPr lang="en-US" sz="1200" i="1"/>
              <a:t>, for example, coding assistance. </a:t>
            </a:r>
            <a:r>
              <a:rPr lang="en-US" sz="1200" b="1" i="1">
                <a:highlight>
                  <a:srgbClr val="98FFD7"/>
                </a:highlight>
              </a:rPr>
              <a:t>Coding assistance </a:t>
            </a:r>
            <a:r>
              <a:rPr lang="en-US" sz="1200" i="1"/>
              <a:t>has plenty of tools already on the market. Another example will be </a:t>
            </a:r>
            <a:r>
              <a:rPr lang="en-US" sz="1200" b="1" i="1">
                <a:highlight>
                  <a:srgbClr val="98FFD7"/>
                </a:highlight>
              </a:rPr>
              <a:t>model infra</a:t>
            </a:r>
            <a:r>
              <a:rPr lang="en-US" sz="1200" b="1" i="1"/>
              <a:t>. </a:t>
            </a:r>
            <a:r>
              <a:rPr lang="en-US" sz="1200" i="1"/>
              <a:t>We are training our own AI model for our own AI features. For that we need to buy infra like AWS Bedrock or other front-end labs that obviously give us the capability.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14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Firms are sensitive to the time cost of starting from scratch for industry-agnostic or replicable workflows</a:t>
            </a:r>
          </a:p>
          <a:p>
            <a:pPr marL="171450" marR="0" lvl="0" indent="-171450" algn="l" defTabSz="914400" rtl="0" eaLnBrk="0" fontAlgn="base" latinLnBrk="0" hangingPunct="0">
              <a:lnSpc>
                <a:spcPct val="114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Preference for flexible access to a constellation of existing foundational models allows for inheriting foundational frontier evolutions and increasing functionality</a:t>
            </a:r>
          </a:p>
          <a:p>
            <a:pPr marL="171450" marR="0" lvl="0" indent="-171450" algn="l" defTabSz="914400" rtl="0" eaLnBrk="0" fontAlgn="base" latinLnBrk="0" hangingPunct="0">
              <a:lnSpc>
                <a:spcPct val="114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Packaged cloud infrastructure allows for model integration and eases operational burdens of self-hosting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0F1BE4-A77D-01A9-9715-310F6F6022F8}"/>
              </a:ext>
            </a:extLst>
          </p:cNvPr>
          <p:cNvSpPr txBox="1"/>
          <p:nvPr/>
        </p:nvSpPr>
        <p:spPr>
          <a:xfrm>
            <a:off x="2504816" y="1154559"/>
            <a:ext cx="599687" cy="380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6000" spc="-20">
                <a:solidFill>
                  <a:schemeClr val="accent4"/>
                </a:solidFill>
              </a:rPr>
              <a:t>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588488-7FDD-2049-EDC1-22295D5C1BF4}"/>
              </a:ext>
            </a:extLst>
          </p:cNvPr>
          <p:cNvSpPr txBox="1"/>
          <p:nvPr/>
        </p:nvSpPr>
        <p:spPr>
          <a:xfrm>
            <a:off x="7989174" y="1753383"/>
            <a:ext cx="599687" cy="380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6000" spc="-20">
                <a:solidFill>
                  <a:schemeClr val="accent4"/>
                </a:solidFill>
              </a:rPr>
              <a:t>”</a:t>
            </a: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DE332175-306E-6163-3DCD-0C4AEBB1A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8564" y="3624394"/>
            <a:ext cx="8740399" cy="1779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14000"/>
              </a:lnSpc>
              <a:spcAft>
                <a:spcPts val="600"/>
              </a:spcAft>
            </a:pP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decide to </a:t>
            </a:r>
            <a:r>
              <a:rPr lang="en-US" altLang="en-US" sz="1200" b="1" i="1" spc="-10">
                <a:highlight>
                  <a:srgbClr val="98FFD7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build when there is a proprietary context</a:t>
            </a:r>
            <a:r>
              <a:rPr lang="en-US" altLang="en-US" sz="1200" b="1" i="1">
                <a:solidFill>
                  <a:srgbClr val="000000"/>
                </a:solidFill>
                <a:highlight>
                  <a:srgbClr val="98FFD7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an interaction advantage. For example, we build a custom MCP for our agents for our internal documentation. This is </a:t>
            </a:r>
            <a:r>
              <a:rPr lang="en-US" altLang="en-US" sz="1200" b="1" i="1">
                <a:solidFill>
                  <a:srgbClr val="000000"/>
                </a:solidFill>
                <a:highlight>
                  <a:srgbClr val="98FFD7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proprietary context that lives inside our organization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so we needed to build the MCP in order to give these agents the correct context for the solution they’re trying to achieve.</a:t>
            </a:r>
            <a:endParaRPr lang="en-US" sz="1200"/>
          </a:p>
          <a:p>
            <a:pPr marL="171450" indent="-171450" eaLnBrk="0" fontAlgn="base" hangingPunct="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Organizations add layers for orchestration, supervision (guardrails), evaluation, vendor integration, and domain-specific data</a:t>
            </a:r>
          </a:p>
          <a:p>
            <a:pPr marL="171450" indent="-171450" eaLnBrk="0" fontAlgn="base" hangingPunct="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Value comes from encoding expertise in the semantic layer, allowing firms to retain control</a:t>
            </a:r>
          </a:p>
          <a:p>
            <a:pPr marL="171450" indent="-171450" eaLnBrk="0" fontAlgn="base" hangingPunct="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Frontier firms only build specialized models when the workload is so niche, high volume, and/or latency sensitive that total ownership wins out over cost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6319AF-980D-9A46-4FE7-AE892A3FD53A}"/>
              </a:ext>
            </a:extLst>
          </p:cNvPr>
          <p:cNvSpPr txBox="1"/>
          <p:nvPr/>
        </p:nvSpPr>
        <p:spPr>
          <a:xfrm>
            <a:off x="2504816" y="3321682"/>
            <a:ext cx="599687" cy="380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6000" spc="-20">
                <a:solidFill>
                  <a:schemeClr val="accent4"/>
                </a:solidFill>
              </a:rPr>
              <a:t>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97C157-022F-32E9-16F9-EB68C7FD259D}"/>
              </a:ext>
            </a:extLst>
          </p:cNvPr>
          <p:cNvSpPr txBox="1"/>
          <p:nvPr/>
        </p:nvSpPr>
        <p:spPr>
          <a:xfrm>
            <a:off x="9728962" y="3874544"/>
            <a:ext cx="599687" cy="380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6000" spc="-20">
                <a:solidFill>
                  <a:schemeClr val="accent4"/>
                </a:solidFill>
              </a:rPr>
              <a:t>”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FDB1BD-D1D5-5544-81F7-6C360EBA80A9}"/>
              </a:ext>
            </a:extLst>
          </p:cNvPr>
          <p:cNvSpPr/>
          <p:nvPr/>
        </p:nvSpPr>
        <p:spPr>
          <a:xfrm>
            <a:off x="778979" y="3601575"/>
            <a:ext cx="1575581" cy="173032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noFill/>
          </a:ln>
        </p:spPr>
        <p:txBody>
          <a:bodyPr wrap="square" lIns="144000" tIns="0" rIns="144000" bIns="182880" rtlCol="0" anchor="b">
            <a:noAutofit/>
          </a:bodyPr>
          <a:lstStyle/>
          <a:p>
            <a:pPr algn="ctr"/>
            <a:r>
              <a:rPr lang="en-US" sz="1100" b="1" spc="-20">
                <a:solidFill>
                  <a:schemeClr val="bg1"/>
                </a:solidFill>
              </a:rPr>
              <a:t>Build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A5C5D07-F891-3745-B52B-BD668B1CC715}"/>
              </a:ext>
            </a:extLst>
          </p:cNvPr>
          <p:cNvSpPr>
            <a:spLocks noChangeAspect="1"/>
          </p:cNvSpPr>
          <p:nvPr/>
        </p:nvSpPr>
        <p:spPr>
          <a:xfrm>
            <a:off x="1246729" y="3852988"/>
            <a:ext cx="640080" cy="640080"/>
          </a:xfrm>
          <a:prstGeom prst="ellipse">
            <a:avLst/>
          </a:pr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pic>
        <p:nvPicPr>
          <p:cNvPr id="22" name="Graphic 21" descr="Building Brick Wall with solid fill">
            <a:extLst>
              <a:ext uri="{FF2B5EF4-FFF2-40B4-BE49-F238E27FC236}">
                <a16:creationId xmlns:a16="http://schemas.microsoft.com/office/drawing/2014/main" id="{3DD87680-A3D7-3C09-346C-DA44F3FD9D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5332" y="3916560"/>
            <a:ext cx="512936" cy="51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41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D05D2-85AF-1898-35DB-ECBC7EE2C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0828807-2267-D8F0-0DD7-1EFE24672FB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96745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9" imgH="349" progId="TCLayout.ActiveDocument.1">
                  <p:embed/>
                </p:oleObj>
              </mc:Choice>
              <mc:Fallback>
                <p:oleObj name="think-cell Slide" r:id="rId4" imgW="349" imgH="34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828807-2267-D8F0-0DD7-1EFE24672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FD2548FE-3C34-45D9-86EF-BCCBD7D7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58578"/>
            <a:ext cx="11412000" cy="886397"/>
          </a:xfrm>
        </p:spPr>
        <p:txBody>
          <a:bodyPr vert="horz" rIns="0">
            <a:spAutoFit/>
          </a:bodyPr>
          <a:lstStyle/>
          <a:p>
            <a:r>
              <a:rPr lang="en-US"/>
              <a:t>Establishing a frontier firm operating model is the first step </a:t>
            </a:r>
            <a:br>
              <a:rPr lang="en-US"/>
            </a:br>
            <a:r>
              <a:rPr lang="en-US"/>
              <a:t>toward building a robust benchmarking framework</a:t>
            </a:r>
            <a:endParaRPr lang="en-US" sz="2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B25FE2-8763-0261-9EF5-AEEA2AF0E4C8}"/>
              </a:ext>
            </a:extLst>
          </p:cNvPr>
          <p:cNvSpPr/>
          <p:nvPr/>
        </p:nvSpPr>
        <p:spPr>
          <a:xfrm>
            <a:off x="685800" y="1428541"/>
            <a:ext cx="10987078" cy="35737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00" b="1" spc="-20">
                <a:solidFill>
                  <a:schemeClr val="bg1"/>
                </a:solidFill>
              </a:rPr>
              <a:t>The Operating Model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995288-3838-B1D8-03CC-1253BE5D7C47}"/>
              </a:ext>
            </a:extLst>
          </p:cNvPr>
          <p:cNvSpPr/>
          <p:nvPr/>
        </p:nvSpPr>
        <p:spPr>
          <a:xfrm>
            <a:off x="685800" y="6004243"/>
            <a:ext cx="10987077" cy="410078"/>
          </a:xfrm>
          <a:prstGeom prst="round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Frontier firm capabilities manifest both  across established operating model foundations and new AI-native requirements that are increasingly shaping performance</a:t>
            </a:r>
            <a:endParaRPr lang="en-US" sz="12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EEDFCC-4B00-B1CB-F484-CB19817BEE89}"/>
              </a:ext>
            </a:extLst>
          </p:cNvPr>
          <p:cNvCxnSpPr>
            <a:cxnSpLocks/>
          </p:cNvCxnSpPr>
          <p:nvPr/>
        </p:nvCxnSpPr>
        <p:spPr>
          <a:xfrm>
            <a:off x="10947603" y="97794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E984BF-663C-8B52-9B82-7E85A353EC62}"/>
              </a:ext>
            </a:extLst>
          </p:cNvPr>
          <p:cNvCxnSpPr>
            <a:cxnSpLocks/>
          </p:cNvCxnSpPr>
          <p:nvPr/>
        </p:nvCxnSpPr>
        <p:spPr>
          <a:xfrm>
            <a:off x="10947603" y="320532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EBBE8B9-318B-4BD1-95B0-AEB9C9BB0A1D}"/>
              </a:ext>
            </a:extLst>
          </p:cNvPr>
          <p:cNvSpPr txBox="1"/>
          <p:nvPr/>
        </p:nvSpPr>
        <p:spPr>
          <a:xfrm>
            <a:off x="10947603" y="97794"/>
            <a:ext cx="1125415" cy="2227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>
                <a:solidFill>
                  <a:srgbClr val="C00000"/>
                </a:solidFill>
              </a:rPr>
              <a:t>PRELIMINARY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8F5D9E-A150-8461-B02C-65365CE3F755}"/>
              </a:ext>
            </a:extLst>
          </p:cNvPr>
          <p:cNvSpPr/>
          <p:nvPr/>
        </p:nvSpPr>
        <p:spPr>
          <a:xfrm>
            <a:off x="685800" y="1892576"/>
            <a:ext cx="3291840" cy="3913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endParaRPr lang="en-US" sz="1100" b="1" spc="-2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F22ADD-5795-09A9-7F8F-3010F80A7058}"/>
              </a:ext>
            </a:extLst>
          </p:cNvPr>
          <p:cNvGrpSpPr/>
          <p:nvPr/>
        </p:nvGrpSpPr>
        <p:grpSpPr>
          <a:xfrm>
            <a:off x="1874520" y="2267247"/>
            <a:ext cx="914400" cy="914400"/>
            <a:chOff x="1568635" y="2086884"/>
            <a:chExt cx="914400" cy="9144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9C249D-0B98-88BC-48CC-A414CA687D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68635" y="2086884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</a:ln>
          </p:spPr>
          <p:txBody>
            <a:bodyPr wrap="square" lIns="144000" tIns="0" rIns="144000" bIns="0" rtlCol="0" anchor="ctr">
              <a:noAutofit/>
            </a:bodyPr>
            <a:lstStyle/>
            <a:p>
              <a:pPr algn="ctr"/>
              <a:endParaRPr lang="en-US" sz="1100" b="1" spc="-20"/>
            </a:p>
          </p:txBody>
        </p:sp>
        <p:pic>
          <p:nvPicPr>
            <p:cNvPr id="19" name="Graphic 18" descr="Server with solid fill">
              <a:extLst>
                <a:ext uri="{FF2B5EF4-FFF2-40B4-BE49-F238E27FC236}">
                  <a16:creationId xmlns:a16="http://schemas.microsoft.com/office/drawing/2014/main" id="{691AAED3-DDE4-35CA-8AA9-6D6AB59385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05860" y="2223979"/>
              <a:ext cx="640080" cy="640080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7FB1928-D864-26E9-7B96-F9FE3C05C863}"/>
              </a:ext>
            </a:extLst>
          </p:cNvPr>
          <p:cNvSpPr txBox="1"/>
          <p:nvPr/>
        </p:nvSpPr>
        <p:spPr>
          <a:xfrm>
            <a:off x="822960" y="3778551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 lIns="0" rIns="45720">
            <a:spAutoFit/>
          </a:bodyPr>
          <a:lstStyle/>
          <a:p>
            <a:r>
              <a:rPr lang="en-US" sz="1200" b="1"/>
              <a:t>Models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028938-A5FC-E5C8-2879-6479E3640ED8}"/>
              </a:ext>
            </a:extLst>
          </p:cNvPr>
          <p:cNvSpPr txBox="1"/>
          <p:nvPr/>
        </p:nvSpPr>
        <p:spPr>
          <a:xfrm>
            <a:off x="822960" y="5024543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 lIns="0" rIns="45720">
            <a:spAutoFit/>
          </a:bodyPr>
          <a:lstStyle/>
          <a:p>
            <a:r>
              <a:rPr lang="en-US" sz="1200" b="1"/>
              <a:t>Integration and connection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A3DEDF-EA1C-FFC4-C2E4-556F186DECA9}"/>
              </a:ext>
            </a:extLst>
          </p:cNvPr>
          <p:cNvSpPr txBox="1"/>
          <p:nvPr/>
        </p:nvSpPr>
        <p:spPr>
          <a:xfrm>
            <a:off x="822960" y="4196216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 lIns="0" rIns="45720">
            <a:spAutoFit/>
          </a:bodyPr>
          <a:lstStyle/>
          <a:p>
            <a:r>
              <a:rPr lang="en-US" sz="1200" b="1"/>
              <a:t>Execution environments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5F11BB-ADDA-3317-750F-CE62ADFB835E}"/>
              </a:ext>
            </a:extLst>
          </p:cNvPr>
          <p:cNvSpPr txBox="1"/>
          <p:nvPr/>
        </p:nvSpPr>
        <p:spPr>
          <a:xfrm>
            <a:off x="822960" y="3360886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 lIns="0" rIns="45720">
            <a:spAutoFit/>
          </a:bodyPr>
          <a:lstStyle/>
          <a:p>
            <a:r>
              <a:rPr lang="en-US" sz="1200" b="1"/>
              <a:t>Eval / telemetry infra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A8EBAF-62B8-42EE-CC25-358CCBEC25D5}"/>
              </a:ext>
            </a:extLst>
          </p:cNvPr>
          <p:cNvSpPr txBox="1"/>
          <p:nvPr/>
        </p:nvSpPr>
        <p:spPr>
          <a:xfrm>
            <a:off x="822960" y="5449207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 lIns="0" rIns="45720">
            <a:spAutoFit/>
          </a:bodyPr>
          <a:lstStyle/>
          <a:p>
            <a:r>
              <a:rPr lang="en-US" sz="1200" b="1"/>
              <a:t>Compute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4B64A89-55D3-EBF0-CF61-B173452DED22}"/>
              </a:ext>
            </a:extLst>
          </p:cNvPr>
          <p:cNvSpPr txBox="1"/>
          <p:nvPr/>
        </p:nvSpPr>
        <p:spPr>
          <a:xfrm>
            <a:off x="822960" y="4613880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 lIns="0" rIns="45720">
            <a:spAutoFit/>
          </a:bodyPr>
          <a:lstStyle/>
          <a:p>
            <a:r>
              <a:rPr lang="en-US" sz="1200" b="1"/>
              <a:t>Data and Context Substrate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67A7F0-79EA-4D88-FE19-B96E7C46A931}"/>
              </a:ext>
            </a:extLst>
          </p:cNvPr>
          <p:cNvSpPr txBox="1"/>
          <p:nvPr/>
        </p:nvSpPr>
        <p:spPr>
          <a:xfrm>
            <a:off x="791044" y="1935072"/>
            <a:ext cx="1330424" cy="6892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  <a:spcBef>
                <a:spcPts val="1800"/>
              </a:spcBef>
            </a:pPr>
            <a:r>
              <a:rPr lang="en-US" sz="1400" b="1" i="1" spc="-20">
                <a:solidFill>
                  <a:schemeClr val="bg1">
                    <a:lumMod val="25000"/>
                  </a:schemeClr>
                </a:solidFill>
              </a:rPr>
              <a:t>Infrastructure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41AB24A-41EA-7B5E-9E5A-0B0B892F2684}"/>
              </a:ext>
            </a:extLst>
          </p:cNvPr>
          <p:cNvSpPr/>
          <p:nvPr/>
        </p:nvSpPr>
        <p:spPr>
          <a:xfrm>
            <a:off x="8381037" y="1892576"/>
            <a:ext cx="3291840" cy="3913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3A435D-4B8C-BDC0-AB17-F79C3B1D54A6}"/>
              </a:ext>
            </a:extLst>
          </p:cNvPr>
          <p:cNvGrpSpPr/>
          <p:nvPr/>
        </p:nvGrpSpPr>
        <p:grpSpPr>
          <a:xfrm>
            <a:off x="9569757" y="2267248"/>
            <a:ext cx="914400" cy="914400"/>
            <a:chOff x="9451531" y="2220500"/>
            <a:chExt cx="914400" cy="9144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46434ED-634E-D2E6-694C-9F019F5DF5B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51531" y="22205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</a:ln>
          </p:spPr>
          <p:txBody>
            <a:bodyPr wrap="square" lIns="144000" tIns="0" rIns="144000" bIns="0" rtlCol="0" anchor="ctr">
              <a:noAutofit/>
            </a:bodyPr>
            <a:lstStyle/>
            <a:p>
              <a:pPr algn="ctr"/>
              <a:endParaRPr lang="en-US" sz="1100" b="1" spc="-20"/>
            </a:p>
          </p:txBody>
        </p:sp>
        <p:pic>
          <p:nvPicPr>
            <p:cNvPr id="22" name="Graphic 21" descr="Hierarchy with solid fill">
              <a:extLst>
                <a:ext uri="{FF2B5EF4-FFF2-40B4-BE49-F238E27FC236}">
                  <a16:creationId xmlns:a16="http://schemas.microsoft.com/office/drawing/2014/main" id="{9E633B52-77AC-DBD2-FFB3-97E9E12C1B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585230" y="2333470"/>
              <a:ext cx="640080" cy="640080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ACE0DB8-7D9F-80AC-9626-AA4D7C067B42}"/>
              </a:ext>
            </a:extLst>
          </p:cNvPr>
          <p:cNvSpPr txBox="1"/>
          <p:nvPr/>
        </p:nvSpPr>
        <p:spPr>
          <a:xfrm>
            <a:off x="8518197" y="3360887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/>
              <a:t>Organization Structure &amp; Composition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7C0E25-D799-84D3-41D5-41E06AD1B497}"/>
              </a:ext>
            </a:extLst>
          </p:cNvPr>
          <p:cNvSpPr txBox="1"/>
          <p:nvPr/>
        </p:nvSpPr>
        <p:spPr>
          <a:xfrm>
            <a:off x="8518197" y="4196217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/>
              <a:t>Talent Readiness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E30585-DFC3-DC32-9B18-B37B12FA89ED}"/>
              </a:ext>
            </a:extLst>
          </p:cNvPr>
          <p:cNvSpPr txBox="1"/>
          <p:nvPr/>
        </p:nvSpPr>
        <p:spPr>
          <a:xfrm>
            <a:off x="8518197" y="5024544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/>
              <a:t>Performance Management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FB6FC9-C1EA-ACC4-4E84-A1040E18C1EE}"/>
              </a:ext>
            </a:extLst>
          </p:cNvPr>
          <p:cNvSpPr txBox="1"/>
          <p:nvPr/>
        </p:nvSpPr>
        <p:spPr>
          <a:xfrm>
            <a:off x="8518197" y="3778552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/>
              <a:t>Review &amp; Learning Culture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DB3B05-2F59-4CF4-E04D-CD292942507E}"/>
              </a:ext>
            </a:extLst>
          </p:cNvPr>
          <p:cNvSpPr txBox="1"/>
          <p:nvPr/>
        </p:nvSpPr>
        <p:spPr>
          <a:xfrm>
            <a:off x="8518197" y="4613881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/>
              <a:t>Judgment &amp; Accountability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34D4DD-2ED0-E26A-2D7F-7BB5FDB96EC0}"/>
              </a:ext>
            </a:extLst>
          </p:cNvPr>
          <p:cNvSpPr txBox="1"/>
          <p:nvPr/>
        </p:nvSpPr>
        <p:spPr>
          <a:xfrm>
            <a:off x="8518197" y="5428179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/>
              <a:t>AI Economics &amp; Value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108E7B-8AE6-CF9B-74F1-B120240500A0}"/>
              </a:ext>
            </a:extLst>
          </p:cNvPr>
          <p:cNvSpPr txBox="1"/>
          <p:nvPr/>
        </p:nvSpPr>
        <p:spPr>
          <a:xfrm>
            <a:off x="10205293" y="1935073"/>
            <a:ext cx="1330424" cy="6892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  <a:spcBef>
                <a:spcPts val="1800"/>
              </a:spcBef>
            </a:pPr>
            <a:r>
              <a:rPr lang="en-US" sz="1400" b="1" i="1" spc="-20">
                <a:solidFill>
                  <a:schemeClr val="bg1">
                    <a:lumMod val="25000"/>
                  </a:schemeClr>
                </a:solidFill>
              </a:rPr>
              <a:t>Operating Capabilities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1B01238-6E47-8231-D273-606ECA13B1DC}"/>
              </a:ext>
            </a:extLst>
          </p:cNvPr>
          <p:cNvSpPr/>
          <p:nvPr/>
        </p:nvSpPr>
        <p:spPr>
          <a:xfrm>
            <a:off x="4533419" y="1892576"/>
            <a:ext cx="3291840" cy="39938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0C92FB-EA52-81FD-852E-41ED66AAE5DA}"/>
              </a:ext>
            </a:extLst>
          </p:cNvPr>
          <p:cNvSpPr txBox="1"/>
          <p:nvPr/>
        </p:nvSpPr>
        <p:spPr>
          <a:xfrm>
            <a:off x="4670579" y="4613882"/>
            <a:ext cx="3017520" cy="30646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/>
              <a:t>Context management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2A5B32-AE4D-15EB-94AD-D388DCD3BC4C}"/>
              </a:ext>
            </a:extLst>
          </p:cNvPr>
          <p:cNvSpPr txBox="1"/>
          <p:nvPr/>
        </p:nvSpPr>
        <p:spPr>
          <a:xfrm>
            <a:off x="4670579" y="5449209"/>
            <a:ext cx="3017520" cy="30646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/>
              <a:t>Agent design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02D1BF-FC1B-5EB7-8DAF-8B9C88154692}"/>
              </a:ext>
            </a:extLst>
          </p:cNvPr>
          <p:cNvSpPr txBox="1"/>
          <p:nvPr/>
        </p:nvSpPr>
        <p:spPr>
          <a:xfrm>
            <a:off x="4670579" y="5024544"/>
            <a:ext cx="3017520" cy="30646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/>
              <a:t>Workflow &amp; task design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F19116-A4FC-9060-AF4C-2BC804D7FC8E}"/>
              </a:ext>
            </a:extLst>
          </p:cNvPr>
          <p:cNvSpPr txBox="1"/>
          <p:nvPr/>
        </p:nvSpPr>
        <p:spPr>
          <a:xfrm>
            <a:off x="4670579" y="3778552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/>
              <a:t>Risk management for AI execution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B37571-36C4-1DF2-A334-A2167B9C6BB6}"/>
              </a:ext>
            </a:extLst>
          </p:cNvPr>
          <p:cNvSpPr txBox="1"/>
          <p:nvPr/>
        </p:nvSpPr>
        <p:spPr>
          <a:xfrm>
            <a:off x="4670579" y="3360887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/>
              <a:t>Orchestration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DFF458-6112-946F-9EEB-1F2245C1511C}"/>
              </a:ext>
            </a:extLst>
          </p:cNvPr>
          <p:cNvSpPr txBox="1"/>
          <p:nvPr/>
        </p:nvSpPr>
        <p:spPr>
          <a:xfrm>
            <a:off x="4670579" y="4196217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/>
              <a:t>Learning systems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4BE2261-8791-59AD-48C1-A9DC65FC28D0}"/>
              </a:ext>
            </a:extLst>
          </p:cNvPr>
          <p:cNvSpPr txBox="1"/>
          <p:nvPr/>
        </p:nvSpPr>
        <p:spPr>
          <a:xfrm>
            <a:off x="5514127" y="1935073"/>
            <a:ext cx="1330424" cy="6892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1800"/>
              </a:spcBef>
            </a:pPr>
            <a:r>
              <a:rPr lang="en-US" sz="1400" b="1" i="1" spc="-20">
                <a:solidFill>
                  <a:schemeClr val="accent3"/>
                </a:solidFill>
              </a:rPr>
              <a:t>Platform</a:t>
            </a: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1B47AB5F-5284-47F1-187D-79611485A173}"/>
              </a:ext>
            </a:extLst>
          </p:cNvPr>
          <p:cNvSpPr/>
          <p:nvPr/>
        </p:nvSpPr>
        <p:spPr>
          <a:xfrm>
            <a:off x="3977641" y="2319121"/>
            <a:ext cx="555778" cy="814465"/>
          </a:xfrm>
          <a:prstGeom prst="leftArrow">
            <a:avLst>
              <a:gd name="adj1" fmla="val 50000"/>
              <a:gd name="adj2" fmla="val 46860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1854F4BF-12CB-1E0C-ACE3-D0E8C42DD8D4}"/>
              </a:ext>
            </a:extLst>
          </p:cNvPr>
          <p:cNvSpPr/>
          <p:nvPr/>
        </p:nvSpPr>
        <p:spPr>
          <a:xfrm flipH="1">
            <a:off x="7833487" y="2319121"/>
            <a:ext cx="555778" cy="814465"/>
          </a:xfrm>
          <a:prstGeom prst="leftArrow">
            <a:avLst>
              <a:gd name="adj1" fmla="val 50000"/>
              <a:gd name="adj2" fmla="val 46860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DC72D5-EE4F-37AC-1BFD-14A046EC88ED}"/>
              </a:ext>
            </a:extLst>
          </p:cNvPr>
          <p:cNvSpPr/>
          <p:nvPr/>
        </p:nvSpPr>
        <p:spPr>
          <a:xfrm>
            <a:off x="4381500" y="2524125"/>
            <a:ext cx="576848" cy="306466"/>
          </a:xfrm>
          <a:prstGeom prst="rect">
            <a:avLst/>
          </a:prstGeom>
          <a:noFill/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FCB9AD-5DD0-1980-F168-8EA7C4B51812}"/>
              </a:ext>
            </a:extLst>
          </p:cNvPr>
          <p:cNvSpPr/>
          <p:nvPr/>
        </p:nvSpPr>
        <p:spPr>
          <a:xfrm>
            <a:off x="4346851" y="2530475"/>
            <a:ext cx="3593824" cy="3931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5676F36-0002-23EE-AE07-5047A3D089DB}"/>
              </a:ext>
            </a:extLst>
          </p:cNvPr>
          <p:cNvGrpSpPr/>
          <p:nvPr/>
        </p:nvGrpSpPr>
        <p:grpSpPr>
          <a:xfrm>
            <a:off x="5722139" y="2267248"/>
            <a:ext cx="914400" cy="914400"/>
            <a:chOff x="5651719" y="2009196"/>
            <a:chExt cx="914400" cy="9144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ECDC616-62E0-BCCA-6DB0-ECD8AA704B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1719" y="2009196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</a:ln>
          </p:spPr>
          <p:txBody>
            <a:bodyPr wrap="square" lIns="144000" tIns="0" rIns="144000" bIns="0" rtlCol="0" anchor="ctr">
              <a:noAutofit/>
            </a:bodyPr>
            <a:lstStyle/>
            <a:p>
              <a:pPr algn="ctr"/>
              <a:endParaRPr lang="en-US" sz="1100" b="1" spc="-20"/>
            </a:p>
          </p:txBody>
        </p:sp>
        <p:pic>
          <p:nvPicPr>
            <p:cNvPr id="46" name="Graphic 45" descr="Gears with solid fill">
              <a:extLst>
                <a:ext uri="{FF2B5EF4-FFF2-40B4-BE49-F238E27FC236}">
                  <a16:creationId xmlns:a16="http://schemas.microsoft.com/office/drawing/2014/main" id="{8E1C9312-27C3-8A1B-7285-05234B9504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5782485" y="2178326"/>
              <a:ext cx="640080" cy="640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0072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A9C4D40-FBF2-AFC5-3435-91F75F509DE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9C4D40-FBF2-AFC5-3435-91F75F509D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B7291DC-CEA3-61C4-1D0B-32E89F1F6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Capability pillars can be translated into diagnostic questions that tests for frontier-firm behaviors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FA510-938C-3BD4-EED4-2E2654240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DDE4C-10F9-936C-DE33-FFB934FCD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1D00DC9-87E7-EAF8-F4F6-EF62184856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DB4F12C-FEC5-67AC-AC7B-0E45078FB84C}"/>
              </a:ext>
            </a:extLst>
          </p:cNvPr>
          <p:cNvGraphicFramePr>
            <a:graphicFrameLocks noGrp="1"/>
          </p:cNvGraphicFramePr>
          <p:nvPr/>
        </p:nvGraphicFramePr>
        <p:xfrm>
          <a:off x="4361323" y="1417762"/>
          <a:ext cx="7215225" cy="43957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8866">
                  <a:extLst>
                    <a:ext uri="{9D8B030D-6E8A-4147-A177-3AD203B41FA5}">
                      <a16:colId xmlns:a16="http://schemas.microsoft.com/office/drawing/2014/main" val="4281591700"/>
                    </a:ext>
                  </a:extLst>
                </a:gridCol>
                <a:gridCol w="5506359">
                  <a:extLst>
                    <a:ext uri="{9D8B030D-6E8A-4147-A177-3AD203B41FA5}">
                      <a16:colId xmlns:a16="http://schemas.microsoft.com/office/drawing/2014/main" val="2507908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000" b="1" i="0" u="none" strike="noStrike">
                        <a:solidFill>
                          <a:srgbClr val="05051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i="1" u="none" strike="noStrike">
                          <a:solidFill>
                            <a:schemeClr val="accent3"/>
                          </a:solidFill>
                          <a:effectLst/>
                          <a:latin typeface="Arial" panose="020B0604020202020204" pitchFamily="34" charset="0"/>
                        </a:rPr>
                        <a:t>Potential questions to probe for frontier firm behavior</a:t>
                      </a:r>
                    </a:p>
                  </a:txBody>
                  <a:tcPr marL="9395" marR="9395" marT="9395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360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u="none" strike="noStrike">
                          <a:effectLst/>
                        </a:rPr>
                        <a:t>Organization Structure &amp; Composition</a:t>
                      </a:r>
                      <a:endParaRPr lang="en-US" sz="1000" b="1" i="0" u="none" strike="noStrike">
                        <a:solidFill>
                          <a:srgbClr val="05051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Has middle management been compressed (fewer relay layers between leaders and ICs)?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572183"/>
                  </a:ext>
                </a:extLst>
              </a:tr>
              <a:tr h="4697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5051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Does executive leadership directly oversee AI taking on what used to be middle-manager roles?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2967"/>
                  </a:ext>
                </a:extLst>
              </a:tr>
              <a:tr h="4697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5051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Are teams smaller, with a single engineer able to build what a squad used to build?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846353"/>
                  </a:ext>
                </a:extLst>
              </a:tr>
              <a:tr h="4697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5051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Are previously-separate functions merging, with roles redesigned around 'no silos'?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284114"/>
                  </a:ext>
                </a:extLst>
              </a:tr>
              <a:tr h="4697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u="none" strike="noStrike">
                          <a:effectLst/>
                        </a:rPr>
                        <a:t>Talent Readiness</a:t>
                      </a:r>
                      <a:endParaRPr lang="en-US" sz="1000" b="1" i="0" u="none" strike="noStrike">
                        <a:solidFill>
                          <a:srgbClr val="05051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Is AI fluency a hard requirement for candidates during the hiring process?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249147"/>
                  </a:ext>
                </a:extLst>
              </a:tr>
              <a:tr h="4697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5051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Is there a 'prove the role can't be done by AI' gate before any new headcount is approved?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457031"/>
                  </a:ext>
                </a:extLst>
              </a:tr>
              <a:tr h="4697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5051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Do interviews include a live AI build or plan.md exercise, instead of whiteboard problems?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885186"/>
                  </a:ext>
                </a:extLst>
              </a:tr>
              <a:tr h="4697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u="none" strike="noStrike">
                          <a:effectLst/>
                        </a:rPr>
                        <a:t>Performance Management</a:t>
                      </a:r>
                      <a:endParaRPr lang="en-US" sz="1000" b="1" i="0" u="none" strike="noStrike">
                        <a:solidFill>
                          <a:srgbClr val="05051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Is AI leverage an explicit dimension in performance reviews?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606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5051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Does the firm expense AI subscriptions and offer token perks to encourage mastery?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15992"/>
                  </a:ext>
                </a:extLst>
              </a:tr>
              <a:tr h="4697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5051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Are people promoted on their own AI leverage AND on how much they help others scale?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5" marR="9395" marT="9395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77303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B03B945-0C63-5701-A170-9A92CF2D338E}"/>
              </a:ext>
            </a:extLst>
          </p:cNvPr>
          <p:cNvSpPr/>
          <p:nvPr/>
        </p:nvSpPr>
        <p:spPr>
          <a:xfrm>
            <a:off x="584386" y="1525653"/>
            <a:ext cx="3291840" cy="41157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0B015C8-0DCD-6A5B-E69E-FE449CD59AD4}"/>
              </a:ext>
            </a:extLst>
          </p:cNvPr>
          <p:cNvGrpSpPr/>
          <p:nvPr/>
        </p:nvGrpSpPr>
        <p:grpSpPr>
          <a:xfrm>
            <a:off x="1773106" y="1900326"/>
            <a:ext cx="914400" cy="914400"/>
            <a:chOff x="9451531" y="2220500"/>
            <a:chExt cx="914400" cy="9144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1234A3-0C4E-106B-3EF8-100B8FCBABF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51531" y="22205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</a:ln>
          </p:spPr>
          <p:txBody>
            <a:bodyPr wrap="square" lIns="144000" tIns="0" rIns="144000" bIns="0" rtlCol="0" anchor="ctr">
              <a:noAutofit/>
            </a:bodyPr>
            <a:lstStyle/>
            <a:p>
              <a:pPr algn="ctr"/>
              <a:endParaRPr lang="en-US" sz="1100" b="1" spc="-20"/>
            </a:p>
          </p:txBody>
        </p:sp>
        <p:pic>
          <p:nvPicPr>
            <p:cNvPr id="13" name="Graphic 12" descr="Hierarchy with solid fill">
              <a:extLst>
                <a:ext uri="{FF2B5EF4-FFF2-40B4-BE49-F238E27FC236}">
                  <a16:creationId xmlns:a16="http://schemas.microsoft.com/office/drawing/2014/main" id="{963B828F-BCD0-3746-C17C-35AFF20E0B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85230" y="2333470"/>
              <a:ext cx="640080" cy="64008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7F36FFE-E929-AFAF-B712-3A38E2470F37}"/>
              </a:ext>
            </a:extLst>
          </p:cNvPr>
          <p:cNvSpPr txBox="1"/>
          <p:nvPr/>
        </p:nvSpPr>
        <p:spPr>
          <a:xfrm>
            <a:off x="721546" y="3055957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/>
              <a:t>Organization Structure &amp; Composition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2C78C8-FEEB-B933-2778-917E216230D7}"/>
              </a:ext>
            </a:extLst>
          </p:cNvPr>
          <p:cNvSpPr txBox="1"/>
          <p:nvPr/>
        </p:nvSpPr>
        <p:spPr>
          <a:xfrm>
            <a:off x="721546" y="3891287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/>
              <a:t>Talent Readiness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2151F6-143E-6488-1D05-BE1FFEC5E77D}"/>
              </a:ext>
            </a:extLst>
          </p:cNvPr>
          <p:cNvSpPr txBox="1"/>
          <p:nvPr/>
        </p:nvSpPr>
        <p:spPr>
          <a:xfrm>
            <a:off x="721546" y="4719614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/>
              <a:t>Performance Management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B302E6-2ED3-ADBF-BD99-33F901083370}"/>
              </a:ext>
            </a:extLst>
          </p:cNvPr>
          <p:cNvSpPr txBox="1"/>
          <p:nvPr/>
        </p:nvSpPr>
        <p:spPr>
          <a:xfrm>
            <a:off x="721546" y="3473622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/>
              <a:t>Review &amp; Learning Culture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FBF2F1-A173-9992-0357-B6E04413C4A8}"/>
              </a:ext>
            </a:extLst>
          </p:cNvPr>
          <p:cNvSpPr txBox="1"/>
          <p:nvPr/>
        </p:nvSpPr>
        <p:spPr>
          <a:xfrm>
            <a:off x="721546" y="4308951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/>
              <a:t>Judgment &amp; Accountability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72C1B0-70B4-7284-4362-B6DFA4A0E336}"/>
              </a:ext>
            </a:extLst>
          </p:cNvPr>
          <p:cNvSpPr txBox="1"/>
          <p:nvPr/>
        </p:nvSpPr>
        <p:spPr>
          <a:xfrm>
            <a:off x="721546" y="5123249"/>
            <a:ext cx="3017520" cy="3064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/>
              <a:t>AI Economics &amp; 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F99E0E-AE59-9867-0F2D-2FDCF8029CEC}"/>
              </a:ext>
            </a:extLst>
          </p:cNvPr>
          <p:cNvSpPr txBox="1"/>
          <p:nvPr/>
        </p:nvSpPr>
        <p:spPr>
          <a:xfrm>
            <a:off x="2408642" y="1568151"/>
            <a:ext cx="1330424" cy="6892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  <a:spcBef>
                <a:spcPts val="1800"/>
              </a:spcBef>
            </a:pPr>
            <a:r>
              <a:rPr lang="en-US" sz="1400" b="1" i="1" spc="-20">
                <a:solidFill>
                  <a:schemeClr val="accent3"/>
                </a:solidFill>
              </a:rPr>
              <a:t>Operating Capabilities</a:t>
            </a:r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633C8227-B822-C25A-86E0-D3E8DD6CBE29}"/>
              </a:ext>
            </a:extLst>
          </p:cNvPr>
          <p:cNvSpPr/>
          <p:nvPr/>
        </p:nvSpPr>
        <p:spPr>
          <a:xfrm rot="5400000">
            <a:off x="2160214" y="3375364"/>
            <a:ext cx="3913658" cy="214237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3D4E48F-BFFE-CEA5-4907-9F351364F20C}"/>
              </a:ext>
            </a:extLst>
          </p:cNvPr>
          <p:cNvCxnSpPr>
            <a:cxnSpLocks/>
          </p:cNvCxnSpPr>
          <p:nvPr/>
        </p:nvCxnSpPr>
        <p:spPr>
          <a:xfrm>
            <a:off x="10947603" y="97794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0BCD0B6-AA00-9C64-1413-0F0997703E50}"/>
              </a:ext>
            </a:extLst>
          </p:cNvPr>
          <p:cNvCxnSpPr>
            <a:cxnSpLocks/>
          </p:cNvCxnSpPr>
          <p:nvPr/>
        </p:nvCxnSpPr>
        <p:spPr>
          <a:xfrm>
            <a:off x="10947603" y="320532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0099A5D-D6B6-4DD8-1E26-28DEBBD9C115}"/>
              </a:ext>
            </a:extLst>
          </p:cNvPr>
          <p:cNvSpPr txBox="1"/>
          <p:nvPr/>
        </p:nvSpPr>
        <p:spPr>
          <a:xfrm>
            <a:off x="10947603" y="97794"/>
            <a:ext cx="1125415" cy="2227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>
                <a:solidFill>
                  <a:srgbClr val="C00000"/>
                </a:solidFill>
              </a:rPr>
              <a:t>EXEMPLARY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7FF4F6-0759-09D7-DC97-73C90B89C3C2}"/>
              </a:ext>
            </a:extLst>
          </p:cNvPr>
          <p:cNvSpPr txBox="1"/>
          <p:nvPr/>
        </p:nvSpPr>
        <p:spPr>
          <a:xfrm>
            <a:off x="9932276" y="-78827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sp>
        <p:nvSpPr>
          <p:cNvPr id="37" name="Round Diagonal Corner Rectangle 36">
            <a:extLst>
              <a:ext uri="{FF2B5EF4-FFF2-40B4-BE49-F238E27FC236}">
                <a16:creationId xmlns:a16="http://schemas.microsoft.com/office/drawing/2014/main" id="{589DCC5E-207D-A06B-B6AB-E4195D8AE897}"/>
              </a:ext>
            </a:extLst>
          </p:cNvPr>
          <p:cNvSpPr/>
          <p:nvPr/>
        </p:nvSpPr>
        <p:spPr>
          <a:xfrm>
            <a:off x="584386" y="5752579"/>
            <a:ext cx="11023228" cy="454988"/>
          </a:xfrm>
          <a:prstGeom prst="round2Diag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>
                <a:solidFill>
                  <a:schemeClr val="bg1"/>
                </a:solidFill>
              </a:rPr>
              <a:t>Expert input will refine questions to differentiate operating models across the full maturity spectrum from early adopters to frontier firms</a:t>
            </a:r>
          </a:p>
        </p:txBody>
      </p:sp>
    </p:spTree>
    <p:extLst>
      <p:ext uri="{BB962C8B-B14F-4D97-AF65-F5344CB8AC3E}">
        <p14:creationId xmlns:p14="http://schemas.microsoft.com/office/powerpoint/2010/main" val="627180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66D0EB0-8F35-9BA7-7ECB-77CC1A78DF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02257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6D0EB0-8F35-9BA7-7ECB-77CC1A78DF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178396-47C1-C73C-E004-87D94B96E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Appendix: Case Studies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9AB22-6773-39EB-D6EF-BFD0A7B54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7EBA5-C5B5-62D4-3C89-78A832D24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171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ED9E4-6823-90BB-BDD3-71F568C34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nior Software Engineer (AI Evals) - Sentry | BeBee">
            <a:extLst>
              <a:ext uri="{FF2B5EF4-FFF2-40B4-BE49-F238E27FC236}">
                <a16:creationId xmlns:a16="http://schemas.microsoft.com/office/drawing/2014/main" id="{71677629-C0F2-D2FB-8C8E-B1C7FBA11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110" y="4749709"/>
            <a:ext cx="1038676" cy="25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C02A5585-2F7E-5FE6-2048-EEF909CB5C0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2A5585-2F7E-5FE6-2048-EEF909CB5C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01023B-4D14-82F7-36B3-D4384483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/>
          <a:p>
            <a:pPr defTabSz="228600"/>
            <a:r>
              <a:rPr lang="en-GB">
                <a:solidFill>
                  <a:srgbClr val="050519"/>
                </a:solidFill>
                <a:latin typeface="Arial"/>
              </a:rPr>
              <a:t>Confidential &amp; Proprietary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A84649-582C-315C-E692-BA5A4796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pPr defTabSz="228600"/>
            <a:fld id="{F9A9DF1F-AAF4-42C8-8B76-672AEDF4D6A3}" type="slidenum">
              <a:rPr lang="en-GB">
                <a:solidFill>
                  <a:srgbClr val="050519"/>
                </a:solidFill>
                <a:latin typeface="Arial"/>
              </a:rPr>
              <a:pPr defTabSz="228600"/>
              <a:t>29</a:t>
            </a:fld>
            <a:endParaRPr lang="en-GB">
              <a:solidFill>
                <a:srgbClr val="050519"/>
              </a:solidFill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1294F2-24D1-C428-3888-6987D093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9646726" cy="267807"/>
          </a:xfrm>
        </p:spPr>
        <p:txBody>
          <a:bodyPr vert="horz" rIns="0"/>
          <a:lstStyle/>
          <a:p>
            <a:r>
              <a:rPr lang="en-US"/>
              <a:t>Frontier Firms IDI Case Study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9898F4-BE85-E7B1-5F14-9C168FB0A9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5588" y="2036763"/>
            <a:ext cx="2249044" cy="3948325"/>
          </a:xfrm>
        </p:spPr>
        <p:txBody>
          <a:bodyPr vert="horz" lIns="91440" tIns="0" rIns="0" bIns="0" rtlCol="0">
            <a:noAutofit/>
          </a:bodyPr>
          <a:lstStyle/>
          <a:p>
            <a:pPr lvl="1">
              <a:spcBef>
                <a:spcPts val="600"/>
              </a:spcBef>
            </a:pPr>
            <a:endParaRPr lang="en-GB" b="1">
              <a:solidFill>
                <a:schemeClr val="accent3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b="1">
                <a:solidFill>
                  <a:schemeClr val="accent3"/>
                </a:solidFill>
              </a:rPr>
              <a:t>B2B SaaS</a:t>
            </a:r>
          </a:p>
          <a:p>
            <a:pPr lvl="1">
              <a:spcBef>
                <a:spcPts val="600"/>
              </a:spcBef>
            </a:pPr>
            <a:r>
              <a:rPr lang="en-GB" i="1"/>
              <a:t>Launched in 2019</a:t>
            </a:r>
          </a:p>
          <a:p>
            <a:pPr lvl="1">
              <a:spcBef>
                <a:spcPts val="600"/>
              </a:spcBef>
            </a:pPr>
            <a:endParaRPr lang="en-US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>
              <a:spcBef>
                <a:spcPts val="600"/>
              </a:spcBef>
            </a:pPr>
            <a:r>
              <a:rPr lang="en-US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Project management solution for professional services companies.</a:t>
            </a:r>
            <a:endParaRPr lang="en-US"/>
          </a:p>
          <a:p>
            <a:pPr lvl="1"/>
            <a:endParaRPr lang="en-US">
              <a:solidFill>
                <a:schemeClr val="accent3"/>
              </a:solidFill>
            </a:endParaRPr>
          </a:p>
          <a:p>
            <a:pPr lvl="1"/>
            <a:r>
              <a:rPr lang="en-US" b="1" i="1">
                <a:solidFill>
                  <a:schemeClr val="accent3"/>
                </a:solidFill>
              </a:rPr>
              <a:t>AI tools used:</a:t>
            </a:r>
          </a:p>
          <a:p>
            <a:pPr lvl="1"/>
            <a:endParaRPr lang="en-GB"/>
          </a:p>
          <a:p>
            <a:endParaRPr lang="en-GB"/>
          </a:p>
          <a:p>
            <a:pPr lvl="1"/>
            <a:endParaRPr lang="en-GB">
              <a:solidFill>
                <a:schemeClr val="accent3"/>
              </a:solidFill>
            </a:endParaRPr>
          </a:p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9A00D3-6242-06BB-83CD-12A12CED1B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1" y="630559"/>
            <a:ext cx="11616655" cy="548434"/>
          </a:xfrm>
        </p:spPr>
        <p:txBody>
          <a:bodyPr/>
          <a:lstStyle/>
          <a:p>
            <a:r>
              <a:rPr lang="en-US"/>
              <a:t>Agent-based software development is reducing hands-on engineering effort and redefines the engineer role around orchestration and oversight</a:t>
            </a:r>
            <a:endParaRPr lang="en-US" sz="180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47069F-4920-1105-B0E6-ED037648050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73959" y="1520120"/>
            <a:ext cx="2880360" cy="31549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 spc="-20">
                <a:latin typeface="Arial"/>
              </a:rPr>
              <a:t>Operating model: Orchestrating and composing agents</a:t>
            </a:r>
            <a:endParaRPr lang="en-US" b="1" spc="-20">
              <a:latin typeface="Arial"/>
            </a:endParaRP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Ticket triggers orchestrator agent in isolated repo / VM environment. </a:t>
            </a:r>
            <a:r>
              <a:rPr lang="en-US" b="1" spc="0">
                <a:solidFill>
                  <a:srgbClr val="101010"/>
                </a:solidFill>
                <a:highlight>
                  <a:srgbClr val="DEDEFF"/>
                </a:highlight>
              </a:rPr>
              <a:t>Agent triages on ticket, context, and Sentry / Grafana / Jira / MCP semantic layer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Composer agent goes to relevant repo, proposes code, opens PR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Humans conduct GitHub PR review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spc="0">
                <a:solidFill>
                  <a:srgbClr val="101010"/>
                </a:solidFill>
                <a:highlight>
                  <a:srgbClr val="DEDEFF"/>
                </a:highlight>
              </a:rPr>
              <a:t>Plan to move low-risk into auto-merge and route high-risk PR to engineers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Other use cases: Lost-deal analyzer parses call transcripts and feeds backlog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0AFFED-EC38-BEF2-D318-AC4E4107701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83194" y="1520120"/>
            <a:ext cx="2880360" cy="3195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/>
              <a:t>Enabling factors: </a:t>
            </a:r>
            <a:r>
              <a:rPr lang="en-US" b="1"/>
              <a:t>Connected standard systems and discrete agent access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Internal MCP layer connected via webhook, remote cloud server. Semantic layer teaches orchestrator where to look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spc="0">
                <a:solidFill>
                  <a:srgbClr val="101010"/>
                </a:solidFill>
                <a:highlight>
                  <a:srgbClr val="DEDEFF"/>
                </a:highlight>
              </a:rPr>
              <a:t>MCPs and skills act as a standardized tool layer across systems</a:t>
            </a:r>
            <a:r>
              <a:rPr lang="en-US" altLang="en-US" spc="-20">
                <a:solidFill>
                  <a:srgbClr val="050519"/>
                </a:solidFill>
                <a:latin typeface="Arial"/>
              </a:rPr>
              <a:t>, with function documents accessible by agents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Data access is scoped by function and task with proprietary context. </a:t>
            </a:r>
            <a:r>
              <a:rPr lang="en-US" altLang="en-US" b="1" spc="0">
                <a:solidFill>
                  <a:srgbClr val="101010"/>
                </a:solidFill>
                <a:highlight>
                  <a:srgbClr val="DEDEFF"/>
                </a:highlight>
              </a:rPr>
              <a:t>Not “one big agent to do everything”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Unsupervised, partially automated learning loops for self-improvement skill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2FC8BD-5AA7-AE01-6C12-B7320DC3341B}"/>
              </a:ext>
            </a:extLst>
          </p:cNvPr>
          <p:cNvCxnSpPr>
            <a:cxnSpLocks/>
          </p:cNvCxnSpPr>
          <p:nvPr/>
        </p:nvCxnSpPr>
        <p:spPr>
          <a:xfrm>
            <a:off x="2973818" y="1332707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82A76554-7286-ACCE-A2B0-5E4980EF80FD}"/>
              </a:ext>
            </a:extLst>
          </p:cNvPr>
          <p:cNvSpPr txBox="1">
            <a:spLocks/>
          </p:cNvSpPr>
          <p:nvPr/>
        </p:nvSpPr>
        <p:spPr>
          <a:xfrm>
            <a:off x="2962823" y="4960566"/>
            <a:ext cx="4352377" cy="1266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Engineers need to code and orchestrate</a:t>
            </a:r>
          </a:p>
          <a:p>
            <a:pPr lvl="1" defTabSz="457200"/>
            <a:r>
              <a:rPr lang="en-US" i="1" spc="-20">
                <a:solidFill>
                  <a:srgbClr val="050519"/>
                </a:solidFill>
              </a:rPr>
              <a:t>“</a:t>
            </a:r>
            <a:r>
              <a:rPr lang="en-US" i="1"/>
              <a:t>We are looking right now for people that can understand and can orchestrate agents. </a:t>
            </a:r>
            <a:r>
              <a:rPr lang="en-US" b="1" i="1" spc="0">
                <a:solidFill>
                  <a:srgbClr val="101010"/>
                </a:solidFill>
                <a:highlight>
                  <a:srgbClr val="DEDEFF"/>
                </a:highlight>
              </a:rPr>
              <a:t>And not only code, because coding is becoming a commodity right now.</a:t>
            </a:r>
            <a:r>
              <a:rPr lang="en-US" i="1"/>
              <a:t>”</a:t>
            </a:r>
            <a:endParaRPr lang="en-GB" i="1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FA1774B6-B99C-E5FE-B707-5F5D597F1A03}"/>
              </a:ext>
            </a:extLst>
          </p:cNvPr>
          <p:cNvSpPr txBox="1">
            <a:spLocks/>
          </p:cNvSpPr>
          <p:nvPr/>
        </p:nvSpPr>
        <p:spPr>
          <a:xfrm>
            <a:off x="7442422" y="4960566"/>
            <a:ext cx="4266616" cy="1362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Hiring is evolving to focus on AI-specific skillset</a:t>
            </a:r>
            <a:endParaRPr lang="en-GB" b="1"/>
          </a:p>
          <a:p>
            <a:r>
              <a:rPr lang="en-GB" i="1">
                <a:solidFill>
                  <a:schemeClr val="tx1"/>
                </a:solidFill>
              </a:rPr>
              <a:t>“</a:t>
            </a:r>
            <a:r>
              <a:rPr lang="en-US" altLang="en-US" b="1" i="1" spc="0">
                <a:solidFill>
                  <a:srgbClr val="101010"/>
                </a:solidFill>
                <a:highlight>
                  <a:srgbClr val="DEDEFF"/>
                </a:highlight>
              </a:rPr>
              <a:t>We want to bring people in our organization that are capable to identify hallucinations</a:t>
            </a:r>
            <a:r>
              <a:rPr lang="en-US" altLang="en-US" i="1">
                <a:solidFill>
                  <a:schemeClr val="tx1"/>
                </a:solidFill>
              </a:rPr>
              <a:t>… because ultimately these agents are still non-deterministic... </a:t>
            </a:r>
            <a:r>
              <a:rPr lang="en-US" altLang="en-US" b="1" i="1" spc="0">
                <a:solidFill>
                  <a:srgbClr val="101010"/>
                </a:solidFill>
                <a:highlight>
                  <a:srgbClr val="DEDEFF"/>
                </a:highlight>
              </a:rPr>
              <a:t>We had to change three, four times the way we interviewed these new engineers.</a:t>
            </a:r>
            <a:r>
              <a:rPr lang="en-US" altLang="en-US" i="1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7C0F9CBD-5D82-DC58-30D2-3E33928F64D4}"/>
              </a:ext>
            </a:extLst>
          </p:cNvPr>
          <p:cNvSpPr txBox="1">
            <a:spLocks/>
          </p:cNvSpPr>
          <p:nvPr/>
        </p:nvSpPr>
        <p:spPr>
          <a:xfrm>
            <a:off x="3924801" y="5186922"/>
            <a:ext cx="170446" cy="260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4" name="Rectangle: Diagonal Corners Snipped 5">
            <a:extLst>
              <a:ext uri="{FF2B5EF4-FFF2-40B4-BE49-F238E27FC236}">
                <a16:creationId xmlns:a16="http://schemas.microsoft.com/office/drawing/2014/main" id="{07E96B3D-4AE0-ED7B-8253-A010694EF808}"/>
              </a:ext>
            </a:extLst>
          </p:cNvPr>
          <p:cNvSpPr/>
          <p:nvPr/>
        </p:nvSpPr>
        <p:spPr>
          <a:xfrm>
            <a:off x="256032" y="1332707"/>
            <a:ext cx="2249044" cy="549858"/>
          </a:xfrm>
          <a:prstGeom prst="snip2Diag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/>
              <a:t>Head of Engineering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A75A28-3668-FBE9-8C0B-73593220EBB3}"/>
              </a:ext>
            </a:extLst>
          </p:cNvPr>
          <p:cNvCxnSpPr>
            <a:cxnSpLocks/>
          </p:cNvCxnSpPr>
          <p:nvPr/>
        </p:nvCxnSpPr>
        <p:spPr>
          <a:xfrm>
            <a:off x="2973818" y="4893685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Claude Logo PNG (Transparent) SVG AI – Free Download">
            <a:extLst>
              <a:ext uri="{FF2B5EF4-FFF2-40B4-BE49-F238E27FC236}">
                <a16:creationId xmlns:a16="http://schemas.microsoft.com/office/drawing/2014/main" id="{0F86480B-8FCE-A615-033A-FD9E37CD1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82" y="5001691"/>
            <a:ext cx="710481" cy="15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D10FE00-190A-AC85-800D-9438AEC2B33C}"/>
              </a:ext>
            </a:extLst>
          </p:cNvPr>
          <p:cNvSpPr txBox="1">
            <a:spLocks/>
          </p:cNvSpPr>
          <p:nvPr/>
        </p:nvSpPr>
        <p:spPr>
          <a:xfrm>
            <a:off x="9260874" y="1520119"/>
            <a:ext cx="2379844" cy="3195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b="1"/>
              <a:t>Outcomes: </a:t>
            </a:r>
            <a:r>
              <a:rPr lang="en-US" b="1"/>
              <a:t>Time reduction, new staffing composition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Bug-fix cycle 1–2 days → ~1 hour 
</a:t>
            </a:r>
            <a:r>
              <a:rPr lang="en-US" b="1" spc="0">
                <a:solidFill>
                  <a:srgbClr val="101010"/>
                </a:solidFill>
                <a:highlight>
                  <a:srgbClr val="DEDEFF"/>
                </a:highlight>
              </a:rPr>
              <a:t>Squad teams 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of 3–4 engineers + QAs </a:t>
            </a:r>
            <a:r>
              <a:rPr lang="en-US" b="1" spc="0">
                <a:solidFill>
                  <a:srgbClr val="101010"/>
                </a:solidFill>
                <a:highlight>
                  <a:srgbClr val="DEDEFF"/>
                </a:highlight>
              </a:rPr>
              <a:t>→ 1 engineer 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
</a:t>
            </a:r>
            <a:r>
              <a:rPr lang="en-US" spc="0">
                <a:solidFill>
                  <a:srgbClr val="101010"/>
                </a:solidFill>
              </a:rPr>
              <a:t>Customer-success email role for SMB segment replaced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; </a:t>
            </a:r>
            <a:r>
              <a:rPr lang="en-US" b="1" spc="0">
                <a:solidFill>
                  <a:srgbClr val="101010"/>
                </a:solidFill>
                <a:highlight>
                  <a:srgbClr val="DEDEFF"/>
                </a:highlight>
              </a:rPr>
              <a:t>lead agent eliminates 80% of SDR time spent on email prep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
Engineering headcount growth slowed; </a:t>
            </a:r>
            <a:r>
              <a:rPr lang="en-US" b="1" spc="0">
                <a:solidFill>
                  <a:srgbClr val="101010"/>
                </a:solidFill>
                <a:highlight>
                  <a:srgbClr val="DEDEFF"/>
                </a:highlight>
              </a:rPr>
              <a:t>forward-deployment &amp; solution-engineering roles growing instead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3BCD73B-E1B4-58BA-03F8-0828371A6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88" y="5353261"/>
            <a:ext cx="810468" cy="21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1DF5DC22-D316-D84C-8A95-9E4C88A7F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79" y="4552342"/>
            <a:ext cx="982802" cy="23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AWS Bedrock: The Future of Generative AI for Every Business | by Patrick  Wan | Medium">
            <a:extLst>
              <a:ext uri="{FF2B5EF4-FFF2-40B4-BE49-F238E27FC236}">
                <a16:creationId xmlns:a16="http://schemas.microsoft.com/office/drawing/2014/main" id="{3A927435-75CA-66C7-DE47-212D3D3FF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88" y="5665011"/>
            <a:ext cx="810468" cy="600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B66D2DA-0C06-EB5E-794B-3356AF7E37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36322" b="36322"/>
          <a:stretch>
            <a:fillRect/>
          </a:stretch>
        </p:blipFill>
        <p:spPr>
          <a:xfrm>
            <a:off x="1270817" y="5145752"/>
            <a:ext cx="1038676" cy="284132"/>
          </a:xfrm>
          <a:prstGeom prst="rect">
            <a:avLst/>
          </a:prstGeom>
        </p:spPr>
      </p:pic>
      <p:pic>
        <p:nvPicPr>
          <p:cNvPr id="2050" name="Picture 2" descr="Hermes Agent Free SVG, PNG, and vect... · LobeHub">
            <a:extLst>
              <a:ext uri="{FF2B5EF4-FFF2-40B4-BE49-F238E27FC236}">
                <a16:creationId xmlns:a16="http://schemas.microsoft.com/office/drawing/2014/main" id="{A400ACE8-D30A-F92E-E99F-9DD3903BB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78" y="5550865"/>
            <a:ext cx="701618" cy="32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70ACB75-F55F-FF8F-DCD3-EFB530C47F6B}"/>
              </a:ext>
            </a:extLst>
          </p:cNvPr>
          <p:cNvSpPr txBox="1">
            <a:spLocks/>
          </p:cNvSpPr>
          <p:nvPr/>
        </p:nvSpPr>
        <p:spPr>
          <a:xfrm>
            <a:off x="1243584" y="6464873"/>
            <a:ext cx="6373813" cy="258006"/>
          </a:xfrm>
          <a:prstGeom prst="rect">
            <a:avLst/>
          </a:prstGeom>
        </p:spPr>
        <p:txBody>
          <a:bodyPr vert="horz" lIns="0" tIns="0" rIns="0" bIns="0" numCol="2" spcCol="21600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9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Source: Keystone Frontier Firm Research (05/2026) </a:t>
            </a:r>
          </a:p>
        </p:txBody>
      </p:sp>
    </p:spTree>
    <p:extLst>
      <p:ext uri="{BB962C8B-B14F-4D97-AF65-F5344CB8AC3E}">
        <p14:creationId xmlns:p14="http://schemas.microsoft.com/office/powerpoint/2010/main" val="12195859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9365-B723-75E9-2322-C916AA278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B08384C1-6D8A-5394-299C-5309B46297E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8384C1-6D8A-5394-299C-5309B46297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F2A620-D44D-9653-5AF3-225E81F6E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/>
          <a:p>
            <a:pPr defTabSz="228600"/>
            <a:r>
              <a:rPr lang="en-GB">
                <a:solidFill>
                  <a:srgbClr val="050519"/>
                </a:solidFill>
                <a:latin typeface="Arial"/>
              </a:rPr>
              <a:t>Confidential &amp; Proprietary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25B3E5-18E7-F534-2AB2-406A1C71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pPr defTabSz="228600"/>
            <a:fld id="{F9A9DF1F-AAF4-42C8-8B76-672AEDF4D6A3}" type="slidenum">
              <a:rPr lang="en-GB">
                <a:solidFill>
                  <a:srgbClr val="050519"/>
                </a:solidFill>
                <a:latin typeface="Arial"/>
              </a:rPr>
              <a:pPr defTabSz="228600"/>
              <a:t>30</a:t>
            </a:fld>
            <a:endParaRPr lang="en-GB">
              <a:solidFill>
                <a:srgbClr val="050519"/>
              </a:solidFill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A019A3-1673-8BA3-9119-37A4F24FD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9646726" cy="267807"/>
          </a:xfrm>
          <a:noFill/>
        </p:spPr>
        <p:txBody>
          <a:bodyPr vert="horz" rIns="0"/>
          <a:lstStyle/>
          <a:p>
            <a:r>
              <a:rPr lang="en-US"/>
              <a:t>Frontier Firms IDI Case Study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EF8E30-9F9F-D2DB-6A31-404661318B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2037361"/>
            <a:ext cx="2249044" cy="3948325"/>
          </a:xfrm>
        </p:spPr>
        <p:txBody>
          <a:bodyPr lIns="91440"/>
          <a:lstStyle/>
          <a:p>
            <a:pPr lvl="1"/>
            <a:r>
              <a:rPr lang="en-GB"/>
              <a:t>​</a:t>
            </a:r>
          </a:p>
          <a:p>
            <a:pPr>
              <a:spcBef>
                <a:spcPts val="600"/>
              </a:spcBef>
            </a:pPr>
            <a:r>
              <a:rPr lang="en-GB" b="1"/>
              <a:t>B2B fintech infrastructure</a:t>
            </a:r>
          </a:p>
          <a:p>
            <a:pPr>
              <a:spcBef>
                <a:spcPts val="600"/>
              </a:spcBef>
            </a:pPr>
            <a:r>
              <a:rPr lang="en-GB" i="1">
                <a:solidFill>
                  <a:schemeClr val="tx1"/>
                </a:solidFill>
              </a:rPr>
              <a:t>Launched in 2022</a:t>
            </a:r>
          </a:p>
          <a:p>
            <a:pPr>
              <a:spcBef>
                <a:spcPts val="600"/>
              </a:spcBef>
            </a:pPr>
            <a:r>
              <a:rPr lang="en-GB" i="1">
                <a:solidFill>
                  <a:schemeClr val="tx1"/>
                </a:solidFill>
              </a:rPr>
              <a:t>$50M founder funded</a:t>
            </a:r>
          </a:p>
          <a:p>
            <a:pPr>
              <a:spcBef>
                <a:spcPts val="600"/>
              </a:spcBef>
            </a:pPr>
            <a:r>
              <a:rPr lang="en-US">
                <a:solidFill>
                  <a:schemeClr val="tx1"/>
                </a:solidFill>
              </a:rPr>
              <a:t>Provides regulated financial infrastructure (accounts, payments, lending) that other software companies embed into their own products</a:t>
            </a:r>
          </a:p>
          <a:p>
            <a:pPr>
              <a:spcBef>
                <a:spcPts val="600"/>
              </a:spcBef>
            </a:pPr>
            <a:endParaRPr lang="en-US">
              <a:solidFill>
                <a:schemeClr val="accent3"/>
              </a:solidFill>
            </a:endParaRPr>
          </a:p>
          <a:p>
            <a:pPr lvl="1"/>
            <a:r>
              <a:rPr lang="en-US" b="1" i="1">
                <a:solidFill>
                  <a:schemeClr val="accent3"/>
                </a:solidFill>
              </a:rPr>
              <a:t>AI tools used: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EB6B3F-58ED-4F17-952F-EEBE46EDB33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2" y="630559"/>
            <a:ext cx="9916668" cy="548434"/>
          </a:xfrm>
        </p:spPr>
        <p:txBody>
          <a:bodyPr/>
          <a:lstStyle/>
          <a:p>
            <a:r>
              <a:rPr lang="en-US" sz="1800"/>
              <a:t>Internal platform wraps Claude Code to retire low-code tools and enable citizen developers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0A2636-2D47-1C25-8A1A-36180231999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62922" y="1520119"/>
            <a:ext cx="2880360" cy="3256413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/>
              <a:t>Enabling factors: Platform as AI rails, with skills, gateway, and permissions</a:t>
            </a:r>
          </a:p>
          <a:p>
            <a:pPr marL="171450" marR="0" lvl="0" indent="-171450" algn="l" defTabSz="4572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Internal platform stitched from AWS building blocks replaces Retool</a:t>
            </a:r>
          </a:p>
          <a:p>
            <a:pPr marL="171450" marR="0" lvl="0" indent="-171450" algn="l" defTabSz="4572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pc="0">
                <a:solidFill>
                  <a:srgbClr val="101010"/>
                </a:solidFill>
                <a:highlight>
                  <a:srgbClr val="DEDEFF"/>
                </a:highlight>
              </a:rPr>
              <a:t>S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highlight>
                  <a:srgbClr val="DEDEFF"/>
                </a:highlight>
                <a:uLnTx/>
                <a:uFillTx/>
                <a:ea typeface="+mn-ea"/>
                <a:cs typeface="+mn-cs"/>
              </a:rPr>
              <a:t>kill file points Claude Code at the company stack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highlight>
                  <a:srgbClr val="DEDEFF"/>
                </a:highlight>
                <a:uLnTx/>
                <a:uFillTx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(UI components, technologies, deployment target, registration)</a:t>
            </a:r>
          </a:p>
          <a:p>
            <a:pPr marL="171450" marR="0" lvl="0" indent="-171450" algn="l" defTabSz="4572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highlight>
                  <a:srgbClr val="DEDEFF"/>
                </a:highlight>
                <a:uLnTx/>
                <a:uFillTx/>
                <a:ea typeface="+mn-ea"/>
                <a:cs typeface="+mn-cs"/>
              </a:rPr>
              <a:t>Gateway service brokers granular, permissioned access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highlight>
                  <a:srgbClr val="DEDEFF"/>
                </a:highlight>
                <a:uLnTx/>
                <a:uFillTx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to Salesforce, Zendesk, Datadog, internal APIs, S3, Drive, etc.</a:t>
            </a:r>
          </a:p>
          <a:p>
            <a:pPr marL="171450" marR="0" lvl="0" indent="-171450" algn="l" defTabSz="4572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highlight>
                  <a:srgbClr val="DEDEFF"/>
                </a:highlight>
                <a:uLnTx/>
                <a:uFillTx/>
                <a:ea typeface="+mn-ea"/>
                <a:cs typeface="+mn-cs"/>
              </a:rPr>
              <a:t>No company-wide brain / memory</a:t>
            </a:r>
            <a:r>
              <a:rPr kumimoji="0" lang="en-US" b="0" i="1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teams run their own ad-hoc memory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C548B5F-1E0F-D9DC-2046-89A64A694E4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973815" y="1520119"/>
            <a:ext cx="2882900" cy="308520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/>
              <a:t>Operating model: </a:t>
            </a:r>
            <a:r>
              <a:rPr lang="en-US" b="1"/>
              <a:t>Self-service app-building on an internal AI platform</a:t>
            </a:r>
          </a:p>
          <a:p>
            <a:pPr marL="171450" marR="0" lvl="0" indent="-171450" algn="l" defTabSz="4572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highlight>
                  <a:srgbClr val="DEDEFF"/>
                </a:highlight>
                <a:uLnTx/>
                <a:uFillTx/>
                <a:ea typeface="+mn-ea"/>
                <a:cs typeface="+mn-cs"/>
              </a:rPr>
              <a:t>Non-engineers use Claude Code to build internal apps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highlight>
                  <a:srgbClr val="DEDEFF"/>
                </a:highlight>
                <a:uLnTx/>
                <a:uFillTx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(dashboards, automations, point solutions) </a:t>
            </a:r>
          </a:p>
          <a:p>
            <a:pPr marL="171450" marR="0" lvl="0" indent="-171450" algn="l" defTabSz="4572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Claude submits app </a:t>
            </a: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to an internal registry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; </a:t>
            </a: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platform deploys it on AWS and serves it on the internal VPN</a:t>
            </a:r>
          </a:p>
          <a:p>
            <a:pPr marL="171450" lvl="0" indent="-171450" defTabSz="45720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highlight>
                  <a:srgbClr val="DEDEFF"/>
                </a:highlight>
                <a:uLnTx/>
                <a:uFillTx/>
                <a:ea typeface="+mn-ea"/>
                <a:cs typeface="+mn-cs"/>
              </a:rPr>
              <a:t>Engineers focus on platform and APIs / connectors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, not building </a:t>
            </a:r>
            <a:r>
              <a:rPr lang="en-US" spc="0">
                <a:solidFill>
                  <a:srgbClr val="101010"/>
                </a:solidFill>
              </a:rPr>
              <a:t>apps</a:t>
            </a:r>
          </a:p>
          <a:p>
            <a:pPr marL="171450" lvl="0" indent="-171450" defTabSz="45720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In engineering, </a:t>
            </a: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multi-agent on-call workflow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ea typeface="+mn-ea"/>
                <a:cs typeface="+mn-cs"/>
              </a:rPr>
              <a:t>runs Sentry → triage → coding agent → reviewer agent → human sign-off, all in one Slack thread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C897C44-732D-1F54-3F33-2A7579676126}"/>
              </a:ext>
            </a:extLst>
          </p:cNvPr>
          <p:cNvCxnSpPr>
            <a:cxnSpLocks/>
          </p:cNvCxnSpPr>
          <p:nvPr/>
        </p:nvCxnSpPr>
        <p:spPr>
          <a:xfrm>
            <a:off x="2973814" y="1332707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B2477723-AA93-9F60-1BED-52D09050C543}"/>
              </a:ext>
            </a:extLst>
          </p:cNvPr>
          <p:cNvSpPr/>
          <p:nvPr/>
        </p:nvSpPr>
        <p:spPr>
          <a:xfrm>
            <a:off x="256032" y="1332707"/>
            <a:ext cx="2249044" cy="549858"/>
          </a:xfrm>
          <a:prstGeom prst="snip2Diag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/>
              <a:t>Agentic / software engineer</a:t>
            </a:r>
          </a:p>
        </p:txBody>
      </p:sp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49EAC9D6-FCA4-DE94-E60A-FBF0EA5BF8AA}"/>
              </a:ext>
            </a:extLst>
          </p:cNvPr>
          <p:cNvSpPr txBox="1">
            <a:spLocks/>
          </p:cNvSpPr>
          <p:nvPr/>
        </p:nvSpPr>
        <p:spPr>
          <a:xfrm>
            <a:off x="7617397" y="4963943"/>
            <a:ext cx="4091635" cy="16395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Employees build what they want with no formal review</a:t>
            </a:r>
            <a:endParaRPr lang="en-GB" b="1" i="1"/>
          </a:p>
          <a:p>
            <a:pPr lvl="1" defTabSz="457200"/>
            <a:r>
              <a:rPr lang="en-US" i="1"/>
              <a:t>“It’s definitely not top down…people are really building internal apps…to automate their specific job…There’s not really like a long development and testing process…there's </a:t>
            </a:r>
            <a:r>
              <a:rPr lang="en-US" b="1" i="1">
                <a:highlight>
                  <a:srgbClr val="DEDEFF"/>
                </a:highlight>
              </a:rPr>
              <a:t>no sort of staging environment, but people are fairly careful</a:t>
            </a:r>
            <a:r>
              <a:rPr lang="en-US" i="1"/>
              <a:t>…Claude just kind of generally builds the right thing.”</a:t>
            </a:r>
            <a:endParaRPr lang="en-GB" i="1"/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05BFF862-9F44-2524-B7B1-7103383436A7}"/>
              </a:ext>
            </a:extLst>
          </p:cNvPr>
          <p:cNvSpPr txBox="1">
            <a:spLocks/>
          </p:cNvSpPr>
          <p:nvPr/>
        </p:nvSpPr>
        <p:spPr>
          <a:xfrm>
            <a:off x="3924797" y="4835572"/>
            <a:ext cx="170446" cy="260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EEF6131-54ED-620A-C079-EF1AC3315C5C}"/>
              </a:ext>
            </a:extLst>
          </p:cNvPr>
          <p:cNvSpPr txBox="1">
            <a:spLocks/>
          </p:cNvSpPr>
          <p:nvPr/>
        </p:nvSpPr>
        <p:spPr>
          <a:xfrm>
            <a:off x="1243584" y="6464873"/>
            <a:ext cx="6373813" cy="258006"/>
          </a:xfrm>
          <a:prstGeom prst="rect">
            <a:avLst/>
          </a:prstGeom>
        </p:spPr>
        <p:txBody>
          <a:bodyPr vert="horz" lIns="0" tIns="0" rIns="0" bIns="0" numCol="2" spcCol="21600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9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Source: Keystone Frontier Firm Research (05/2026)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2D8938-7200-BACD-AE9B-7BBA13F6C580}"/>
              </a:ext>
            </a:extLst>
          </p:cNvPr>
          <p:cNvSpPr/>
          <p:nvPr/>
        </p:nvSpPr>
        <p:spPr>
          <a:xfrm>
            <a:off x="5399514" y="2971800"/>
            <a:ext cx="914399" cy="914399"/>
          </a:xfrm>
          <a:prstGeom prst="rect">
            <a:avLst/>
          </a:prstGeom>
          <a:noFill/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2EFFA14B-4546-979C-E747-AD856AAF9FE0}"/>
              </a:ext>
            </a:extLst>
          </p:cNvPr>
          <p:cNvSpPr txBox="1">
            <a:spLocks/>
          </p:cNvSpPr>
          <p:nvPr/>
        </p:nvSpPr>
        <p:spPr>
          <a:xfrm>
            <a:off x="9316838" y="1520119"/>
            <a:ext cx="2379844" cy="3256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b="1"/>
              <a:t>Outcomes: </a:t>
            </a:r>
            <a:r>
              <a:rPr lang="en-US" b="1"/>
              <a:t>Internal enablement and autonomous bug fixes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spc="-20">
                <a:solidFill>
                  <a:srgbClr val="050519"/>
                </a:solidFill>
                <a:highlight>
                  <a:srgbClr val="DEDEFF"/>
                </a:highlight>
                <a:latin typeface="Arial"/>
              </a:rPr>
              <a:t>Retool dependence "going to 0"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; BI tools (Tableau, Superset) on similar path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Non-engineers ship production-quality apps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spc="-20">
                <a:solidFill>
                  <a:srgbClr val="050519"/>
                </a:solidFill>
                <a:highlight>
                  <a:srgbClr val="DEDEFF"/>
                </a:highlight>
                <a:latin typeface="Arial"/>
              </a:rPr>
              <a:t>Engineering gains full visibility and observability 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(every app's source code, usage, and access path is centrally managed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On-call goes from reactive to proactive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453FC642-24A0-C8CD-937F-A72A0177ACC1}"/>
              </a:ext>
            </a:extLst>
          </p:cNvPr>
          <p:cNvSpPr txBox="1">
            <a:spLocks/>
          </p:cNvSpPr>
          <p:nvPr/>
        </p:nvSpPr>
        <p:spPr>
          <a:xfrm>
            <a:off x="3020877" y="4964337"/>
            <a:ext cx="4114800" cy="16893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Platform as the enabler</a:t>
            </a:r>
            <a:endParaRPr lang="en-GB" b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GB" i="1"/>
              <a:t>“</a:t>
            </a:r>
            <a:r>
              <a:rPr lang="en-US" i="1">
                <a:solidFill>
                  <a:srgbClr val="101010"/>
                </a:solidFill>
              </a:rPr>
              <a:t>Claude Code is just how people can produce stuff, but the question still remains, </a:t>
            </a:r>
            <a:r>
              <a:rPr lang="en-US" b="1" i="1">
                <a:solidFill>
                  <a:srgbClr val="101010"/>
                </a:solidFill>
                <a:highlight>
                  <a:srgbClr val="DEDEFF"/>
                </a:highlight>
              </a:rPr>
              <a:t>how do you deploy that thing?...Where does it run? How does it connect to everything else in our network?…We've built a whole internal platform for this</a:t>
            </a:r>
            <a:r>
              <a:rPr lang="en-US" i="1">
                <a:solidFill>
                  <a:srgbClr val="101010"/>
                </a:solidFill>
              </a:rPr>
              <a:t>.”</a:t>
            </a:r>
          </a:p>
          <a:p>
            <a:pPr lvl="1" defTabSz="457200"/>
            <a:endParaRPr lang="en-US" b="1" i="1"/>
          </a:p>
          <a:p>
            <a:pPr lvl="1" defTabSz="457200"/>
            <a:endParaRPr lang="en-GB" i="1"/>
          </a:p>
        </p:txBody>
      </p:sp>
      <p:pic>
        <p:nvPicPr>
          <p:cNvPr id="1026" name="Picture 2" descr="Claude Logo PNG (Transparent) SVG AI – Free Download">
            <a:extLst>
              <a:ext uri="{FF2B5EF4-FFF2-40B4-BE49-F238E27FC236}">
                <a16:creationId xmlns:a16="http://schemas.microsoft.com/office/drawing/2014/main" id="{8FAA67F6-6902-8897-D979-CAEB6456F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62" y="5065033"/>
            <a:ext cx="987552" cy="21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8F9EC55-8C98-D138-6E87-A76A756AF452}"/>
              </a:ext>
            </a:extLst>
          </p:cNvPr>
          <p:cNvCxnSpPr>
            <a:cxnSpLocks/>
          </p:cNvCxnSpPr>
          <p:nvPr/>
        </p:nvCxnSpPr>
        <p:spPr>
          <a:xfrm>
            <a:off x="2973818" y="4893685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2" name="Picture 8">
            <a:extLst>
              <a:ext uri="{FF2B5EF4-FFF2-40B4-BE49-F238E27FC236}">
                <a16:creationId xmlns:a16="http://schemas.microsoft.com/office/drawing/2014/main" id="{9E19DF59-1CC1-B4CE-0A3C-3CE2DEEC9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62" y="5481956"/>
            <a:ext cx="546077" cy="32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6973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A431C-1DDF-8549-8226-EF85C8FA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45FF152A-CDDD-E26F-75E6-3955D8C4542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FF152A-CDDD-E26F-75E6-3955D8C454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6A304C-E3A2-F4E9-107A-BEDC682DB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/>
          <a:p>
            <a:pPr defTabSz="228600"/>
            <a:r>
              <a:rPr lang="en-GB">
                <a:solidFill>
                  <a:srgbClr val="050519"/>
                </a:solidFill>
                <a:latin typeface="Arial"/>
              </a:rPr>
              <a:t>Confidential &amp; Proprietary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84A1E0-1A93-DAD6-F0B3-89B81B85D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pPr defTabSz="228600"/>
            <a:fld id="{F9A9DF1F-AAF4-42C8-8B76-672AEDF4D6A3}" type="slidenum">
              <a:rPr lang="en-GB">
                <a:solidFill>
                  <a:srgbClr val="050519"/>
                </a:solidFill>
                <a:latin typeface="Arial"/>
              </a:rPr>
              <a:pPr defTabSz="228600"/>
              <a:t>31</a:t>
            </a:fld>
            <a:endParaRPr lang="en-GB">
              <a:solidFill>
                <a:srgbClr val="050519"/>
              </a:solidFill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A347C7-1D9F-CEDC-2EEC-C22A0FF6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9646726" cy="267807"/>
          </a:xfrm>
          <a:noFill/>
        </p:spPr>
        <p:txBody>
          <a:bodyPr vert="horz" rIns="0"/>
          <a:lstStyle/>
          <a:p>
            <a:r>
              <a:rPr lang="en-US"/>
              <a:t>Frontier Firms IDI Case Study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781986-067D-0FDD-4542-CD1E7EAA15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032" y="2037361"/>
            <a:ext cx="2249044" cy="3948325"/>
          </a:xfrm>
        </p:spPr>
        <p:txBody>
          <a:bodyPr lIns="91440"/>
          <a:lstStyle/>
          <a:p>
            <a:pPr lvl="1"/>
            <a:r>
              <a:rPr lang="en-GB"/>
              <a:t>​</a:t>
            </a:r>
          </a:p>
          <a:p>
            <a:pPr>
              <a:spcBef>
                <a:spcPts val="600"/>
              </a:spcBef>
            </a:pPr>
            <a:r>
              <a:rPr lang="en-GB" b="1"/>
              <a:t>B2B SaaS / risk &amp; compliance software </a:t>
            </a:r>
          </a:p>
          <a:p>
            <a:pPr>
              <a:spcBef>
                <a:spcPts val="600"/>
              </a:spcBef>
            </a:pPr>
            <a:r>
              <a:rPr lang="en-GB" i="1">
                <a:solidFill>
                  <a:schemeClr val="tx1"/>
                </a:solidFill>
              </a:rPr>
              <a:t>Founded in 2018</a:t>
            </a:r>
          </a:p>
          <a:p>
            <a:pPr>
              <a:spcBef>
                <a:spcPts val="600"/>
              </a:spcBef>
            </a:pPr>
            <a:r>
              <a:rPr lang="en-GB" i="1">
                <a:solidFill>
                  <a:schemeClr val="tx1"/>
                </a:solidFill>
              </a:rPr>
              <a:t>$34M Series B</a:t>
            </a:r>
          </a:p>
          <a:p>
            <a:pPr>
              <a:spcBef>
                <a:spcPts val="600"/>
              </a:spcBef>
            </a:pPr>
            <a:r>
              <a:rPr lang="en-US">
                <a:solidFill>
                  <a:schemeClr val="tx1"/>
                </a:solidFill>
              </a:rPr>
              <a:t>Builds AI agents for fraud detection and financial crime compliance, serving fintechs, crypto exchanges, and banks</a:t>
            </a:r>
          </a:p>
          <a:p>
            <a:pPr lvl="1"/>
            <a:endParaRPr lang="en-US">
              <a:solidFill>
                <a:schemeClr val="accent3"/>
              </a:solidFill>
            </a:endParaRPr>
          </a:p>
          <a:p>
            <a:pPr lvl="1"/>
            <a:r>
              <a:rPr lang="en-US" b="1" i="1">
                <a:solidFill>
                  <a:schemeClr val="accent3"/>
                </a:solidFill>
              </a:rPr>
              <a:t>AI tools used: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220755-0A28-8CD1-8F49-02B62135367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2" y="630559"/>
            <a:ext cx="9916668" cy="548434"/>
          </a:xfrm>
        </p:spPr>
        <p:txBody>
          <a:bodyPr/>
          <a:lstStyle/>
          <a:p>
            <a:r>
              <a:rPr lang="en-US" sz="1800"/>
              <a:t>AI-native operating model grounded in shared context transforms workflows and culture across teams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EB33217-A800-0FED-1812-2797A21DAD7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62922" y="1520119"/>
            <a:ext cx="2880360" cy="3256413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/>
              <a:t>Enabling factors: Context and data access through company “Brain” </a:t>
            </a:r>
          </a:p>
          <a:p>
            <a:r>
              <a:rPr kumimoji="0" lang="en-US" sz="1200" b="0" i="0" u="none" strike="noStrike" kern="1200" cap="none" spc="-20" normalizeH="0" baseline="0" noProof="0">
                <a:ln>
                  <a:noFill/>
                </a:ln>
                <a:solidFill>
                  <a:srgbClr val="0505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Shared </a:t>
            </a:r>
            <a:r>
              <a:rPr kumimoji="0" lang="en-US" sz="1200" b="1" i="0" u="none" strike="noStrike" kern="1200" cap="none" spc="-20" normalizeH="0" baseline="0" noProof="0">
                <a:ln>
                  <a:noFill/>
                </a:ln>
                <a:solidFill>
                  <a:srgbClr val="050519"/>
                </a:solidFill>
                <a:effectLst/>
                <a:highlight>
                  <a:srgbClr val="DEDDFF"/>
                </a:highlight>
                <a:uLnTx/>
                <a:uFillTx/>
                <a:latin typeface="Arial"/>
                <a:ea typeface="+mn-ea"/>
                <a:cs typeface="+mn-cs"/>
              </a:rPr>
              <a:t>Notion doc acts as routing “</a:t>
            </a:r>
            <a:r>
              <a:rPr 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B</a:t>
            </a:r>
            <a:r>
              <a:rPr kumimoji="0" lang="en-US" sz="1200" b="1" i="0" u="none" strike="noStrike" kern="1200" cap="none" spc="-20" normalizeH="0" baseline="0" noProof="0">
                <a:ln>
                  <a:noFill/>
                </a:ln>
                <a:solidFill>
                  <a:srgbClr val="050519"/>
                </a:solidFill>
                <a:effectLst/>
                <a:highlight>
                  <a:srgbClr val="DEDDFF"/>
                </a:highlight>
                <a:uLnTx/>
                <a:uFillTx/>
                <a:latin typeface="Arial"/>
                <a:ea typeface="+mn-ea"/>
                <a:cs typeface="+mn-cs"/>
              </a:rPr>
              <a:t>rain” for Claude</a:t>
            </a:r>
            <a:r>
              <a:rPr kumimoji="0" lang="en-US" sz="1200" b="0" i="0" u="none" strike="noStrike" kern="1200" cap="none" spc="-20" normalizeH="0" baseline="0" noProof="0">
                <a:ln>
                  <a:noFill/>
                </a:ln>
                <a:solidFill>
                  <a:srgbClr val="0505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pointing to tools (e.g., Slack, Gong, SFDC) and internal knowledge 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-20" normalizeH="0" baseline="0" noProof="0">
                <a:ln>
                  <a:noFill/>
                </a:ln>
                <a:solidFill>
                  <a:srgbClr val="0505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Company-wide Claude skill points to brain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 </a:t>
            </a:r>
            <a:r>
              <a:rPr lang="en-US" spc="-20">
                <a:solidFill>
                  <a:srgbClr val="050519"/>
                </a:solidFill>
                <a:latin typeface="Arial"/>
                <a:sym typeface="Wingdings" panose="05000000000000000000" pitchFamily="2" charset="2"/>
              </a:rPr>
              <a:t> interactions </a:t>
            </a:r>
            <a:r>
              <a:rPr kumimoji="0" lang="en-US" sz="1200" b="0" i="0" u="none" strike="noStrike" kern="1200" cap="none" spc="-20" normalizeH="0" baseline="0" noProof="0">
                <a:ln>
                  <a:noFill/>
                </a:ln>
                <a:solidFill>
                  <a:srgbClr val="0505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grounded in context 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BU leaders</a:t>
            </a:r>
            <a:r>
              <a:rPr kumimoji="0" lang="en-US" sz="1200" b="1" i="0" u="none" strike="noStrike" kern="1200" cap="none" spc="-20" normalizeH="0" baseline="0" noProof="0">
                <a:ln>
                  <a:noFill/>
                </a:ln>
                <a:solidFill>
                  <a:srgbClr val="050519"/>
                </a:solidFill>
                <a:effectLst/>
                <a:highlight>
                  <a:srgbClr val="DEDDFF"/>
                </a:highlight>
                <a:uLnTx/>
                <a:uFillTx/>
                <a:latin typeface="Arial"/>
                <a:ea typeface="+mn-ea"/>
                <a:cs typeface="+mn-cs"/>
              </a:rPr>
              <a:t> maintain Brain sections</a:t>
            </a:r>
            <a:r>
              <a:rPr kumimoji="0" lang="en-US" sz="1200" b="1" i="0" u="none" strike="noStrike" kern="1200" cap="none" spc="-20" normalizeH="0" baseline="0" noProof="0">
                <a:ln>
                  <a:noFill/>
                </a:ln>
                <a:solidFill>
                  <a:srgbClr val="0505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200" i="0" u="none" strike="noStrike" kern="1200" cap="none" spc="-20" normalizeH="0" baseline="0" noProof="0">
                <a:ln>
                  <a:noFill/>
                </a:ln>
                <a:solidFill>
                  <a:srgbClr val="0505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 on Claude suggestions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-20" normalizeH="0" baseline="0" noProof="0">
                <a:ln>
                  <a:noFill/>
                </a:ln>
                <a:solidFill>
                  <a:srgbClr val="0505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Daily cleanup trims brain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Risk-based human review: employees</a:t>
            </a:r>
            <a:r>
              <a:rPr lang="en-US" spc="-20">
                <a:solidFill>
                  <a:srgbClr val="050519"/>
                </a:solidFill>
              </a:rPr>
              <a:t> decide what to delegate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; production code and sensitive </a:t>
            </a:r>
            <a:r>
              <a:rPr lang="en-US" spc="-20">
                <a:solidFill>
                  <a:srgbClr val="050519"/>
                </a:solidFill>
              </a:rPr>
              <a:t>data have 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gates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3E69452-A8A3-D5AE-ADC3-D0BA58B0E8A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973815" y="1520119"/>
            <a:ext cx="2882900" cy="308520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/>
              <a:t>Operating model: AI changes work execution across functions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GB"/>
              <a:t>Engineering: AI plans work + writes code in Cursor / Claude Code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GB"/>
              <a:t>Design: synthetic users + Claude in Chrome test UX before user review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GB"/>
              <a:t>Marketing: auto-generated collateral 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GB"/>
              <a:t>PMs / designers / </a:t>
            </a:r>
            <a:r>
              <a:rPr lang="en-GB" b="1">
                <a:highlight>
                  <a:srgbClr val="DEDDFF"/>
                </a:highlight>
              </a:rPr>
              <a:t>non-engineers: ship code through gated process</a:t>
            </a:r>
            <a:r>
              <a:rPr lang="en-GB"/>
              <a:t> (product review → TDD review → </a:t>
            </a:r>
            <a:r>
              <a:rPr lang="en-GB" err="1"/>
              <a:t>CodeRabbit</a:t>
            </a:r>
            <a:r>
              <a:rPr lang="en-GB"/>
              <a:t>/</a:t>
            </a:r>
            <a:r>
              <a:rPr lang="en-GB" err="1"/>
              <a:t>Qodo</a:t>
            </a:r>
            <a:r>
              <a:rPr lang="en-GB"/>
              <a:t> → human sign-off)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GB"/>
              <a:t>All managers expected to “IC with AI” and ship something to users every week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BEE1443-CFDF-6F21-CE37-AF0E03F92BCF}"/>
              </a:ext>
            </a:extLst>
          </p:cNvPr>
          <p:cNvCxnSpPr>
            <a:cxnSpLocks/>
          </p:cNvCxnSpPr>
          <p:nvPr/>
        </p:nvCxnSpPr>
        <p:spPr>
          <a:xfrm>
            <a:off x="2973814" y="1332707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153F2022-F7EA-B4EB-C0AB-8C33F265521D}"/>
              </a:ext>
            </a:extLst>
          </p:cNvPr>
          <p:cNvSpPr/>
          <p:nvPr/>
        </p:nvSpPr>
        <p:spPr>
          <a:xfrm>
            <a:off x="256032" y="1332707"/>
            <a:ext cx="2249044" cy="549858"/>
          </a:xfrm>
          <a:prstGeom prst="snip2Diag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/>
              <a:t>Chief Product Officer</a:t>
            </a:r>
          </a:p>
        </p:txBody>
      </p:sp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2CF2B0ED-1D93-5A2E-884D-D4966171E55F}"/>
              </a:ext>
            </a:extLst>
          </p:cNvPr>
          <p:cNvSpPr txBox="1">
            <a:spLocks/>
          </p:cNvSpPr>
          <p:nvPr/>
        </p:nvSpPr>
        <p:spPr>
          <a:xfrm>
            <a:off x="7490442" y="4963943"/>
            <a:ext cx="4206240" cy="16395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Domain knowledge does no longer matter</a:t>
            </a:r>
            <a:endParaRPr lang="en-GB" b="1" i="1"/>
          </a:p>
          <a:p>
            <a:pPr lvl="1" defTabSz="457200"/>
            <a:r>
              <a:rPr lang="en-GB" i="1"/>
              <a:t>“</a:t>
            </a:r>
            <a:r>
              <a:rPr lang="en-US" b="1">
                <a:highlight>
                  <a:srgbClr val="DEDEFF"/>
                </a:highlight>
              </a:rPr>
              <a:t>I don't care about domain knowledge</a:t>
            </a:r>
            <a:r>
              <a:rPr lang="en-US"/>
              <a:t>. </a:t>
            </a:r>
            <a:r>
              <a:rPr lang="en-US" b="1">
                <a:highlight>
                  <a:srgbClr val="DEDEFF"/>
                </a:highlight>
              </a:rPr>
              <a:t>What it helps with practically is your onboarding time</a:t>
            </a:r>
            <a:r>
              <a:rPr lang="en-US"/>
              <a:t>. I think what's interesting is with AI already shortened onboarding time in general. You already hooked up to the brain. You have a question, okay, ask the brain</a:t>
            </a:r>
            <a:r>
              <a:rPr lang="en-US" i="1"/>
              <a:t>.”</a:t>
            </a:r>
            <a:endParaRPr lang="en-GB" i="1"/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6CB1556C-A24E-FBCB-8544-FCEBE0E31C3C}"/>
              </a:ext>
            </a:extLst>
          </p:cNvPr>
          <p:cNvSpPr txBox="1">
            <a:spLocks/>
          </p:cNvSpPr>
          <p:nvPr/>
        </p:nvSpPr>
        <p:spPr>
          <a:xfrm>
            <a:off x="3924797" y="4835572"/>
            <a:ext cx="170446" cy="260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348F8C7-40B6-ED28-8794-410B24C1E3EA}"/>
              </a:ext>
            </a:extLst>
          </p:cNvPr>
          <p:cNvSpPr txBox="1">
            <a:spLocks/>
          </p:cNvSpPr>
          <p:nvPr/>
        </p:nvSpPr>
        <p:spPr>
          <a:xfrm>
            <a:off x="1243584" y="6322979"/>
            <a:ext cx="6373813" cy="258006"/>
          </a:xfrm>
          <a:prstGeom prst="rect">
            <a:avLst/>
          </a:prstGeom>
        </p:spPr>
        <p:txBody>
          <a:bodyPr vert="horz" lIns="0" tIns="0" rIns="0" bIns="0" numCol="2" spcCol="21600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9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Source: Keystone Frontier Firm Research (05/2026)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6058E6-9472-5C7B-7BE1-E56C9766E724}"/>
              </a:ext>
            </a:extLst>
          </p:cNvPr>
          <p:cNvSpPr/>
          <p:nvPr/>
        </p:nvSpPr>
        <p:spPr>
          <a:xfrm>
            <a:off x="5399514" y="2971800"/>
            <a:ext cx="914399" cy="914399"/>
          </a:xfrm>
          <a:prstGeom prst="rect">
            <a:avLst/>
          </a:prstGeom>
          <a:noFill/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FEC10307-B77B-321D-6204-839B9395F9D5}"/>
              </a:ext>
            </a:extLst>
          </p:cNvPr>
          <p:cNvSpPr txBox="1">
            <a:spLocks/>
          </p:cNvSpPr>
          <p:nvPr/>
        </p:nvSpPr>
        <p:spPr>
          <a:xfrm>
            <a:off x="9316838" y="1520119"/>
            <a:ext cx="2379844" cy="25135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b="1"/>
              <a:t>Outcomes: Improved capacity, quality, and shipping speed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AEs and CSMs </a:t>
            </a:r>
            <a:r>
              <a:rPr 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handle ~2-3X prior load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Design </a:t>
            </a:r>
            <a:r>
              <a:rPr 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preempts “basically 90%” of beta issues 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before user calls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Product / design leaders push weekly user-facing shipping</a:t>
            </a:r>
            <a:endParaRPr lang="en-GB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23C2314-923D-33A6-5F1F-6B4AFC47023C}"/>
              </a:ext>
            </a:extLst>
          </p:cNvPr>
          <p:cNvSpPr txBox="1">
            <a:spLocks/>
          </p:cNvSpPr>
          <p:nvPr/>
        </p:nvSpPr>
        <p:spPr>
          <a:xfrm>
            <a:off x="3020879" y="4964337"/>
            <a:ext cx="4035794" cy="16893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Broad access, bounded by PII security</a:t>
            </a:r>
            <a:endParaRPr lang="en-GB" b="1"/>
          </a:p>
          <a:p>
            <a:pPr lvl="1" defTabSz="457200"/>
            <a:r>
              <a:rPr lang="en-GB" i="1"/>
              <a:t>“</a:t>
            </a:r>
            <a:r>
              <a:rPr lang="en-US" i="1"/>
              <a:t>As long as there’s no customer data… connect everything. </a:t>
            </a:r>
            <a:r>
              <a:rPr lang="en-US" b="1" i="1">
                <a:highlight>
                  <a:srgbClr val="DEDDFF"/>
                </a:highlight>
              </a:rPr>
              <a:t>Any tool that you use, connect it to Claude. Don’t even think about if you can</a:t>
            </a:r>
            <a:r>
              <a:rPr lang="en-US" i="1"/>
              <a:t>.”</a:t>
            </a:r>
            <a:endParaRPr lang="en-US" b="1" i="1"/>
          </a:p>
          <a:p>
            <a:pPr lvl="1" defTabSz="457200"/>
            <a:endParaRPr lang="en-US" b="1" i="1"/>
          </a:p>
          <a:p>
            <a:pPr lvl="1" defTabSz="457200"/>
            <a:endParaRPr lang="en-GB" i="1"/>
          </a:p>
        </p:txBody>
      </p:sp>
      <p:pic>
        <p:nvPicPr>
          <p:cNvPr id="1026" name="Picture 2" descr="Claude Logo PNG (Transparent) SVG AI – Free Download">
            <a:extLst>
              <a:ext uri="{FF2B5EF4-FFF2-40B4-BE49-F238E27FC236}">
                <a16:creationId xmlns:a16="http://schemas.microsoft.com/office/drawing/2014/main" id="{918CE152-5E2B-3ED7-1B06-2E4BA182A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62" y="4907373"/>
            <a:ext cx="987552" cy="21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5DD49E2-8D6D-458D-1CB0-4E7A7767D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62" y="5562621"/>
            <a:ext cx="982802" cy="23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C8D442C-B357-3C5C-4EE0-CF7FE543EC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7362" y="5240541"/>
            <a:ext cx="1384580" cy="201596"/>
          </a:xfrm>
          <a:prstGeom prst="rect">
            <a:avLst/>
          </a:prstGeom>
        </p:spPr>
      </p:pic>
      <p:pic>
        <p:nvPicPr>
          <p:cNvPr id="1036" name="Picture 12" descr="Qodo Logo PNG (Transparent) SVG AI – Free Download">
            <a:extLst>
              <a:ext uri="{FF2B5EF4-FFF2-40B4-BE49-F238E27FC236}">
                <a16:creationId xmlns:a16="http://schemas.microsoft.com/office/drawing/2014/main" id="{1F0345A2-6894-1999-1CF5-D7B4AA1102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8" t="33861" r="278" b="32453"/>
          <a:stretch>
            <a:fillRect/>
          </a:stretch>
        </p:blipFill>
        <p:spPr bwMode="auto">
          <a:xfrm>
            <a:off x="377362" y="5922662"/>
            <a:ext cx="937170" cy="315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F94176-2713-8BC9-EB8E-1E6F3634CCD2}"/>
              </a:ext>
            </a:extLst>
          </p:cNvPr>
          <p:cNvCxnSpPr>
            <a:cxnSpLocks/>
          </p:cNvCxnSpPr>
          <p:nvPr/>
        </p:nvCxnSpPr>
        <p:spPr>
          <a:xfrm>
            <a:off x="2973818" y="4893685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4487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1924F-04A7-2FBA-E8BF-93AD8C216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F2A9F64-B4CB-7D4D-FA72-A9CA682ACFC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2A9F64-B4CB-7D4D-FA72-A9CA682ACF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1D0C27-8838-C029-CB24-E6C2AC13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/>
          <a:p>
            <a:pPr defTabSz="228600"/>
            <a:r>
              <a:rPr lang="en-GB">
                <a:solidFill>
                  <a:srgbClr val="050519"/>
                </a:solidFill>
                <a:latin typeface="Arial"/>
              </a:rPr>
              <a:t>Confidential &amp; Proprietary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70EDB1-D4C6-B1FF-39F6-B33C1C3F5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pPr defTabSz="228600"/>
            <a:fld id="{F9A9DF1F-AAF4-42C8-8B76-672AEDF4D6A3}" type="slidenum">
              <a:rPr lang="en-GB">
                <a:solidFill>
                  <a:srgbClr val="050519"/>
                </a:solidFill>
                <a:latin typeface="Arial"/>
              </a:rPr>
              <a:pPr defTabSz="228600"/>
              <a:t>32</a:t>
            </a:fld>
            <a:endParaRPr lang="en-GB">
              <a:solidFill>
                <a:srgbClr val="050519"/>
              </a:solidFill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C2B345-0A60-5B7C-B15A-802F36321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9646726" cy="267807"/>
          </a:xfrm>
        </p:spPr>
        <p:txBody>
          <a:bodyPr vert="horz" rIns="0"/>
          <a:lstStyle/>
          <a:p>
            <a:r>
              <a:rPr lang="en-US"/>
              <a:t>Frontier Firms IDI Case Study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557A9D-122B-A9DB-0E6C-5D9261879B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5588" y="2036763"/>
            <a:ext cx="2249044" cy="3948325"/>
          </a:xfrm>
        </p:spPr>
        <p:txBody>
          <a:bodyPr vert="horz" lIns="91440" tIns="0" rIns="0" bIns="0" rtlCol="0">
            <a:noAutofit/>
          </a:bodyPr>
          <a:lstStyle/>
          <a:p>
            <a:pPr lvl="1">
              <a:spcBef>
                <a:spcPts val="600"/>
              </a:spcBef>
            </a:pPr>
            <a:endParaRPr lang="en-GB" b="1">
              <a:solidFill>
                <a:schemeClr val="accent3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b="1">
                <a:solidFill>
                  <a:schemeClr val="accent3"/>
                </a:solidFill>
              </a:rPr>
              <a:t>B2B SaaS / AI content platform</a:t>
            </a:r>
          </a:p>
          <a:p>
            <a:pPr lvl="1">
              <a:spcBef>
                <a:spcPts val="600"/>
              </a:spcBef>
            </a:pPr>
            <a:r>
              <a:rPr lang="en-GB" i="1"/>
              <a:t>Launched in 2025</a:t>
            </a:r>
          </a:p>
          <a:p>
            <a:pPr lvl="1">
              <a:spcBef>
                <a:spcPts val="600"/>
              </a:spcBef>
            </a:pPr>
            <a:r>
              <a:rPr lang="en-GB" i="1"/>
              <a:t>$27.5M Series A</a:t>
            </a:r>
          </a:p>
          <a:p>
            <a:pPr lvl="1">
              <a:spcBef>
                <a:spcPts val="600"/>
              </a:spcBef>
            </a:pPr>
            <a:r>
              <a:rPr lang="en-US"/>
              <a:t>Develops AI agents for content authoring and brand compliance, serving enterprise marketing teams</a:t>
            </a:r>
          </a:p>
          <a:p>
            <a:pPr lvl="1"/>
            <a:endParaRPr lang="en-US">
              <a:solidFill>
                <a:schemeClr val="accent3"/>
              </a:solidFill>
            </a:endParaRPr>
          </a:p>
          <a:p>
            <a:pPr lvl="1"/>
            <a:r>
              <a:rPr lang="en-US" b="1" i="1">
                <a:solidFill>
                  <a:schemeClr val="accent3"/>
                </a:solidFill>
              </a:rPr>
              <a:t>AI tools used:</a:t>
            </a:r>
          </a:p>
          <a:p>
            <a:pPr lvl="1"/>
            <a:endParaRPr lang="en-GB"/>
          </a:p>
          <a:p>
            <a:endParaRPr lang="en-GB"/>
          </a:p>
          <a:p>
            <a:pPr lvl="1"/>
            <a:endParaRPr lang="en-GB">
              <a:solidFill>
                <a:schemeClr val="accent3"/>
              </a:solidFill>
            </a:endParaRPr>
          </a:p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CCD620-52CC-99A2-1524-2F74285EFA9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2" y="630559"/>
            <a:ext cx="9916668" cy="548434"/>
          </a:xfrm>
        </p:spPr>
        <p:txBody>
          <a:bodyPr/>
          <a:lstStyle/>
          <a:p>
            <a:r>
              <a:rPr lang="en-US" sz="1800"/>
              <a:t>Repo-native context turns feedback, tests, and code review into proactive engineering operations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5819DE-E1BF-418A-7BFF-3CFECDC793A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73959" y="1520120"/>
            <a:ext cx="2880360" cy="31549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/>
              <a:t>Operating model: AI-assisted engineering loops drive responsiveness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spc="-20">
                <a:solidFill>
                  <a:srgbClr val="050519"/>
                </a:solidFill>
                <a:latin typeface="Arial"/>
              </a:rPr>
              <a:t>Feedback and testing trigger AI triage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spc="-20">
                <a:solidFill>
                  <a:srgbClr val="050519"/>
                </a:solidFill>
                <a:latin typeface="Arial"/>
              </a:rPr>
              <a:t>Claude cross-references product data, GitHub / code, and repo context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spc="-20">
                <a:solidFill>
                  <a:srgbClr val="050519"/>
                </a:solidFill>
                <a:latin typeface="Arial"/>
              </a:rPr>
              <a:t>Suspected </a:t>
            </a:r>
            <a:r>
              <a:rPr lang="en-US" sz="1200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bugs surface with ready-to-review patches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spc="-20">
                <a:solidFill>
                  <a:srgbClr val="050519"/>
                </a:solidFill>
                <a:latin typeface="Arial"/>
              </a:rPr>
              <a:t>Simulated user workflows test product integrations before users find issues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spc="-20">
                <a:solidFill>
                  <a:srgbClr val="050519"/>
                </a:solidFill>
                <a:latin typeface="Arial"/>
              </a:rPr>
              <a:t>AI review 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runs before human review; 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spc="-20">
                <a:solidFill>
                  <a:srgbClr val="050519"/>
                </a:solidFill>
                <a:latin typeface="Arial"/>
              </a:rPr>
              <a:t>Engineers experiment and share workflows in product; successful ones codified through multiple channels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BE2C620-B250-0A29-B41C-7321AEC050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83194" y="1520120"/>
            <a:ext cx="2880360" cy="206528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/>
              <a:t>Enabling factors: Context and data access through repo-native markdown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GB" b="1">
                <a:highlight>
                  <a:srgbClr val="DEDDFF"/>
                </a:highlight>
              </a:rPr>
              <a:t>Temporal for building all workflows </a:t>
            </a:r>
            <a:r>
              <a:rPr lang="en-GB"/>
              <a:t>and managing state across multi-stage agentic workflows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GB" b="1" err="1">
                <a:highlight>
                  <a:srgbClr val="DEDDFF"/>
                </a:highlight>
              </a:rPr>
              <a:t>Monorepo</a:t>
            </a:r>
            <a:r>
              <a:rPr lang="en-GB" b="1">
                <a:highlight>
                  <a:srgbClr val="DEDDFF"/>
                </a:highlight>
              </a:rPr>
              <a:t> markdown serves as context layer</a:t>
            </a:r>
            <a:r>
              <a:rPr lang="en-GB" b="1"/>
              <a:t> </a:t>
            </a:r>
            <a:r>
              <a:rPr lang="en-GB"/>
              <a:t>for engineering work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GB" err="1"/>
              <a:t>CLAUDE.md</a:t>
            </a:r>
            <a:r>
              <a:rPr lang="en-GB"/>
              <a:t> points models to scenario-specific agent docs, examples, and “do / don’t” guidance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GB" b="1">
                <a:highlight>
                  <a:srgbClr val="DEDDFF"/>
                </a:highlight>
              </a:rPr>
              <a:t>Ground truth delivered just-in-time</a:t>
            </a:r>
            <a:r>
              <a:rPr lang="en-GB" b="1"/>
              <a:t> </a:t>
            </a:r>
            <a:r>
              <a:rPr lang="en-GB"/>
              <a:t>through file pointers instead of through large RAG index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720CD6-6FE5-A5C2-F2CE-32ADB56AB691}"/>
              </a:ext>
            </a:extLst>
          </p:cNvPr>
          <p:cNvCxnSpPr>
            <a:cxnSpLocks/>
          </p:cNvCxnSpPr>
          <p:nvPr/>
        </p:nvCxnSpPr>
        <p:spPr>
          <a:xfrm>
            <a:off x="2973818" y="1332707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A25614CF-A3EE-2FE0-BFCD-8388FB22A41E}"/>
              </a:ext>
            </a:extLst>
          </p:cNvPr>
          <p:cNvSpPr txBox="1">
            <a:spLocks/>
          </p:cNvSpPr>
          <p:nvPr/>
        </p:nvSpPr>
        <p:spPr>
          <a:xfrm>
            <a:off x="2962823" y="4960566"/>
            <a:ext cx="4926911" cy="1266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Agentic workflows as infrastructure</a:t>
            </a:r>
            <a:endParaRPr lang="en-US" b="1" spc="-20">
              <a:solidFill>
                <a:srgbClr val="050519"/>
              </a:solidFill>
              <a:latin typeface="Arial"/>
            </a:endParaRPr>
          </a:p>
          <a:p>
            <a:pPr lvl="1" defTabSz="457200"/>
            <a:r>
              <a:rPr lang="en-US" spc="-20">
                <a:solidFill>
                  <a:srgbClr val="050519"/>
                </a:solidFill>
              </a:rPr>
              <a:t>“</a:t>
            </a:r>
            <a:r>
              <a:rPr lang="en-US" i="1" spc="-20">
                <a:solidFill>
                  <a:srgbClr val="050519"/>
                </a:solidFill>
              </a:rPr>
              <a:t>It's less about, hey, we're going to define all these workflows … It's more, I have this problem, </a:t>
            </a:r>
            <a:r>
              <a:rPr lang="en-US" b="1" i="1" spc="-20">
                <a:solidFill>
                  <a:srgbClr val="050519"/>
                </a:solidFill>
                <a:highlight>
                  <a:srgbClr val="DEDDFF"/>
                </a:highlight>
              </a:rPr>
              <a:t>I'm going to build this just-in-time software to solve [it] and not care that in 3 months… I'm throwing it away</a:t>
            </a:r>
            <a:r>
              <a:rPr lang="en-US" i="1" spc="-20">
                <a:solidFill>
                  <a:srgbClr val="050519"/>
                </a:solidFill>
              </a:rPr>
              <a:t>. But for those 3 months, it solves a ton of problems and is way easier than buying [SaaS].”</a:t>
            </a:r>
            <a:endParaRPr lang="en-GB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60314346-6E42-CC7B-EEC7-D3AC19EAFEB0}"/>
              </a:ext>
            </a:extLst>
          </p:cNvPr>
          <p:cNvSpPr txBox="1">
            <a:spLocks/>
          </p:cNvSpPr>
          <p:nvPr/>
        </p:nvSpPr>
        <p:spPr>
          <a:xfrm>
            <a:off x="8075588" y="4960566"/>
            <a:ext cx="3633449" cy="1362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Personalized upskilling</a:t>
            </a:r>
            <a:endParaRPr lang="en-GB" b="1"/>
          </a:p>
          <a:p>
            <a:pPr algn="l">
              <a:buNone/>
            </a:pPr>
            <a:r>
              <a:rPr lang="en-GB" i="1">
                <a:solidFill>
                  <a:schemeClr val="tx1"/>
                </a:solidFill>
              </a:rPr>
              <a:t>“You need the $200 version of Claude so you can use it in your spare time vs the $100 version… A</a:t>
            </a:r>
            <a:r>
              <a:rPr lang="en-US" i="1">
                <a:solidFill>
                  <a:schemeClr val="tx1"/>
                </a:solidFill>
              </a:rPr>
              <a:t> </a:t>
            </a:r>
            <a:r>
              <a:rPr lang="en-US" i="1">
                <a:solidFill>
                  <a:schemeClr val="tx1"/>
                </a:solidFill>
                <a:effectLst/>
              </a:rPr>
              <a:t>data scientist has been </a:t>
            </a:r>
            <a:r>
              <a:rPr lang="en-US" b="1" i="1">
                <a:solidFill>
                  <a:schemeClr val="tx1"/>
                </a:solidFill>
                <a:effectLst/>
                <a:highlight>
                  <a:srgbClr val="DEDDFF"/>
                </a:highlight>
              </a:rPr>
              <a:t>building in her spare time this crazy video game… She now commits production-quality code</a:t>
            </a:r>
            <a:r>
              <a:rPr lang="en-US" b="1" i="1">
                <a:solidFill>
                  <a:schemeClr val="tx1"/>
                </a:solidFill>
                <a:effectLst/>
              </a:rPr>
              <a:t> </a:t>
            </a:r>
            <a:r>
              <a:rPr lang="en-US" b="0" i="1">
                <a:solidFill>
                  <a:schemeClr val="tx1"/>
                </a:solidFill>
                <a:effectLst/>
              </a:rPr>
              <a:t>to the main product using Claude Code.”</a:t>
            </a:r>
            <a:endParaRPr lang="en-US" i="1">
              <a:solidFill>
                <a:schemeClr val="tx1"/>
              </a:solidFill>
            </a:endParaRP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E0537FAB-9CEF-199A-5EE4-AF77B8732406}"/>
              </a:ext>
            </a:extLst>
          </p:cNvPr>
          <p:cNvSpPr txBox="1">
            <a:spLocks/>
          </p:cNvSpPr>
          <p:nvPr/>
        </p:nvSpPr>
        <p:spPr>
          <a:xfrm>
            <a:off x="3924801" y="5186922"/>
            <a:ext cx="170446" cy="260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0498546-5634-B0E5-CAE0-ADE82CE2222D}"/>
              </a:ext>
            </a:extLst>
          </p:cNvPr>
          <p:cNvSpPr txBox="1">
            <a:spLocks/>
          </p:cNvSpPr>
          <p:nvPr/>
        </p:nvSpPr>
        <p:spPr>
          <a:xfrm>
            <a:off x="1243584" y="6322979"/>
            <a:ext cx="6373813" cy="258006"/>
          </a:xfrm>
          <a:prstGeom prst="rect">
            <a:avLst/>
          </a:prstGeom>
        </p:spPr>
        <p:txBody>
          <a:bodyPr vert="horz" lIns="0" tIns="0" rIns="0" bIns="0" numCol="2" spcCol="21600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9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Source: Keystone Frontier Firm Research (05/2026) </a:t>
            </a:r>
          </a:p>
        </p:txBody>
      </p:sp>
      <p:sp>
        <p:nvSpPr>
          <p:cNvPr id="14" name="Rectangle: Diagonal Corners Snipped 5">
            <a:extLst>
              <a:ext uri="{FF2B5EF4-FFF2-40B4-BE49-F238E27FC236}">
                <a16:creationId xmlns:a16="http://schemas.microsoft.com/office/drawing/2014/main" id="{BDCF4850-1C27-EC8C-E2BD-644870F6418E}"/>
              </a:ext>
            </a:extLst>
          </p:cNvPr>
          <p:cNvSpPr/>
          <p:nvPr/>
        </p:nvSpPr>
        <p:spPr>
          <a:xfrm>
            <a:off x="256032" y="1332707"/>
            <a:ext cx="2249044" cy="549858"/>
          </a:xfrm>
          <a:prstGeom prst="snip2Diag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/>
              <a:t>VP of AI Engineering</a:t>
            </a:r>
          </a:p>
        </p:txBody>
      </p:sp>
      <p:pic>
        <p:nvPicPr>
          <p:cNvPr id="21" name="Picture 2" descr="Claude Logo PNG (Transparent) SVG AI – Free Download">
            <a:extLst>
              <a:ext uri="{FF2B5EF4-FFF2-40B4-BE49-F238E27FC236}">
                <a16:creationId xmlns:a16="http://schemas.microsoft.com/office/drawing/2014/main" id="{C3077031-FF8B-39A2-8558-6655A4945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82" y="4947014"/>
            <a:ext cx="710481" cy="15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6B6398-5C48-45E0-A8BC-66BB79C1D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82" y="5216768"/>
            <a:ext cx="810468" cy="21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B4DF4F6A-03FA-2ACA-F1FF-D9AB0B48A8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07163" y="5150487"/>
            <a:ext cx="323307" cy="32330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A044942-FD32-57B1-A250-BA148593B0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7225" t="19800" r="20413" b="16610"/>
          <a:stretch>
            <a:fillRect/>
          </a:stretch>
        </p:blipFill>
        <p:spPr>
          <a:xfrm>
            <a:off x="1305784" y="5686266"/>
            <a:ext cx="810599" cy="539054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F19D0FA-723B-417B-A591-D490EB0D41BF}"/>
              </a:ext>
            </a:extLst>
          </p:cNvPr>
          <p:cNvSpPr txBox="1">
            <a:spLocks/>
          </p:cNvSpPr>
          <p:nvPr/>
        </p:nvSpPr>
        <p:spPr>
          <a:xfrm>
            <a:off x="9316842" y="1520120"/>
            <a:ext cx="2379844" cy="25135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b="1"/>
              <a:t>Outcomes: Faster fixes, more upskilling, </a:t>
            </a:r>
            <a:r>
              <a:rPr lang="en-US" b="1"/>
              <a:t>reduced tool sprawl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Bug triage goes from report to patch-ready without human involvement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Non-engineers now ship production-quality code</a:t>
            </a:r>
            <a:r>
              <a:rPr lang="en-US" altLang="en-US" spc="-20">
                <a:solidFill>
                  <a:srgbClr val="050519"/>
                </a:solidFill>
                <a:latin typeface="Arial"/>
              </a:rPr>
              <a:t> independently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Software for individual problems can be vibe-coded instead of purchased</a:t>
            </a:r>
            <a:endParaRPr lang="en-GB" spc="-20">
              <a:solidFill>
                <a:srgbClr val="050519"/>
              </a:solidFill>
              <a:latin typeface="Arial"/>
            </a:endParaRPr>
          </a:p>
        </p:txBody>
      </p:sp>
      <p:pic>
        <p:nvPicPr>
          <p:cNvPr id="4098" name="Picture 2" descr="AWS Bedrock: The Future of Generative AI for Every Business | by Patrick  Wan | Medium">
            <a:extLst>
              <a:ext uri="{FF2B5EF4-FFF2-40B4-BE49-F238E27FC236}">
                <a16:creationId xmlns:a16="http://schemas.microsoft.com/office/drawing/2014/main" id="{537C6AB2-798B-51F5-2BA2-29C6ADC06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89" y="5538499"/>
            <a:ext cx="912394" cy="67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5E5754-939C-772A-708A-E1071A32DCE3}"/>
              </a:ext>
            </a:extLst>
          </p:cNvPr>
          <p:cNvSpPr txBox="1"/>
          <p:nvPr/>
        </p:nvSpPr>
        <p:spPr>
          <a:xfrm>
            <a:off x="1389994" y="5445358"/>
            <a:ext cx="757645" cy="1788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1800"/>
              </a:spcBef>
            </a:pPr>
            <a:r>
              <a:rPr lang="en-US" sz="1000" spc="-20" err="1"/>
              <a:t>LibreChat</a:t>
            </a:r>
            <a:endParaRPr lang="en-US" sz="1000" spc="-2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F379C4-7DEF-76AE-27FB-FD61B7C1A8F5}"/>
              </a:ext>
            </a:extLst>
          </p:cNvPr>
          <p:cNvCxnSpPr>
            <a:cxnSpLocks/>
          </p:cNvCxnSpPr>
          <p:nvPr/>
        </p:nvCxnSpPr>
        <p:spPr>
          <a:xfrm>
            <a:off x="2973818" y="4893685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Bazel Logo PNG Vector (SVG) Free Download">
            <a:extLst>
              <a:ext uri="{FF2B5EF4-FFF2-40B4-BE49-F238E27FC236}">
                <a16:creationId xmlns:a16="http://schemas.microsoft.com/office/drawing/2014/main" id="{BC5DD920-6441-CC3B-2CE4-4DF8E5F1E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499" y="4616651"/>
            <a:ext cx="754736" cy="754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A60922-9AE4-9A33-9B06-8B233893E245}"/>
              </a:ext>
            </a:extLst>
          </p:cNvPr>
          <p:cNvSpPr txBox="1"/>
          <p:nvPr/>
        </p:nvSpPr>
        <p:spPr>
          <a:xfrm>
            <a:off x="2653990" y="57540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</p:spTree>
    <p:extLst>
      <p:ext uri="{BB962C8B-B14F-4D97-AF65-F5344CB8AC3E}">
        <p14:creationId xmlns:p14="http://schemas.microsoft.com/office/powerpoint/2010/main" val="20088088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5040-C01E-30C0-BC2E-811F7D80D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1847558F-2AEE-39AB-01D1-04D8EEEE59B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47558F-2AEE-39AB-01D1-04D8EEEE59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3F0571-6088-DAF7-B55F-4C7D637C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/>
          <a:p>
            <a:pPr defTabSz="228600"/>
            <a:r>
              <a:rPr lang="en-GB">
                <a:solidFill>
                  <a:srgbClr val="050519"/>
                </a:solidFill>
                <a:latin typeface="Arial"/>
              </a:rPr>
              <a:t>Confidential &amp; Proprietary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FF3D7C-5EE4-C016-6D04-01A79C55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pPr defTabSz="228600"/>
            <a:fld id="{F9A9DF1F-AAF4-42C8-8B76-672AEDF4D6A3}" type="slidenum">
              <a:rPr lang="en-GB">
                <a:solidFill>
                  <a:srgbClr val="050519"/>
                </a:solidFill>
                <a:latin typeface="Arial"/>
              </a:rPr>
              <a:pPr defTabSz="228600"/>
              <a:t>33</a:t>
            </a:fld>
            <a:endParaRPr lang="en-GB">
              <a:solidFill>
                <a:srgbClr val="050519"/>
              </a:solidFill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A62237-A844-552B-0D21-671B25883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9646726" cy="267807"/>
          </a:xfrm>
        </p:spPr>
        <p:txBody>
          <a:bodyPr vert="horz" rIns="0"/>
          <a:lstStyle/>
          <a:p>
            <a:r>
              <a:rPr lang="en-US"/>
              <a:t>Frontier Firms IDI Case Study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C6D357-7FC2-29E4-9828-26350A740B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5588" y="2036763"/>
            <a:ext cx="2249044" cy="3948325"/>
          </a:xfrm>
        </p:spPr>
        <p:txBody>
          <a:bodyPr vert="horz" lIns="91440" tIns="0" rIns="0" bIns="0" rtlCol="0">
            <a:noAutofit/>
          </a:bodyPr>
          <a:lstStyle/>
          <a:p>
            <a:pPr lvl="1">
              <a:spcBef>
                <a:spcPts val="600"/>
              </a:spcBef>
            </a:pPr>
            <a:endParaRPr lang="en-GB" b="1">
              <a:solidFill>
                <a:schemeClr val="accent3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b="1">
                <a:solidFill>
                  <a:schemeClr val="accent3"/>
                </a:solidFill>
              </a:rPr>
              <a:t>Professional Services</a:t>
            </a:r>
          </a:p>
          <a:p>
            <a:pPr lvl="1">
              <a:spcBef>
                <a:spcPts val="600"/>
              </a:spcBef>
            </a:pPr>
            <a:r>
              <a:rPr lang="en-GB" i="1"/>
              <a:t>Launched in 2015</a:t>
            </a:r>
          </a:p>
          <a:p>
            <a:pPr lvl="1">
              <a:spcBef>
                <a:spcPts val="600"/>
              </a:spcBef>
            </a:pPr>
            <a:r>
              <a:rPr lang="en-GB" i="1"/>
              <a:t>$100M in growth funding</a:t>
            </a:r>
            <a:endParaRPr lang="en-GB"/>
          </a:p>
          <a:p>
            <a:pPr lvl="1">
              <a:spcBef>
                <a:spcPts val="600"/>
              </a:spcBef>
            </a:pPr>
            <a:r>
              <a:rPr lang="en-US"/>
              <a:t>Builds AI-powered data pipelines and human-in-the-loop systems that help large enterprises operationalize AI</a:t>
            </a:r>
          </a:p>
          <a:p>
            <a:pPr lvl="1"/>
            <a:endParaRPr lang="en-US">
              <a:solidFill>
                <a:schemeClr val="accent3"/>
              </a:solidFill>
            </a:endParaRPr>
          </a:p>
          <a:p>
            <a:pPr lvl="1"/>
            <a:r>
              <a:rPr lang="en-US" b="1" i="1">
                <a:solidFill>
                  <a:schemeClr val="accent3"/>
                </a:solidFill>
              </a:rPr>
              <a:t>AI tools used:</a:t>
            </a:r>
          </a:p>
          <a:p>
            <a:pPr lvl="1"/>
            <a:endParaRPr lang="en-GB"/>
          </a:p>
          <a:p>
            <a:endParaRPr lang="en-GB"/>
          </a:p>
          <a:p>
            <a:pPr lvl="1"/>
            <a:endParaRPr lang="en-GB">
              <a:solidFill>
                <a:schemeClr val="accent3"/>
              </a:solidFill>
            </a:endParaRPr>
          </a:p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F62AF5-CFD1-55EA-CE6E-CAD5961569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1" y="630559"/>
            <a:ext cx="11616655" cy="548434"/>
          </a:xfrm>
        </p:spPr>
        <p:txBody>
          <a:bodyPr/>
          <a:lstStyle/>
          <a:p>
            <a:r>
              <a:rPr lang="en-US" sz="1800"/>
              <a:t>Engineers remain in control of planning, review, and deployment while AI agents increase volume and velocity</a:t>
            </a:r>
            <a:endParaRPr lang="en-US" sz="160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7D3BDEC-1824-05F5-1338-3DF4ECD82FD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73959" y="1520120"/>
            <a:ext cx="2880360" cy="31549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/>
              <a:t>Workflow: plan-led, AI-executed, human-approved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spc="-20">
                <a:solidFill>
                  <a:srgbClr val="050519"/>
                </a:solidFill>
                <a:latin typeface="Arial"/>
              </a:rPr>
              <a:t>Engineers spend 3–5 days to write a  </a:t>
            </a:r>
            <a:r>
              <a:rPr lang="en-US" sz="1200" spc="-20" err="1">
                <a:solidFill>
                  <a:srgbClr val="050519"/>
                </a:solidFill>
                <a:latin typeface="Arial"/>
              </a:rPr>
              <a:t>plan.md</a:t>
            </a:r>
            <a:r>
              <a:rPr lang="en-US" sz="1200" spc="-20">
                <a:solidFill>
                  <a:srgbClr val="050519"/>
                </a:solidFill>
                <a:latin typeface="Arial"/>
              </a:rPr>
              <a:t>, after which AI builds it use-case by use-case under engineer review
</a:t>
            </a:r>
            <a:r>
              <a:rPr lang="en-US"/>
              <a:t>AI handles first-pass code review; </a:t>
            </a:r>
            <a:r>
              <a:rPr lang="en-US" b="1">
                <a:highlight>
                  <a:srgbClr val="DEDDFF"/>
                </a:highlight>
              </a:rPr>
              <a:t>humans still do targeted line-by-line review</a:t>
            </a:r>
            <a:r>
              <a:rPr lang="en-US"/>
              <a:t> and own all merge and production-deploy decisions</a:t>
            </a:r>
            <a:r>
              <a:rPr lang="en-US" sz="1200" spc="-20">
                <a:solidFill>
                  <a:srgbClr val="050519"/>
                </a:solidFill>
                <a:latin typeface="Arial"/>
              </a:rPr>
              <a:t>
Separate sub-agents for building, testing, and review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Designers and PM’s self-prototype</a:t>
            </a:r>
            <a:r>
              <a:rPr lang="en-US" sz="1200" spc="-20">
                <a:solidFill>
                  <a:srgbClr val="050519"/>
                </a:solidFill>
                <a:latin typeface="Arial"/>
              </a:rPr>
              <a:t>
A weekly "AI Doctor" meeting surfaces wins, mistakes, and best practices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5DC8C69-BE2E-F027-B025-1D01AE20B33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83194" y="1520120"/>
            <a:ext cx="2880360" cy="3195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/>
              <a:t>Enabling factors: Scoped context and tiered access for token efficiency</a:t>
            </a:r>
            <a:endParaRPr lang="en-US" b="1"/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Consistent use of </a:t>
            </a:r>
            <a:r>
              <a:rPr lang="en-US" altLang="en-US" spc="-20" err="1">
                <a:solidFill>
                  <a:srgbClr val="050519"/>
                </a:solidFill>
                <a:latin typeface="Arial"/>
              </a:rPr>
              <a:t>plan.md</a:t>
            </a:r>
            <a:r>
              <a:rPr lang="en-US" altLang="en-US" spc="-20">
                <a:solidFill>
                  <a:srgbClr val="050519"/>
                </a:solidFill>
                <a:latin typeface="Arial"/>
              </a:rPr>
              <a:t> and reusable skills files across the codebase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Notion as the knowledge hub</a:t>
            </a:r>
            <a:r>
              <a:rPr lang="en-US" altLang="en-US" spc="-20">
                <a:solidFill>
                  <a:srgbClr val="050519"/>
                </a:solidFill>
                <a:latin typeface="Arial"/>
              </a:rPr>
              <a:t>; Slack threads and PRDs pulled into context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Per-agent scoped context</a:t>
            </a:r>
            <a:r>
              <a:rPr lang="en-US" altLang="en-US" spc="-20">
                <a:solidFill>
                  <a:srgbClr val="050519"/>
                </a:solidFill>
                <a:latin typeface="Arial"/>
              </a:rPr>
              <a:t> (e.g., people-team bot isolated from tech docs)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Dedicated regression-testing agent and vulnerability scanners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Model tiering based on task complexity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Month-to-month AI vendor contracts because of rapid market changes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7A5EF2-F29B-E7D2-B150-C2A3E7152384}"/>
              </a:ext>
            </a:extLst>
          </p:cNvPr>
          <p:cNvCxnSpPr>
            <a:cxnSpLocks/>
          </p:cNvCxnSpPr>
          <p:nvPr/>
        </p:nvCxnSpPr>
        <p:spPr>
          <a:xfrm>
            <a:off x="2973818" y="1332707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4C621B3E-D613-FA12-F288-B26DA95DE8CC}"/>
              </a:ext>
            </a:extLst>
          </p:cNvPr>
          <p:cNvSpPr txBox="1">
            <a:spLocks/>
          </p:cNvSpPr>
          <p:nvPr/>
        </p:nvSpPr>
        <p:spPr>
          <a:xfrm>
            <a:off x="2962823" y="4960566"/>
            <a:ext cx="4926911" cy="1266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Token management through tier-based access restrictions</a:t>
            </a:r>
          </a:p>
          <a:p>
            <a:pPr lvl="1" defTabSz="457200"/>
            <a:r>
              <a:rPr lang="en-US" i="1" spc="-20">
                <a:solidFill>
                  <a:srgbClr val="050519"/>
                </a:solidFill>
              </a:rPr>
              <a:t>“</a:t>
            </a:r>
            <a:r>
              <a:rPr lang="en-US" i="1"/>
              <a:t>We've established 3 tiers of engineers. […] </a:t>
            </a:r>
            <a:r>
              <a:rPr lang="en-US" b="1" i="1">
                <a:highlight>
                  <a:srgbClr val="DEDDFF"/>
                </a:highlight>
              </a:rPr>
              <a:t>Everyone falls into T1 and gets a lower cap on daily token consumption</a:t>
            </a:r>
            <a:r>
              <a:rPr lang="en-US" i="1"/>
              <a:t>. When an engineer starts to hit up against that cap frequently, […] their manager has to approve that they're having a reasonable level of impact before they're upgraded to T2.”</a:t>
            </a:r>
            <a:endParaRPr lang="en-GB" i="1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882E9376-FCA8-84BF-7AAE-03ED16F98C1F}"/>
              </a:ext>
            </a:extLst>
          </p:cNvPr>
          <p:cNvSpPr txBox="1">
            <a:spLocks/>
          </p:cNvSpPr>
          <p:nvPr/>
        </p:nvSpPr>
        <p:spPr>
          <a:xfrm>
            <a:off x="8075588" y="4960566"/>
            <a:ext cx="3633449" cy="1362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AI mistakes replicate at exponential scale</a:t>
            </a:r>
            <a:endParaRPr lang="en-GB" b="1"/>
          </a:p>
          <a:p>
            <a:r>
              <a:rPr lang="en-GB" i="1">
                <a:solidFill>
                  <a:schemeClr val="tx1"/>
                </a:solidFill>
              </a:rPr>
              <a:t>“</a:t>
            </a:r>
            <a:r>
              <a:rPr lang="en-US" i="1">
                <a:solidFill>
                  <a:schemeClr val="tx1"/>
                </a:solidFill>
              </a:rPr>
              <a:t>In one instance, there was an N+1 query in the code base […] </a:t>
            </a:r>
            <a:r>
              <a:rPr lang="en-US" b="1" i="1">
                <a:solidFill>
                  <a:schemeClr val="tx1"/>
                </a:solidFill>
                <a:effectLst/>
                <a:highlight>
                  <a:srgbClr val="DEDDFF"/>
                </a:highlight>
              </a:rPr>
              <a:t>Claude code saw that N+1 query and replicated it 600 times</a:t>
            </a:r>
            <a:r>
              <a:rPr lang="en-US" b="0" i="1">
                <a:solidFill>
                  <a:schemeClr val="tx1"/>
                </a:solidFill>
                <a:effectLst/>
              </a:rPr>
              <a:t> […]. </a:t>
            </a:r>
            <a:r>
              <a:rPr lang="en-US" i="1">
                <a:solidFill>
                  <a:schemeClr val="tx1"/>
                </a:solidFill>
                <a:effectLst/>
              </a:rPr>
              <a:t>It is hard to undo that</a:t>
            </a:r>
            <a:r>
              <a:rPr lang="en-US" b="0" i="1">
                <a:solidFill>
                  <a:schemeClr val="tx1"/>
                </a:solidFill>
                <a:effectLst/>
              </a:rPr>
              <a:t> [...]. </a:t>
            </a:r>
            <a:r>
              <a:rPr lang="en-US" b="1" i="1">
                <a:solidFill>
                  <a:schemeClr val="tx1"/>
                </a:solidFill>
                <a:effectLst/>
                <a:highlight>
                  <a:srgbClr val="DEDDFF"/>
                </a:highlight>
              </a:rPr>
              <a:t>This </a:t>
            </a:r>
            <a:r>
              <a:rPr lang="en-US" b="1" i="1">
                <a:solidFill>
                  <a:schemeClr val="tx1"/>
                </a:solidFill>
                <a:highlight>
                  <a:srgbClr val="DEDDFF"/>
                </a:highlight>
              </a:rPr>
              <a:t>caused significant latency issues and incidents</a:t>
            </a:r>
            <a:r>
              <a:rPr lang="en-US" b="0" i="1">
                <a:solidFill>
                  <a:schemeClr val="tx1"/>
                </a:solidFill>
                <a:effectLst/>
              </a:rPr>
              <a:t>”</a:t>
            </a:r>
            <a:endParaRPr lang="en-US" i="1">
              <a:solidFill>
                <a:schemeClr val="tx1"/>
              </a:solidFill>
            </a:endParaRP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1AE070C8-C1B4-0AF5-10CE-50F6F2C6C326}"/>
              </a:ext>
            </a:extLst>
          </p:cNvPr>
          <p:cNvSpPr txBox="1">
            <a:spLocks/>
          </p:cNvSpPr>
          <p:nvPr/>
        </p:nvSpPr>
        <p:spPr>
          <a:xfrm>
            <a:off x="3924801" y="5186922"/>
            <a:ext cx="170446" cy="260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0D3F42D-84F6-C20F-0B87-8C0455550612}"/>
              </a:ext>
            </a:extLst>
          </p:cNvPr>
          <p:cNvSpPr txBox="1">
            <a:spLocks/>
          </p:cNvSpPr>
          <p:nvPr/>
        </p:nvSpPr>
        <p:spPr>
          <a:xfrm>
            <a:off x="1243584" y="6322979"/>
            <a:ext cx="6373813" cy="258006"/>
          </a:xfrm>
          <a:prstGeom prst="rect">
            <a:avLst/>
          </a:prstGeom>
        </p:spPr>
        <p:txBody>
          <a:bodyPr vert="horz" lIns="0" tIns="0" rIns="0" bIns="0" numCol="2" spcCol="21600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9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Source: Keystone Frontier Firm Research (05/2026) </a:t>
            </a:r>
          </a:p>
        </p:txBody>
      </p:sp>
      <p:sp>
        <p:nvSpPr>
          <p:cNvPr id="14" name="Rectangle: Diagonal Corners Snipped 5">
            <a:extLst>
              <a:ext uri="{FF2B5EF4-FFF2-40B4-BE49-F238E27FC236}">
                <a16:creationId xmlns:a16="http://schemas.microsoft.com/office/drawing/2014/main" id="{FCAB6D55-0F2B-3E13-EC5F-A0CB4E70A159}"/>
              </a:ext>
            </a:extLst>
          </p:cNvPr>
          <p:cNvSpPr/>
          <p:nvPr/>
        </p:nvSpPr>
        <p:spPr>
          <a:xfrm>
            <a:off x="256032" y="1332707"/>
            <a:ext cx="2249044" cy="549858"/>
          </a:xfrm>
          <a:prstGeom prst="snip2Diag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/>
              <a:t>Senior Director Engineering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C37366-E9E8-F1CD-8565-73AF169F86B6}"/>
              </a:ext>
            </a:extLst>
          </p:cNvPr>
          <p:cNvCxnSpPr>
            <a:cxnSpLocks/>
          </p:cNvCxnSpPr>
          <p:nvPr/>
        </p:nvCxnSpPr>
        <p:spPr>
          <a:xfrm>
            <a:off x="2973818" y="4893685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Claude Logo PNG (Transparent) SVG AI – Free Download">
            <a:extLst>
              <a:ext uri="{FF2B5EF4-FFF2-40B4-BE49-F238E27FC236}">
                <a16:creationId xmlns:a16="http://schemas.microsoft.com/office/drawing/2014/main" id="{0EF83098-2ABA-F73C-3F85-D9B4F96C4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82" y="4715321"/>
            <a:ext cx="710481" cy="15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EFA3932-C37A-6737-1600-D47742600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82" y="4985541"/>
            <a:ext cx="810468" cy="21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53CAE3C-24FD-FF39-57B2-32553775A357}"/>
              </a:ext>
            </a:extLst>
          </p:cNvPr>
          <p:cNvSpPr txBox="1">
            <a:spLocks/>
          </p:cNvSpPr>
          <p:nvPr/>
        </p:nvSpPr>
        <p:spPr>
          <a:xfrm>
            <a:off x="9278476" y="1520119"/>
            <a:ext cx="2379844" cy="3195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b="1"/>
              <a:t>Outcomes: More PRs and faster features, </a:t>
            </a:r>
            <a:r>
              <a:rPr lang="en-US" b="1"/>
              <a:t>less hiring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PR creation rate increased from 1-3 PR’s per engineer / week to </a:t>
            </a:r>
            <a:r>
              <a:rPr lang="en-US" alt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3-5 PR’s per engineer / day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Feature timelines: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 3–6 months with pizza-size team → 1 engineer within a sprint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Ops team eliminated from tier-1/tier-2 support  (ingesting, deduping, and triaging tickets)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spc="-20">
                <a:solidFill>
                  <a:srgbClr val="050519"/>
                </a:solidFill>
                <a:highlight>
                  <a:srgbClr val="DEDDFF"/>
                </a:highlight>
                <a:latin typeface="Arial"/>
              </a:rPr>
              <a:t>Forward hiring plan: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 1 senior SWE instead of 4 junior SWEs</a:t>
            </a:r>
            <a:endParaRPr lang="en-GB" spc="-20">
              <a:solidFill>
                <a:srgbClr val="050519"/>
              </a:solidFill>
              <a:latin typeface="Arial"/>
            </a:endParaRP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E35E5371-D880-AF4C-1044-B47705878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62" y="5359421"/>
            <a:ext cx="982802" cy="23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Figma logo - free Icon PNG, SVG">
            <a:extLst>
              <a:ext uri="{FF2B5EF4-FFF2-40B4-BE49-F238E27FC236}">
                <a16:creationId xmlns:a16="http://schemas.microsoft.com/office/drawing/2014/main" id="{922F565B-7F6E-C7ED-12F8-1506B3251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65" y="5689207"/>
            <a:ext cx="824114" cy="412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Replit icon - Free Download PNG &amp; SVG | Streamline">
            <a:extLst>
              <a:ext uri="{FF2B5EF4-FFF2-40B4-BE49-F238E27FC236}">
                <a16:creationId xmlns:a16="http://schemas.microsoft.com/office/drawing/2014/main" id="{65B6CE55-0FD3-B3E9-6E5B-3C9DD1CCC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464" y="4370350"/>
            <a:ext cx="931718" cy="93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7806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1C198-E8E7-7FE4-4F23-9852F0686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40589B3E-7811-1547-2E1A-995066D9B1E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589B3E-7811-1547-2E1A-995066D9B1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1C1442-C39B-4FDF-5061-9A33E8BE9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9016" y="6440556"/>
            <a:ext cx="2520355" cy="171589"/>
          </a:xfrm>
        </p:spPr>
        <p:txBody>
          <a:bodyPr/>
          <a:lstStyle/>
          <a:p>
            <a:pPr defTabSz="228600"/>
            <a:r>
              <a:rPr lang="en-GB">
                <a:solidFill>
                  <a:srgbClr val="050519"/>
                </a:solidFill>
                <a:latin typeface="Arial"/>
              </a:rPr>
              <a:t>Confidential &amp; Proprietary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D9C672-2D2A-2F70-EAAA-35320C65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7614" y="6440556"/>
            <a:ext cx="328355" cy="171589"/>
          </a:xfrm>
        </p:spPr>
        <p:txBody>
          <a:bodyPr/>
          <a:lstStyle/>
          <a:p>
            <a:pPr defTabSz="228600"/>
            <a:fld id="{F9A9DF1F-AAF4-42C8-8B76-672AEDF4D6A3}" type="slidenum">
              <a:rPr lang="en-GB">
                <a:solidFill>
                  <a:srgbClr val="050519"/>
                </a:solidFill>
                <a:latin typeface="Arial"/>
              </a:rPr>
              <a:pPr defTabSz="228600"/>
              <a:t>34</a:t>
            </a:fld>
            <a:endParaRPr lang="en-GB">
              <a:solidFill>
                <a:srgbClr val="050519"/>
              </a:solidFill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4F3FE6-387D-842B-31FA-CDC8F3731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35309"/>
            <a:ext cx="9646726" cy="267807"/>
          </a:xfrm>
        </p:spPr>
        <p:txBody>
          <a:bodyPr vert="horz" rIns="0"/>
          <a:lstStyle/>
          <a:p>
            <a:r>
              <a:rPr lang="en-US"/>
              <a:t>Frontier Firms IDI Case Study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6001F1-4F4D-5C12-B5A0-481E06A6DF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5588" y="2036763"/>
            <a:ext cx="2249044" cy="3948325"/>
          </a:xfrm>
        </p:spPr>
        <p:txBody>
          <a:bodyPr vert="horz" lIns="91440" tIns="0" rIns="0" bIns="0" rtlCol="0">
            <a:noAutofit/>
          </a:bodyPr>
          <a:lstStyle/>
          <a:p>
            <a:pPr lvl="1">
              <a:spcBef>
                <a:spcPts val="600"/>
              </a:spcBef>
            </a:pPr>
            <a:endParaRPr lang="en-GB" b="1">
              <a:solidFill>
                <a:schemeClr val="accent3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b="1">
                <a:solidFill>
                  <a:schemeClr val="accent3"/>
                </a:solidFill>
              </a:rPr>
              <a:t>B2B SaaS</a:t>
            </a:r>
          </a:p>
          <a:p>
            <a:pPr lvl="1">
              <a:spcBef>
                <a:spcPts val="600"/>
              </a:spcBef>
            </a:pPr>
            <a:r>
              <a:rPr lang="en-GB" i="1"/>
              <a:t>Launched in 2019</a:t>
            </a:r>
          </a:p>
          <a:p>
            <a:pPr lvl="1">
              <a:spcBef>
                <a:spcPts val="600"/>
              </a:spcBef>
            </a:pPr>
            <a:endParaRPr lang="en-US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>
              <a:spcBef>
                <a:spcPts val="600"/>
              </a:spcBef>
            </a:pPr>
            <a:r>
              <a:rPr lang="en-US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Project management solution for professional services companies.</a:t>
            </a:r>
            <a:endParaRPr lang="en-US"/>
          </a:p>
          <a:p>
            <a:pPr lvl="1"/>
            <a:endParaRPr lang="en-US">
              <a:solidFill>
                <a:schemeClr val="accent3"/>
              </a:solidFill>
            </a:endParaRPr>
          </a:p>
          <a:p>
            <a:pPr lvl="1"/>
            <a:r>
              <a:rPr lang="en-US" b="1" i="1">
                <a:solidFill>
                  <a:schemeClr val="accent3"/>
                </a:solidFill>
              </a:rPr>
              <a:t>AI tools used:</a:t>
            </a:r>
          </a:p>
          <a:p>
            <a:pPr lvl="1"/>
            <a:endParaRPr lang="en-GB"/>
          </a:p>
          <a:p>
            <a:endParaRPr lang="en-GB"/>
          </a:p>
          <a:p>
            <a:pPr lvl="1"/>
            <a:endParaRPr lang="en-GB">
              <a:solidFill>
                <a:schemeClr val="accent3"/>
              </a:solidFill>
            </a:endParaRPr>
          </a:p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B4C19E-5844-9271-4B82-0E8438AC361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6031" y="630559"/>
            <a:ext cx="11616655" cy="548434"/>
          </a:xfrm>
        </p:spPr>
        <p:txBody>
          <a:bodyPr/>
          <a:lstStyle/>
          <a:p>
            <a:r>
              <a:rPr lang="en-US" sz="1800"/>
              <a:t>Agent-based software development is reducing hands-on engineering effort and redefines the engineer role around orchestration and oversight</a:t>
            </a:r>
            <a:endParaRPr lang="en-US" sz="160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D91E30-B962-C704-3E03-ADB7CC7E051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73959" y="1520120"/>
            <a:ext cx="2880360" cy="31549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 spc="-20">
                <a:latin typeface="Arial"/>
              </a:rPr>
              <a:t>Operating model: Orchestrating and execution agents</a:t>
            </a:r>
            <a:endParaRPr lang="en-US" b="1" spc="-20">
              <a:latin typeface="Arial"/>
            </a:endParaRP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Ticket </a:t>
            </a:r>
            <a:r>
              <a:rPr lang="en-US" b="1" spc="-20">
                <a:solidFill>
                  <a:srgbClr val="050519"/>
                </a:solidFill>
                <a:highlight>
                  <a:srgbClr val="DEDEFF"/>
                </a:highlight>
                <a:latin typeface="Arial"/>
              </a:rPr>
              <a:t>triggers an orchestrator agent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. Via MCP, the gathers diagnostic data, fetches code, consults internal docs and drafts a detailed implementation plan
Plan </a:t>
            </a:r>
            <a:r>
              <a:rPr lang="en-US" b="1" spc="-20">
                <a:solidFill>
                  <a:srgbClr val="050519"/>
                </a:solidFill>
                <a:highlight>
                  <a:srgbClr val="DEDEFF"/>
                </a:highlight>
                <a:latin typeface="Arial"/>
              </a:rPr>
              <a:t>handed to agent to apply the code change</a:t>
            </a:r>
            <a:r>
              <a:rPr lang="en-US" b="1" spc="-20">
                <a:solidFill>
                  <a:srgbClr val="050519"/>
                </a:solidFill>
                <a:latin typeface="Arial"/>
              </a:rPr>
              <a:t> 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in isolated repo and open a PR that is reviewed by human 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Other use cases: Lost-deal analyzer parses call transcripts and feeds product backlog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spc="-20">
                <a:solidFill>
                  <a:srgbClr val="050519"/>
                </a:solidFill>
                <a:highlight>
                  <a:srgbClr val="DEDEFF"/>
                </a:highlight>
              </a:rPr>
              <a:t>Reversed handoff:</a:t>
            </a:r>
            <a:r>
              <a:rPr lang="en-US" b="1" spc="-20">
                <a:solidFill>
                  <a:srgbClr val="050519"/>
                </a:solidFill>
              </a:rPr>
              <a:t> 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Engineers push the design team for component updates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B357D0-5497-27D6-E641-49204F52F72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83194" y="1520120"/>
            <a:ext cx="2880360" cy="3195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/>
              <a:t>Enabling factors: </a:t>
            </a:r>
            <a:r>
              <a:rPr lang="en-US" b="1"/>
              <a:t>Interconnected systems and standardized interfaces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spc="-20">
                <a:solidFill>
                  <a:srgbClr val="050519"/>
                </a:solidFill>
                <a:highlight>
                  <a:srgbClr val="DEDEFF"/>
                </a:highlight>
                <a:latin typeface="Arial"/>
              </a:rPr>
              <a:t>Custom MCPs for proprietary context</a:t>
            </a:r>
            <a:r>
              <a:rPr lang="en-US" altLang="en-US" spc="-20">
                <a:solidFill>
                  <a:srgbClr val="050519"/>
                </a:solidFill>
                <a:latin typeface="Arial"/>
              </a:rPr>
              <a:t>, out-of-the-box for API documentation 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spc="-20">
                <a:solidFill>
                  <a:srgbClr val="050519"/>
                </a:solidFill>
                <a:highlight>
                  <a:srgbClr val="DEDEFF"/>
                </a:highlight>
                <a:latin typeface="Arial"/>
              </a:rPr>
              <a:t>No global context window</a:t>
            </a:r>
            <a:r>
              <a:rPr lang="en-US" altLang="en-US" spc="-20">
                <a:solidFill>
                  <a:srgbClr val="050519"/>
                </a:solidFill>
                <a:latin typeface="Arial"/>
              </a:rPr>
              <a:t>; the orchestrator pulls fresh context per ticket from the relevant MCPs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pc="-20">
                <a:solidFill>
                  <a:srgbClr val="050519"/>
                </a:solidFill>
                <a:latin typeface="Arial"/>
              </a:rPr>
              <a:t>Shared "skills" library runs in both local Cursor sessions and cloud background agents 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spc="-20">
                <a:solidFill>
                  <a:srgbClr val="050519"/>
                </a:solidFill>
                <a:highlight>
                  <a:srgbClr val="DEDEFF"/>
                </a:highlight>
                <a:latin typeface="Arial"/>
              </a:rPr>
              <a:t>Post-merge learning loop</a:t>
            </a:r>
            <a:r>
              <a:rPr lang="en-US" altLang="en-US" spc="-20">
                <a:solidFill>
                  <a:srgbClr val="050519"/>
                </a:solidFill>
                <a:latin typeface="Arial"/>
              </a:rPr>
              <a:t>: every fix pushes its context back into the relevant skill so the next similar bug is recognized faster</a:t>
            </a: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pc="-20">
              <a:solidFill>
                <a:srgbClr val="050519"/>
              </a:solidFill>
              <a:latin typeface="Arial"/>
            </a:endParaRP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pc="-20">
              <a:solidFill>
                <a:srgbClr val="050519"/>
              </a:solidFill>
              <a:latin typeface="Arial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F3B674-7C19-9E26-C2B1-521EA4971852}"/>
              </a:ext>
            </a:extLst>
          </p:cNvPr>
          <p:cNvCxnSpPr>
            <a:cxnSpLocks/>
          </p:cNvCxnSpPr>
          <p:nvPr/>
        </p:nvCxnSpPr>
        <p:spPr>
          <a:xfrm>
            <a:off x="2973818" y="1332707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B160168E-39EB-64BE-BF41-0CEA9987FF32}"/>
              </a:ext>
            </a:extLst>
          </p:cNvPr>
          <p:cNvSpPr txBox="1">
            <a:spLocks/>
          </p:cNvSpPr>
          <p:nvPr/>
        </p:nvSpPr>
        <p:spPr>
          <a:xfrm>
            <a:off x="2962823" y="4960566"/>
            <a:ext cx="4926911" cy="1266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Coding is a commodity, engineers have to be orchestrators</a:t>
            </a:r>
          </a:p>
          <a:p>
            <a:pPr lvl="1" defTabSz="457200"/>
            <a:r>
              <a:rPr lang="en-US" i="1" spc="-20">
                <a:solidFill>
                  <a:srgbClr val="050519"/>
                </a:solidFill>
              </a:rPr>
              <a:t>“</a:t>
            </a:r>
            <a:r>
              <a:rPr lang="en-US" i="1"/>
              <a:t>We are looking right now for people that </a:t>
            </a:r>
            <a:r>
              <a:rPr lang="en-US" b="1" i="1">
                <a:highlight>
                  <a:srgbClr val="DEDEFF"/>
                </a:highlight>
              </a:rPr>
              <a:t>can understand and can orchestrate </a:t>
            </a:r>
            <a:r>
              <a:rPr lang="en-US" i="1"/>
              <a:t>agents. And not only code, because </a:t>
            </a:r>
            <a:r>
              <a:rPr lang="en-US" b="1" i="1">
                <a:highlight>
                  <a:srgbClr val="DEDEFF"/>
                </a:highlight>
              </a:rPr>
              <a:t>coding is becoming a commodity</a:t>
            </a:r>
            <a:r>
              <a:rPr lang="en-US" i="1">
                <a:highlight>
                  <a:srgbClr val="DEDEFF"/>
                </a:highlight>
              </a:rPr>
              <a:t> </a:t>
            </a:r>
            <a:r>
              <a:rPr lang="en-US" i="1"/>
              <a:t>right now.”</a:t>
            </a:r>
            <a:endParaRPr lang="en-GB" i="1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195718B0-9A95-59CA-3859-229D738FEF7E}"/>
              </a:ext>
            </a:extLst>
          </p:cNvPr>
          <p:cNvSpPr txBox="1">
            <a:spLocks/>
          </p:cNvSpPr>
          <p:nvPr/>
        </p:nvSpPr>
        <p:spPr>
          <a:xfrm>
            <a:off x="8075588" y="4960566"/>
            <a:ext cx="3633449" cy="1362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Hiring includes new AI-specific skillset</a:t>
            </a:r>
            <a:endParaRPr lang="en-GB" b="1"/>
          </a:p>
          <a:p>
            <a:r>
              <a:rPr lang="en-GB" i="1">
                <a:solidFill>
                  <a:schemeClr val="tx1"/>
                </a:solidFill>
              </a:rPr>
              <a:t>“</a:t>
            </a:r>
            <a:r>
              <a:rPr lang="en-US" altLang="en-US" i="1">
                <a:solidFill>
                  <a:schemeClr val="tx1"/>
                </a:solidFill>
              </a:rPr>
              <a:t>We want to bring people in our organization that are </a:t>
            </a:r>
            <a:r>
              <a:rPr lang="en-US" altLang="en-US" b="1" i="1">
                <a:solidFill>
                  <a:schemeClr val="tx1"/>
                </a:solidFill>
                <a:highlight>
                  <a:srgbClr val="DEDEFF"/>
                </a:highlight>
              </a:rPr>
              <a:t>capable to identify hallucinations</a:t>
            </a:r>
            <a:r>
              <a:rPr lang="en-US" altLang="en-US" i="1">
                <a:solidFill>
                  <a:schemeClr val="tx1"/>
                </a:solidFill>
              </a:rPr>
              <a:t>… because ultimately these agents are still non-deterministic.”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D4B2D516-9A80-19AB-07A5-FDA00B6E3726}"/>
              </a:ext>
            </a:extLst>
          </p:cNvPr>
          <p:cNvSpPr txBox="1">
            <a:spLocks/>
          </p:cNvSpPr>
          <p:nvPr/>
        </p:nvSpPr>
        <p:spPr>
          <a:xfrm>
            <a:off x="3924801" y="5186922"/>
            <a:ext cx="170446" cy="260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E5CC9B3-1107-2600-D7A4-8CF19AFE1BE5}"/>
              </a:ext>
            </a:extLst>
          </p:cNvPr>
          <p:cNvSpPr txBox="1">
            <a:spLocks/>
          </p:cNvSpPr>
          <p:nvPr/>
        </p:nvSpPr>
        <p:spPr>
          <a:xfrm>
            <a:off x="1243584" y="6322979"/>
            <a:ext cx="6373813" cy="258006"/>
          </a:xfrm>
          <a:prstGeom prst="rect">
            <a:avLst/>
          </a:prstGeom>
        </p:spPr>
        <p:txBody>
          <a:bodyPr vert="horz" lIns="0" tIns="0" rIns="0" bIns="0" numCol="2" spcCol="21600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9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9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Source: Keystone Frontier Firm Research (05/2026) </a:t>
            </a:r>
          </a:p>
        </p:txBody>
      </p:sp>
      <p:sp>
        <p:nvSpPr>
          <p:cNvPr id="14" name="Rectangle: Diagonal Corners Snipped 5">
            <a:extLst>
              <a:ext uri="{FF2B5EF4-FFF2-40B4-BE49-F238E27FC236}">
                <a16:creationId xmlns:a16="http://schemas.microsoft.com/office/drawing/2014/main" id="{8BF4772C-ACE1-AB67-0DFA-CC533C31AA5B}"/>
              </a:ext>
            </a:extLst>
          </p:cNvPr>
          <p:cNvSpPr/>
          <p:nvPr/>
        </p:nvSpPr>
        <p:spPr>
          <a:xfrm>
            <a:off x="256032" y="1332707"/>
            <a:ext cx="2249044" cy="549858"/>
          </a:xfrm>
          <a:prstGeom prst="snip2Diag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/>
              <a:t>Head of Engineering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882CF4-DA40-8C37-F139-6301D40F2FD8}"/>
              </a:ext>
            </a:extLst>
          </p:cNvPr>
          <p:cNvCxnSpPr>
            <a:cxnSpLocks/>
          </p:cNvCxnSpPr>
          <p:nvPr/>
        </p:nvCxnSpPr>
        <p:spPr>
          <a:xfrm>
            <a:off x="2973818" y="4893685"/>
            <a:ext cx="87352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Claude Logo PNG (Transparent) SVG AI – Free Download">
            <a:extLst>
              <a:ext uri="{FF2B5EF4-FFF2-40B4-BE49-F238E27FC236}">
                <a16:creationId xmlns:a16="http://schemas.microsoft.com/office/drawing/2014/main" id="{8300F710-6807-79E5-0A8C-D1D83FB1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82" y="5001691"/>
            <a:ext cx="710481" cy="15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6DB6982-6B1A-BC25-239E-C97704852980}"/>
              </a:ext>
            </a:extLst>
          </p:cNvPr>
          <p:cNvSpPr txBox="1">
            <a:spLocks/>
          </p:cNvSpPr>
          <p:nvPr/>
        </p:nvSpPr>
        <p:spPr>
          <a:xfrm>
            <a:off x="9278476" y="1520119"/>
            <a:ext cx="2379844" cy="3195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1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FK Grotesk Medium" pitchFamily="50" charset="0"/>
              <a:buNone/>
              <a:defRPr sz="12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2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FK Grotesk Medium" pitchFamily="50" charset="0"/>
              <a:buChar char="–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08000" algn="l" defTabSz="914400" rtl="0" eaLnBrk="1" latinLnBrk="0" hangingPunct="1">
              <a:lnSpc>
                <a:spcPct val="125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00" kern="1200" spc="-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b="1"/>
              <a:t>Outcomes: </a:t>
            </a:r>
            <a:r>
              <a:rPr lang="en-US" b="1"/>
              <a:t>Time reduction, solo squads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714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pc="-20">
                <a:solidFill>
                  <a:srgbClr val="050519"/>
                </a:solidFill>
                <a:latin typeface="Arial"/>
              </a:rPr>
              <a:t>Bug-fix cycle 1–2 days → ~1 hour 
</a:t>
            </a:r>
            <a:r>
              <a:rPr lang="en-US" b="1" spc="-20">
                <a:solidFill>
                  <a:srgbClr val="050519"/>
                </a:solidFill>
                <a:highlight>
                  <a:srgbClr val="DEDEFF"/>
                </a:highlight>
                <a:latin typeface="Arial"/>
              </a:rPr>
              <a:t>Squad teams of 3–4 engineers + QAs are replaced by solo engineers 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
Customer-success email role for SMB segment eliminated; person redeployed elsewhere
Engineering headcount growth slowed; </a:t>
            </a:r>
            <a:r>
              <a:rPr lang="en-US" b="1" spc="-20">
                <a:solidFill>
                  <a:srgbClr val="050519"/>
                </a:solidFill>
                <a:highlight>
                  <a:srgbClr val="DEDEFF"/>
                </a:highlight>
                <a:latin typeface="Arial"/>
              </a:rPr>
              <a:t>forward-deployment &amp; solution-engineering roles growing</a:t>
            </a:r>
            <a:r>
              <a:rPr lang="en-US" b="1" spc="-20">
                <a:solidFill>
                  <a:srgbClr val="050519"/>
                </a:solidFill>
                <a:latin typeface="Arial"/>
              </a:rPr>
              <a:t> </a:t>
            </a:r>
            <a:r>
              <a:rPr lang="en-US" spc="-20">
                <a:solidFill>
                  <a:srgbClr val="050519"/>
                </a:solidFill>
                <a:latin typeface="Arial"/>
              </a:rPr>
              <a:t>instead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6A1265D-284A-AB1D-69D0-B32634EDC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88" y="5353261"/>
            <a:ext cx="810468" cy="21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68543FAA-9493-FDCF-B221-90E9C9DD9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79" y="4552342"/>
            <a:ext cx="982802" cy="23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AWS Bedrock: The Future of Generative AI for Every Business | by Patrick  Wan | Medium">
            <a:extLst>
              <a:ext uri="{FF2B5EF4-FFF2-40B4-BE49-F238E27FC236}">
                <a16:creationId xmlns:a16="http://schemas.microsoft.com/office/drawing/2014/main" id="{7970C04A-292F-FBA9-D4BF-E5864B682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88" y="5665011"/>
            <a:ext cx="810468" cy="600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1488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7E51CC2-1816-4EDE-5385-2B8DF8F0D3A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E51CC2-1816-4EDE-5385-2B8DF8F0D3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7D594E22-94B0-1C81-DCE4-68CDB3B61E39}"/>
              </a:ext>
            </a:extLst>
          </p:cNvPr>
          <p:cNvSpPr/>
          <p:nvPr/>
        </p:nvSpPr>
        <p:spPr>
          <a:xfrm>
            <a:off x="1861486" y="5842492"/>
            <a:ext cx="9477564" cy="635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74B00-0F39-08ED-4B12-DFF24522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Aligning on foundational pillars for the research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08BC6-826D-06EC-D04D-B7A8B0CF8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6F05DF-0292-2D23-0207-00D2D034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35</a:t>
            </a:fld>
            <a:endParaRPr lang="en-GB"/>
          </a:p>
        </p:txBody>
      </p:sp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57AA92FC-53B0-9A2D-65B0-5D564512C4FE}"/>
              </a:ext>
            </a:extLst>
          </p:cNvPr>
          <p:cNvSpPr/>
          <p:nvPr/>
        </p:nvSpPr>
        <p:spPr>
          <a:xfrm>
            <a:off x="601718" y="854544"/>
            <a:ext cx="3432875" cy="288962"/>
          </a:xfrm>
          <a:prstGeom prst="round2DiagRect">
            <a:avLst/>
          </a:prstGeom>
          <a:solidFill>
            <a:schemeClr val="accent1">
              <a:lumMod val="10000"/>
              <a:lumOff val="90000"/>
            </a:schemeClr>
          </a:solidFill>
          <a:ln w="12700">
            <a:solidFill>
              <a:schemeClr val="accent5">
                <a:lumMod val="50000"/>
              </a:schemeClr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b="1" spc="-20"/>
              <a:t>Infrastructure</a:t>
            </a:r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C028BF2E-48DF-FDD9-56F6-57DC5025B68A}"/>
              </a:ext>
            </a:extLst>
          </p:cNvPr>
          <p:cNvSpPr/>
          <p:nvPr/>
        </p:nvSpPr>
        <p:spPr>
          <a:xfrm>
            <a:off x="4253947" y="854544"/>
            <a:ext cx="3432875" cy="288962"/>
          </a:xfrm>
          <a:prstGeom prst="round2DiagRect">
            <a:avLst/>
          </a:prstGeom>
          <a:solidFill>
            <a:schemeClr val="accent5">
              <a:lumMod val="90000"/>
            </a:schemeClr>
          </a:solidFill>
          <a:ln w="12700">
            <a:solidFill>
              <a:schemeClr val="accent5">
                <a:lumMod val="50000"/>
              </a:schemeClr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b="1" spc="-20">
                <a:solidFill>
                  <a:schemeClr val="bg1"/>
                </a:solidFill>
              </a:rPr>
              <a:t>Models and Harness</a:t>
            </a:r>
          </a:p>
        </p:txBody>
      </p:sp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6CA7B73B-9498-8C96-0278-BC4E1D43F5A2}"/>
              </a:ext>
            </a:extLst>
          </p:cNvPr>
          <p:cNvSpPr/>
          <p:nvPr/>
        </p:nvSpPr>
        <p:spPr>
          <a:xfrm>
            <a:off x="7906177" y="854544"/>
            <a:ext cx="3432875" cy="288962"/>
          </a:xfrm>
          <a:prstGeom prst="round2Diag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50000"/>
              </a:schemeClr>
            </a:solidFill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200" b="1" spc="-20">
                <a:solidFill>
                  <a:schemeClr val="bg1"/>
                </a:solidFill>
              </a:rPr>
              <a:t>Operating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FD4612-5737-E067-7BB2-EBE6D67788C4}"/>
              </a:ext>
            </a:extLst>
          </p:cNvPr>
          <p:cNvSpPr txBox="1"/>
          <p:nvPr/>
        </p:nvSpPr>
        <p:spPr>
          <a:xfrm>
            <a:off x="601718" y="1156281"/>
            <a:ext cx="343287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is beyond a narrow definition of infrastructure (just compute) and elevated as </a:t>
            </a:r>
            <a:r>
              <a:rPr lang="en-US" sz="12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Microsoft’s foundational advantage</a:t>
            </a: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—spanning chips, hyperscale cloud, and the ability to train and serve models end-to-end. He explicitly connected it to Microsoft becoming </a:t>
            </a:r>
            <a:r>
              <a:rPr lang="en-US" sz="12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“infrastructure company,” not just enterprise software.</a:t>
            </a:r>
          </a:p>
          <a:p>
            <a:pPr marL="0" marR="0">
              <a:buNone/>
            </a:pP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buNone/>
            </a:pPr>
            <a:r>
              <a:rPr lang="en-US" sz="12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 it matters:</a:t>
            </a:r>
            <a:endParaRPr lang="en-US" sz="120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is the </a:t>
            </a:r>
            <a:r>
              <a:rPr lang="en-US" sz="12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 layer of differentiation</a:t>
            </a: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—few companies can control compute, cloud, and model delivery together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enables Microsoft to </a:t>
            </a:r>
            <a:r>
              <a:rPr lang="en-US" sz="12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participate in every stage of AI value creation</a:t>
            </a: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not just the app layer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gives credibility to everything else (models, GTM, transformation) because it’s </a:t>
            </a:r>
            <a:r>
              <a:rPr lang="en-US" sz="12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grounded in real capability, not just narrative</a:t>
            </a:r>
            <a:endParaRPr 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endParaRPr lang="en-US" sz="1200" b="1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ctr"/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200" i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nderlying point:</a:t>
            </a: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If Microsoft doesn’t anchor the story in infrastructure, it undersells what is actually a </a:t>
            </a:r>
            <a:r>
              <a:rPr lang="en-US" sz="12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strategic moat vs. competitors.</a:t>
            </a:r>
            <a:endParaRPr lang="en-US" sz="120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B327FB-1010-BCFA-BFCD-1A6A56B88289}"/>
              </a:ext>
            </a:extLst>
          </p:cNvPr>
          <p:cNvSpPr txBox="1"/>
          <p:nvPr/>
        </p:nvSpPr>
        <p:spPr>
          <a:xfrm>
            <a:off x="4253946" y="1156281"/>
            <a:ext cx="343287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This is where AI becomes </a:t>
            </a:r>
            <a:r>
              <a:rPr lang="en-US" sz="1200" b="1"/>
              <a:t>real and usable in work</a:t>
            </a:r>
            <a:r>
              <a:rPr lang="en-US" sz="1200"/>
              <a:t>. He emphasized that value is not just in the model—it’s in: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200"/>
              <a:t>The </a:t>
            </a:r>
            <a:r>
              <a:rPr lang="en-US" sz="1200" b="1"/>
              <a:t>combination of models + harnesses</a:t>
            </a:r>
            <a:r>
              <a:rPr lang="en-US" sz="1200"/>
              <a:t> (how they’re orchestrated)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200"/>
              <a:t>Application across </a:t>
            </a:r>
            <a:r>
              <a:rPr lang="en-US" sz="1200" b="1"/>
              <a:t>functional workflows and skills</a:t>
            </a:r>
            <a:endParaRPr lang="en-US" sz="1200"/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200"/>
              <a:t>Expansion horizontally across the business</a:t>
            </a:r>
          </a:p>
          <a:p>
            <a:r>
              <a:rPr lang="en-US" sz="1200"/>
              <a:t>This is the mechanism for how companies will </a:t>
            </a:r>
            <a:r>
              <a:rPr lang="en-US" sz="1200" b="1"/>
              <a:t>“build out all functionalities”</a:t>
            </a:r>
            <a:r>
              <a:rPr lang="en-US" sz="1200"/>
              <a:t> going forward.</a:t>
            </a:r>
          </a:p>
          <a:p>
            <a:endParaRPr lang="en-US" sz="1200"/>
          </a:p>
          <a:p>
            <a:r>
              <a:rPr lang="en-US" sz="1200" b="1"/>
              <a:t>Why it matters:</a:t>
            </a:r>
            <a:endParaRPr lang="en-US" sz="1200"/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200"/>
              <a:t>This is the layer where </a:t>
            </a:r>
            <a:r>
              <a:rPr lang="en-US" sz="1200" b="1"/>
              <a:t>intelligence gets operationalized</a:t>
            </a:r>
            <a:endParaRPr lang="en-US" sz="1200"/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200"/>
              <a:t>It shifts the story from “we have AI” → </a:t>
            </a:r>
            <a:r>
              <a:rPr lang="en-US" sz="1200" b="1"/>
              <a:t>“we transform how work gets done”</a:t>
            </a:r>
            <a:endParaRPr lang="en-US" sz="1200"/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200"/>
              <a:t>It creates a </a:t>
            </a:r>
            <a:r>
              <a:rPr lang="en-US" sz="1200" b="1"/>
              <a:t>scalable growth motion</a:t>
            </a:r>
            <a:r>
              <a:rPr lang="en-US" sz="1200"/>
              <a:t> (expanding across functions, not just deploying a single solution)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endParaRPr lang="en-US" sz="1200"/>
          </a:p>
          <a:p>
            <a:r>
              <a:rPr lang="en-US" sz="1200" i="1">
                <a:sym typeface="Wingdings" pitchFamily="2" charset="2"/>
              </a:rPr>
              <a:t> </a:t>
            </a:r>
            <a:r>
              <a:rPr lang="en-US" sz="1200" i="1"/>
              <a:t>Underlying point:</a:t>
            </a:r>
            <a:r>
              <a:rPr lang="en-US" sz="1200"/>
              <a:t> The future is not one model—it’s </a:t>
            </a:r>
            <a:r>
              <a:rPr lang="en-US" sz="1200" b="1"/>
              <a:t>how models are orchestrated across work</a:t>
            </a:r>
            <a:r>
              <a:rPr lang="en-US" sz="1200"/>
              <a:t>, and Microsoft can uniquely lead here because of its presence across all workflows.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8EC9B4-EA47-582E-F2DD-5E0A0EC44840}"/>
              </a:ext>
            </a:extLst>
          </p:cNvPr>
          <p:cNvSpPr txBox="1"/>
          <p:nvPr/>
        </p:nvSpPr>
        <p:spPr>
          <a:xfrm>
            <a:off x="7906174" y="1156281"/>
            <a:ext cx="34328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This involves two critical dimensions: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200" b="1"/>
              <a:t>Human/org transformation</a:t>
            </a:r>
            <a:r>
              <a:rPr lang="en-US" sz="1200"/>
              <a:t> (org psychology, how work changes)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200" b="1"/>
              <a:t>Economic model of AI consumption</a:t>
            </a:r>
            <a:r>
              <a:rPr lang="en-US" sz="1200"/>
              <a:t> (tokens, pricing, ROI, allocation)</a:t>
            </a:r>
          </a:p>
          <a:p>
            <a:r>
              <a:rPr lang="en-US" sz="1200"/>
              <a:t>Tied it directly to: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200" b="1"/>
              <a:t>Orchestration of humans + agents</a:t>
            </a:r>
            <a:endParaRPr lang="en-US" sz="1200"/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200"/>
              <a:t>Tradeoffs between </a:t>
            </a:r>
            <a:r>
              <a:rPr lang="en-US" sz="1200" b="1"/>
              <a:t>people vs. AI consumption (“tokens”)</a:t>
            </a:r>
            <a:endParaRPr lang="en-US" sz="1200"/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200"/>
              <a:t>The need for entirely new thinking around </a:t>
            </a:r>
            <a:r>
              <a:rPr lang="en-US" sz="1200" b="1"/>
              <a:t>budgeting and value realization</a:t>
            </a:r>
          </a:p>
          <a:p>
            <a:pPr fontAlgn="ctr"/>
            <a:endParaRPr lang="en-US" sz="1200"/>
          </a:p>
          <a:p>
            <a:r>
              <a:rPr lang="en-US" sz="1200" b="1"/>
              <a:t>Why it matters:</a:t>
            </a:r>
            <a:endParaRPr lang="en-US" sz="1200"/>
          </a:p>
          <a:p>
            <a:pPr fontAlgn="ctr"/>
            <a:r>
              <a:rPr lang="en-US" sz="1200"/>
              <a:t>This is where transformation actually </a:t>
            </a:r>
            <a:r>
              <a:rPr lang="en-US" sz="1200" b="1"/>
              <a:t>sticks or fails</a:t>
            </a:r>
            <a:endParaRPr lang="en-US" sz="1200"/>
          </a:p>
          <a:p>
            <a:pPr fontAlgn="ctr"/>
            <a:r>
              <a:rPr lang="en-US" sz="1200"/>
              <a:t>Customers are currently </a:t>
            </a:r>
            <a:r>
              <a:rPr lang="en-US" sz="1200" b="1"/>
              <a:t>lost on how to operationalize AI economically</a:t>
            </a:r>
            <a:endParaRPr lang="en-US" sz="1200"/>
          </a:p>
          <a:p>
            <a:pPr fontAlgn="ctr"/>
            <a:r>
              <a:rPr lang="en-US" sz="1200"/>
              <a:t>It unlocks a much deeper, </a:t>
            </a:r>
            <a:r>
              <a:rPr lang="en-US" sz="1200" b="1"/>
              <a:t>consultative conversation vs. product selling</a:t>
            </a:r>
          </a:p>
          <a:p>
            <a:pPr fontAlgn="ctr"/>
            <a:endParaRPr lang="en-US" sz="1200"/>
          </a:p>
          <a:p>
            <a:r>
              <a:rPr lang="en-US" sz="1200" i="1">
                <a:sym typeface="Wingdings" pitchFamily="2" charset="2"/>
              </a:rPr>
              <a:t> </a:t>
            </a:r>
            <a:r>
              <a:rPr lang="en-US" sz="1200" i="1"/>
              <a:t>Underlying point:</a:t>
            </a:r>
            <a:r>
              <a:rPr lang="en-US" sz="1200"/>
              <a:t> The real unlock is not technology—it’s helping customers </a:t>
            </a:r>
            <a:r>
              <a:rPr lang="en-US" sz="1200" b="1"/>
              <a:t>rebuild how they operate and allocate work between humans and AI.</a:t>
            </a:r>
            <a:endParaRPr lang="en-US" sz="1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22F550-1EEF-8C46-B554-B0707F465B80}"/>
              </a:ext>
            </a:extLst>
          </p:cNvPr>
          <p:cNvSpPr/>
          <p:nvPr/>
        </p:nvSpPr>
        <p:spPr>
          <a:xfrm>
            <a:off x="691584" y="5834400"/>
            <a:ext cx="1112939" cy="63502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spc="-20">
                <a:solidFill>
                  <a:schemeClr val="bg1"/>
                </a:solidFill>
              </a:rPr>
              <a:t>Whitespace: Token economics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EE3C27-F62F-4D3B-9E2B-5D0F002E03BE}"/>
              </a:ext>
            </a:extLst>
          </p:cNvPr>
          <p:cNvSpPr txBox="1"/>
          <p:nvPr/>
        </p:nvSpPr>
        <p:spPr>
          <a:xfrm>
            <a:off x="1861485" y="5840251"/>
            <a:ext cx="9477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Customers </a:t>
            </a:r>
            <a:r>
              <a:rPr lang="en-US" sz="12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don’t know how to budget or optimize AI consumption</a:t>
            </a:r>
            <a:endParaRPr lang="en-US" sz="120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strong industry frameworks exist for </a:t>
            </a:r>
            <a:r>
              <a:rPr lang="en-US" sz="12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token allocation vs. human effort</a:t>
            </a:r>
            <a:endParaRPr 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ctr"/>
            <a:r>
              <a:rPr lang="en-US" sz="1200" b="1"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represents a </a:t>
            </a:r>
            <a:r>
              <a:rPr lang="en-US" sz="12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major thought leadership and differentiation opportunity</a:t>
            </a:r>
            <a:r>
              <a:rPr lang="en-US" sz="12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Microsoft to lead. </a:t>
            </a:r>
          </a:p>
        </p:txBody>
      </p:sp>
    </p:spTree>
    <p:extLst>
      <p:ext uri="{BB962C8B-B14F-4D97-AF65-F5344CB8AC3E}">
        <p14:creationId xmlns:p14="http://schemas.microsoft.com/office/powerpoint/2010/main" val="11625880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2124-79B0-1F2C-FA4A-0D0E6713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C92F14A-5A34-A898-92B8-09D18651E4E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92F14A-5A34-A898-92B8-09D18651E4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3BE2BA1-2F21-BFB5-68F4-65516C60E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Appendix: Tech Intensity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2E5486-97AA-E42D-80ED-64B6E0A34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B3FCC-BAC4-C51B-A9AC-1F071CB2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632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F20AB-6B25-F6B2-0745-57E683A7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Object 94" hidden="1">
            <a:extLst>
              <a:ext uri="{FF2B5EF4-FFF2-40B4-BE49-F238E27FC236}">
                <a16:creationId xmlns:a16="http://schemas.microsoft.com/office/drawing/2014/main" id="{CCBEF0E7-135F-26AA-8B3A-5F7C867DAE4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25788" y="858777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95" name="Object 94" hidden="1">
                        <a:extLst>
                          <a:ext uri="{FF2B5EF4-FFF2-40B4-BE49-F238E27FC236}">
                            <a16:creationId xmlns:a16="http://schemas.microsoft.com/office/drawing/2014/main" id="{CCBEF0E7-135F-26AA-8B3A-5F7C867DAE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788" y="858777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4A1F3E3-05DE-4E7E-6FA7-E75628FBE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sz="2400">
                <a:cs typeface="Tahoma" pitchFamily="34" charset="0"/>
              </a:rPr>
              <a:t>The Technology Intensity Scorecard</a:t>
            </a:r>
            <a:endParaRPr lang="en-US" sz="2400"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20ABA-FA6F-8505-8B87-883BAAE5D3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5A4BB3-2DF6-65DE-4B94-0F5C3F521D1A}"/>
              </a:ext>
            </a:extLst>
          </p:cNvPr>
          <p:cNvSpPr/>
          <p:nvPr/>
        </p:nvSpPr>
        <p:spPr bwMode="auto">
          <a:xfrm>
            <a:off x="1575663" y="5384164"/>
            <a:ext cx="9253232" cy="793352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mpd="sng"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3D505A"/>
              </a:solidFill>
              <a:effectLst/>
              <a:uLnTx/>
              <a:uFillTx/>
              <a:latin typeface="+mj-lt"/>
              <a:ea typeface="Tahoma"/>
              <a:cs typeface="Tahoma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3D505A"/>
              </a:solidFill>
              <a:effectLst/>
              <a:uLnTx/>
              <a:uFillTx/>
              <a:latin typeface="+mj-lt"/>
              <a:ea typeface="Tahoma"/>
              <a:cs typeface="Tahoma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3D505A"/>
              </a:solidFill>
              <a:effectLst/>
              <a:uLnTx/>
              <a:uFillTx/>
              <a:latin typeface="+mj-lt"/>
              <a:ea typeface="Tahoma"/>
              <a:cs typeface="Tahoma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3D505A"/>
              </a:solidFill>
              <a:effectLst/>
              <a:uLnTx/>
              <a:uFillTx/>
              <a:latin typeface="+mj-lt"/>
              <a:ea typeface="Tahoma"/>
              <a:cs typeface="Tahoma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3D505A"/>
              </a:solidFill>
              <a:effectLst/>
              <a:uLnTx/>
              <a:uFillTx/>
              <a:latin typeface="+mj-lt"/>
              <a:ea typeface="Tahoma"/>
              <a:cs typeface="Tahom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Tahoma"/>
                <a:cs typeface="Tahoma"/>
              </a:rPr>
              <a:t>Trust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BFF0DB-038B-F8BD-E0C7-8B86F916F29C}"/>
              </a:ext>
            </a:extLst>
          </p:cNvPr>
          <p:cNvSpPr/>
          <p:nvPr/>
        </p:nvSpPr>
        <p:spPr bwMode="auto">
          <a:xfrm>
            <a:off x="1575663" y="1783689"/>
            <a:ext cx="6015411" cy="310987"/>
          </a:xfrm>
          <a:prstGeom prst="rect">
            <a:avLst/>
          </a:prstGeom>
          <a:solidFill>
            <a:srgbClr val="00A162"/>
          </a:solidFill>
          <a:ln w="3175" cmpd="sng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Tahoma"/>
                <a:cs typeface="Tahoma"/>
              </a:rPr>
              <a:t>Tech Adoption</a:t>
            </a:r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Tahoma"/>
              <a:cs typeface="Tahom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76AAB1-91B9-9FA1-CB02-CFA06294FB5F}"/>
              </a:ext>
            </a:extLst>
          </p:cNvPr>
          <p:cNvSpPr/>
          <p:nvPr/>
        </p:nvSpPr>
        <p:spPr bwMode="auto">
          <a:xfrm>
            <a:off x="8085697" y="1783689"/>
            <a:ext cx="2743200" cy="310987"/>
          </a:xfrm>
          <a:prstGeom prst="rect">
            <a:avLst/>
          </a:prstGeom>
          <a:solidFill>
            <a:schemeClr val="accent4"/>
          </a:solidFill>
          <a:ln w="3175" cmpd="sng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Tahoma"/>
                <a:cs typeface="Tahoma"/>
              </a:rPr>
              <a:t>Tech Innovation</a:t>
            </a:r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Tahoma"/>
              <a:cs typeface="Tahom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87CC12-0005-4FB2-5177-EE472E300D38}"/>
              </a:ext>
            </a:extLst>
          </p:cNvPr>
          <p:cNvSpPr/>
          <p:nvPr/>
        </p:nvSpPr>
        <p:spPr bwMode="auto">
          <a:xfrm>
            <a:off x="1580492" y="2214070"/>
            <a:ext cx="2743200" cy="310987"/>
          </a:xfrm>
          <a:prstGeom prst="rect">
            <a:avLst/>
          </a:prstGeom>
          <a:solidFill>
            <a:srgbClr val="66C7A1"/>
          </a:solidFill>
          <a:ln w="3175" cmpd="sng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Tahoma"/>
                <a:cs typeface="Tahoma"/>
              </a:rPr>
              <a:t>Tech Deployed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19A3FF-DA77-AB38-E9E7-1CF563B96AF2}"/>
              </a:ext>
            </a:extLst>
          </p:cNvPr>
          <p:cNvSpPr/>
          <p:nvPr/>
        </p:nvSpPr>
        <p:spPr bwMode="auto">
          <a:xfrm>
            <a:off x="4847874" y="2214070"/>
            <a:ext cx="2743200" cy="310987"/>
          </a:xfrm>
          <a:prstGeom prst="rect">
            <a:avLst/>
          </a:prstGeom>
          <a:solidFill>
            <a:srgbClr val="66C7A1"/>
          </a:solidFill>
          <a:ln w="3175" cmpd="sng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Tahoma"/>
                <a:cs typeface="Tahoma"/>
              </a:rPr>
              <a:t>Tech Architecture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011ED9-57A0-78B6-3C8B-9517AB054B74}"/>
              </a:ext>
            </a:extLst>
          </p:cNvPr>
          <p:cNvSpPr/>
          <p:nvPr/>
        </p:nvSpPr>
        <p:spPr bwMode="auto">
          <a:xfrm>
            <a:off x="8085696" y="2214070"/>
            <a:ext cx="2743200" cy="310987"/>
          </a:xfrm>
          <a:prstGeom prst="rect">
            <a:avLst/>
          </a:prstGeom>
          <a:solidFill>
            <a:srgbClr val="66C7A1"/>
          </a:solidFill>
          <a:ln w="3175" cmpd="sng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Tahoma"/>
                <a:cs typeface="Tahoma"/>
              </a:rPr>
              <a:t>Org Capabilities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C26FC4-640F-18BB-7357-6A2596F68A0E}"/>
              </a:ext>
            </a:extLst>
          </p:cNvPr>
          <p:cNvSpPr/>
          <p:nvPr/>
        </p:nvSpPr>
        <p:spPr bwMode="auto">
          <a:xfrm>
            <a:off x="8734308" y="5436848"/>
            <a:ext cx="1920240" cy="456652"/>
          </a:xfrm>
          <a:prstGeom prst="rect">
            <a:avLst/>
          </a:prstGeom>
          <a:solidFill>
            <a:srgbClr val="F2F2F2"/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Information Strategy, and Risk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5F6943-070B-400E-FA45-5678C9FF45E5}"/>
              </a:ext>
            </a:extLst>
          </p:cNvPr>
          <p:cNvSpPr/>
          <p:nvPr/>
        </p:nvSpPr>
        <p:spPr bwMode="auto">
          <a:xfrm>
            <a:off x="6390624" y="5436848"/>
            <a:ext cx="1920240" cy="4566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Digital Governance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4EE7525-A6A8-71B6-061D-391E9B36E179}"/>
              </a:ext>
            </a:extLst>
          </p:cNvPr>
          <p:cNvCxnSpPr>
            <a:cxnSpLocks/>
            <a:stCxn id="54" idx="2"/>
            <a:endCxn id="8" idx="0"/>
          </p:cNvCxnSpPr>
          <p:nvPr/>
        </p:nvCxnSpPr>
        <p:spPr>
          <a:xfrm flipH="1">
            <a:off x="4583369" y="1669328"/>
            <a:ext cx="1618910" cy="114361"/>
          </a:xfrm>
          <a:prstGeom prst="straightConnector1">
            <a:avLst/>
          </a:prstGeom>
          <a:ln w="635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E57A19B-AB91-64CA-070C-5BA39374F859}"/>
              </a:ext>
            </a:extLst>
          </p:cNvPr>
          <p:cNvCxnSpPr>
            <a:cxnSpLocks/>
            <a:stCxn id="54" idx="2"/>
            <a:endCxn id="9" idx="0"/>
          </p:cNvCxnSpPr>
          <p:nvPr/>
        </p:nvCxnSpPr>
        <p:spPr>
          <a:xfrm>
            <a:off x="6202279" y="1669328"/>
            <a:ext cx="3255018" cy="114361"/>
          </a:xfrm>
          <a:prstGeom prst="straightConnector1">
            <a:avLst/>
          </a:prstGeom>
          <a:ln w="635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0CD023D-06C6-A91B-4CC2-62D58FA9771A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2952092" y="2094676"/>
            <a:ext cx="1086680" cy="119394"/>
          </a:xfrm>
          <a:prstGeom prst="straightConnector1">
            <a:avLst/>
          </a:prstGeom>
          <a:ln w="635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872CBF-2667-71B5-9AAE-1E87466A2E69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4772424" y="2094676"/>
            <a:ext cx="1447050" cy="119394"/>
          </a:xfrm>
          <a:prstGeom prst="straightConnector1">
            <a:avLst/>
          </a:prstGeom>
          <a:ln w="635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5589568-1ECC-54E1-F30B-464C598CE6E0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9457296" y="2094676"/>
            <a:ext cx="1" cy="119394"/>
          </a:xfrm>
          <a:prstGeom prst="straightConnector1">
            <a:avLst/>
          </a:prstGeom>
          <a:ln w="635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1E56133-095E-A389-AA57-691D2A5AAEC2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>
            <a:off x="9457296" y="2525057"/>
            <a:ext cx="1" cy="109367"/>
          </a:xfrm>
          <a:prstGeom prst="straightConnector1">
            <a:avLst/>
          </a:prstGeom>
          <a:ln w="635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6A6F60-6B30-ED7D-1B56-C242A5416CCC}"/>
              </a:ext>
            </a:extLst>
          </p:cNvPr>
          <p:cNvCxnSpPr>
            <a:cxnSpLocks/>
            <a:stCxn id="11" idx="2"/>
            <a:endCxn id="49" idx="0"/>
          </p:cNvCxnSpPr>
          <p:nvPr/>
        </p:nvCxnSpPr>
        <p:spPr>
          <a:xfrm>
            <a:off x="6219474" y="2525057"/>
            <a:ext cx="1" cy="109367"/>
          </a:xfrm>
          <a:prstGeom prst="straightConnector1">
            <a:avLst/>
          </a:prstGeom>
          <a:ln w="635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00967B9-4E6F-8073-E2B4-B7CFA6CC32DC}"/>
              </a:ext>
            </a:extLst>
          </p:cNvPr>
          <p:cNvCxnSpPr>
            <a:cxnSpLocks/>
            <a:stCxn id="10" idx="2"/>
            <a:endCxn id="37" idx="0"/>
          </p:cNvCxnSpPr>
          <p:nvPr/>
        </p:nvCxnSpPr>
        <p:spPr>
          <a:xfrm flipH="1">
            <a:off x="2947263" y="2525057"/>
            <a:ext cx="4829" cy="103449"/>
          </a:xfrm>
          <a:prstGeom prst="straightConnector1">
            <a:avLst/>
          </a:prstGeom>
          <a:ln w="635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FB38400-7015-D3AE-755E-CAB54B6DB846}"/>
              </a:ext>
            </a:extLst>
          </p:cNvPr>
          <p:cNvSpPr/>
          <p:nvPr/>
        </p:nvSpPr>
        <p:spPr bwMode="auto">
          <a:xfrm>
            <a:off x="1703256" y="5436848"/>
            <a:ext cx="1920240" cy="456652"/>
          </a:xfrm>
          <a:prstGeom prst="rect">
            <a:avLst/>
          </a:prstGeom>
          <a:solidFill>
            <a:srgbClr val="F2F2F2"/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Cybersecurity and Privacy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891EBE8-E2EE-7428-5E08-F26EBD799E6B}"/>
              </a:ext>
            </a:extLst>
          </p:cNvPr>
          <p:cNvSpPr/>
          <p:nvPr/>
        </p:nvSpPr>
        <p:spPr bwMode="auto">
          <a:xfrm>
            <a:off x="4046940" y="5436848"/>
            <a:ext cx="1920240" cy="456652"/>
          </a:xfrm>
          <a:prstGeom prst="rect">
            <a:avLst/>
          </a:prstGeom>
          <a:solidFill>
            <a:srgbClr val="F2F2F2"/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Privacy, Security, and Fairness Architecture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5515B-3176-2DC8-8BE6-F8CD7F8E6D27}"/>
              </a:ext>
            </a:extLst>
          </p:cNvPr>
          <p:cNvSpPr/>
          <p:nvPr/>
        </p:nvSpPr>
        <p:spPr bwMode="auto">
          <a:xfrm>
            <a:off x="8085697" y="3175866"/>
            <a:ext cx="2743200" cy="46457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Team Composition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(Agile Team)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F394A8-03B5-0B37-092A-7218C0C49BB0}"/>
              </a:ext>
            </a:extLst>
          </p:cNvPr>
          <p:cNvSpPr/>
          <p:nvPr/>
        </p:nvSpPr>
        <p:spPr bwMode="auto">
          <a:xfrm>
            <a:off x="8085697" y="4258750"/>
            <a:ext cx="2743200" cy="46457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Process Management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EFAC93-47B1-121F-113C-AE199AE6CDF7}"/>
              </a:ext>
            </a:extLst>
          </p:cNvPr>
          <p:cNvSpPr/>
          <p:nvPr/>
        </p:nvSpPr>
        <p:spPr bwMode="auto">
          <a:xfrm>
            <a:off x="8085697" y="4800193"/>
            <a:ext cx="2743200" cy="46457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Organizational Strategy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A43E8A-49F8-A68A-E4DA-ABA0B51CCA33}"/>
              </a:ext>
            </a:extLst>
          </p:cNvPr>
          <p:cNvSpPr/>
          <p:nvPr/>
        </p:nvSpPr>
        <p:spPr bwMode="auto">
          <a:xfrm>
            <a:off x="8085697" y="2634424"/>
            <a:ext cx="2743200" cy="464578"/>
          </a:xfrm>
          <a:prstGeom prst="rect">
            <a:avLst/>
          </a:prstGeom>
          <a:solidFill>
            <a:srgbClr val="F2F2F2"/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Individual Capabilities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(Citizen Developers)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76F40BF-7AA9-FC4E-DE4F-16957D8D1A8B}"/>
              </a:ext>
            </a:extLst>
          </p:cNvPr>
          <p:cNvSpPr/>
          <p:nvPr/>
        </p:nvSpPr>
        <p:spPr bwMode="auto">
          <a:xfrm>
            <a:off x="1575663" y="3407501"/>
            <a:ext cx="2743200" cy="299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Business Management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ED0D2B-1FB3-9B2B-75B9-070048DEAB7E}"/>
              </a:ext>
            </a:extLst>
          </p:cNvPr>
          <p:cNvSpPr/>
          <p:nvPr/>
        </p:nvSpPr>
        <p:spPr bwMode="auto">
          <a:xfrm>
            <a:off x="1575663" y="3796998"/>
            <a:ext cx="2743200" cy="299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AI and Analytics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069B69E-583C-5376-4925-A1F9082B97B1}"/>
              </a:ext>
            </a:extLst>
          </p:cNvPr>
          <p:cNvSpPr/>
          <p:nvPr/>
        </p:nvSpPr>
        <p:spPr bwMode="auto">
          <a:xfrm>
            <a:off x="1575663" y="2628506"/>
            <a:ext cx="2743200" cy="299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Devices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80B2F6-5DE9-06B4-54B1-9615E878B2A9}"/>
              </a:ext>
            </a:extLst>
          </p:cNvPr>
          <p:cNvSpPr/>
          <p:nvPr/>
        </p:nvSpPr>
        <p:spPr bwMode="auto">
          <a:xfrm>
            <a:off x="1575663" y="4186495"/>
            <a:ext cx="2743200" cy="299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Data Platform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3EF290E-37A9-3CA6-E99E-E9C77A9F720F}"/>
              </a:ext>
            </a:extLst>
          </p:cNvPr>
          <p:cNvSpPr/>
          <p:nvPr/>
        </p:nvSpPr>
        <p:spPr bwMode="auto">
          <a:xfrm>
            <a:off x="1575663" y="4965488"/>
            <a:ext cx="2743200" cy="299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2296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Compute, Storage, Networking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CDD0A1B-71C0-3C31-D089-CED575696526}"/>
              </a:ext>
            </a:extLst>
          </p:cNvPr>
          <p:cNvSpPr/>
          <p:nvPr/>
        </p:nvSpPr>
        <p:spPr bwMode="auto">
          <a:xfrm>
            <a:off x="4847875" y="4258750"/>
            <a:ext cx="2743200" cy="46457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Experimentation Platform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D6DCF6-4E51-1143-5128-7348A8C8807D}"/>
              </a:ext>
            </a:extLst>
          </p:cNvPr>
          <p:cNvSpPr/>
          <p:nvPr/>
        </p:nvSpPr>
        <p:spPr bwMode="auto">
          <a:xfrm>
            <a:off x="4847875" y="3717309"/>
            <a:ext cx="2743200" cy="46457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 Data Model Standardization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2DEED1D-2713-9FDA-1E81-C8AF2E07D77B}"/>
              </a:ext>
            </a:extLst>
          </p:cNvPr>
          <p:cNvSpPr/>
          <p:nvPr/>
        </p:nvSpPr>
        <p:spPr bwMode="auto">
          <a:xfrm>
            <a:off x="4847875" y="4800193"/>
            <a:ext cx="2743200" cy="46457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Deployment Pipeline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E444D66-6A35-8EED-5D22-DFBC4D2DE1A8}"/>
              </a:ext>
            </a:extLst>
          </p:cNvPr>
          <p:cNvSpPr/>
          <p:nvPr/>
        </p:nvSpPr>
        <p:spPr bwMode="auto">
          <a:xfrm>
            <a:off x="4847875" y="2634424"/>
            <a:ext cx="2743200" cy="464578"/>
          </a:xfrm>
          <a:prstGeom prst="rect">
            <a:avLst/>
          </a:prstGeom>
          <a:solidFill>
            <a:srgbClr val="F2F2F2"/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Horizontal Integration and Normalization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88BC154-DB15-416A-6D81-3AD1943A1C87}"/>
              </a:ext>
            </a:extLst>
          </p:cNvPr>
          <p:cNvSpPr/>
          <p:nvPr/>
        </p:nvSpPr>
        <p:spPr bwMode="auto">
          <a:xfrm>
            <a:off x="4847875" y="3175866"/>
            <a:ext cx="2743200" cy="464578"/>
          </a:xfrm>
          <a:prstGeom prst="rect">
            <a:avLst/>
          </a:prstGeom>
          <a:solidFill>
            <a:srgbClr val="F2F2F2"/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API Strategy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076B06-A0DE-C6FF-552A-CA54F84E80FF}"/>
              </a:ext>
            </a:extLst>
          </p:cNvPr>
          <p:cNvSpPr/>
          <p:nvPr/>
        </p:nvSpPr>
        <p:spPr bwMode="auto">
          <a:xfrm>
            <a:off x="1575663" y="4575993"/>
            <a:ext cx="2743200" cy="299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DevOps and Dev Tools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4D7734-DDA8-E622-D364-5B5308A1146A}"/>
              </a:ext>
            </a:extLst>
          </p:cNvPr>
          <p:cNvSpPr/>
          <p:nvPr/>
        </p:nvSpPr>
        <p:spPr bwMode="auto">
          <a:xfrm>
            <a:off x="1575663" y="3018004"/>
            <a:ext cx="2743200" cy="2992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Productivity and Teamwork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9FD9FF-5CB7-BD08-A30A-F853B964D368}"/>
              </a:ext>
            </a:extLst>
          </p:cNvPr>
          <p:cNvSpPr/>
          <p:nvPr/>
        </p:nvSpPr>
        <p:spPr bwMode="auto">
          <a:xfrm>
            <a:off x="8085697" y="3717309"/>
            <a:ext cx="2743200" cy="46457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D505A"/>
                </a:solidFill>
                <a:effectLst/>
                <a:uLnTx/>
                <a:uFillTx/>
                <a:latin typeface="+mj-lt"/>
                <a:ea typeface="Calibri" pitchFamily="34" charset="0"/>
                <a:cs typeface="Calibri" pitchFamily="34" charset="0"/>
              </a:rPr>
              <a:t>Product Management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CC5AFD-65EA-DC43-324C-A96AB20264C1}"/>
              </a:ext>
            </a:extLst>
          </p:cNvPr>
          <p:cNvSpPr/>
          <p:nvPr/>
        </p:nvSpPr>
        <p:spPr bwMode="auto">
          <a:xfrm>
            <a:off x="1575662" y="1356360"/>
            <a:ext cx="9253233" cy="312968"/>
          </a:xfrm>
          <a:prstGeom prst="rect">
            <a:avLst/>
          </a:prstGeom>
          <a:solidFill>
            <a:srgbClr val="00613B"/>
          </a:solidFill>
          <a:ln w="12700" cmpd="sng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Tahoma"/>
                <a:cs typeface="Tahoma"/>
              </a:rPr>
              <a:t>Tech Intensity</a:t>
            </a:r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Tahoma"/>
              <a:cs typeface="Tahoma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9B1B28-E981-1E3E-5133-708EE57BDA21}"/>
              </a:ext>
            </a:extLst>
          </p:cNvPr>
          <p:cNvSpPr txBox="1">
            <a:spLocks/>
          </p:cNvSpPr>
          <p:nvPr/>
        </p:nvSpPr>
        <p:spPr>
          <a:xfrm>
            <a:off x="10091058" y="6440556"/>
            <a:ext cx="1844912" cy="10720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>
                <a:solidFill>
                  <a:srgbClr val="050519"/>
                </a:solidFill>
                <a:latin typeface="FK Grotesk Medium"/>
              </a:rPr>
              <a:t>Proprietary and Confidential | </a:t>
            </a:r>
            <a:fld id="{0BB17459-B6F1-6943-BC50-6CD59A6A1984}" type="slidenum">
              <a:rPr lang="en-US" smtClean="0">
                <a:solidFill>
                  <a:srgbClr val="050519"/>
                </a:solidFill>
                <a:latin typeface="FK Grotesk Medium"/>
              </a:rPr>
              <a:pPr algn="r">
                <a:defRPr/>
              </a:pPr>
              <a:t>37</a:t>
            </a:fld>
            <a:endParaRPr lang="en-US">
              <a:solidFill>
                <a:srgbClr val="050519"/>
              </a:solidFill>
              <a:latin typeface="FK Grotesk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018906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DCF1B-C409-78BE-6FD2-F2B7D9DC5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4CDDFCF-8E91-CE33-7FFE-BF4A5872B06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4CDDFCF-8E91-CE33-7FFE-BF4A5872B0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AB3C7A0-8D44-B6E5-2BE7-D26A8D748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Frontier Firm Traits | Infrastructure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54F1C-6324-8AFB-3B2B-E21B4EAD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ADA6E-B9EC-AF5C-4FE0-3E3821F5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38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5CB0BE-A079-5776-2289-990A5AA9C3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2C9FC3-F469-B1E9-244D-DF28EBC7A0B9}"/>
              </a:ext>
            </a:extLst>
          </p:cNvPr>
          <p:cNvSpPr txBox="1"/>
          <p:nvPr/>
        </p:nvSpPr>
        <p:spPr>
          <a:xfrm>
            <a:off x="970671" y="-32355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54522B0-C29B-6E78-3881-56DA496AC343}"/>
              </a:ext>
            </a:extLst>
          </p:cNvPr>
          <p:cNvCxnSpPr>
            <a:cxnSpLocks/>
          </p:cNvCxnSpPr>
          <p:nvPr/>
        </p:nvCxnSpPr>
        <p:spPr>
          <a:xfrm>
            <a:off x="10947603" y="97794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7703861-E1CB-4F09-0E90-91B3911F8244}"/>
              </a:ext>
            </a:extLst>
          </p:cNvPr>
          <p:cNvCxnSpPr>
            <a:cxnSpLocks/>
          </p:cNvCxnSpPr>
          <p:nvPr/>
        </p:nvCxnSpPr>
        <p:spPr>
          <a:xfrm>
            <a:off x="10947603" y="320532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00BFD71-1DA5-EB27-BC2F-6138693FEE80}"/>
              </a:ext>
            </a:extLst>
          </p:cNvPr>
          <p:cNvSpPr txBox="1"/>
          <p:nvPr/>
        </p:nvSpPr>
        <p:spPr>
          <a:xfrm>
            <a:off x="10947603" y="97794"/>
            <a:ext cx="1125415" cy="2227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>
                <a:solidFill>
                  <a:srgbClr val="C00000"/>
                </a:solidFill>
              </a:rPr>
              <a:t>PRELIMINARY</a:t>
            </a:r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24D281F8-B489-CF76-010F-40E0CA5C2115}"/>
              </a:ext>
            </a:extLst>
          </p:cNvPr>
          <p:cNvSpPr/>
          <p:nvPr/>
        </p:nvSpPr>
        <p:spPr>
          <a:xfrm>
            <a:off x="10372228" y="602352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77A84C-89C2-5B96-ED79-038127BF0D6A}"/>
              </a:ext>
            </a:extLst>
          </p:cNvPr>
          <p:cNvSpPr txBox="1"/>
          <p:nvPr/>
        </p:nvSpPr>
        <p:spPr>
          <a:xfrm>
            <a:off x="10649371" y="622805"/>
            <a:ext cx="2220966" cy="2956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i="1" spc="-20"/>
              <a:t>External research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69A2EC-D9CB-A1D8-3CDF-5C6F729B244E}"/>
              </a:ext>
            </a:extLst>
          </p:cNvPr>
          <p:cNvSpPr txBox="1"/>
          <p:nvPr/>
        </p:nvSpPr>
        <p:spPr>
          <a:xfrm>
            <a:off x="9932276" y="-78827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598063E-2787-3835-9A61-3CE59E03BF95}"/>
              </a:ext>
            </a:extLst>
          </p:cNvPr>
          <p:cNvSpPr/>
          <p:nvPr/>
        </p:nvSpPr>
        <p:spPr>
          <a:xfrm>
            <a:off x="4213862" y="488415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Passive data lake becomes agent context 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D92042B-95F2-C1BA-1160-47E28AEF0586}"/>
              </a:ext>
            </a:extLst>
          </p:cNvPr>
          <p:cNvSpPr/>
          <p:nvPr/>
        </p:nvSpPr>
        <p:spPr>
          <a:xfrm>
            <a:off x="343706" y="488415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Data lake and data warehouse collapse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7000194-4705-C4F5-9AD5-EC42C4FE5A30}"/>
              </a:ext>
            </a:extLst>
          </p:cNvPr>
          <p:cNvSpPr/>
          <p:nvPr/>
        </p:nvSpPr>
        <p:spPr>
          <a:xfrm>
            <a:off x="2243031" y="261083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Specialization is a governance choice, not just cost choice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EAC7157-37EC-0610-A023-ABBE6389D1D4}"/>
              </a:ext>
            </a:extLst>
          </p:cNvPr>
          <p:cNvSpPr/>
          <p:nvPr/>
        </p:nvSpPr>
        <p:spPr>
          <a:xfrm>
            <a:off x="4213862" y="261083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Build own models only for proprietary advantage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A269D96-24C7-D82E-4773-7191BBAEC3B2}"/>
              </a:ext>
            </a:extLst>
          </p:cNvPr>
          <p:cNvSpPr/>
          <p:nvPr/>
        </p:nvSpPr>
        <p:spPr>
          <a:xfrm>
            <a:off x="343706" y="261083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Models interchangeable at task level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7F089D-1FFF-6AE6-D152-706B0C43DD8B}"/>
              </a:ext>
            </a:extLst>
          </p:cNvPr>
          <p:cNvSpPr txBox="1"/>
          <p:nvPr/>
        </p:nvSpPr>
        <p:spPr>
          <a:xfrm>
            <a:off x="325659" y="2195910"/>
            <a:ext cx="7526317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Models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119019A-F6CB-F8F7-7C21-D4F08F830504}"/>
              </a:ext>
            </a:extLst>
          </p:cNvPr>
          <p:cNvSpPr/>
          <p:nvPr/>
        </p:nvSpPr>
        <p:spPr>
          <a:xfrm>
            <a:off x="2243031" y="373509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Standard protocols and open APIs is procurement default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AF15107-A115-2C03-00AB-72175B3C6B71}"/>
              </a:ext>
            </a:extLst>
          </p:cNvPr>
          <p:cNvSpPr/>
          <p:nvPr/>
        </p:nvSpPr>
        <p:spPr>
          <a:xfrm>
            <a:off x="343706" y="3759111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Off the shelf or custom MCPs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BAB260-28AF-8A8C-8B58-190EE4D23245}"/>
              </a:ext>
            </a:extLst>
          </p:cNvPr>
          <p:cNvSpPr txBox="1"/>
          <p:nvPr/>
        </p:nvSpPr>
        <p:spPr>
          <a:xfrm>
            <a:off x="325659" y="3320041"/>
            <a:ext cx="754109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Integration and connection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9773EB1-EA9A-956D-BD9A-3C564B0D2383}"/>
              </a:ext>
            </a:extLst>
          </p:cNvPr>
          <p:cNvSpPr/>
          <p:nvPr/>
        </p:nvSpPr>
        <p:spPr>
          <a:xfrm>
            <a:off x="2243031" y="5594502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Daily recurring maintenance flows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59760F4-6628-28A4-CB46-A86EC03A9EC0}"/>
              </a:ext>
            </a:extLst>
          </p:cNvPr>
          <p:cNvSpPr/>
          <p:nvPr/>
        </p:nvSpPr>
        <p:spPr>
          <a:xfrm>
            <a:off x="4213862" y="5594502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Workflows run at the cadence that data is available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C3CF83-6126-7887-9CA2-244A4BE0AEB9}"/>
              </a:ext>
            </a:extLst>
          </p:cNvPr>
          <p:cNvSpPr/>
          <p:nvPr/>
        </p:nvSpPr>
        <p:spPr>
          <a:xfrm>
            <a:off x="343706" y="5594502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Central brain that agents query and humans own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E5290ED-FFE0-309A-ED56-D465CE3057CB}"/>
              </a:ext>
            </a:extLst>
          </p:cNvPr>
          <p:cNvSpPr/>
          <p:nvPr/>
        </p:nvSpPr>
        <p:spPr>
          <a:xfrm>
            <a:off x="2243031" y="1394963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Double retries + checkpoints and fail mode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C9C3EB1-AF01-4078-5C71-917A11361A9C}"/>
              </a:ext>
            </a:extLst>
          </p:cNvPr>
          <p:cNvSpPr/>
          <p:nvPr/>
        </p:nvSpPr>
        <p:spPr>
          <a:xfrm>
            <a:off x="4213862" y="1394963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Human gates in runtime for high-risk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67257EC-16A9-890F-C573-66DAFCD30BAD}"/>
              </a:ext>
            </a:extLst>
          </p:cNvPr>
          <p:cNvSpPr/>
          <p:nvPr/>
        </p:nvSpPr>
        <p:spPr>
          <a:xfrm>
            <a:off x="343706" y="1394963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Sandboxed autonomous actions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99D221-139A-0911-A6B8-D309BFD5E353}"/>
              </a:ext>
            </a:extLst>
          </p:cNvPr>
          <p:cNvSpPr txBox="1"/>
          <p:nvPr/>
        </p:nvSpPr>
        <p:spPr>
          <a:xfrm>
            <a:off x="325659" y="991215"/>
            <a:ext cx="7449143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Execution environments (incl. agent substrate)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D050197-02E0-9F76-DD45-D026E5B9EE9B}"/>
              </a:ext>
            </a:extLst>
          </p:cNvPr>
          <p:cNvSpPr/>
          <p:nvPr/>
        </p:nvSpPr>
        <p:spPr>
          <a:xfrm>
            <a:off x="10131868" y="1394963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Task by task model eval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17DD174-F657-8662-E8A9-7D2BB5C0131B}"/>
              </a:ext>
            </a:extLst>
          </p:cNvPr>
          <p:cNvSpPr/>
          <p:nvPr/>
        </p:nvSpPr>
        <p:spPr>
          <a:xfrm>
            <a:off x="10131868" y="2208194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Evals determine autonomy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8E2DC9D6-6A0C-F4E8-8209-B765FC6D23F9}"/>
              </a:ext>
            </a:extLst>
          </p:cNvPr>
          <p:cNvSpPr/>
          <p:nvPr/>
        </p:nvSpPr>
        <p:spPr>
          <a:xfrm>
            <a:off x="7976925" y="1394963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Telemetry that makes unit economics visible at granular level not just billing rollup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D3A949-9D0A-CA7E-F765-3A84D208F7C3}"/>
              </a:ext>
            </a:extLst>
          </p:cNvPr>
          <p:cNvSpPr txBox="1"/>
          <p:nvPr/>
        </p:nvSpPr>
        <p:spPr>
          <a:xfrm>
            <a:off x="7976925" y="992660"/>
            <a:ext cx="3929602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Eval / telemetry infra</a:t>
            </a: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A634CB8C-A8FC-6584-0527-C469585DD9C5}"/>
              </a:ext>
            </a:extLst>
          </p:cNvPr>
          <p:cNvSpPr/>
          <p:nvPr/>
        </p:nvSpPr>
        <p:spPr>
          <a:xfrm>
            <a:off x="285472" y="4856121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4F42608A-243E-6C5C-DE2E-6D993230F652}"/>
              </a:ext>
            </a:extLst>
          </p:cNvPr>
          <p:cNvSpPr/>
          <p:nvPr/>
        </p:nvSpPr>
        <p:spPr>
          <a:xfrm>
            <a:off x="2164839" y="2586527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B55718F5-9DDB-45C6-16C9-8AD0A7D4EF56}"/>
              </a:ext>
            </a:extLst>
          </p:cNvPr>
          <p:cNvSpPr/>
          <p:nvPr/>
        </p:nvSpPr>
        <p:spPr>
          <a:xfrm>
            <a:off x="4119203" y="4871722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FED757-2833-782B-EB47-96F0C69B5D59}"/>
              </a:ext>
            </a:extLst>
          </p:cNvPr>
          <p:cNvSpPr txBox="1"/>
          <p:nvPr/>
        </p:nvSpPr>
        <p:spPr>
          <a:xfrm>
            <a:off x="7976926" y="4472511"/>
            <a:ext cx="3929602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Compute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33544683-84CE-C55C-F0ED-57E6C4AA8AF6}"/>
              </a:ext>
            </a:extLst>
          </p:cNvPr>
          <p:cNvSpPr/>
          <p:nvPr/>
        </p:nvSpPr>
        <p:spPr>
          <a:xfrm>
            <a:off x="7976925" y="488415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Access to compute becomes strategic asset and not a commodity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F21E062B-6755-F66C-9938-DC084E50CF5C}"/>
              </a:ext>
            </a:extLst>
          </p:cNvPr>
          <p:cNvSpPr/>
          <p:nvPr/>
        </p:nvSpPr>
        <p:spPr>
          <a:xfrm>
            <a:off x="10131868" y="488415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Continuous compute replaces on demand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DBCE690-086E-AEB8-FC85-AA8F87F2E65A}"/>
              </a:ext>
            </a:extLst>
          </p:cNvPr>
          <p:cNvSpPr/>
          <p:nvPr/>
        </p:nvSpPr>
        <p:spPr>
          <a:xfrm>
            <a:off x="2243031" y="488415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Any data is general context, scoping generates per agent load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654DFB-AC3B-5004-5A87-D871399CC2F9}"/>
              </a:ext>
            </a:extLst>
          </p:cNvPr>
          <p:cNvSpPr txBox="1"/>
          <p:nvPr/>
        </p:nvSpPr>
        <p:spPr>
          <a:xfrm>
            <a:off x="325659" y="4472511"/>
            <a:ext cx="7505343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Data and context substrate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012107E-13D4-EF63-C332-C6CE558D6D04}"/>
              </a:ext>
            </a:extLst>
          </p:cNvPr>
          <p:cNvSpPr/>
          <p:nvPr/>
        </p:nvSpPr>
        <p:spPr>
          <a:xfrm>
            <a:off x="6114577" y="488415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Learning from individual agent feeds into memory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7529811-96BE-656E-BEF6-E35ABB876470}"/>
              </a:ext>
            </a:extLst>
          </p:cNvPr>
          <p:cNvSpPr/>
          <p:nvPr/>
        </p:nvSpPr>
        <p:spPr>
          <a:xfrm>
            <a:off x="7976925" y="2208194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Telemetry is able to detect agent quality drift with high confidence levels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2EFF855-4FA2-463A-4EB6-4FEE0906E205}"/>
              </a:ext>
            </a:extLst>
          </p:cNvPr>
          <p:cNvSpPr/>
          <p:nvPr/>
        </p:nvSpPr>
        <p:spPr>
          <a:xfrm>
            <a:off x="6114577" y="2610835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/>
              <a:t>Defending the model as proprietary IP against extraction, exfiltration, jailbreak</a:t>
            </a:r>
            <a:endParaRPr lang="en-US" sz="1100" spc="-20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B7BCB96A-BAF0-9FBA-2876-586B2868DDCB}"/>
              </a:ext>
            </a:extLst>
          </p:cNvPr>
          <p:cNvSpPr/>
          <p:nvPr/>
        </p:nvSpPr>
        <p:spPr>
          <a:xfrm>
            <a:off x="6001392" y="2586527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B7E6C6F3-6F4B-0CD3-39CD-DBD0C937301E}"/>
              </a:ext>
            </a:extLst>
          </p:cNvPr>
          <p:cNvSpPr/>
          <p:nvPr/>
        </p:nvSpPr>
        <p:spPr>
          <a:xfrm>
            <a:off x="7874911" y="1335802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58" name="Diamond 57">
            <a:extLst>
              <a:ext uri="{FF2B5EF4-FFF2-40B4-BE49-F238E27FC236}">
                <a16:creationId xmlns:a16="http://schemas.microsoft.com/office/drawing/2014/main" id="{F1A5D3FB-8488-5CD6-66EA-17A66AC71FA2}"/>
              </a:ext>
            </a:extLst>
          </p:cNvPr>
          <p:cNvSpPr/>
          <p:nvPr/>
        </p:nvSpPr>
        <p:spPr>
          <a:xfrm>
            <a:off x="7874911" y="2112250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4F8A07F8-E70F-3AF0-4BCC-914CF9516CEB}"/>
              </a:ext>
            </a:extLst>
          </p:cNvPr>
          <p:cNvSpPr/>
          <p:nvPr/>
        </p:nvSpPr>
        <p:spPr>
          <a:xfrm>
            <a:off x="10018234" y="2112250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3AC8539F-B503-DC09-E764-090128C28A9B}"/>
              </a:ext>
            </a:extLst>
          </p:cNvPr>
          <p:cNvSpPr/>
          <p:nvPr/>
        </p:nvSpPr>
        <p:spPr>
          <a:xfrm>
            <a:off x="6114577" y="5594502"/>
            <a:ext cx="1774659" cy="6268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spc="-20"/>
              <a:t>One semantic layer across all functions</a:t>
            </a:r>
          </a:p>
        </p:txBody>
      </p:sp>
      <p:sp>
        <p:nvSpPr>
          <p:cNvPr id="65" name="Diamond 64">
            <a:extLst>
              <a:ext uri="{FF2B5EF4-FFF2-40B4-BE49-F238E27FC236}">
                <a16:creationId xmlns:a16="http://schemas.microsoft.com/office/drawing/2014/main" id="{FABD28BB-A71F-214F-C691-14964D442793}"/>
              </a:ext>
            </a:extLst>
          </p:cNvPr>
          <p:cNvSpPr/>
          <p:nvPr/>
        </p:nvSpPr>
        <p:spPr>
          <a:xfrm>
            <a:off x="6020195" y="5528313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F1980-51C3-FFE6-8BBC-42F07D4DF315}"/>
              </a:ext>
            </a:extLst>
          </p:cNvPr>
          <p:cNvSpPr/>
          <p:nvPr/>
        </p:nvSpPr>
        <p:spPr>
          <a:xfrm>
            <a:off x="-2479630" y="4394364"/>
            <a:ext cx="2988820" cy="923514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Feels like only if we believe in the </a:t>
            </a:r>
            <a:r>
              <a:rPr lang="en-US" sz="1100" spc="-20" err="1"/>
              <a:t>SaaSpocalypse</a:t>
            </a:r>
            <a:r>
              <a:rPr lang="en-US" sz="1100" spc="-20"/>
              <a:t> is this true… otherwise, you’re going to need some kind of curation  / semantic </a:t>
            </a:r>
            <a:r>
              <a:rPr lang="en-US" sz="1100" spc="-20" err="1"/>
              <a:t>layerfeeding</a:t>
            </a:r>
            <a:r>
              <a:rPr lang="en-US" sz="1100" spc="-20"/>
              <a:t> things back to SORs and other SaaS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882979-14C9-EC73-A1CF-7CEA08A05792}"/>
              </a:ext>
            </a:extLst>
          </p:cNvPr>
          <p:cNvSpPr/>
          <p:nvPr/>
        </p:nvSpPr>
        <p:spPr>
          <a:xfrm>
            <a:off x="4534560" y="4356802"/>
            <a:ext cx="1422233" cy="626834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What does passive mean in this context?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A8AAF-8201-7469-1A37-1A34E01E6F43}"/>
              </a:ext>
            </a:extLst>
          </p:cNvPr>
          <p:cNvSpPr/>
          <p:nvPr/>
        </p:nvSpPr>
        <p:spPr>
          <a:xfrm>
            <a:off x="7102452" y="5958741"/>
            <a:ext cx="1422233" cy="626834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Do we believe that this works outside SW? How is this architected?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1A0A5F-8C93-6DE8-FE99-80882001BAA7}"/>
              </a:ext>
            </a:extLst>
          </p:cNvPr>
          <p:cNvSpPr/>
          <p:nvPr/>
        </p:nvSpPr>
        <p:spPr>
          <a:xfrm>
            <a:off x="4455821" y="5954150"/>
            <a:ext cx="2135012" cy="1056249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Skeptical of this for things that can’t operate at that cadence – might change to workflows run at the min of data availability / latency and operating latency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5753B1-AEDC-4FDC-3576-6FE969D6B6DD}"/>
              </a:ext>
            </a:extLst>
          </p:cNvPr>
          <p:cNvSpPr/>
          <p:nvPr/>
        </p:nvSpPr>
        <p:spPr>
          <a:xfrm>
            <a:off x="2168541" y="5898426"/>
            <a:ext cx="1651831" cy="807174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Why only daily? Ho does this change with cost / business operations?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AC22DF-E1F5-D521-66DB-FF65AE8F250C}"/>
              </a:ext>
            </a:extLst>
          </p:cNvPr>
          <p:cNvSpPr/>
          <p:nvPr/>
        </p:nvSpPr>
        <p:spPr>
          <a:xfrm>
            <a:off x="2773245" y="2947932"/>
            <a:ext cx="1047127" cy="626834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What kind of governance (security or operating?)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B406C8-C12C-FB08-1FA8-0E57FBD5C2EC}"/>
              </a:ext>
            </a:extLst>
          </p:cNvPr>
          <p:cNvSpPr/>
          <p:nvPr/>
        </p:nvSpPr>
        <p:spPr>
          <a:xfrm>
            <a:off x="5225455" y="2703074"/>
            <a:ext cx="2085006" cy="1571474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Here do we mean literally model (i.e. LLM) or also the system prompts / other harness </a:t>
            </a:r>
            <a:r>
              <a:rPr lang="en-US" sz="1100" spc="-20" err="1"/>
              <a:t>compoentns</a:t>
            </a:r>
            <a:r>
              <a:rPr lang="en-US" sz="1100" spc="-20"/>
              <a:t>? Does fine-tuning count?</a:t>
            </a:r>
            <a:br>
              <a:rPr lang="en-US" sz="1100" spc="-20"/>
            </a:br>
            <a:r>
              <a:rPr lang="en-US" sz="1100" spc="-20"/>
              <a:t>Because I think it’s hard to imagine more junior firms building any models at all?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DBFE6D-EC5F-BAF9-C7D0-086FEE08F7A7}"/>
              </a:ext>
            </a:extLst>
          </p:cNvPr>
          <p:cNvSpPr/>
          <p:nvPr/>
        </p:nvSpPr>
        <p:spPr>
          <a:xfrm>
            <a:off x="10245502" y="2568076"/>
            <a:ext cx="1594749" cy="974868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On what </a:t>
            </a:r>
            <a:r>
              <a:rPr lang="en-US" sz="1100" spc="-20" err="1"/>
              <a:t>cadene</a:t>
            </a:r>
            <a:r>
              <a:rPr lang="en-US" sz="1100" spc="-20"/>
              <a:t> is telemetry reporting? On what </a:t>
            </a:r>
            <a:r>
              <a:rPr lang="en-US" sz="1100" spc="-20" err="1"/>
              <a:t>candece</a:t>
            </a:r>
            <a:r>
              <a:rPr lang="en-US" sz="1100" spc="-20"/>
              <a:t> do evals run? Can you auto-</a:t>
            </a:r>
            <a:r>
              <a:rPr lang="en-US" sz="1100" spc="-20" err="1"/>
              <a:t>swith</a:t>
            </a:r>
            <a:r>
              <a:rPr lang="en-US" sz="1100" spc="-20"/>
              <a:t> models?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B9E489-0CEE-9BE8-35EC-2693D5138694}"/>
              </a:ext>
            </a:extLst>
          </p:cNvPr>
          <p:cNvSpPr/>
          <p:nvPr/>
        </p:nvSpPr>
        <p:spPr>
          <a:xfrm>
            <a:off x="10744201" y="5161129"/>
            <a:ext cx="1574530" cy="626834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How does this scale especially from cost standpoint?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0AB5ED-BE5A-B334-F7E1-4D574F47D563}"/>
              </a:ext>
            </a:extLst>
          </p:cNvPr>
          <p:cNvSpPr/>
          <p:nvPr/>
        </p:nvSpPr>
        <p:spPr>
          <a:xfrm>
            <a:off x="2355116" y="4200044"/>
            <a:ext cx="2158592" cy="724220"/>
          </a:xfrm>
          <a:prstGeom prst="rect">
            <a:avLst/>
          </a:prstGeom>
          <a:solidFill>
            <a:srgbClr val="FF40FF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Has anyone talked about RAG or evolution AWAY from RAG for enterprise scale context / data?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35D0548-FBDD-CBE3-2A82-640F1989766D}"/>
              </a:ext>
            </a:extLst>
          </p:cNvPr>
          <p:cNvSpPr/>
          <p:nvPr/>
        </p:nvSpPr>
        <p:spPr>
          <a:xfrm>
            <a:off x="4232836" y="3521526"/>
            <a:ext cx="2472763" cy="888299"/>
          </a:xfrm>
          <a:prstGeom prst="rect">
            <a:avLst/>
          </a:prstGeom>
          <a:solidFill>
            <a:srgbClr val="FF40FF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Do they integrate directly with systems of record? Does everything use the data warehouse interface? Something else?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979C3F9-69A6-60F9-9B09-EAEE9082650B}"/>
              </a:ext>
            </a:extLst>
          </p:cNvPr>
          <p:cNvSpPr/>
          <p:nvPr/>
        </p:nvSpPr>
        <p:spPr>
          <a:xfrm>
            <a:off x="6359634" y="3928282"/>
            <a:ext cx="2158592" cy="724220"/>
          </a:xfrm>
          <a:prstGeom prst="rect">
            <a:avLst/>
          </a:prstGeom>
          <a:solidFill>
            <a:srgbClr val="FF40FF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What does ‘memory’ mean (is this like </a:t>
            </a:r>
            <a:r>
              <a:rPr lang="en-US" sz="1100" spc="-20" err="1"/>
              <a:t>anthropic’s</a:t>
            </a:r>
            <a:r>
              <a:rPr lang="en-US" sz="1100" spc="-20"/>
              <a:t> “memories”) and how diff from context?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93896AE-FCDD-2010-DBC4-17E63468205B}"/>
              </a:ext>
            </a:extLst>
          </p:cNvPr>
          <p:cNvSpPr/>
          <p:nvPr/>
        </p:nvSpPr>
        <p:spPr>
          <a:xfrm>
            <a:off x="3036277" y="0"/>
            <a:ext cx="4738525" cy="780975"/>
          </a:xfrm>
          <a:prstGeom prst="rect">
            <a:avLst/>
          </a:prstGeom>
          <a:solidFill>
            <a:srgbClr val="00B0F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Saved sticky version – WIP slide is below</a:t>
            </a:r>
          </a:p>
        </p:txBody>
      </p:sp>
    </p:spTree>
    <p:extLst>
      <p:ext uri="{BB962C8B-B14F-4D97-AF65-F5344CB8AC3E}">
        <p14:creationId xmlns:p14="http://schemas.microsoft.com/office/powerpoint/2010/main" val="35609900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3599F-44B6-9304-0220-D4726AFC1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855DB77-5745-B611-F0A2-0B83E99D56F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55DB77-5745-B611-F0A2-0B83E99D56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0B16134-96DB-7E4C-1A6C-E4B379B12C8F}"/>
              </a:ext>
            </a:extLst>
          </p:cNvPr>
          <p:cNvSpPr/>
          <p:nvPr/>
        </p:nvSpPr>
        <p:spPr>
          <a:xfrm>
            <a:off x="2199768" y="148437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Just-in-time context via brain / .MD 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1DCC500-1AE4-67ED-4086-EAC286D8254D}"/>
              </a:ext>
            </a:extLst>
          </p:cNvPr>
          <p:cNvSpPr/>
          <p:nvPr/>
        </p:nvSpPr>
        <p:spPr>
          <a:xfrm>
            <a:off x="4152895" y="148437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Custom MCPs for proprietary context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0D9B554-9A55-7BC2-64A3-CF223C753BCC}"/>
              </a:ext>
            </a:extLst>
          </p:cNvPr>
          <p:cNvSpPr/>
          <p:nvPr/>
        </p:nvSpPr>
        <p:spPr>
          <a:xfrm>
            <a:off x="246643" y="148437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Per-agent / task context scoping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F09237-188E-B574-2917-380538D8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Frontier Firm Traits | Harness /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7C2C4F-BB67-FDBF-8463-1E1CEBBE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17085-F59A-C6B3-B88D-24FD0F3C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39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30D84C-6983-D191-D17A-36CFF6DB0B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A3CCC9-6E42-2413-1B9D-7D3236D0591C}"/>
              </a:ext>
            </a:extLst>
          </p:cNvPr>
          <p:cNvSpPr txBox="1"/>
          <p:nvPr/>
        </p:nvSpPr>
        <p:spPr>
          <a:xfrm>
            <a:off x="970671" y="-32355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3F2A06-8C86-9C49-2FD1-D2876DDFEC18}"/>
              </a:ext>
            </a:extLst>
          </p:cNvPr>
          <p:cNvSpPr txBox="1"/>
          <p:nvPr/>
        </p:nvSpPr>
        <p:spPr>
          <a:xfrm>
            <a:off x="246643" y="1024352"/>
            <a:ext cx="5680911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Context management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A23AD0-3865-5B8D-B804-32D0F426B4E0}"/>
              </a:ext>
            </a:extLst>
          </p:cNvPr>
          <p:cNvSpPr txBox="1"/>
          <p:nvPr/>
        </p:nvSpPr>
        <p:spPr>
          <a:xfrm>
            <a:off x="282575" y="2821247"/>
            <a:ext cx="5680911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Agent design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CB0D2EC-DEC8-B1B9-05E9-5D9ED0F41A5C}"/>
              </a:ext>
            </a:extLst>
          </p:cNvPr>
          <p:cNvSpPr/>
          <p:nvPr/>
        </p:nvSpPr>
        <p:spPr>
          <a:xfrm>
            <a:off x="10079867" y="148437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Explicit task plan / spec file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70F1E8E-E7A9-F487-0841-854979F29B3F}"/>
              </a:ext>
            </a:extLst>
          </p:cNvPr>
          <p:cNvSpPr/>
          <p:nvPr/>
        </p:nvSpPr>
        <p:spPr>
          <a:xfrm>
            <a:off x="8126741" y="148437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Workflow consists of bounded tasks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6C211F-E416-D468-8F57-7BB1C359209E}"/>
              </a:ext>
            </a:extLst>
          </p:cNvPr>
          <p:cNvSpPr txBox="1"/>
          <p:nvPr/>
        </p:nvSpPr>
        <p:spPr>
          <a:xfrm>
            <a:off x="6173615" y="1024352"/>
            <a:ext cx="5680911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Workflow &amp; task design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721964-B4F6-7CB9-C570-CE541B50C8F0}"/>
              </a:ext>
            </a:extLst>
          </p:cNvPr>
          <p:cNvSpPr txBox="1"/>
          <p:nvPr/>
        </p:nvSpPr>
        <p:spPr>
          <a:xfrm>
            <a:off x="282575" y="4618142"/>
            <a:ext cx="5680911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Risk management for AI execution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A2C306-BC41-DE88-348B-34E272FE12E4}"/>
              </a:ext>
            </a:extLst>
          </p:cNvPr>
          <p:cNvSpPr txBox="1"/>
          <p:nvPr/>
        </p:nvSpPr>
        <p:spPr>
          <a:xfrm>
            <a:off x="6173451" y="2821247"/>
            <a:ext cx="5680911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Orchestration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14826E-3E26-57E1-2980-BFAD192DF5B8}"/>
              </a:ext>
            </a:extLst>
          </p:cNvPr>
          <p:cNvSpPr txBox="1"/>
          <p:nvPr/>
        </p:nvSpPr>
        <p:spPr>
          <a:xfrm>
            <a:off x="6173615" y="4618142"/>
            <a:ext cx="5680911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Learning systems</a:t>
            </a:r>
          </a:p>
        </p:txBody>
      </p:sp>
      <p:sp>
        <p:nvSpPr>
          <p:cNvPr id="44" name="Rounded Rectangle 23">
            <a:extLst>
              <a:ext uri="{FF2B5EF4-FFF2-40B4-BE49-F238E27FC236}">
                <a16:creationId xmlns:a16="http://schemas.microsoft.com/office/drawing/2014/main" id="{DA56CE93-3099-A578-9D19-5122165A46A0}"/>
              </a:ext>
            </a:extLst>
          </p:cNvPr>
          <p:cNvSpPr/>
          <p:nvPr/>
        </p:nvSpPr>
        <p:spPr>
          <a:xfrm>
            <a:off x="246643" y="191017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Human context curation</a:t>
            </a:r>
          </a:p>
        </p:txBody>
      </p:sp>
      <p:sp>
        <p:nvSpPr>
          <p:cNvPr id="45" name="Rounded Rectangle 37">
            <a:extLst>
              <a:ext uri="{FF2B5EF4-FFF2-40B4-BE49-F238E27FC236}">
                <a16:creationId xmlns:a16="http://schemas.microsoft.com/office/drawing/2014/main" id="{456F55BD-9626-7F63-2500-DC217BA7B779}"/>
              </a:ext>
            </a:extLst>
          </p:cNvPr>
          <p:cNvSpPr/>
          <p:nvPr/>
        </p:nvSpPr>
        <p:spPr>
          <a:xfrm>
            <a:off x="10079867" y="191017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Acceptance criteria / edge cases</a:t>
            </a:r>
          </a:p>
        </p:txBody>
      </p:sp>
      <p:sp>
        <p:nvSpPr>
          <p:cNvPr id="46" name="Rounded Rectangle 38">
            <a:extLst>
              <a:ext uri="{FF2B5EF4-FFF2-40B4-BE49-F238E27FC236}">
                <a16:creationId xmlns:a16="http://schemas.microsoft.com/office/drawing/2014/main" id="{062BEB65-9CE0-7EF9-182B-67F3EFB71C16}"/>
              </a:ext>
            </a:extLst>
          </p:cNvPr>
          <p:cNvSpPr/>
          <p:nvPr/>
        </p:nvSpPr>
        <p:spPr>
          <a:xfrm>
            <a:off x="6173615" y="2365713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Plan review gate before execution</a:t>
            </a:r>
          </a:p>
        </p:txBody>
      </p:sp>
      <p:sp>
        <p:nvSpPr>
          <p:cNvPr id="47" name="Rounded Rectangle 39">
            <a:extLst>
              <a:ext uri="{FF2B5EF4-FFF2-40B4-BE49-F238E27FC236}">
                <a16:creationId xmlns:a16="http://schemas.microsoft.com/office/drawing/2014/main" id="{6FF058DF-A510-72D0-DA25-F8813A4C385C}"/>
              </a:ext>
            </a:extLst>
          </p:cNvPr>
          <p:cNvSpPr/>
          <p:nvPr/>
        </p:nvSpPr>
        <p:spPr>
          <a:xfrm>
            <a:off x="8126741" y="191017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High-reasoning model for planning</a:t>
            </a:r>
          </a:p>
        </p:txBody>
      </p:sp>
      <p:sp>
        <p:nvSpPr>
          <p:cNvPr id="48" name="Rounded Rectangle 37">
            <a:extLst>
              <a:ext uri="{FF2B5EF4-FFF2-40B4-BE49-F238E27FC236}">
                <a16:creationId xmlns:a16="http://schemas.microsoft.com/office/drawing/2014/main" id="{85D1872A-2D2C-759B-7A9A-055C353D3DF6}"/>
              </a:ext>
            </a:extLst>
          </p:cNvPr>
          <p:cNvSpPr/>
          <p:nvPr/>
        </p:nvSpPr>
        <p:spPr>
          <a:xfrm>
            <a:off x="4188827" y="3251540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Agent registry / cards: capability / owner / risk</a:t>
            </a:r>
            <a:endParaRPr lang="en-US" sz="1100" spc="-20"/>
          </a:p>
        </p:txBody>
      </p:sp>
      <p:sp>
        <p:nvSpPr>
          <p:cNvPr id="49" name="Rounded Rectangle 38">
            <a:extLst>
              <a:ext uri="{FF2B5EF4-FFF2-40B4-BE49-F238E27FC236}">
                <a16:creationId xmlns:a16="http://schemas.microsoft.com/office/drawing/2014/main" id="{7930BF9F-8DB4-E4F7-AB17-937A61E88779}"/>
              </a:ext>
            </a:extLst>
          </p:cNvPr>
          <p:cNvSpPr/>
          <p:nvPr/>
        </p:nvSpPr>
        <p:spPr>
          <a:xfrm>
            <a:off x="4188827" y="3707074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Sandboxed / isolated workspaces</a:t>
            </a:r>
          </a:p>
        </p:txBody>
      </p:sp>
      <p:sp>
        <p:nvSpPr>
          <p:cNvPr id="50" name="Rounded Rectangle 39">
            <a:extLst>
              <a:ext uri="{FF2B5EF4-FFF2-40B4-BE49-F238E27FC236}">
                <a16:creationId xmlns:a16="http://schemas.microsoft.com/office/drawing/2014/main" id="{5F59FA86-500A-A3BB-7F81-D44A41A608E3}"/>
              </a:ext>
            </a:extLst>
          </p:cNvPr>
          <p:cNvSpPr/>
          <p:nvPr/>
        </p:nvSpPr>
        <p:spPr>
          <a:xfrm>
            <a:off x="282575" y="3251540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Vertical / specialized agent portfolio</a:t>
            </a:r>
          </a:p>
        </p:txBody>
      </p:sp>
      <p:sp>
        <p:nvSpPr>
          <p:cNvPr id="51" name="Rounded Rectangle 37">
            <a:extLst>
              <a:ext uri="{FF2B5EF4-FFF2-40B4-BE49-F238E27FC236}">
                <a16:creationId xmlns:a16="http://schemas.microsoft.com/office/drawing/2014/main" id="{A2EDF553-F104-5384-E605-5F797A2FF7AC}"/>
              </a:ext>
            </a:extLst>
          </p:cNvPr>
          <p:cNvSpPr/>
          <p:nvPr/>
        </p:nvSpPr>
        <p:spPr>
          <a:xfrm>
            <a:off x="282575" y="416260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Local + cloud execution paths</a:t>
            </a:r>
          </a:p>
        </p:txBody>
      </p:sp>
      <p:sp>
        <p:nvSpPr>
          <p:cNvPr id="52" name="Rounded Rectangle 38">
            <a:extLst>
              <a:ext uri="{FF2B5EF4-FFF2-40B4-BE49-F238E27FC236}">
                <a16:creationId xmlns:a16="http://schemas.microsoft.com/office/drawing/2014/main" id="{75392E3A-E69A-A920-FEB1-E6655409F294}"/>
              </a:ext>
            </a:extLst>
          </p:cNvPr>
          <p:cNvSpPr/>
          <p:nvPr/>
        </p:nvSpPr>
        <p:spPr>
          <a:xfrm>
            <a:off x="2235701" y="3707074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Distinct access &amp; least-privilege permissions</a:t>
            </a:r>
          </a:p>
        </p:txBody>
      </p:sp>
      <p:sp>
        <p:nvSpPr>
          <p:cNvPr id="53" name="Rounded Rectangle 39">
            <a:extLst>
              <a:ext uri="{FF2B5EF4-FFF2-40B4-BE49-F238E27FC236}">
                <a16:creationId xmlns:a16="http://schemas.microsoft.com/office/drawing/2014/main" id="{3BC2FCAF-7E06-27FD-5A32-9BBAE69D3E49}"/>
              </a:ext>
            </a:extLst>
          </p:cNvPr>
          <p:cNvSpPr/>
          <p:nvPr/>
        </p:nvSpPr>
        <p:spPr>
          <a:xfrm>
            <a:off x="282575" y="3707074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Sub-agent delegation for bounded subtasks</a:t>
            </a:r>
          </a:p>
        </p:txBody>
      </p:sp>
      <p:sp>
        <p:nvSpPr>
          <p:cNvPr id="54" name="Rounded Rectangle 37">
            <a:extLst>
              <a:ext uri="{FF2B5EF4-FFF2-40B4-BE49-F238E27FC236}">
                <a16:creationId xmlns:a16="http://schemas.microsoft.com/office/drawing/2014/main" id="{DE6FC489-F0CB-18B3-EE7B-D7A0F85F4672}"/>
              </a:ext>
            </a:extLst>
          </p:cNvPr>
          <p:cNvSpPr/>
          <p:nvPr/>
        </p:nvSpPr>
        <p:spPr>
          <a:xfrm>
            <a:off x="8126741" y="3251540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Pre-wired sequences (deterministic)</a:t>
            </a:r>
          </a:p>
        </p:txBody>
      </p:sp>
      <p:sp>
        <p:nvSpPr>
          <p:cNvPr id="55" name="Rounded Rectangle 38">
            <a:extLst>
              <a:ext uri="{FF2B5EF4-FFF2-40B4-BE49-F238E27FC236}">
                <a16:creationId xmlns:a16="http://schemas.microsoft.com/office/drawing/2014/main" id="{B72A3F10-D44E-0FCB-B19F-EFF9E2DAC2F7}"/>
              </a:ext>
            </a:extLst>
          </p:cNvPr>
          <p:cNvSpPr/>
          <p:nvPr/>
        </p:nvSpPr>
        <p:spPr>
          <a:xfrm>
            <a:off x="10079867" y="3251540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Model routing &amp; advise-execute-review tiering</a:t>
            </a:r>
          </a:p>
        </p:txBody>
      </p:sp>
      <p:sp>
        <p:nvSpPr>
          <p:cNvPr id="56" name="Rounded Rectangle 39">
            <a:extLst>
              <a:ext uri="{FF2B5EF4-FFF2-40B4-BE49-F238E27FC236}">
                <a16:creationId xmlns:a16="http://schemas.microsoft.com/office/drawing/2014/main" id="{253FCF5A-DE7C-63E8-0FCA-17C3F4A4E5A8}"/>
              </a:ext>
            </a:extLst>
          </p:cNvPr>
          <p:cNvSpPr/>
          <p:nvPr/>
        </p:nvSpPr>
        <p:spPr>
          <a:xfrm>
            <a:off x="6173615" y="3251540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Dynamic orchestrator / master-agent routing</a:t>
            </a:r>
          </a:p>
        </p:txBody>
      </p:sp>
      <p:sp>
        <p:nvSpPr>
          <p:cNvPr id="57" name="Rounded Rectangle 37">
            <a:extLst>
              <a:ext uri="{FF2B5EF4-FFF2-40B4-BE49-F238E27FC236}">
                <a16:creationId xmlns:a16="http://schemas.microsoft.com/office/drawing/2014/main" id="{A349831B-6DAC-EA44-2007-587D85974F8B}"/>
              </a:ext>
            </a:extLst>
          </p:cNvPr>
          <p:cNvSpPr/>
          <p:nvPr/>
        </p:nvSpPr>
        <p:spPr>
          <a:xfrm>
            <a:off x="8126741" y="3707074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Agent-to-agent handoffs / cross-review</a:t>
            </a:r>
          </a:p>
        </p:txBody>
      </p:sp>
      <p:sp>
        <p:nvSpPr>
          <p:cNvPr id="58" name="Rounded Rectangle 38">
            <a:extLst>
              <a:ext uri="{FF2B5EF4-FFF2-40B4-BE49-F238E27FC236}">
                <a16:creationId xmlns:a16="http://schemas.microsoft.com/office/drawing/2014/main" id="{36ED3BC3-FD70-95E1-6EA8-51E51BE9FF0E}"/>
              </a:ext>
            </a:extLst>
          </p:cNvPr>
          <p:cNvSpPr/>
          <p:nvPr/>
        </p:nvSpPr>
        <p:spPr>
          <a:xfrm>
            <a:off x="10079867" y="3707074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Durable execution (resume / retries)</a:t>
            </a:r>
          </a:p>
        </p:txBody>
      </p:sp>
      <p:sp>
        <p:nvSpPr>
          <p:cNvPr id="59" name="Rounded Rectangle 39">
            <a:extLst>
              <a:ext uri="{FF2B5EF4-FFF2-40B4-BE49-F238E27FC236}">
                <a16:creationId xmlns:a16="http://schemas.microsoft.com/office/drawing/2014/main" id="{81923F43-C00C-146E-D44E-45A34F8510AA}"/>
              </a:ext>
            </a:extLst>
          </p:cNvPr>
          <p:cNvSpPr/>
          <p:nvPr/>
        </p:nvSpPr>
        <p:spPr>
          <a:xfrm>
            <a:off x="6173615" y="3707074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Event triggered / scheduled</a:t>
            </a:r>
          </a:p>
        </p:txBody>
      </p:sp>
      <p:sp>
        <p:nvSpPr>
          <p:cNvPr id="60" name="Rounded Rectangle 37">
            <a:extLst>
              <a:ext uri="{FF2B5EF4-FFF2-40B4-BE49-F238E27FC236}">
                <a16:creationId xmlns:a16="http://schemas.microsoft.com/office/drawing/2014/main" id="{2990B097-6C33-FA5D-52C4-1461A8C8E23B}"/>
              </a:ext>
            </a:extLst>
          </p:cNvPr>
          <p:cNvSpPr/>
          <p:nvPr/>
        </p:nvSpPr>
        <p:spPr>
          <a:xfrm>
            <a:off x="2235701" y="504843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Humans-in-the-loop gates / escalation triage</a:t>
            </a:r>
          </a:p>
        </p:txBody>
      </p:sp>
      <p:sp>
        <p:nvSpPr>
          <p:cNvPr id="61" name="Rounded Rectangle 38">
            <a:extLst>
              <a:ext uri="{FF2B5EF4-FFF2-40B4-BE49-F238E27FC236}">
                <a16:creationId xmlns:a16="http://schemas.microsoft.com/office/drawing/2014/main" id="{EB4A1549-29C9-A767-2B40-3A39FF73850F}"/>
              </a:ext>
            </a:extLst>
          </p:cNvPr>
          <p:cNvSpPr/>
          <p:nvPr/>
        </p:nvSpPr>
        <p:spPr>
          <a:xfrm>
            <a:off x="4188827" y="550396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Delegated / action-tiered authority</a:t>
            </a:r>
          </a:p>
        </p:txBody>
      </p:sp>
      <p:sp>
        <p:nvSpPr>
          <p:cNvPr id="62" name="Rounded Rectangle 39">
            <a:extLst>
              <a:ext uri="{FF2B5EF4-FFF2-40B4-BE49-F238E27FC236}">
                <a16:creationId xmlns:a16="http://schemas.microsoft.com/office/drawing/2014/main" id="{3FA3EF0A-F431-8275-0728-79F1E455AB44}"/>
              </a:ext>
            </a:extLst>
          </p:cNvPr>
          <p:cNvSpPr/>
          <p:nvPr/>
        </p:nvSpPr>
        <p:spPr>
          <a:xfrm>
            <a:off x="282575" y="504843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Multi-stage AI review before human review</a:t>
            </a:r>
          </a:p>
        </p:txBody>
      </p:sp>
      <p:sp>
        <p:nvSpPr>
          <p:cNvPr id="63" name="Rounded Rectangle 37">
            <a:extLst>
              <a:ext uri="{FF2B5EF4-FFF2-40B4-BE49-F238E27FC236}">
                <a16:creationId xmlns:a16="http://schemas.microsoft.com/office/drawing/2014/main" id="{10BD260C-ECF1-83E6-1893-081B35165219}"/>
              </a:ext>
            </a:extLst>
          </p:cNvPr>
          <p:cNvSpPr/>
          <p:nvPr/>
        </p:nvSpPr>
        <p:spPr>
          <a:xfrm>
            <a:off x="2235701" y="550396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Sampling / spot-check agents</a:t>
            </a:r>
          </a:p>
        </p:txBody>
      </p:sp>
      <p:sp>
        <p:nvSpPr>
          <p:cNvPr id="65" name="Rounded Rectangle 39">
            <a:extLst>
              <a:ext uri="{FF2B5EF4-FFF2-40B4-BE49-F238E27FC236}">
                <a16:creationId xmlns:a16="http://schemas.microsoft.com/office/drawing/2014/main" id="{FA33E44A-8370-967F-4896-199D83A4259D}"/>
              </a:ext>
            </a:extLst>
          </p:cNvPr>
          <p:cNvSpPr/>
          <p:nvPr/>
        </p:nvSpPr>
        <p:spPr>
          <a:xfrm>
            <a:off x="282575" y="550396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Automated test / verification agents</a:t>
            </a:r>
          </a:p>
        </p:txBody>
      </p:sp>
      <p:sp>
        <p:nvSpPr>
          <p:cNvPr id="66" name="Rounded Rectangle 37">
            <a:extLst>
              <a:ext uri="{FF2B5EF4-FFF2-40B4-BE49-F238E27FC236}">
                <a16:creationId xmlns:a16="http://schemas.microsoft.com/office/drawing/2014/main" id="{C3758E12-2DC9-58F8-87B9-07BE51CA490B}"/>
              </a:ext>
            </a:extLst>
          </p:cNvPr>
          <p:cNvSpPr/>
          <p:nvPr/>
        </p:nvSpPr>
        <p:spPr>
          <a:xfrm>
            <a:off x="8126741" y="504843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Failures </a:t>
            </a:r>
            <a:r>
              <a:rPr lang="en-US" sz="1100" spc="-20">
                <a:sym typeface="Wingdings" panose="05000000000000000000" pitchFamily="2" charset="2"/>
              </a:rPr>
              <a:t> guardrails</a:t>
            </a:r>
            <a:endParaRPr lang="en-US" sz="1100" spc="-20"/>
          </a:p>
        </p:txBody>
      </p:sp>
      <p:sp>
        <p:nvSpPr>
          <p:cNvPr id="67" name="Rounded Rectangle 38">
            <a:extLst>
              <a:ext uri="{FF2B5EF4-FFF2-40B4-BE49-F238E27FC236}">
                <a16:creationId xmlns:a16="http://schemas.microsoft.com/office/drawing/2014/main" id="{3530B2C0-0B46-6C04-349C-9DF74A8773D1}"/>
              </a:ext>
            </a:extLst>
          </p:cNvPr>
          <p:cNvSpPr/>
          <p:nvPr/>
        </p:nvSpPr>
        <p:spPr>
          <a:xfrm>
            <a:off x="10079867" y="504843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Postmortems </a:t>
            </a:r>
            <a:r>
              <a:rPr lang="en-US" sz="1100" spc="-20">
                <a:sym typeface="Wingdings" panose="05000000000000000000" pitchFamily="2" charset="2"/>
              </a:rPr>
              <a:t> context</a:t>
            </a:r>
            <a:endParaRPr lang="en-US" sz="1100" spc="-20"/>
          </a:p>
        </p:txBody>
      </p:sp>
      <p:sp>
        <p:nvSpPr>
          <p:cNvPr id="68" name="Rounded Rectangle 39">
            <a:extLst>
              <a:ext uri="{FF2B5EF4-FFF2-40B4-BE49-F238E27FC236}">
                <a16:creationId xmlns:a16="http://schemas.microsoft.com/office/drawing/2014/main" id="{F73E6908-FDC4-9250-7BAD-34B6BD613E3B}"/>
              </a:ext>
            </a:extLst>
          </p:cNvPr>
          <p:cNvSpPr/>
          <p:nvPr/>
        </p:nvSpPr>
        <p:spPr>
          <a:xfrm>
            <a:off x="6173615" y="504843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Fixes </a:t>
            </a:r>
            <a:r>
              <a:rPr lang="en-US" sz="1100" spc="-20">
                <a:sym typeface="Wingdings" panose="05000000000000000000" pitchFamily="2" charset="2"/>
              </a:rPr>
              <a:t> skills</a:t>
            </a:r>
            <a:endParaRPr lang="en-US" sz="1100" spc="-20"/>
          </a:p>
        </p:txBody>
      </p:sp>
      <p:sp>
        <p:nvSpPr>
          <p:cNvPr id="69" name="Rounded Rectangle 37">
            <a:extLst>
              <a:ext uri="{FF2B5EF4-FFF2-40B4-BE49-F238E27FC236}">
                <a16:creationId xmlns:a16="http://schemas.microsoft.com/office/drawing/2014/main" id="{FE68BE23-6CAC-B031-9E2D-F65CB1BF071B}"/>
              </a:ext>
            </a:extLst>
          </p:cNvPr>
          <p:cNvSpPr/>
          <p:nvPr/>
        </p:nvSpPr>
        <p:spPr>
          <a:xfrm>
            <a:off x="8126741" y="550396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Observability &amp; usage telemetry</a:t>
            </a:r>
          </a:p>
        </p:txBody>
      </p:sp>
      <p:sp>
        <p:nvSpPr>
          <p:cNvPr id="71" name="Rounded Rectangle 39">
            <a:extLst>
              <a:ext uri="{FF2B5EF4-FFF2-40B4-BE49-F238E27FC236}">
                <a16:creationId xmlns:a16="http://schemas.microsoft.com/office/drawing/2014/main" id="{C913F899-730F-EC9A-3326-7977ACAE3FBA}"/>
              </a:ext>
            </a:extLst>
          </p:cNvPr>
          <p:cNvSpPr/>
          <p:nvPr/>
        </p:nvSpPr>
        <p:spPr>
          <a:xfrm>
            <a:off x="6173615" y="550396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Workflow evals / golden datasets</a:t>
            </a:r>
            <a:endParaRPr lang="en-US" sz="1100" spc="-20"/>
          </a:p>
        </p:txBody>
      </p:sp>
      <p:sp>
        <p:nvSpPr>
          <p:cNvPr id="74" name="Diamond 73">
            <a:extLst>
              <a:ext uri="{FF2B5EF4-FFF2-40B4-BE49-F238E27FC236}">
                <a16:creationId xmlns:a16="http://schemas.microsoft.com/office/drawing/2014/main" id="{F383D6CD-1AD7-8D07-120C-B690EA44F5F4}"/>
              </a:ext>
            </a:extLst>
          </p:cNvPr>
          <p:cNvSpPr/>
          <p:nvPr/>
        </p:nvSpPr>
        <p:spPr>
          <a:xfrm>
            <a:off x="10395674" y="625798"/>
            <a:ext cx="182880" cy="228600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4FE8AE-A354-4DF2-E930-7C2F1D4D30C6}"/>
              </a:ext>
            </a:extLst>
          </p:cNvPr>
          <p:cNvSpPr txBox="1"/>
          <p:nvPr/>
        </p:nvSpPr>
        <p:spPr>
          <a:xfrm>
            <a:off x="10649371" y="622805"/>
            <a:ext cx="2220966" cy="2956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i="1" spc="-20"/>
              <a:t>External research</a:t>
            </a:r>
          </a:p>
        </p:txBody>
      </p:sp>
      <p:sp>
        <p:nvSpPr>
          <p:cNvPr id="78" name="Rounded Rectangle 37">
            <a:extLst>
              <a:ext uri="{FF2B5EF4-FFF2-40B4-BE49-F238E27FC236}">
                <a16:creationId xmlns:a16="http://schemas.microsoft.com/office/drawing/2014/main" id="{68786303-A4BB-9003-15C5-B13B54199B70}"/>
              </a:ext>
            </a:extLst>
          </p:cNvPr>
          <p:cNvSpPr/>
          <p:nvPr/>
        </p:nvSpPr>
        <p:spPr>
          <a:xfrm>
            <a:off x="2199769" y="191017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Context lives close to work</a:t>
            </a:r>
          </a:p>
        </p:txBody>
      </p:sp>
      <p:sp>
        <p:nvSpPr>
          <p:cNvPr id="79" name="Rounded Rectangle 38">
            <a:extLst>
              <a:ext uri="{FF2B5EF4-FFF2-40B4-BE49-F238E27FC236}">
                <a16:creationId xmlns:a16="http://schemas.microsoft.com/office/drawing/2014/main" id="{6F9BAE97-588C-EBF1-119B-7F38E8051F0F}"/>
              </a:ext>
            </a:extLst>
          </p:cNvPr>
          <p:cNvSpPr/>
          <p:nvPr/>
        </p:nvSpPr>
        <p:spPr>
          <a:xfrm>
            <a:off x="4152895" y="191017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Context cleanup loops</a:t>
            </a:r>
          </a:p>
        </p:txBody>
      </p:sp>
      <p:sp>
        <p:nvSpPr>
          <p:cNvPr id="16" name="Rounded Rectangle 37">
            <a:extLst>
              <a:ext uri="{FF2B5EF4-FFF2-40B4-BE49-F238E27FC236}">
                <a16:creationId xmlns:a16="http://schemas.microsoft.com/office/drawing/2014/main" id="{DF5ADC50-BA7E-0C61-BF54-6865F309A4A2}"/>
              </a:ext>
            </a:extLst>
          </p:cNvPr>
          <p:cNvSpPr/>
          <p:nvPr/>
        </p:nvSpPr>
        <p:spPr>
          <a:xfrm>
            <a:off x="4188827" y="504843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Human-on-the-loop supervision</a:t>
            </a:r>
          </a:p>
        </p:txBody>
      </p:sp>
      <p:sp>
        <p:nvSpPr>
          <p:cNvPr id="17" name="Rounded Rectangle 37">
            <a:extLst>
              <a:ext uri="{FF2B5EF4-FFF2-40B4-BE49-F238E27FC236}">
                <a16:creationId xmlns:a16="http://schemas.microsoft.com/office/drawing/2014/main" id="{29043E9E-7798-A9DB-67DD-6A532361190B}"/>
              </a:ext>
            </a:extLst>
          </p:cNvPr>
          <p:cNvSpPr/>
          <p:nvPr/>
        </p:nvSpPr>
        <p:spPr>
          <a:xfrm>
            <a:off x="6173615" y="5959506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Reusable skills / playbook library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85A44CE-2B79-CA5D-07F7-B2D43B11F232}"/>
              </a:ext>
            </a:extLst>
          </p:cNvPr>
          <p:cNvCxnSpPr>
            <a:cxnSpLocks/>
          </p:cNvCxnSpPr>
          <p:nvPr/>
        </p:nvCxnSpPr>
        <p:spPr>
          <a:xfrm>
            <a:off x="10947603" y="97794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A12C5E-9084-86C4-DA80-5F2E4DB46B8E}"/>
              </a:ext>
            </a:extLst>
          </p:cNvPr>
          <p:cNvCxnSpPr>
            <a:cxnSpLocks/>
          </p:cNvCxnSpPr>
          <p:nvPr/>
        </p:nvCxnSpPr>
        <p:spPr>
          <a:xfrm>
            <a:off x="10947603" y="320532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6B855B9-C375-D377-52E7-281E657267EA}"/>
              </a:ext>
            </a:extLst>
          </p:cNvPr>
          <p:cNvSpPr txBox="1"/>
          <p:nvPr/>
        </p:nvSpPr>
        <p:spPr>
          <a:xfrm>
            <a:off x="10947603" y="97794"/>
            <a:ext cx="1125415" cy="2227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>
                <a:solidFill>
                  <a:srgbClr val="C00000"/>
                </a:solidFill>
              </a:rPr>
              <a:t>PRELIMINARY</a:t>
            </a:r>
          </a:p>
        </p:txBody>
      </p:sp>
      <p:sp>
        <p:nvSpPr>
          <p:cNvPr id="27" name="Rounded Rectangle 37">
            <a:extLst>
              <a:ext uri="{FF2B5EF4-FFF2-40B4-BE49-F238E27FC236}">
                <a16:creationId xmlns:a16="http://schemas.microsoft.com/office/drawing/2014/main" id="{0FC69495-D1A5-65FE-1548-F82500ACD083}"/>
              </a:ext>
            </a:extLst>
          </p:cNvPr>
          <p:cNvSpPr/>
          <p:nvPr/>
        </p:nvSpPr>
        <p:spPr>
          <a:xfrm>
            <a:off x="8126741" y="2365713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Advisor-executor-reviewer split</a:t>
            </a:r>
          </a:p>
        </p:txBody>
      </p:sp>
      <p:sp>
        <p:nvSpPr>
          <p:cNvPr id="34" name="Rounded Rectangle 37">
            <a:extLst>
              <a:ext uri="{FF2B5EF4-FFF2-40B4-BE49-F238E27FC236}">
                <a16:creationId xmlns:a16="http://schemas.microsoft.com/office/drawing/2014/main" id="{E4F88853-2162-CA58-B3D5-1460AC4DFA13}"/>
              </a:ext>
            </a:extLst>
          </p:cNvPr>
          <p:cNvSpPr/>
          <p:nvPr/>
        </p:nvSpPr>
        <p:spPr>
          <a:xfrm>
            <a:off x="6173615" y="1454645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AI-native workflows (built around agents)</a:t>
            </a:r>
          </a:p>
        </p:txBody>
      </p:sp>
      <p:sp>
        <p:nvSpPr>
          <p:cNvPr id="64" name="Rounded Rectangle 39">
            <a:extLst>
              <a:ext uri="{FF2B5EF4-FFF2-40B4-BE49-F238E27FC236}">
                <a16:creationId xmlns:a16="http://schemas.microsoft.com/office/drawing/2014/main" id="{C090E42D-E16C-F4C9-106B-BA7E9CE813E9}"/>
              </a:ext>
            </a:extLst>
          </p:cNvPr>
          <p:cNvSpPr/>
          <p:nvPr/>
        </p:nvSpPr>
        <p:spPr>
          <a:xfrm>
            <a:off x="282574" y="5959506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Audit trails, ownership, &amp; revocation</a:t>
            </a:r>
          </a:p>
        </p:txBody>
      </p:sp>
      <p:sp>
        <p:nvSpPr>
          <p:cNvPr id="73" name="Rounded Rectangle 39">
            <a:extLst>
              <a:ext uri="{FF2B5EF4-FFF2-40B4-BE49-F238E27FC236}">
                <a16:creationId xmlns:a16="http://schemas.microsoft.com/office/drawing/2014/main" id="{FE6BCE32-5BD5-854D-4272-343A3F1AF26C}"/>
              </a:ext>
            </a:extLst>
          </p:cNvPr>
          <p:cNvSpPr/>
          <p:nvPr/>
        </p:nvSpPr>
        <p:spPr>
          <a:xfrm>
            <a:off x="2235701" y="3251540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Narrow, scoped definition per agent</a:t>
            </a:r>
          </a:p>
        </p:txBody>
      </p:sp>
      <p:sp>
        <p:nvSpPr>
          <p:cNvPr id="80" name="Rounded Rectangle 37">
            <a:extLst>
              <a:ext uri="{FF2B5EF4-FFF2-40B4-BE49-F238E27FC236}">
                <a16:creationId xmlns:a16="http://schemas.microsoft.com/office/drawing/2014/main" id="{BE7C1C44-58F4-5BEC-FC91-F9CA1E33F443}"/>
              </a:ext>
            </a:extLst>
          </p:cNvPr>
          <p:cNvSpPr/>
          <p:nvPr/>
        </p:nvSpPr>
        <p:spPr>
          <a:xfrm>
            <a:off x="6173615" y="191017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Human + AI co-planning</a:t>
            </a:r>
          </a:p>
        </p:txBody>
      </p:sp>
      <p:sp>
        <p:nvSpPr>
          <p:cNvPr id="93" name="Rounded Rectangle 38">
            <a:extLst>
              <a:ext uri="{FF2B5EF4-FFF2-40B4-BE49-F238E27FC236}">
                <a16:creationId xmlns:a16="http://schemas.microsoft.com/office/drawing/2014/main" id="{D166B55E-9BC8-CD79-B39B-A5EB7EBC4512}"/>
              </a:ext>
            </a:extLst>
          </p:cNvPr>
          <p:cNvSpPr/>
          <p:nvPr/>
        </p:nvSpPr>
        <p:spPr>
          <a:xfrm>
            <a:off x="6173615" y="4162608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Model / vendor agnostic</a:t>
            </a:r>
          </a:p>
        </p:txBody>
      </p:sp>
      <p:sp>
        <p:nvSpPr>
          <p:cNvPr id="94" name="Rounded Rectangle 38">
            <a:extLst>
              <a:ext uri="{FF2B5EF4-FFF2-40B4-BE49-F238E27FC236}">
                <a16:creationId xmlns:a16="http://schemas.microsoft.com/office/drawing/2014/main" id="{1788B402-876D-C9F1-556A-1670C871F2F9}"/>
              </a:ext>
            </a:extLst>
          </p:cNvPr>
          <p:cNvSpPr/>
          <p:nvPr/>
        </p:nvSpPr>
        <p:spPr>
          <a:xfrm>
            <a:off x="10079867" y="5503969"/>
            <a:ext cx="1774659" cy="365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Human-approved memory updates</a:t>
            </a: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B24DF61F-C4D0-CC8D-4159-97BC93AB1684}"/>
              </a:ext>
            </a:extLst>
          </p:cNvPr>
          <p:cNvSpPr/>
          <p:nvPr/>
        </p:nvSpPr>
        <p:spPr>
          <a:xfrm>
            <a:off x="4097387" y="4951533"/>
            <a:ext cx="182880" cy="228600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829F5DD7-2D86-EB6F-64CD-95D7319488A3}"/>
              </a:ext>
            </a:extLst>
          </p:cNvPr>
          <p:cNvSpPr/>
          <p:nvPr/>
        </p:nvSpPr>
        <p:spPr>
          <a:xfrm>
            <a:off x="10000150" y="3145086"/>
            <a:ext cx="182880" cy="228600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A8AD7FD8-FA94-8C6D-E034-EEB33AE88ED8}"/>
              </a:ext>
            </a:extLst>
          </p:cNvPr>
          <p:cNvSpPr/>
          <p:nvPr/>
        </p:nvSpPr>
        <p:spPr>
          <a:xfrm>
            <a:off x="8039718" y="2267235"/>
            <a:ext cx="182880" cy="228600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AD7A82D0-F9F1-C84F-01F5-1937E61941DF}"/>
              </a:ext>
            </a:extLst>
          </p:cNvPr>
          <p:cNvSpPr/>
          <p:nvPr/>
        </p:nvSpPr>
        <p:spPr>
          <a:xfrm>
            <a:off x="6098636" y="1352221"/>
            <a:ext cx="182880" cy="228600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8D864B-0264-76B8-856E-00F4D12B72E1}"/>
              </a:ext>
            </a:extLst>
          </p:cNvPr>
          <p:cNvSpPr/>
          <p:nvPr/>
        </p:nvSpPr>
        <p:spPr>
          <a:xfrm>
            <a:off x="2292498" y="138007"/>
            <a:ext cx="1596462" cy="1442814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IDK if I believe in .</a:t>
            </a:r>
            <a:r>
              <a:rPr lang="en-US" sz="1100" spc="-20" err="1"/>
              <a:t>mds</a:t>
            </a:r>
            <a:r>
              <a:rPr lang="en-US" sz="1100" spc="-20"/>
              <a:t> as the future, at least not if they’re not eventually aggregated and </a:t>
            </a:r>
            <a:r>
              <a:rPr lang="en-US" sz="1100" spc="-20" err="1"/>
              <a:t>ecrypted</a:t>
            </a:r>
            <a:r>
              <a:rPr lang="en-US" sz="1100" spc="-20"/>
              <a:t>  too vulnerable to hacking for special sauce, no?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AB7647-4B9B-52EC-DF4A-F3B7BF8B38B9}"/>
              </a:ext>
            </a:extLst>
          </p:cNvPr>
          <p:cNvSpPr/>
          <p:nvPr/>
        </p:nvSpPr>
        <p:spPr>
          <a:xfrm>
            <a:off x="-472609" y="1352221"/>
            <a:ext cx="1596462" cy="393538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What does this mean / how does this work?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5D3A4D-CDC5-6CB2-EF9F-EB587CB00970}"/>
              </a:ext>
            </a:extLst>
          </p:cNvPr>
          <p:cNvSpPr/>
          <p:nvPr/>
        </p:nvSpPr>
        <p:spPr>
          <a:xfrm>
            <a:off x="4289888" y="2238805"/>
            <a:ext cx="1594045" cy="1089016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I’d be curious if anyone would answer yest to this / how do we write it so people know to recognize it in themselves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54C5AD-4DB3-8022-C977-EB8836652CA4}"/>
              </a:ext>
            </a:extLst>
          </p:cNvPr>
          <p:cNvSpPr/>
          <p:nvPr/>
        </p:nvSpPr>
        <p:spPr>
          <a:xfrm>
            <a:off x="8604597" y="2205027"/>
            <a:ext cx="2077248" cy="605381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How do we differentiate between people using high-reasoning for everything?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9D1329-BC64-C209-C307-EB073CE09B0E}"/>
              </a:ext>
            </a:extLst>
          </p:cNvPr>
          <p:cNvSpPr/>
          <p:nvPr/>
        </p:nvSpPr>
        <p:spPr>
          <a:xfrm>
            <a:off x="3804894" y="3895129"/>
            <a:ext cx="2158592" cy="724220"/>
          </a:xfrm>
          <a:prstGeom prst="rect">
            <a:avLst/>
          </a:prstGeom>
          <a:solidFill>
            <a:srgbClr val="FF40FF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This makes me wonder about rollbacks and / or instant halts – i.e. if the error rate goes too high is there more risk management you can do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4C419F-F873-E08E-2156-89CBD853E568}"/>
              </a:ext>
            </a:extLst>
          </p:cNvPr>
          <p:cNvSpPr/>
          <p:nvPr/>
        </p:nvSpPr>
        <p:spPr>
          <a:xfrm>
            <a:off x="3036277" y="0"/>
            <a:ext cx="4738525" cy="780975"/>
          </a:xfrm>
          <a:prstGeom prst="rect">
            <a:avLst/>
          </a:prstGeom>
          <a:solidFill>
            <a:srgbClr val="00B0F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Saved sticky version – WIP slide is below</a:t>
            </a:r>
          </a:p>
        </p:txBody>
      </p:sp>
    </p:spTree>
    <p:extLst>
      <p:ext uri="{BB962C8B-B14F-4D97-AF65-F5344CB8AC3E}">
        <p14:creationId xmlns:p14="http://schemas.microsoft.com/office/powerpoint/2010/main" val="1056511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07B2A-0246-64F9-2FBD-44DDCD7F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38">
            <a:extLst>
              <a:ext uri="{FF2B5EF4-FFF2-40B4-BE49-F238E27FC236}">
                <a16:creationId xmlns:a16="http://schemas.microsoft.com/office/drawing/2014/main" id="{8563C3F5-21A0-D8FC-50A8-DA9514DE004D}"/>
              </a:ext>
            </a:extLst>
          </p:cNvPr>
          <p:cNvSpPr/>
          <p:nvPr/>
        </p:nvSpPr>
        <p:spPr>
          <a:xfrm>
            <a:off x="10036337" y="5561543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Limit token burn until definitive value realization</a:t>
            </a:r>
          </a:p>
        </p:txBody>
      </p:sp>
      <p:sp>
        <p:nvSpPr>
          <p:cNvPr id="20" name="Rounded Rectangle 38">
            <a:extLst>
              <a:ext uri="{FF2B5EF4-FFF2-40B4-BE49-F238E27FC236}">
                <a16:creationId xmlns:a16="http://schemas.microsoft.com/office/drawing/2014/main" id="{86F10EA8-FD81-5B5E-6A78-332BB31851A7}"/>
              </a:ext>
            </a:extLst>
          </p:cNvPr>
          <p:cNvSpPr/>
          <p:nvPr/>
        </p:nvSpPr>
        <p:spPr>
          <a:xfrm>
            <a:off x="10036337" y="35432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Defined junction of output review by human  vs multiple/other LLMs</a:t>
            </a:r>
          </a:p>
        </p:txBody>
      </p:sp>
      <p:sp>
        <p:nvSpPr>
          <p:cNvPr id="13" name="Rounded Rectangle 43">
            <a:extLst>
              <a:ext uri="{FF2B5EF4-FFF2-40B4-BE49-F238E27FC236}">
                <a16:creationId xmlns:a16="http://schemas.microsoft.com/office/drawing/2014/main" id="{759AF1AE-1CE7-1801-E719-1B1501515FA4}"/>
              </a:ext>
            </a:extLst>
          </p:cNvPr>
          <p:cNvSpPr/>
          <p:nvPr/>
        </p:nvSpPr>
        <p:spPr>
          <a:xfrm>
            <a:off x="8102024" y="3544536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Coordination chain and roles are one query, pushing oversight up</a:t>
            </a:r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305E5-2F9F-09FB-6EDE-25E8E3C1175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305E5-2F9F-09FB-6EDE-25E8E3C117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F63069A-A849-1D70-39F3-D00EBAFCD431}"/>
              </a:ext>
            </a:extLst>
          </p:cNvPr>
          <p:cNvSpPr/>
          <p:nvPr/>
        </p:nvSpPr>
        <p:spPr>
          <a:xfrm>
            <a:off x="2217817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Middle-management layer reduced as coordination shifts up</a:t>
            </a:r>
            <a:endParaRPr lang="en-US" sz="1100" b="1" spc="-2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3B8F58F-37FB-C2E2-D202-C21F642E2888}"/>
              </a:ext>
            </a:extLst>
          </p:cNvPr>
          <p:cNvSpPr/>
          <p:nvPr/>
        </p:nvSpPr>
        <p:spPr>
          <a:xfrm>
            <a:off x="4152895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Older functions merging and roles being redesigned</a:t>
            </a:r>
            <a:endParaRPr lang="en-US" sz="1100" b="1" spc="-2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69FBECF-968C-B0CD-01E3-D1FD037A8877}"/>
              </a:ext>
            </a:extLst>
          </p:cNvPr>
          <p:cNvSpPr/>
          <p:nvPr/>
        </p:nvSpPr>
        <p:spPr>
          <a:xfrm>
            <a:off x="282739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Smaller team</a:t>
            </a:r>
            <a:br>
              <a:rPr lang="en-US" sz="1100" spc="-20"/>
            </a:br>
            <a:r>
              <a:rPr lang="en-US" sz="1100" spc="-20"/>
              <a:t>(“1 engineer builds”)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A0698-F499-EE94-6B21-09F0C45D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Frontier Firm Traits | Operating Capabilities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7C8FE-C8F9-F406-38A7-55CA29E9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&amp;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28487-5105-0AE9-1FD0-4DC79D42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F1F-AAF4-42C8-8B76-672AEDF4D6A3}" type="slidenum">
              <a:rPr lang="en-GB" smtClean="0"/>
              <a:pPr/>
              <a:t>40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253C41-D7DA-ACD6-6C68-8F898080E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38F5D-92FA-A1D1-F05A-DF999EEDE284}"/>
              </a:ext>
            </a:extLst>
          </p:cNvPr>
          <p:cNvSpPr txBox="1"/>
          <p:nvPr/>
        </p:nvSpPr>
        <p:spPr>
          <a:xfrm>
            <a:off x="970671" y="-32355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endParaRPr lang="en-US" sz="2400" spc="-2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73F53A-E3ED-8957-E978-2A9F667DF5DF}"/>
              </a:ext>
            </a:extLst>
          </p:cNvPr>
          <p:cNvSpPr txBox="1"/>
          <p:nvPr/>
        </p:nvSpPr>
        <p:spPr>
          <a:xfrm>
            <a:off x="264691" y="947749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Organization structure &amp; composition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5938CD3-B96B-E632-ADA1-75001033EA1F}"/>
              </a:ext>
            </a:extLst>
          </p:cNvPr>
          <p:cNvSpPr/>
          <p:nvPr/>
        </p:nvSpPr>
        <p:spPr>
          <a:xfrm>
            <a:off x="2217817" y="353926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AI fluency requirement for candidates and recruiters</a:t>
            </a:r>
            <a:endParaRPr lang="en-US" sz="1100" b="1" spc="-2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98E30D8-71EB-2F91-1041-8407EFD17E45}"/>
              </a:ext>
            </a:extLst>
          </p:cNvPr>
          <p:cNvSpPr/>
          <p:nvPr/>
        </p:nvSpPr>
        <p:spPr>
          <a:xfrm>
            <a:off x="4188991" y="353926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AI changing roles without reputation risk or customer trust 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6054C1E-1DD1-FB8B-7B9C-466A93DA5E75}"/>
              </a:ext>
            </a:extLst>
          </p:cNvPr>
          <p:cNvSpPr/>
          <p:nvPr/>
        </p:nvSpPr>
        <p:spPr>
          <a:xfrm>
            <a:off x="318835" y="353926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Interviews with live build of AI or plan.md </a:t>
            </a:r>
            <a:endParaRPr lang="en-US" sz="1100" b="1" spc="-2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768AA9-0099-E7B3-C136-4454247701CB}"/>
              </a:ext>
            </a:extLst>
          </p:cNvPr>
          <p:cNvSpPr txBox="1"/>
          <p:nvPr/>
        </p:nvSpPr>
        <p:spPr>
          <a:xfrm>
            <a:off x="264691" y="3070036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Talent readiness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F079946-F8F6-10DE-0848-15C1FF376C25}"/>
              </a:ext>
            </a:extLst>
          </p:cNvPr>
          <p:cNvSpPr/>
          <p:nvPr/>
        </p:nvSpPr>
        <p:spPr>
          <a:xfrm>
            <a:off x="2217817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Promoted on AI leverage AND on helping others scale</a:t>
            </a:r>
            <a:endParaRPr lang="en-US" sz="1100" b="1" spc="-2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12F532F-31C1-C2D2-12EF-3CA7E478AAFA}"/>
              </a:ext>
            </a:extLst>
          </p:cNvPr>
          <p:cNvSpPr/>
          <p:nvPr/>
        </p:nvSpPr>
        <p:spPr>
          <a:xfrm>
            <a:off x="4188991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Token consumption is secondary to orchestration efficiency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0567A96-736D-66CB-DEDE-7C686AC82CE0}"/>
              </a:ext>
            </a:extLst>
          </p:cNvPr>
          <p:cNvSpPr/>
          <p:nvPr/>
        </p:nvSpPr>
        <p:spPr>
          <a:xfrm>
            <a:off x="318835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AI leverage as explicit review dimension</a:t>
            </a:r>
            <a:endParaRPr lang="en-US" sz="1100" b="1" spc="-2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E2FF27-F7F5-EEA3-E733-D91AC0177903}"/>
              </a:ext>
            </a:extLst>
          </p:cNvPr>
          <p:cNvSpPr txBox="1"/>
          <p:nvPr/>
        </p:nvSpPr>
        <p:spPr>
          <a:xfrm>
            <a:off x="264691" y="5092320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Performance management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36FDB1F-F1B0-019A-3BE3-C4DC9BB9A2E1}"/>
              </a:ext>
            </a:extLst>
          </p:cNvPr>
          <p:cNvSpPr/>
          <p:nvPr/>
        </p:nvSpPr>
        <p:spPr>
          <a:xfrm>
            <a:off x="10036337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Diagnostic deliberation forums</a:t>
            </a:r>
            <a:br>
              <a:rPr lang="en-US" sz="1100"/>
            </a:br>
            <a:r>
              <a:rPr lang="en-US" sz="1100"/>
              <a:t>(“AI doctor meeting”)</a:t>
            </a:r>
            <a:endParaRPr lang="en-US" sz="1100" b="1" spc="-2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0C94978-3927-762B-EF4F-C0B9A7594884}"/>
              </a:ext>
            </a:extLst>
          </p:cNvPr>
          <p:cNvSpPr/>
          <p:nvPr/>
        </p:nvSpPr>
        <p:spPr>
          <a:xfrm>
            <a:off x="8102024" y="1424223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Project postmortems placed into a </a:t>
            </a:r>
            <a:r>
              <a:rPr lang="en-US" sz="1100" spc="-20" err="1"/>
              <a:t>monorepo</a:t>
            </a:r>
            <a:endParaRPr lang="en-US" sz="1100" spc="-20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3D479D7-7425-D39B-19CF-AF886E52C8AB}"/>
              </a:ext>
            </a:extLst>
          </p:cNvPr>
          <p:cNvSpPr/>
          <p:nvPr/>
        </p:nvSpPr>
        <p:spPr>
          <a:xfrm>
            <a:off x="6184233" y="141955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Failure tolerance and open sandboxing</a:t>
            </a:r>
            <a:endParaRPr lang="en-US" sz="1100" b="1" spc="-2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7531B2-DC4B-5D1E-1C8F-B8A6DBD02194}"/>
              </a:ext>
            </a:extLst>
          </p:cNvPr>
          <p:cNvSpPr txBox="1"/>
          <p:nvPr/>
        </p:nvSpPr>
        <p:spPr>
          <a:xfrm>
            <a:off x="6148900" y="944593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Review &amp; learning culture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F90441E-B302-91D1-5CF5-98DA57FBF910}"/>
              </a:ext>
            </a:extLst>
          </p:cNvPr>
          <p:cNvSpPr/>
          <p:nvPr/>
        </p:nvSpPr>
        <p:spPr>
          <a:xfrm>
            <a:off x="6184233" y="353926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Committer owns AI output</a:t>
            </a:r>
            <a:endParaRPr lang="en-US" sz="1100" b="1" spc="-2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6769D8-FC86-7151-9D85-BC51E7A32271}"/>
              </a:ext>
            </a:extLst>
          </p:cNvPr>
          <p:cNvSpPr txBox="1"/>
          <p:nvPr/>
        </p:nvSpPr>
        <p:spPr>
          <a:xfrm>
            <a:off x="6148898" y="3066880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Judgment &amp; accountability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C1858CC-2F83-6E1E-1630-E0C37311EB15}"/>
              </a:ext>
            </a:extLst>
          </p:cNvPr>
          <p:cNvSpPr/>
          <p:nvPr/>
        </p:nvSpPr>
        <p:spPr>
          <a:xfrm>
            <a:off x="8102024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Value capture shifts from T&amp;M to outcome-based AI rate models</a:t>
            </a:r>
            <a:endParaRPr lang="en-US" sz="1100" b="1" spc="-20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3C82303-550E-80FE-1C70-A59CD2BE6417}"/>
              </a:ext>
            </a:extLst>
          </p:cNvPr>
          <p:cNvSpPr/>
          <p:nvPr/>
        </p:nvSpPr>
        <p:spPr>
          <a:xfrm>
            <a:off x="6184233" y="556154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AI sits in R&amp;D, service, and information layers within total portfolio</a:t>
            </a:r>
            <a:endParaRPr lang="en-US" sz="1100" spc="-2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9981D8-2257-F416-5524-20CD0D316432}"/>
              </a:ext>
            </a:extLst>
          </p:cNvPr>
          <p:cNvSpPr txBox="1"/>
          <p:nvPr/>
        </p:nvSpPr>
        <p:spPr>
          <a:xfrm>
            <a:off x="6148898" y="5089164"/>
            <a:ext cx="5678424" cy="340519"/>
          </a:xfrm>
          <a:prstGeom prst="round2Diag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AI economics &amp; value</a:t>
            </a:r>
          </a:p>
        </p:txBody>
      </p:sp>
      <p:sp>
        <p:nvSpPr>
          <p:cNvPr id="66" name="Rounded Rectangle 25">
            <a:extLst>
              <a:ext uri="{FF2B5EF4-FFF2-40B4-BE49-F238E27FC236}">
                <a16:creationId xmlns:a16="http://schemas.microsoft.com/office/drawing/2014/main" id="{EE31926C-BBCB-9A85-A7B9-E791F6C2F974}"/>
              </a:ext>
            </a:extLst>
          </p:cNvPr>
          <p:cNvSpPr/>
          <p:nvPr/>
        </p:nvSpPr>
        <p:spPr>
          <a:xfrm>
            <a:off x="4188990" y="2183454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Focus on “no silos”</a:t>
            </a:r>
            <a:endParaRPr lang="en-US" sz="1100" b="1" spc="-20"/>
          </a:p>
        </p:txBody>
      </p:sp>
      <p:sp>
        <p:nvSpPr>
          <p:cNvPr id="67" name="Rounded Rectangle 25">
            <a:extLst>
              <a:ext uri="{FF2B5EF4-FFF2-40B4-BE49-F238E27FC236}">
                <a16:creationId xmlns:a16="http://schemas.microsoft.com/office/drawing/2014/main" id="{51C0B5C5-4173-85B1-C414-4F035772D3A2}"/>
              </a:ext>
            </a:extLst>
          </p:cNvPr>
          <p:cNvSpPr/>
          <p:nvPr/>
        </p:nvSpPr>
        <p:spPr>
          <a:xfrm>
            <a:off x="2217816" y="2181361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Creation of AI steering committees (risk, strategy, and/or cost)</a:t>
            </a: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005A8901-0336-CC48-2846-84CEEB691489}"/>
              </a:ext>
            </a:extLst>
          </p:cNvPr>
          <p:cNvSpPr/>
          <p:nvPr/>
        </p:nvSpPr>
        <p:spPr>
          <a:xfrm>
            <a:off x="10372228" y="602352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1AFAEE-3674-DDDE-BF31-B9DA477F4A04}"/>
              </a:ext>
            </a:extLst>
          </p:cNvPr>
          <p:cNvSpPr txBox="1"/>
          <p:nvPr/>
        </p:nvSpPr>
        <p:spPr>
          <a:xfrm>
            <a:off x="10649371" y="622805"/>
            <a:ext cx="2220966" cy="2956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sz="1200" i="1" spc="-20"/>
              <a:t>External research</a:t>
            </a:r>
          </a:p>
        </p:txBody>
      </p:sp>
      <p:sp>
        <p:nvSpPr>
          <p:cNvPr id="12" name="Rounded Rectangle 47">
            <a:extLst>
              <a:ext uri="{FF2B5EF4-FFF2-40B4-BE49-F238E27FC236}">
                <a16:creationId xmlns:a16="http://schemas.microsoft.com/office/drawing/2014/main" id="{40770572-2406-BB17-316F-1E1E33D50E03}"/>
              </a:ext>
            </a:extLst>
          </p:cNvPr>
          <p:cNvSpPr/>
          <p:nvPr/>
        </p:nvSpPr>
        <p:spPr>
          <a:xfrm>
            <a:off x="6184234" y="43118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Higher quality threshold over internal for customer-facing AI</a:t>
            </a:r>
            <a:endParaRPr lang="en-US" sz="1100" b="1" spc="-20"/>
          </a:p>
        </p:txBody>
      </p:sp>
      <p:sp>
        <p:nvSpPr>
          <p:cNvPr id="70" name="Rounded Rectangle 47">
            <a:extLst>
              <a:ext uri="{FF2B5EF4-FFF2-40B4-BE49-F238E27FC236}">
                <a16:creationId xmlns:a16="http://schemas.microsoft.com/office/drawing/2014/main" id="{16DF03FA-9AE2-27F2-E9CE-E194B1CC7A0B}"/>
              </a:ext>
            </a:extLst>
          </p:cNvPr>
          <p:cNvSpPr/>
          <p:nvPr/>
        </p:nvSpPr>
        <p:spPr>
          <a:xfrm>
            <a:off x="8102024" y="43118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Rebuilding workflows rather than AI taking over existing workflows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528FFE9F-28F6-3466-C2D7-5C4C076D14C0}"/>
              </a:ext>
            </a:extLst>
          </p:cNvPr>
          <p:cNvSpPr/>
          <p:nvPr/>
        </p:nvSpPr>
        <p:spPr>
          <a:xfrm>
            <a:off x="2103418" y="2052656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76" name="Rounded Rectangle 25">
            <a:extLst>
              <a:ext uri="{FF2B5EF4-FFF2-40B4-BE49-F238E27FC236}">
                <a16:creationId xmlns:a16="http://schemas.microsoft.com/office/drawing/2014/main" id="{491F6D6D-2337-6F72-57B7-2CFB1C337340}"/>
              </a:ext>
            </a:extLst>
          </p:cNvPr>
          <p:cNvSpPr/>
          <p:nvPr/>
        </p:nvSpPr>
        <p:spPr>
          <a:xfrm>
            <a:off x="287700" y="218941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AI champions who push adoption</a:t>
            </a:r>
          </a:p>
        </p:txBody>
      </p:sp>
      <p:sp>
        <p:nvSpPr>
          <p:cNvPr id="77" name="Diamond 76">
            <a:extLst>
              <a:ext uri="{FF2B5EF4-FFF2-40B4-BE49-F238E27FC236}">
                <a16:creationId xmlns:a16="http://schemas.microsoft.com/office/drawing/2014/main" id="{FC66B927-8DC2-625A-6E0A-102AB80E5203}"/>
              </a:ext>
            </a:extLst>
          </p:cNvPr>
          <p:cNvSpPr/>
          <p:nvPr/>
        </p:nvSpPr>
        <p:spPr>
          <a:xfrm>
            <a:off x="174066" y="2060705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16" name="Rounded Rectangle 37">
            <a:extLst>
              <a:ext uri="{FF2B5EF4-FFF2-40B4-BE49-F238E27FC236}">
                <a16:creationId xmlns:a16="http://schemas.microsoft.com/office/drawing/2014/main" id="{C4633031-C23D-E24F-35C6-2A6EE543BC47}"/>
              </a:ext>
            </a:extLst>
          </p:cNvPr>
          <p:cNvSpPr/>
          <p:nvPr/>
        </p:nvSpPr>
        <p:spPr>
          <a:xfrm>
            <a:off x="6184234" y="2189643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Remove older / invalidated designs for clean knowledge base</a:t>
            </a:r>
          </a:p>
        </p:txBody>
      </p:sp>
      <p:sp>
        <p:nvSpPr>
          <p:cNvPr id="79" name="Rounded Rectangle 37">
            <a:extLst>
              <a:ext uri="{FF2B5EF4-FFF2-40B4-BE49-F238E27FC236}">
                <a16:creationId xmlns:a16="http://schemas.microsoft.com/office/drawing/2014/main" id="{4BD54CE1-E48D-C134-79DC-3A1CB44FC063}"/>
              </a:ext>
            </a:extLst>
          </p:cNvPr>
          <p:cNvSpPr/>
          <p:nvPr/>
        </p:nvSpPr>
        <p:spPr>
          <a:xfrm>
            <a:off x="8102024" y="2191736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Review and codification of “tribal” knowledge</a:t>
            </a:r>
          </a:p>
        </p:txBody>
      </p:sp>
      <p:sp>
        <p:nvSpPr>
          <p:cNvPr id="80" name="Diamond 79">
            <a:extLst>
              <a:ext uri="{FF2B5EF4-FFF2-40B4-BE49-F238E27FC236}">
                <a16:creationId xmlns:a16="http://schemas.microsoft.com/office/drawing/2014/main" id="{8EC0D84D-5F2A-E520-87B1-BED65ABAE461}"/>
              </a:ext>
            </a:extLst>
          </p:cNvPr>
          <p:cNvSpPr/>
          <p:nvPr/>
        </p:nvSpPr>
        <p:spPr>
          <a:xfrm>
            <a:off x="7988390" y="2053044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73" name="Rounded Rectangle 27">
            <a:extLst>
              <a:ext uri="{FF2B5EF4-FFF2-40B4-BE49-F238E27FC236}">
                <a16:creationId xmlns:a16="http://schemas.microsoft.com/office/drawing/2014/main" id="{C592DE15-54CF-8BFE-5E23-45CDAD767E01}"/>
              </a:ext>
            </a:extLst>
          </p:cNvPr>
          <p:cNvSpPr/>
          <p:nvPr/>
        </p:nvSpPr>
        <p:spPr>
          <a:xfrm>
            <a:off x="410933" y="43118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/>
              <a:t>Classifying skills and roles by replaceability</a:t>
            </a:r>
            <a:endParaRPr lang="en-US" sz="1100" b="1" spc="-20"/>
          </a:p>
        </p:txBody>
      </p:sp>
      <p:sp>
        <p:nvSpPr>
          <p:cNvPr id="81" name="Rounded Rectangle 37">
            <a:extLst>
              <a:ext uri="{FF2B5EF4-FFF2-40B4-BE49-F238E27FC236}">
                <a16:creationId xmlns:a16="http://schemas.microsoft.com/office/drawing/2014/main" id="{D1068406-265A-4A22-CA1F-889A18D5D1B6}"/>
              </a:ext>
            </a:extLst>
          </p:cNvPr>
          <p:cNvSpPr/>
          <p:nvPr/>
        </p:nvSpPr>
        <p:spPr>
          <a:xfrm>
            <a:off x="2309915" y="4311840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Novel roles focused on orchestration and governance</a:t>
            </a:r>
          </a:p>
        </p:txBody>
      </p:sp>
      <p:sp>
        <p:nvSpPr>
          <p:cNvPr id="71" name="Diamond 70">
            <a:extLst>
              <a:ext uri="{FF2B5EF4-FFF2-40B4-BE49-F238E27FC236}">
                <a16:creationId xmlns:a16="http://schemas.microsoft.com/office/drawing/2014/main" id="{2FCC6A8A-2727-1BEE-C569-4806E1C39B79}"/>
              </a:ext>
            </a:extLst>
          </p:cNvPr>
          <p:cNvSpPr/>
          <p:nvPr/>
        </p:nvSpPr>
        <p:spPr>
          <a:xfrm>
            <a:off x="7996494" y="4180172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74" name="Diamond 73">
            <a:extLst>
              <a:ext uri="{FF2B5EF4-FFF2-40B4-BE49-F238E27FC236}">
                <a16:creationId xmlns:a16="http://schemas.microsoft.com/office/drawing/2014/main" id="{E5773551-5ABF-125C-FF8B-B7B6019E1455}"/>
              </a:ext>
            </a:extLst>
          </p:cNvPr>
          <p:cNvSpPr/>
          <p:nvPr/>
        </p:nvSpPr>
        <p:spPr>
          <a:xfrm>
            <a:off x="318835" y="4183149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sp>
        <p:nvSpPr>
          <p:cNvPr id="85" name="Diamond 84">
            <a:extLst>
              <a:ext uri="{FF2B5EF4-FFF2-40B4-BE49-F238E27FC236}">
                <a16:creationId xmlns:a16="http://schemas.microsoft.com/office/drawing/2014/main" id="{C291E18A-EE56-0E92-5746-87DC43804733}"/>
              </a:ext>
            </a:extLst>
          </p:cNvPr>
          <p:cNvSpPr/>
          <p:nvPr/>
        </p:nvSpPr>
        <p:spPr>
          <a:xfrm>
            <a:off x="2196281" y="4173181"/>
            <a:ext cx="227268" cy="273508"/>
          </a:xfrm>
          <a:prstGeom prst="diamond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endParaRPr lang="en-US" sz="1100" b="1" spc="-2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204C583-A646-B488-F225-A9523610E311}"/>
              </a:ext>
            </a:extLst>
          </p:cNvPr>
          <p:cNvCxnSpPr>
            <a:cxnSpLocks/>
          </p:cNvCxnSpPr>
          <p:nvPr/>
        </p:nvCxnSpPr>
        <p:spPr>
          <a:xfrm>
            <a:off x="10947603" y="97794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544B17C-1EEF-B4DB-9B58-28E676C0BAE2}"/>
              </a:ext>
            </a:extLst>
          </p:cNvPr>
          <p:cNvCxnSpPr>
            <a:cxnSpLocks/>
          </p:cNvCxnSpPr>
          <p:nvPr/>
        </p:nvCxnSpPr>
        <p:spPr>
          <a:xfrm>
            <a:off x="10947603" y="320532"/>
            <a:ext cx="112541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3751569-AB0B-4F3B-9F20-965A28BA8593}"/>
              </a:ext>
            </a:extLst>
          </p:cNvPr>
          <p:cNvSpPr txBox="1"/>
          <p:nvPr/>
        </p:nvSpPr>
        <p:spPr>
          <a:xfrm>
            <a:off x="10947603" y="97794"/>
            <a:ext cx="1125415" cy="2227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1800"/>
              </a:spcBef>
            </a:pPr>
            <a:r>
              <a:rPr lang="en-US" sz="1200" b="1" spc="-20">
                <a:solidFill>
                  <a:srgbClr val="C00000"/>
                </a:solidFill>
              </a:rPr>
              <a:t>PRELIMINARY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004DC2-2933-5DD2-E365-6734E03BA385}"/>
              </a:ext>
            </a:extLst>
          </p:cNvPr>
          <p:cNvSpPr/>
          <p:nvPr/>
        </p:nvSpPr>
        <p:spPr>
          <a:xfrm>
            <a:off x="4339490" y="2788197"/>
            <a:ext cx="1844065" cy="650303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Feels temporary / like a </a:t>
            </a:r>
            <a:r>
              <a:rPr lang="en-US" sz="1100" spc="-20" err="1"/>
              <a:t>waystop</a:t>
            </a:r>
            <a:r>
              <a:rPr lang="en-US" sz="1100" spc="-20"/>
              <a:t>… Especially at a large non-SW enterprise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72F9AB-6203-9BF4-F04B-344285C70E13}"/>
              </a:ext>
            </a:extLst>
          </p:cNvPr>
          <p:cNvSpPr/>
          <p:nvPr/>
        </p:nvSpPr>
        <p:spPr>
          <a:xfrm>
            <a:off x="3863199" y="6522691"/>
            <a:ext cx="2002801" cy="1316034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Aren’t people going back on this? What are the different options for how they might measure and whether we believe in them? Most people I talk to agree token usage is a bad proxy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CEE657-2E78-EE28-0AA0-8980364D85F5}"/>
              </a:ext>
            </a:extLst>
          </p:cNvPr>
          <p:cNvSpPr/>
          <p:nvPr/>
        </p:nvSpPr>
        <p:spPr>
          <a:xfrm>
            <a:off x="7240231" y="6580985"/>
            <a:ext cx="1265951" cy="650303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How does this work if you don’t make SW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A72290-2A97-A7DB-AE6A-F0073C2AA8B7}"/>
              </a:ext>
            </a:extLst>
          </p:cNvPr>
          <p:cNvSpPr/>
          <p:nvPr/>
        </p:nvSpPr>
        <p:spPr>
          <a:xfrm>
            <a:off x="2180220" y="-10881"/>
            <a:ext cx="1891183" cy="127163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Compression or just shift? I’d be curious how this translates to enterprise where you might see more people work and less coordination work, but the trust layers are still </a:t>
            </a:r>
            <a:r>
              <a:rPr lang="en-US" sz="1100" spc="-20" err="1"/>
              <a:t>impt</a:t>
            </a:r>
            <a:endParaRPr lang="en-US" sz="1100" spc="-2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9E4BA4-5171-CCC0-B20B-0AF448ED6C43}"/>
              </a:ext>
            </a:extLst>
          </p:cNvPr>
          <p:cNvSpPr/>
          <p:nvPr/>
        </p:nvSpPr>
        <p:spPr>
          <a:xfrm>
            <a:off x="8322938" y="2789434"/>
            <a:ext cx="1774660" cy="649066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MM roles or coordination roles (which are sometimes in MM?)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90BA6A-EF45-7BF7-FA37-EE33334C0153}"/>
              </a:ext>
            </a:extLst>
          </p:cNvPr>
          <p:cNvSpPr/>
          <p:nvPr/>
        </p:nvSpPr>
        <p:spPr>
          <a:xfrm>
            <a:off x="-1569477" y="3912835"/>
            <a:ext cx="1705275" cy="673351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What about teaching existing staff?</a:t>
            </a: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A63D0706-7E1C-84A2-0FB1-3817157E9CF5}"/>
              </a:ext>
            </a:extLst>
          </p:cNvPr>
          <p:cNvSpPr/>
          <p:nvPr/>
        </p:nvSpPr>
        <p:spPr>
          <a:xfrm>
            <a:off x="4188989" y="4309935"/>
            <a:ext cx="1774659" cy="5616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Curriculums per function to increase AI literacy for reskilling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F1054-40F4-21B8-3D67-5553C0584C12}"/>
              </a:ext>
            </a:extLst>
          </p:cNvPr>
          <p:cNvSpPr/>
          <p:nvPr/>
        </p:nvSpPr>
        <p:spPr>
          <a:xfrm>
            <a:off x="7319085" y="174541"/>
            <a:ext cx="1891183" cy="565025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Revised based on recent interviews and research</a:t>
            </a:r>
            <a:br>
              <a:rPr lang="en-US" sz="1100" spc="-20"/>
            </a:br>
            <a:r>
              <a:rPr lang="en-US" sz="1100" spc="-20"/>
              <a:t>-MC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ACD7B1-A9E2-C9D4-585E-EC8DCFF3075D}"/>
              </a:ext>
            </a:extLst>
          </p:cNvPr>
          <p:cNvSpPr/>
          <p:nvPr/>
        </p:nvSpPr>
        <p:spPr>
          <a:xfrm>
            <a:off x="9141969" y="29318"/>
            <a:ext cx="2997733" cy="821828"/>
          </a:xfrm>
          <a:prstGeom prst="rect">
            <a:avLst/>
          </a:prstGeom>
          <a:solidFill>
            <a:srgbClr val="FF40FF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Thanks – can you given me an (n) of observations on each of these on a </a:t>
            </a:r>
            <a:r>
              <a:rPr lang="en-US" sz="1100" spc="-20" err="1"/>
              <a:t>sep</a:t>
            </a:r>
            <a:r>
              <a:rPr lang="en-US" sz="1100" spc="-20"/>
              <a:t> slide just so I can understand strength of signal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1C8804-BB28-E78D-F9E3-78BA1E0BC425}"/>
              </a:ext>
            </a:extLst>
          </p:cNvPr>
          <p:cNvSpPr/>
          <p:nvPr/>
        </p:nvSpPr>
        <p:spPr>
          <a:xfrm>
            <a:off x="8423479" y="5910251"/>
            <a:ext cx="1774659" cy="1201197"/>
          </a:xfrm>
          <a:prstGeom prst="rect">
            <a:avLst/>
          </a:prstGeom>
          <a:solidFill>
            <a:srgbClr val="FF40FF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Do we actually see this in market? This seems like a SaaS construct not a real payment construct – it’s pretty hard to instantiate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0848B7-E60B-556A-4378-35B50F9F0D01}"/>
              </a:ext>
            </a:extLst>
          </p:cNvPr>
          <p:cNvSpPr/>
          <p:nvPr/>
        </p:nvSpPr>
        <p:spPr>
          <a:xfrm>
            <a:off x="5473820" y="6052709"/>
            <a:ext cx="2158592" cy="947749"/>
          </a:xfrm>
          <a:prstGeom prst="rect">
            <a:avLst/>
          </a:prstGeom>
          <a:solidFill>
            <a:srgbClr val="FF40FF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What about like, finance? Does that come earlier or later?</a:t>
            </a:r>
          </a:p>
          <a:p>
            <a:pPr algn="ctr"/>
            <a:r>
              <a:rPr lang="en-US" sz="1100" spc="-20"/>
              <a:t>Also, how can we state this when we’ve not talked to anyone doing it?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A37515A-F4D6-2831-FD11-0D84D2E1C299}"/>
              </a:ext>
            </a:extLst>
          </p:cNvPr>
          <p:cNvSpPr/>
          <p:nvPr/>
        </p:nvSpPr>
        <p:spPr>
          <a:xfrm>
            <a:off x="2117948" y="2384549"/>
            <a:ext cx="2158592" cy="947749"/>
          </a:xfrm>
          <a:prstGeom prst="rect">
            <a:avLst/>
          </a:prstGeom>
          <a:solidFill>
            <a:srgbClr val="FF40FF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spc="-20"/>
              <a:t>Seems </a:t>
            </a:r>
            <a:r>
              <a:rPr lang="en-US" sz="1100" spc="-20" err="1"/>
              <a:t>kinda</a:t>
            </a:r>
            <a:r>
              <a:rPr lang="en-US" sz="1100" spc="-20"/>
              <a:t> basic / old-school… Is there something novel about how firms are doing this? What they target at, how they run, </a:t>
            </a:r>
            <a:r>
              <a:rPr lang="en-US" sz="1100" spc="-20" err="1"/>
              <a:t>etc</a:t>
            </a:r>
            <a:r>
              <a:rPr lang="en-US" sz="1100" spc="-20"/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873658-4AD3-4147-F05A-6990EFE2020A}"/>
              </a:ext>
            </a:extLst>
          </p:cNvPr>
          <p:cNvSpPr/>
          <p:nvPr/>
        </p:nvSpPr>
        <p:spPr>
          <a:xfrm>
            <a:off x="3036277" y="0"/>
            <a:ext cx="4738525" cy="780975"/>
          </a:xfrm>
          <a:prstGeom prst="rect">
            <a:avLst/>
          </a:prstGeom>
          <a:solidFill>
            <a:srgbClr val="00B0F0"/>
          </a:solidFill>
          <a:ln w="12700">
            <a:noFill/>
          </a:ln>
        </p:spPr>
        <p:txBody>
          <a:bodyPr wrap="square" lIns="144000" tIns="0" rIns="144000" bIns="0" rtlCol="0" anchor="ctr">
            <a:noAutofit/>
          </a:bodyPr>
          <a:lstStyle/>
          <a:p>
            <a:pPr algn="ctr"/>
            <a:r>
              <a:rPr lang="en-US" sz="1100" b="1" spc="-20"/>
              <a:t>Saved sticky version – WIP slide is below</a:t>
            </a:r>
          </a:p>
        </p:txBody>
      </p:sp>
    </p:spTree>
    <p:extLst>
      <p:ext uri="{BB962C8B-B14F-4D97-AF65-F5344CB8AC3E}">
        <p14:creationId xmlns:p14="http://schemas.microsoft.com/office/powerpoint/2010/main" val="42728439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69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cxypdgvb4UZFD0BMcyPG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vpE.lyvN5AlH0fVb.NJ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9u6qDN6FXy_x8o_8OWR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PhbunoIaX4rI69Z1nND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q4ou.QNAlTlKth.jWWAS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AhovpZ3fXzKwxp5CK.Z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u7IgpQOiaLIPvjgXQcx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Q2gGnqcMMy_FHKUQ_A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BwxDbRJoehnSga__0Q7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Woc4vS5Y_4Zrdjg.nXm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AMggaTnoCjWoKIdTyy5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eruJX35X24w4Qq7gxsAk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u7afIVHyXlNygxQHy5OG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98qEU_1W8KeqJbzq3Q3M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u0_q1prAMhuV4bf.7IJ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m846f_A0SoqF.5eVIDm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iwvlhQfZytvBUKLuJQq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nDgCb1gLfTg5GJRbKquY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6eqWQ_lIzJCD3oAr0jM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F01EGxFkyhRFTRhhDzG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Y2fjA94iQvkBs8I4Z5A0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a14fu9Dd5t1P1I7w7_P6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pgFfe1bnImq7MLPgi6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KNCfrSRdTZC2xSMHT1B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1">
  <a:themeElements>
    <a:clrScheme name="Custom 275">
      <a:dk1>
        <a:srgbClr val="050519"/>
      </a:dk1>
      <a:lt1>
        <a:srgbClr val="F4F4F4"/>
      </a:lt1>
      <a:dk2>
        <a:srgbClr val="050519"/>
      </a:dk2>
      <a:lt2>
        <a:srgbClr val="D0D0D0"/>
      </a:lt2>
      <a:accent1>
        <a:srgbClr val="050519"/>
      </a:accent1>
      <a:accent2>
        <a:srgbClr val="898989"/>
      </a:accent2>
      <a:accent3>
        <a:srgbClr val="5856FF"/>
      </a:accent3>
      <a:accent4>
        <a:srgbClr val="00A162"/>
      </a:accent4>
      <a:accent5>
        <a:srgbClr val="A2A2FF"/>
      </a:accent5>
      <a:accent6>
        <a:srgbClr val="00613B"/>
      </a:accent6>
      <a:hlink>
        <a:srgbClr val="050519"/>
      </a:hlink>
      <a:folHlink>
        <a:srgbClr val="05051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noFill/>
        </a:ln>
      </a:spPr>
      <a:bodyPr wrap="square" lIns="144000" tIns="0" rIns="144000" bIns="0" rtlCol="0" anchor="ctr">
        <a:noAutofit/>
      </a:bodyPr>
      <a:lstStyle>
        <a:defPPr algn="ctr">
          <a:defRPr sz="1100" b="1" spc="-20" dirty="0" smtClean="0"/>
        </a:defPPr>
      </a:lstStyle>
    </a:spDef>
    <a:lnDef>
      <a:spPr>
        <a:ln w="254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25000"/>
          </a:lnSpc>
          <a:spcBef>
            <a:spcPts val="1800"/>
          </a:spcBef>
          <a:defRPr sz="2400" spc="-2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BDDFAC9A-8A88-44CA-8EE4-C84FC390F49C}" vid="{014129C2-EE54-4970-8F4D-E53D91999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275">
    <a:dk1>
      <a:srgbClr val="050519"/>
    </a:dk1>
    <a:lt1>
      <a:srgbClr val="F4F4F4"/>
    </a:lt1>
    <a:dk2>
      <a:srgbClr val="050519"/>
    </a:dk2>
    <a:lt2>
      <a:srgbClr val="D0D0D0"/>
    </a:lt2>
    <a:accent1>
      <a:srgbClr val="050519"/>
    </a:accent1>
    <a:accent2>
      <a:srgbClr val="898989"/>
    </a:accent2>
    <a:accent3>
      <a:srgbClr val="5856FF"/>
    </a:accent3>
    <a:accent4>
      <a:srgbClr val="00A162"/>
    </a:accent4>
    <a:accent5>
      <a:srgbClr val="A2A2FF"/>
    </a:accent5>
    <a:accent6>
      <a:srgbClr val="00613B"/>
    </a:accent6>
    <a:hlink>
      <a:srgbClr val="050519"/>
    </a:hlink>
    <a:folHlink>
      <a:srgbClr val="050519"/>
    </a:folHlink>
  </a:clrScheme>
</a:themeOverride>
</file>

<file path=ppt/theme/themeOverride2.xml><?xml version="1.0" encoding="utf-8"?>
<a:themeOverride xmlns:a="http://schemas.openxmlformats.org/drawingml/2006/main">
  <a:clrScheme name="Custom 275">
    <a:dk1>
      <a:srgbClr val="050519"/>
    </a:dk1>
    <a:lt1>
      <a:srgbClr val="F4F4F4"/>
    </a:lt1>
    <a:dk2>
      <a:srgbClr val="050519"/>
    </a:dk2>
    <a:lt2>
      <a:srgbClr val="D0D0D0"/>
    </a:lt2>
    <a:accent1>
      <a:srgbClr val="050519"/>
    </a:accent1>
    <a:accent2>
      <a:srgbClr val="898989"/>
    </a:accent2>
    <a:accent3>
      <a:srgbClr val="5856FF"/>
    </a:accent3>
    <a:accent4>
      <a:srgbClr val="00A162"/>
    </a:accent4>
    <a:accent5>
      <a:srgbClr val="A2A2FF"/>
    </a:accent5>
    <a:accent6>
      <a:srgbClr val="00613B"/>
    </a:accent6>
    <a:hlink>
      <a:srgbClr val="050519"/>
    </a:hlink>
    <a:folHlink>
      <a:srgbClr val="050519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FB66351052954AB1A8B368687E95E4" ma:contentTypeVersion="10" ma:contentTypeDescription="Create a new document." ma:contentTypeScope="" ma:versionID="bce3d8661190e1c65efc2439a8b56802">
  <xsd:schema xmlns:xsd="http://www.w3.org/2001/XMLSchema" xmlns:xs="http://www.w3.org/2001/XMLSchema" xmlns:p="http://schemas.microsoft.com/office/2006/metadata/properties" xmlns:ns2="51ccb29e-369b-4746-a76c-dcc615c756ee" xmlns:ns3="a8e7e8c4-25bc-423c-8154-6d08623ea9d9" targetNamespace="http://schemas.microsoft.com/office/2006/metadata/properties" ma:root="true" ma:fieldsID="bcdb34f460c26ce3a35b1bece9482705" ns2:_="" ns3:_="">
    <xsd:import namespace="51ccb29e-369b-4746-a76c-dcc615c756ee"/>
    <xsd:import namespace="a8e7e8c4-25bc-423c-8154-6d08623ea9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cb29e-369b-4746-a76c-dcc615c756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5cc0d46-2a8c-4374-b109-8fe94f83d9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e7e8c4-25bc-423c-8154-6d08623ea9d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869b210-26dc-4f3a-9171-dc8281d522b9}" ma:internalName="TaxCatchAll" ma:showField="CatchAllData" ma:web="a8e7e8c4-25bc-423c-8154-6d08623ea9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e7e8c4-25bc-423c-8154-6d08623ea9d9" xsi:nil="true"/>
    <lcf76f155ced4ddcb4097134ff3c332f xmlns="51ccb29e-369b-4746-a76c-dcc615c756e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BCF08B-8400-41C2-A3E6-1CC2890DA158}">
  <ds:schemaRefs>
    <ds:schemaRef ds:uri="51ccb29e-369b-4746-a76c-dcc615c756ee"/>
    <ds:schemaRef ds:uri="a8e7e8c4-25bc-423c-8154-6d08623ea9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1CDC23B-A0B7-42CB-B587-8E2F7DB6E69F}">
  <ds:schemaRefs>
    <ds:schemaRef ds:uri="51ccb29e-369b-4746-a76c-dcc615c756ee"/>
    <ds:schemaRef ds:uri="a8e7e8c4-25bc-423c-8154-6d08623ea9d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386AF23-6B3F-451B-B3DC-DF570E4A80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40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Theme1</vt:lpstr>
      <vt:lpstr>MSFT Frontier Firms Research |  Check-in 4</vt:lpstr>
      <vt:lpstr>Agenda</vt:lpstr>
      <vt:lpstr>Case Studies &amp; Observations</vt:lpstr>
      <vt:lpstr>Frontier Firms IDI Case Study: Frontier Startup</vt:lpstr>
      <vt:lpstr>Frontier Firms IDI Case Study: Frontier Enterprise</vt:lpstr>
      <vt:lpstr>Slide on Enterprise vs Startup Frontier Firm</vt:lpstr>
      <vt:lpstr>Operating Model &amp; Initial Scorecard</vt:lpstr>
      <vt:lpstr>PowerPoint Presentation</vt:lpstr>
      <vt:lpstr>PowerPoint Presentation</vt:lpstr>
      <vt:lpstr>PowerPoint Presentation</vt:lpstr>
      <vt:lpstr>PowerPoint Presentation</vt:lpstr>
      <vt:lpstr>Frontier Firm Traits | Infrastructure</vt:lpstr>
      <vt:lpstr>Frontier Firm Traits | Platform</vt:lpstr>
      <vt:lpstr>Frontier Firm Traits | Operating Capabilities</vt:lpstr>
      <vt:lpstr>Frontier Firm Traits | Operating Capabilities</vt:lpstr>
      <vt:lpstr>Scorecard Draft</vt:lpstr>
      <vt:lpstr>Appendix </vt:lpstr>
      <vt:lpstr>Scorecard-building interview progress update</vt:lpstr>
      <vt:lpstr>PowerPoint Presentation</vt:lpstr>
      <vt:lpstr>Initial IDIs surface early observations across the operating model pillars</vt:lpstr>
      <vt:lpstr>Early signals suggest AI may be collapsing traditional software roles into more AI-enabled, end-to-end product ownership</vt:lpstr>
      <vt:lpstr>Through several iterations of trial and failure, one firm has developed a multi-guardrail process to allow non-engineers to push code into production</vt:lpstr>
      <vt:lpstr>AI-forward firms still manually curate context collections for agents</vt:lpstr>
      <vt:lpstr>Appendix: Check-in 3</vt:lpstr>
      <vt:lpstr>Frontier firms buy a commoditized foundational layer, then build custom AI infrastructure around it where proprietary context creates value</vt:lpstr>
      <vt:lpstr>Establishing a frontier firm operating model is the first step  toward building a robust benchmarking framework</vt:lpstr>
      <vt:lpstr>Capability pillars can be translated into diagnostic questions that tests for frontier-firm behaviors</vt:lpstr>
      <vt:lpstr>Appendix: Case Studies</vt:lpstr>
      <vt:lpstr>Frontier Firms IDI Case Study</vt:lpstr>
      <vt:lpstr>Frontier Firms IDI Case Study</vt:lpstr>
      <vt:lpstr>Frontier Firms IDI Case Study</vt:lpstr>
      <vt:lpstr>Frontier Firms IDI Case Study</vt:lpstr>
      <vt:lpstr>Frontier Firms IDI Case Study</vt:lpstr>
      <vt:lpstr>Frontier Firms IDI Case Study</vt:lpstr>
      <vt:lpstr>Aligning on foundational pillars for the research</vt:lpstr>
      <vt:lpstr>Appendix: Tech Intensity</vt:lpstr>
      <vt:lpstr>The Technology Intensity Scorecard</vt:lpstr>
      <vt:lpstr>Frontier Firm Traits | Infrastructure</vt:lpstr>
      <vt:lpstr>Frontier Firm Traits | Harness / Architecture</vt:lpstr>
      <vt:lpstr>Frontier Firm Traits | Operating Capabilities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Berling Chen</dc:creator>
  <cp:revision>3</cp:revision>
  <dcterms:created xsi:type="dcterms:W3CDTF">2026-04-20T18:17:12Z</dcterms:created>
  <dcterms:modified xsi:type="dcterms:W3CDTF">2026-06-10T19:19:03Z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0x01010082FB66351052954AB1A8B368687E95E4</vt:lpwstr>
  </property>
  <property fmtid="{D5CDD505-2E9C-101B-9397-08002B2CF9AE}" pid="3" name="MediaServiceImageTags">
    <vt:lpwstr/>
  </property>
</Properties>
</file>